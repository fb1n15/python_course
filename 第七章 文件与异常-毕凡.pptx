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342" r:id="rId2"/>
    <p:sldId id="376" r:id="rId3"/>
    <p:sldId id="343" r:id="rId4"/>
    <p:sldId id="377" r:id="rId5"/>
    <p:sldId id="378" r:id="rId6"/>
    <p:sldId id="428" r:id="rId7"/>
    <p:sldId id="429" r:id="rId8"/>
    <p:sldId id="430" r:id="rId9"/>
    <p:sldId id="467" r:id="rId10"/>
    <p:sldId id="471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8" r:id="rId19"/>
    <p:sldId id="468" r:id="rId20"/>
    <p:sldId id="440" r:id="rId21"/>
    <p:sldId id="439" r:id="rId22"/>
    <p:sldId id="441" r:id="rId23"/>
    <p:sldId id="469" r:id="rId24"/>
    <p:sldId id="443" r:id="rId25"/>
    <p:sldId id="444" r:id="rId26"/>
    <p:sldId id="446" r:id="rId27"/>
    <p:sldId id="445" r:id="rId28"/>
    <p:sldId id="447" r:id="rId29"/>
    <p:sldId id="442" r:id="rId30"/>
    <p:sldId id="448" r:id="rId31"/>
    <p:sldId id="449" r:id="rId32"/>
    <p:sldId id="450" r:id="rId33"/>
    <p:sldId id="451" r:id="rId34"/>
    <p:sldId id="452" r:id="rId35"/>
    <p:sldId id="453" r:id="rId36"/>
    <p:sldId id="454" r:id="rId37"/>
    <p:sldId id="456" r:id="rId38"/>
    <p:sldId id="457" r:id="rId39"/>
    <p:sldId id="472" r:id="rId40"/>
    <p:sldId id="455" r:id="rId41"/>
    <p:sldId id="458" r:id="rId42"/>
    <p:sldId id="459" r:id="rId43"/>
    <p:sldId id="460" r:id="rId44"/>
    <p:sldId id="470" r:id="rId45"/>
    <p:sldId id="473" r:id="rId46"/>
    <p:sldId id="461" r:id="rId47"/>
    <p:sldId id="462" r:id="rId48"/>
    <p:sldId id="463" r:id="rId49"/>
    <p:sldId id="474" r:id="rId50"/>
    <p:sldId id="475" r:id="rId51"/>
    <p:sldId id="476" r:id="rId52"/>
    <p:sldId id="464" r:id="rId53"/>
    <p:sldId id="465" r:id="rId54"/>
    <p:sldId id="466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.zhao@163.com" initials="l" lastIdx="1" clrIdx="0">
    <p:extLst>
      <p:ext uri="{19B8F6BF-5375-455C-9EA6-DF929625EA0E}">
        <p15:presenceInfo xmlns:p15="http://schemas.microsoft.com/office/powerpoint/2012/main" userId="728258828dffa6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6BE137"/>
    <a:srgbClr val="0000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 autoAdjust="0"/>
    <p:restoredTop sz="93582" autoAdjust="0"/>
  </p:normalViewPr>
  <p:slideViewPr>
    <p:cSldViewPr snapToGrid="0">
      <p:cViewPr varScale="1">
        <p:scale>
          <a:sx n="67" d="100"/>
          <a:sy n="67" d="100"/>
        </p:scale>
        <p:origin x="53" y="1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7" d="100"/>
        <a:sy n="77" d="100"/>
      </p:scale>
      <p:origin x="0" y="-11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41353-A0F4-4DD2-AF90-B2B2D232929F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74753-AFF2-43A3-98C7-386D01E496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94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494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034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2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065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435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096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229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779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6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53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015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690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099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367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127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638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408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522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969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06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985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604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9209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8594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781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467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4046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330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291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1154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069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4168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5817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658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0067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8592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2014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9478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8950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150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967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9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17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5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860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28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08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0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56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75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228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8" y="-14371"/>
            <a:ext cx="229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42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6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image" Target="../media/image6.tmp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10" Type="http://schemas.openxmlformats.org/officeDocument/2006/relationships/tags" Target="../tags/tag48.xml"/><Relationship Id="rId19" Type="http://schemas.openxmlformats.org/officeDocument/2006/relationships/image" Target="../media/image6.tmp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20" Type="http://schemas.openxmlformats.org/officeDocument/2006/relationships/image" Target="../media/image6.tmp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19" Type="http://schemas.openxmlformats.org/officeDocument/2006/relationships/slideLayout" Target="../slideLayouts/slideLayout11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-31693"/>
            <a:ext cx="12192001" cy="68705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F7CF07-C3D1-48FA-AC1F-1CC74323FA7E}"/>
              </a:ext>
            </a:extLst>
          </p:cNvPr>
          <p:cNvCxnSpPr>
            <a:cxnSpLocks/>
          </p:cNvCxnSpPr>
          <p:nvPr/>
        </p:nvCxnSpPr>
        <p:spPr>
          <a:xfrm>
            <a:off x="2149057" y="3429000"/>
            <a:ext cx="7342288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284">
            <a:extLst>
              <a:ext uri="{FF2B5EF4-FFF2-40B4-BE49-F238E27FC236}">
                <a16:creationId xmlns:a16="http://schemas.microsoft.com/office/drawing/2014/main" id="{F0A56CFD-663E-4AFB-BF60-D093C87FDC59}"/>
              </a:ext>
            </a:extLst>
          </p:cNvPr>
          <p:cNvSpPr>
            <a:spLocks noEditPoints="1"/>
          </p:cNvSpPr>
          <p:nvPr/>
        </p:nvSpPr>
        <p:spPr bwMode="auto">
          <a:xfrm>
            <a:off x="9239652" y="4817013"/>
            <a:ext cx="1914405" cy="1419137"/>
          </a:xfrm>
          <a:custGeom>
            <a:avLst/>
            <a:gdLst>
              <a:gd name="T0" fmla="*/ 1 w 85"/>
              <a:gd name="T1" fmla="*/ 0 h 63"/>
              <a:gd name="T2" fmla="*/ 0 w 85"/>
              <a:gd name="T3" fmla="*/ 62 h 63"/>
              <a:gd name="T4" fmla="*/ 16 w 85"/>
              <a:gd name="T5" fmla="*/ 63 h 63"/>
              <a:gd name="T6" fmla="*/ 18 w 85"/>
              <a:gd name="T7" fmla="*/ 1 h 63"/>
              <a:gd name="T8" fmla="*/ 2 w 85"/>
              <a:gd name="T9" fmla="*/ 5 h 63"/>
              <a:gd name="T10" fmla="*/ 14 w 85"/>
              <a:gd name="T11" fmla="*/ 4 h 63"/>
              <a:gd name="T12" fmla="*/ 16 w 85"/>
              <a:gd name="T13" fmla="*/ 28 h 63"/>
              <a:gd name="T14" fmla="*/ 3 w 85"/>
              <a:gd name="T15" fmla="*/ 29 h 63"/>
              <a:gd name="T16" fmla="*/ 2 w 85"/>
              <a:gd name="T17" fmla="*/ 5 h 63"/>
              <a:gd name="T18" fmla="*/ 2 w 85"/>
              <a:gd name="T19" fmla="*/ 56 h 63"/>
              <a:gd name="T20" fmla="*/ 2 w 85"/>
              <a:gd name="T21" fmla="*/ 55 h 63"/>
              <a:gd name="T22" fmla="*/ 16 w 85"/>
              <a:gd name="T23" fmla="*/ 56 h 63"/>
              <a:gd name="T24" fmla="*/ 16 w 85"/>
              <a:gd name="T25" fmla="*/ 52 h 63"/>
              <a:gd name="T26" fmla="*/ 2 w 85"/>
              <a:gd name="T27" fmla="*/ 52 h 63"/>
              <a:gd name="T28" fmla="*/ 16 w 85"/>
              <a:gd name="T29" fmla="*/ 51 h 63"/>
              <a:gd name="T30" fmla="*/ 16 w 85"/>
              <a:gd name="T31" fmla="*/ 52 h 63"/>
              <a:gd name="T32" fmla="*/ 21 w 85"/>
              <a:gd name="T33" fmla="*/ 0 h 63"/>
              <a:gd name="T34" fmla="*/ 19 w 85"/>
              <a:gd name="T35" fmla="*/ 62 h 63"/>
              <a:gd name="T36" fmla="*/ 36 w 85"/>
              <a:gd name="T37" fmla="*/ 63 h 63"/>
              <a:gd name="T38" fmla="*/ 38 w 85"/>
              <a:gd name="T39" fmla="*/ 1 h 63"/>
              <a:gd name="T40" fmla="*/ 22 w 85"/>
              <a:gd name="T41" fmla="*/ 5 h 63"/>
              <a:gd name="T42" fmla="*/ 34 w 85"/>
              <a:gd name="T43" fmla="*/ 4 h 63"/>
              <a:gd name="T44" fmla="*/ 35 w 85"/>
              <a:gd name="T45" fmla="*/ 28 h 63"/>
              <a:gd name="T46" fmla="*/ 23 w 85"/>
              <a:gd name="T47" fmla="*/ 29 h 63"/>
              <a:gd name="T48" fmla="*/ 22 w 85"/>
              <a:gd name="T49" fmla="*/ 5 h 63"/>
              <a:gd name="T50" fmla="*/ 22 w 85"/>
              <a:gd name="T51" fmla="*/ 56 h 63"/>
              <a:gd name="T52" fmla="*/ 22 w 85"/>
              <a:gd name="T53" fmla="*/ 55 h 63"/>
              <a:gd name="T54" fmla="*/ 36 w 85"/>
              <a:gd name="T55" fmla="*/ 56 h 63"/>
              <a:gd name="T56" fmla="*/ 35 w 85"/>
              <a:gd name="T57" fmla="*/ 52 h 63"/>
              <a:gd name="T58" fmla="*/ 21 w 85"/>
              <a:gd name="T59" fmla="*/ 52 h 63"/>
              <a:gd name="T60" fmla="*/ 35 w 85"/>
              <a:gd name="T61" fmla="*/ 51 h 63"/>
              <a:gd name="T62" fmla="*/ 35 w 85"/>
              <a:gd name="T63" fmla="*/ 52 h 63"/>
              <a:gd name="T64" fmla="*/ 53 w 85"/>
              <a:gd name="T65" fmla="*/ 1 h 63"/>
              <a:gd name="T66" fmla="*/ 38 w 85"/>
              <a:gd name="T67" fmla="*/ 9 h 63"/>
              <a:gd name="T68" fmla="*/ 69 w 85"/>
              <a:gd name="T69" fmla="*/ 62 h 63"/>
              <a:gd name="T70" fmla="*/ 84 w 85"/>
              <a:gd name="T71" fmla="*/ 55 h 63"/>
              <a:gd name="T72" fmla="*/ 64 w 85"/>
              <a:gd name="T73" fmla="*/ 27 h 63"/>
              <a:gd name="T74" fmla="*/ 53 w 85"/>
              <a:gd name="T75" fmla="*/ 32 h 63"/>
              <a:gd name="T76" fmla="*/ 42 w 85"/>
              <a:gd name="T77" fmla="*/ 11 h 63"/>
              <a:gd name="T78" fmla="*/ 53 w 85"/>
              <a:gd name="T79" fmla="*/ 6 h 63"/>
              <a:gd name="T80" fmla="*/ 64 w 85"/>
              <a:gd name="T81" fmla="*/ 27 h 63"/>
              <a:gd name="T82" fmla="*/ 66 w 85"/>
              <a:gd name="T83" fmla="*/ 52 h 63"/>
              <a:gd name="T84" fmla="*/ 78 w 85"/>
              <a:gd name="T85" fmla="*/ 46 h 63"/>
              <a:gd name="T86" fmla="*/ 66 w 85"/>
              <a:gd name="T87" fmla="*/ 53 h 63"/>
              <a:gd name="T88" fmla="*/ 80 w 85"/>
              <a:gd name="T89" fmla="*/ 49 h 63"/>
              <a:gd name="T90" fmla="*/ 68 w 85"/>
              <a:gd name="T91" fmla="*/ 56 h 63"/>
              <a:gd name="T92" fmla="*/ 79 w 85"/>
              <a:gd name="T93" fmla="*/ 49 h 63"/>
              <a:gd name="T94" fmla="*/ 80 w 85"/>
              <a:gd name="T95" fmla="*/ 4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5" h="63">
                <a:moveTo>
                  <a:pt x="16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1" y="63"/>
                  <a:pt x="1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7" y="63"/>
                  <a:pt x="18" y="62"/>
                  <a:pt x="18" y="62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7" y="0"/>
                  <a:pt x="16" y="0"/>
                </a:cubicBezTo>
                <a:close/>
                <a:moveTo>
                  <a:pt x="2" y="5"/>
                </a:moveTo>
                <a:cubicBezTo>
                  <a:pt x="2" y="4"/>
                  <a:pt x="3" y="4"/>
                  <a:pt x="3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4"/>
                  <a:pt x="16" y="5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5" y="29"/>
                  <a:pt x="1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2" y="28"/>
                  <a:pt x="2" y="28"/>
                </a:cubicBezTo>
                <a:lnTo>
                  <a:pt x="2" y="5"/>
                </a:lnTo>
                <a:close/>
                <a:moveTo>
                  <a:pt x="16" y="56"/>
                </a:moveTo>
                <a:cubicBezTo>
                  <a:pt x="2" y="56"/>
                  <a:pt x="2" y="56"/>
                  <a:pt x="2" y="56"/>
                </a:cubicBezTo>
                <a:cubicBezTo>
                  <a:pt x="2" y="56"/>
                  <a:pt x="2" y="56"/>
                  <a:pt x="2" y="56"/>
                </a:cubicBezTo>
                <a:cubicBezTo>
                  <a:pt x="2" y="55"/>
                  <a:pt x="2" y="55"/>
                  <a:pt x="2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16" y="55"/>
                  <a:pt x="16" y="55"/>
                  <a:pt x="16" y="56"/>
                </a:cubicBezTo>
                <a:cubicBezTo>
                  <a:pt x="16" y="56"/>
                  <a:pt x="16" y="56"/>
                  <a:pt x="16" y="56"/>
                </a:cubicBezTo>
                <a:close/>
                <a:moveTo>
                  <a:pt x="16" y="52"/>
                </a:move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1"/>
                  <a:pt x="2" y="51"/>
                </a:cubicBezTo>
                <a:cubicBezTo>
                  <a:pt x="16" y="51"/>
                  <a:pt x="16" y="51"/>
                  <a:pt x="16" y="51"/>
                </a:cubicBezTo>
                <a:cubicBezTo>
                  <a:pt x="16" y="51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lose/>
                <a:moveTo>
                  <a:pt x="36" y="0"/>
                </a:move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19" y="1"/>
                  <a:pt x="19" y="1"/>
                </a:cubicBezTo>
                <a:cubicBezTo>
                  <a:pt x="19" y="62"/>
                  <a:pt x="19" y="62"/>
                  <a:pt x="19" y="62"/>
                </a:cubicBezTo>
                <a:cubicBezTo>
                  <a:pt x="19" y="62"/>
                  <a:pt x="20" y="63"/>
                  <a:pt x="2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7" y="63"/>
                  <a:pt x="38" y="62"/>
                  <a:pt x="38" y="62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1"/>
                  <a:pt x="37" y="0"/>
                  <a:pt x="36" y="0"/>
                </a:cubicBezTo>
                <a:close/>
                <a:moveTo>
                  <a:pt x="22" y="5"/>
                </a:moveTo>
                <a:cubicBezTo>
                  <a:pt x="22" y="4"/>
                  <a:pt x="22" y="4"/>
                  <a:pt x="23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5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8"/>
                  <a:pt x="35" y="29"/>
                  <a:pt x="34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29"/>
                  <a:pt x="22" y="28"/>
                  <a:pt x="22" y="28"/>
                </a:cubicBezTo>
                <a:lnTo>
                  <a:pt x="22" y="5"/>
                </a:lnTo>
                <a:close/>
                <a:moveTo>
                  <a:pt x="35" y="56"/>
                </a:moveTo>
                <a:cubicBezTo>
                  <a:pt x="22" y="56"/>
                  <a:pt x="22" y="56"/>
                  <a:pt x="22" y="56"/>
                </a:cubicBezTo>
                <a:cubicBezTo>
                  <a:pt x="22" y="56"/>
                  <a:pt x="21" y="56"/>
                  <a:pt x="21" y="56"/>
                </a:cubicBezTo>
                <a:cubicBezTo>
                  <a:pt x="21" y="55"/>
                  <a:pt x="22" y="55"/>
                  <a:pt x="22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5" y="55"/>
                  <a:pt x="36" y="55"/>
                  <a:pt x="36" y="56"/>
                </a:cubicBezTo>
                <a:cubicBezTo>
                  <a:pt x="36" y="56"/>
                  <a:pt x="35" y="56"/>
                  <a:pt x="35" y="56"/>
                </a:cubicBezTo>
                <a:close/>
                <a:moveTo>
                  <a:pt x="35" y="52"/>
                </a:move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1" y="52"/>
                  <a:pt x="21" y="52"/>
                </a:cubicBezTo>
                <a:cubicBezTo>
                  <a:pt x="21" y="52"/>
                  <a:pt x="22" y="51"/>
                  <a:pt x="22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6" y="52"/>
                  <a:pt x="36" y="52"/>
                </a:cubicBezTo>
                <a:cubicBezTo>
                  <a:pt x="36" y="52"/>
                  <a:pt x="35" y="52"/>
                  <a:pt x="35" y="52"/>
                </a:cubicBezTo>
                <a:close/>
                <a:moveTo>
                  <a:pt x="85" y="53"/>
                </a:moveTo>
                <a:cubicBezTo>
                  <a:pt x="53" y="1"/>
                  <a:pt x="53" y="1"/>
                  <a:pt x="53" y="1"/>
                </a:cubicBezTo>
                <a:cubicBezTo>
                  <a:pt x="53" y="1"/>
                  <a:pt x="52" y="1"/>
                  <a:pt x="51" y="1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8" y="11"/>
                </a:cubicBezTo>
                <a:cubicBezTo>
                  <a:pt x="69" y="62"/>
                  <a:pt x="69" y="62"/>
                  <a:pt x="69" y="62"/>
                </a:cubicBezTo>
                <a:cubicBezTo>
                  <a:pt x="70" y="63"/>
                  <a:pt x="70" y="63"/>
                  <a:pt x="71" y="62"/>
                </a:cubicBezTo>
                <a:cubicBezTo>
                  <a:pt x="84" y="55"/>
                  <a:pt x="84" y="55"/>
                  <a:pt x="84" y="55"/>
                </a:cubicBezTo>
                <a:cubicBezTo>
                  <a:pt x="85" y="54"/>
                  <a:pt x="85" y="53"/>
                  <a:pt x="85" y="53"/>
                </a:cubicBezTo>
                <a:close/>
                <a:moveTo>
                  <a:pt x="64" y="27"/>
                </a:moveTo>
                <a:cubicBezTo>
                  <a:pt x="55" y="32"/>
                  <a:pt x="55" y="32"/>
                  <a:pt x="55" y="32"/>
                </a:cubicBezTo>
                <a:cubicBezTo>
                  <a:pt x="54" y="33"/>
                  <a:pt x="54" y="33"/>
                  <a:pt x="53" y="32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41" y="11"/>
                  <a:pt x="42" y="11"/>
                </a:cubicBezTo>
                <a:cubicBezTo>
                  <a:pt x="51" y="5"/>
                  <a:pt x="51" y="5"/>
                  <a:pt x="51" y="5"/>
                </a:cubicBezTo>
                <a:cubicBezTo>
                  <a:pt x="52" y="5"/>
                  <a:pt x="53" y="5"/>
                  <a:pt x="53" y="6"/>
                </a:cubicBezTo>
                <a:cubicBezTo>
                  <a:pt x="65" y="25"/>
                  <a:pt x="65" y="25"/>
                  <a:pt x="65" y="25"/>
                </a:cubicBezTo>
                <a:cubicBezTo>
                  <a:pt x="65" y="26"/>
                  <a:pt x="65" y="26"/>
                  <a:pt x="64" y="27"/>
                </a:cubicBezTo>
                <a:close/>
                <a:moveTo>
                  <a:pt x="66" y="53"/>
                </a:moveTo>
                <a:cubicBezTo>
                  <a:pt x="66" y="53"/>
                  <a:pt x="66" y="53"/>
                  <a:pt x="66" y="52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8" y="45"/>
                  <a:pt x="78" y="46"/>
                </a:cubicBezTo>
                <a:cubicBezTo>
                  <a:pt x="78" y="46"/>
                  <a:pt x="78" y="46"/>
                  <a:pt x="78" y="46"/>
                </a:cubicBezTo>
                <a:cubicBezTo>
                  <a:pt x="66" y="53"/>
                  <a:pt x="66" y="53"/>
                  <a:pt x="66" y="53"/>
                </a:cubicBezTo>
                <a:cubicBezTo>
                  <a:pt x="66" y="53"/>
                  <a:pt x="66" y="53"/>
                  <a:pt x="66" y="53"/>
                </a:cubicBezTo>
                <a:close/>
                <a:moveTo>
                  <a:pt x="80" y="49"/>
                </a:move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79" y="49"/>
                  <a:pt x="79" y="49"/>
                  <a:pt x="79" y="49"/>
                </a:cubicBezTo>
                <a:cubicBezTo>
                  <a:pt x="80" y="48"/>
                  <a:pt x="80" y="49"/>
                  <a:pt x="80" y="49"/>
                </a:cubicBezTo>
                <a:cubicBezTo>
                  <a:pt x="80" y="49"/>
                  <a:pt x="80" y="49"/>
                  <a:pt x="80" y="49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D44ABC1-E21D-46A6-AF90-9746A111A621}"/>
              </a:ext>
            </a:extLst>
          </p:cNvPr>
          <p:cNvGrpSpPr/>
          <p:nvPr/>
        </p:nvGrpSpPr>
        <p:grpSpPr>
          <a:xfrm>
            <a:off x="-17094" y="-399144"/>
            <a:ext cx="863598" cy="7656288"/>
            <a:chOff x="-11273" y="-594773"/>
            <a:chExt cx="719786" cy="7462505"/>
          </a:xfrm>
        </p:grpSpPr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9D978FFE-21AB-4973-AC5C-6DDD0B0417D6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5920837E-20BF-4C1A-AB52-C42C213E6CEF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2E2B046E-4F44-45B0-81C6-0C98BE11AEBD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54F5B9E1-B9C4-4E6A-BAC8-B698C4D76C19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A05BE209-FBDF-4191-8712-F6215DE4CD3A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7315F6CE-D3BC-4B15-B5E6-653ED8A8DBA5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8A69D79C-1A42-4021-82FC-6331F9AA87D6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ABB0925A-C905-4AEB-A7B9-2A4A52B649B8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8AAF126E-DD1E-4E03-AA7D-C0E9D162295B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5" name="TextBox 1">
            <a:extLst>
              <a:ext uri="{FF2B5EF4-FFF2-40B4-BE49-F238E27FC236}">
                <a16:creationId xmlns:a16="http://schemas.microsoft.com/office/drawing/2014/main" id="{9CD66783-D6B8-4855-929A-848959D1A623}"/>
              </a:ext>
            </a:extLst>
          </p:cNvPr>
          <p:cNvSpPr txBox="1"/>
          <p:nvPr/>
        </p:nvSpPr>
        <p:spPr>
          <a:xfrm>
            <a:off x="3996625" y="2538434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文件与异常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74CA0B-BB91-4218-8868-5072915B00A5}"/>
              </a:ext>
            </a:extLst>
          </p:cNvPr>
          <p:cNvSpPr txBox="1"/>
          <p:nvPr/>
        </p:nvSpPr>
        <p:spPr>
          <a:xfrm>
            <a:off x="5493870" y="3844958"/>
            <a:ext cx="421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南京工业大学     计算机科学与技术学院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6AF580-37DC-47FB-84B1-37A2A0644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720" y="384590"/>
            <a:ext cx="8286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3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 tmFilter="0,0; .5, 1; 1, 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245839"/>
            <a:ext cx="625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程序流程控制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D97126-B16B-47C5-9313-C5740A7E571D}"/>
              </a:ext>
            </a:extLst>
          </p:cNvPr>
          <p:cNvGrpSpPr/>
          <p:nvPr/>
        </p:nvGrpSpPr>
        <p:grpSpPr>
          <a:xfrm>
            <a:off x="1908935" y="1619278"/>
            <a:ext cx="7889000" cy="1149470"/>
            <a:chOff x="1908935" y="1619278"/>
            <a:chExt cx="7889000" cy="114947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F2A0BB7-159C-4E8B-B99A-E844EB2704C8}"/>
                </a:ext>
              </a:extLst>
            </p:cNvPr>
            <p:cNvSpPr/>
            <p:nvPr/>
          </p:nvSpPr>
          <p:spPr>
            <a:xfrm>
              <a:off x="1908935" y="1619278"/>
              <a:ext cx="1149560" cy="1149470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0" tIns="45699" rIns="91400" bIns="45699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 MT Std" pitchFamily="34" charset="0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 MT Std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ADF11BB-395B-4DEA-9578-2BEC6AFACF03}"/>
                </a:ext>
              </a:extLst>
            </p:cNvPr>
            <p:cNvCxnSpPr/>
            <p:nvPr/>
          </p:nvCxnSpPr>
          <p:spPr>
            <a:xfrm>
              <a:off x="3221461" y="2194013"/>
              <a:ext cx="100686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2D18244-5218-4AD9-84A5-ACEB087E6A27}"/>
                </a:ext>
              </a:extLst>
            </p:cNvPr>
            <p:cNvSpPr txBox="1"/>
            <p:nvPr/>
          </p:nvSpPr>
          <p:spPr>
            <a:xfrm>
              <a:off x="4562061" y="1804019"/>
              <a:ext cx="5235874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spc="600" dirty="0">
                  <a:solidFill>
                    <a:prstClr val="black"/>
                  </a:solidFill>
                  <a:latin typeface="Calibri"/>
                  <a:ea typeface="微软雅黑"/>
                </a:rPr>
                <a:t>文件及文件基本操作</a:t>
              </a:r>
              <a:endParaRPr kumimoji="0" lang="zh-CN" altLang="en-US" sz="36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0882916-F2D4-4840-AC5F-E12E306AE0FB}"/>
              </a:ext>
            </a:extLst>
          </p:cNvPr>
          <p:cNvGrpSpPr/>
          <p:nvPr/>
        </p:nvGrpSpPr>
        <p:grpSpPr>
          <a:xfrm>
            <a:off x="1921631" y="2972130"/>
            <a:ext cx="7876305" cy="1149470"/>
            <a:chOff x="1921631" y="2972130"/>
            <a:chExt cx="6610340" cy="114947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485000-8B22-41F5-A4AF-5605D3A5A726}"/>
                </a:ext>
              </a:extLst>
            </p:cNvPr>
            <p:cNvSpPr/>
            <p:nvPr/>
          </p:nvSpPr>
          <p:spPr>
            <a:xfrm>
              <a:off x="1921631" y="2972130"/>
              <a:ext cx="1149560" cy="1149470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0" tIns="45699" rIns="91400" bIns="45699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 MT Std" pitchFamily="34" charset="0"/>
                  <a:ea typeface="微软雅黑" panose="020B0503020204020204" pitchFamily="34" charset="-122"/>
                  <a:cs typeface="+mn-cs"/>
                </a:rPr>
                <a:t>2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 MT Std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85EE8C7-2D6E-43EC-BB42-5AC882B410DD}"/>
                </a:ext>
              </a:extLst>
            </p:cNvPr>
            <p:cNvCxnSpPr/>
            <p:nvPr/>
          </p:nvCxnSpPr>
          <p:spPr>
            <a:xfrm>
              <a:off x="3221461" y="3546865"/>
              <a:ext cx="100686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DE7EECC-2D33-4E1A-BD00-09CC33CECA6C}"/>
                </a:ext>
              </a:extLst>
            </p:cNvPr>
            <p:cNvSpPr txBox="1"/>
            <p:nvPr/>
          </p:nvSpPr>
          <p:spPr>
            <a:xfrm>
              <a:off x="4192515" y="3223699"/>
              <a:ext cx="4339456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600" spc="600" dirty="0">
                  <a:solidFill>
                    <a:prstClr val="black"/>
                  </a:solidFill>
                  <a:latin typeface="Calibri"/>
                  <a:ea typeface="微软雅黑"/>
                </a:rPr>
                <a:t>CSV</a:t>
              </a:r>
              <a:r>
                <a:rPr lang="zh-CN" altLang="en-US" sz="3600" spc="600" dirty="0">
                  <a:solidFill>
                    <a:prstClr val="black"/>
                  </a:solidFill>
                  <a:latin typeface="Calibri"/>
                  <a:ea typeface="微软雅黑"/>
                </a:rPr>
                <a:t>文件操作</a:t>
              </a:r>
              <a:endParaRPr kumimoji="0" lang="zh-CN" altLang="en-US" sz="36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BF52373-CB1B-4463-9F77-41BF82BE8AF1}"/>
              </a:ext>
            </a:extLst>
          </p:cNvPr>
          <p:cNvGrpSpPr/>
          <p:nvPr/>
        </p:nvGrpSpPr>
        <p:grpSpPr>
          <a:xfrm>
            <a:off x="1921631" y="4324982"/>
            <a:ext cx="7876304" cy="1149470"/>
            <a:chOff x="1921631" y="4324982"/>
            <a:chExt cx="6042050" cy="114947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E069451-7BAF-480B-A2E5-83CB4BDB524E}"/>
                </a:ext>
              </a:extLst>
            </p:cNvPr>
            <p:cNvSpPr/>
            <p:nvPr/>
          </p:nvSpPr>
          <p:spPr>
            <a:xfrm>
              <a:off x="1921631" y="4324982"/>
              <a:ext cx="1149560" cy="1149470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0" tIns="45699" rIns="91400" bIns="45699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 MT Std" pitchFamily="34" charset="0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 MT Std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87E6291-9804-4CCA-B93F-9CAE522E559F}"/>
                </a:ext>
              </a:extLst>
            </p:cNvPr>
            <p:cNvCxnSpPr/>
            <p:nvPr/>
          </p:nvCxnSpPr>
          <p:spPr>
            <a:xfrm>
              <a:off x="3221461" y="4926095"/>
              <a:ext cx="100686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C92EFF7-C741-4F8B-B13A-3B350F0FBC98}"/>
                </a:ext>
              </a:extLst>
            </p:cNvPr>
            <p:cNvSpPr txBox="1"/>
            <p:nvPr/>
          </p:nvSpPr>
          <p:spPr>
            <a:xfrm>
              <a:off x="3997287" y="4662564"/>
              <a:ext cx="3966394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rPr>
                <a:t>异常和异常处理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733563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917593" y="2933114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文件及文件基本操作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01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22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文件简介 📜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740005" y="978316"/>
            <a:ext cx="9905828" cy="5833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/>
              <a:t>文件，是一组</a:t>
            </a:r>
            <a:r>
              <a:rPr lang="zh-CN" altLang="en-US" sz="2800" dirty="0">
                <a:solidFill>
                  <a:srgbClr val="FF0000"/>
                </a:solidFill>
              </a:rPr>
              <a:t>相关数据</a:t>
            </a:r>
            <a:r>
              <a:rPr lang="zh-CN" altLang="en-US" sz="2800" dirty="0"/>
              <a:t>的集合。组成文件的数据可以是</a:t>
            </a:r>
            <a:r>
              <a:rPr lang="en-US" altLang="zh-CN" sz="2800" dirty="0"/>
              <a:t>ASCII</a:t>
            </a:r>
            <a:r>
              <a:rPr lang="zh-CN" altLang="en-US" sz="2800" dirty="0"/>
              <a:t>编码，也可以是二进制编码。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/>
              <a:t>文件名都包含两个部分：主文件名和扩展名，两者之间用“</a:t>
            </a:r>
            <a:r>
              <a:rPr lang="en-US" altLang="zh-CN" sz="2800" dirty="0"/>
              <a:t>.”</a:t>
            </a:r>
            <a:r>
              <a:rPr lang="zh-CN" altLang="en-US" sz="2800" dirty="0"/>
              <a:t>隔开。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			         </a:t>
            </a:r>
            <a:r>
              <a:rPr lang="zh-CN" altLang="en-US" sz="2800" dirty="0"/>
              <a:t>主文件名</a:t>
            </a:r>
            <a:r>
              <a:rPr lang="en-US" altLang="zh-CN" sz="2800" dirty="0"/>
              <a:t>.</a:t>
            </a:r>
            <a:r>
              <a:rPr lang="zh-CN" altLang="en-US" sz="2800" dirty="0"/>
              <a:t>扩展名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727301-5B4B-4B84-A066-850FA385F2E3}"/>
              </a:ext>
            </a:extLst>
          </p:cNvPr>
          <p:cNvSpPr/>
          <p:nvPr/>
        </p:nvSpPr>
        <p:spPr>
          <a:xfrm>
            <a:off x="530360" y="5071571"/>
            <a:ext cx="446670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</a:rPr>
              <a:t>由用户自行命名，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</a:rPr>
              <a:t>用来与其他文件加以区别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B6B853-1EE1-44F2-8647-67352C865871}"/>
              </a:ext>
            </a:extLst>
          </p:cNvPr>
          <p:cNvSpPr/>
          <p:nvPr/>
        </p:nvSpPr>
        <p:spPr>
          <a:xfrm>
            <a:off x="6461759" y="5067992"/>
            <a:ext cx="472163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rgbClr val="FF9900"/>
                </a:solidFill>
              </a:rPr>
              <a:t>文件类型对应缩写，</a:t>
            </a:r>
            <a:endParaRPr lang="en-US" altLang="zh-CN" sz="2000" dirty="0">
              <a:solidFill>
                <a:srgbClr val="FF9900"/>
              </a:solidFill>
            </a:endParaRPr>
          </a:p>
          <a:p>
            <a:pPr algn="ctr"/>
            <a:r>
              <a:rPr lang="zh-CN" altLang="zh-CN" sz="2000" dirty="0">
                <a:solidFill>
                  <a:srgbClr val="FF9900"/>
                </a:solidFill>
              </a:rPr>
              <a:t>用来指定打开和操作该文件的应用程序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6DB30D8-674B-49B0-B72A-E2A771A2FA81}"/>
              </a:ext>
            </a:extLst>
          </p:cNvPr>
          <p:cNvCxnSpPr/>
          <p:nvPr/>
        </p:nvCxnSpPr>
        <p:spPr>
          <a:xfrm flipH="1">
            <a:off x="3120044" y="4184073"/>
            <a:ext cx="1895301" cy="8839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454B858-79D3-4B76-8A6A-DFBA21A8911A}"/>
              </a:ext>
            </a:extLst>
          </p:cNvPr>
          <p:cNvCxnSpPr/>
          <p:nvPr/>
        </p:nvCxnSpPr>
        <p:spPr>
          <a:xfrm>
            <a:off x="6461759" y="4150822"/>
            <a:ext cx="1540626" cy="917170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39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294433" y="846904"/>
            <a:ext cx="10869053" cy="1955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</a:t>
            </a:r>
            <a:r>
              <a:rPr lang="en-US" altLang="zh-CN" sz="2800" dirty="0"/>
              <a:t>——</a:t>
            </a:r>
            <a:r>
              <a:rPr lang="zh-CN" altLang="zh-CN" sz="2800" dirty="0"/>
              <a:t>用来组织和管理一组相关数据的；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zh-CN" sz="2800" dirty="0"/>
              <a:t>目录</a:t>
            </a:r>
            <a:r>
              <a:rPr lang="en-US" altLang="zh-CN" sz="2800" dirty="0"/>
              <a:t>——</a:t>
            </a:r>
            <a:r>
              <a:rPr lang="zh-CN" altLang="zh-CN" sz="2800" dirty="0"/>
              <a:t>是用来组织和管理一组相关文件的。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zh-CN" sz="2800" dirty="0"/>
              <a:t>目录，又可称为文件夹，可以包含文件，也可以包含其他目录。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AAFF60-BDE5-42BC-97EB-1D4CD3F2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634" y="2993907"/>
            <a:ext cx="2770998" cy="3333347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ABB7742-5A56-4C1E-ABEF-C36FB0E50B52}"/>
              </a:ext>
            </a:extLst>
          </p:cNvPr>
          <p:cNvGrpSpPr/>
          <p:nvPr/>
        </p:nvGrpSpPr>
        <p:grpSpPr>
          <a:xfrm>
            <a:off x="422348" y="3087256"/>
            <a:ext cx="2603286" cy="452388"/>
            <a:chOff x="1307869" y="3301465"/>
            <a:chExt cx="2603286" cy="452388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615332B-9A45-4410-9CEC-82401A37B57C}"/>
                </a:ext>
              </a:extLst>
            </p:cNvPr>
            <p:cNvCxnSpPr/>
            <p:nvPr/>
          </p:nvCxnSpPr>
          <p:spPr>
            <a:xfrm>
              <a:off x="2916455" y="3551722"/>
              <a:ext cx="99470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91E516A-5B7F-4325-9A9B-80B0B2CEA88A}"/>
                </a:ext>
              </a:extLst>
            </p:cNvPr>
            <p:cNvSpPr/>
            <p:nvPr/>
          </p:nvSpPr>
          <p:spPr>
            <a:xfrm>
              <a:off x="1307869" y="3301465"/>
              <a:ext cx="1512333" cy="4523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盘符</a:t>
              </a:r>
              <a:r>
                <a:rPr lang="en-US" altLang="zh-CN" dirty="0"/>
                <a:t>(</a:t>
              </a:r>
              <a:r>
                <a:rPr lang="zh-CN" altLang="en-US" dirty="0"/>
                <a:t>根目录）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BE7251D-B36E-4B52-8781-27A1C908A329}"/>
              </a:ext>
            </a:extLst>
          </p:cNvPr>
          <p:cNvGrpSpPr/>
          <p:nvPr/>
        </p:nvGrpSpPr>
        <p:grpSpPr>
          <a:xfrm>
            <a:off x="422348" y="4049387"/>
            <a:ext cx="2603286" cy="1126551"/>
            <a:chOff x="1307869" y="4263596"/>
            <a:chExt cx="2603286" cy="1126551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4608990-623A-4335-9571-13C4CC2191A3}"/>
                </a:ext>
              </a:extLst>
            </p:cNvPr>
            <p:cNvGrpSpPr/>
            <p:nvPr/>
          </p:nvGrpSpPr>
          <p:grpSpPr>
            <a:xfrm>
              <a:off x="1307869" y="4263596"/>
              <a:ext cx="2603286" cy="452388"/>
              <a:chOff x="1307869" y="3301465"/>
              <a:chExt cx="2603286" cy="452388"/>
            </a:xfrm>
          </p:grpSpPr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26C4D977-2AAC-426D-B881-91BBFE66C124}"/>
                  </a:ext>
                </a:extLst>
              </p:cNvPr>
              <p:cNvCxnSpPr/>
              <p:nvPr/>
            </p:nvCxnSpPr>
            <p:spPr>
              <a:xfrm>
                <a:off x="2916455" y="3551722"/>
                <a:ext cx="994700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CCD7DE7-BE96-47DF-8C21-01FA035CFD71}"/>
                  </a:ext>
                </a:extLst>
              </p:cNvPr>
              <p:cNvSpPr/>
              <p:nvPr/>
            </p:nvSpPr>
            <p:spPr>
              <a:xfrm>
                <a:off x="1307869" y="3301465"/>
                <a:ext cx="1512333" cy="45238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文件夹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目录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p:grp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5624DF0-EA10-4071-8C6B-2C6AA96C0826}"/>
                </a:ext>
              </a:extLst>
            </p:cNvPr>
            <p:cNvCxnSpPr/>
            <p:nvPr/>
          </p:nvCxnSpPr>
          <p:spPr>
            <a:xfrm>
              <a:off x="2916455" y="4513853"/>
              <a:ext cx="994700" cy="87629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1AA3B39-8921-4E8F-B9C6-F9BE6923D2FE}"/>
              </a:ext>
            </a:extLst>
          </p:cNvPr>
          <p:cNvSpPr/>
          <p:nvPr/>
        </p:nvSpPr>
        <p:spPr>
          <a:xfrm>
            <a:off x="422348" y="5377892"/>
            <a:ext cx="1512333" cy="4523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文件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0F69627-CCB2-4696-BF90-137E48AE66F9}"/>
              </a:ext>
            </a:extLst>
          </p:cNvPr>
          <p:cNvCxnSpPr>
            <a:cxnSpLocks/>
          </p:cNvCxnSpPr>
          <p:nvPr/>
        </p:nvCxnSpPr>
        <p:spPr>
          <a:xfrm>
            <a:off x="2034436" y="5604087"/>
            <a:ext cx="894945" cy="355289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C4B623A-7733-4299-8A17-F241FB7DF6EE}"/>
              </a:ext>
            </a:extLst>
          </p:cNvPr>
          <p:cNvCxnSpPr/>
          <p:nvPr/>
        </p:nvCxnSpPr>
        <p:spPr>
          <a:xfrm>
            <a:off x="4013738" y="4660580"/>
            <a:ext cx="914400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19CFBBB-AD4B-4906-A31F-DD2281EEF111}"/>
              </a:ext>
            </a:extLst>
          </p:cNvPr>
          <p:cNvCxnSpPr>
            <a:cxnSpLocks/>
          </p:cNvCxnSpPr>
          <p:nvPr/>
        </p:nvCxnSpPr>
        <p:spPr>
          <a:xfrm>
            <a:off x="4129242" y="5583002"/>
            <a:ext cx="591954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6E89F77-C954-4D9B-9E81-D4C63C9AEADF}"/>
              </a:ext>
            </a:extLst>
          </p:cNvPr>
          <p:cNvCxnSpPr>
            <a:cxnSpLocks/>
          </p:cNvCxnSpPr>
          <p:nvPr/>
        </p:nvCxnSpPr>
        <p:spPr>
          <a:xfrm>
            <a:off x="5070914" y="5583002"/>
            <a:ext cx="591954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273E1DE-EBEA-450E-A545-3BD7D8416589}"/>
              </a:ext>
            </a:extLst>
          </p:cNvPr>
          <p:cNvCxnSpPr>
            <a:cxnSpLocks/>
          </p:cNvCxnSpPr>
          <p:nvPr/>
        </p:nvCxnSpPr>
        <p:spPr>
          <a:xfrm>
            <a:off x="3107360" y="6327254"/>
            <a:ext cx="591954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57369C7-4E1A-4B36-BD79-EC5E40B38017}"/>
              </a:ext>
            </a:extLst>
          </p:cNvPr>
          <p:cNvSpPr/>
          <p:nvPr/>
        </p:nvSpPr>
        <p:spPr>
          <a:xfrm>
            <a:off x="5829940" y="2886208"/>
            <a:ext cx="6672852" cy="9665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盘根目录下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文件夹“</a:t>
            </a:r>
            <a:r>
              <a:rPr lang="en-US" altLang="zh-CN" sz="2000" dirty="0"/>
              <a:t>documents</a:t>
            </a:r>
            <a:r>
              <a:rPr lang="zh-CN" altLang="zh-CN" sz="2000" dirty="0"/>
              <a:t>”和</a:t>
            </a:r>
            <a:r>
              <a:rPr lang="zh-CN" altLang="en-US" sz="2000" dirty="0"/>
              <a:t> 文件“</a:t>
            </a:r>
            <a:r>
              <a:rPr lang="zh-CN" altLang="zh-CN" sz="2000" dirty="0"/>
              <a:t>文件与异常处理</a:t>
            </a:r>
            <a:r>
              <a:rPr lang="en-US" altLang="zh-CN" sz="2000" dirty="0"/>
              <a:t>.doc</a:t>
            </a:r>
            <a:r>
              <a:rPr lang="zh-CN" altLang="zh-CN" sz="2000" dirty="0"/>
              <a:t>”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3A8DD6-FDD1-4FEB-AACC-F27D91F3F386}"/>
              </a:ext>
            </a:extLst>
          </p:cNvPr>
          <p:cNvSpPr/>
          <p:nvPr/>
        </p:nvSpPr>
        <p:spPr>
          <a:xfrm>
            <a:off x="5829940" y="3936844"/>
            <a:ext cx="5052730" cy="14282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文件夹“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documents</a:t>
            </a: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下包含：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文件夹“</a:t>
            </a:r>
            <a:r>
              <a:rPr lang="en-US" altLang="zh-CN" sz="2000" dirty="0"/>
              <a:t>python</a:t>
            </a:r>
            <a:r>
              <a:rPr lang="zh-CN" altLang="zh-CN" sz="2000" dirty="0"/>
              <a:t>”</a:t>
            </a:r>
            <a:r>
              <a:rPr lang="zh-CN" altLang="en-US" sz="2000" dirty="0"/>
              <a:t>、</a:t>
            </a:r>
            <a:r>
              <a:rPr lang="zh-CN" altLang="zh-CN" sz="2000" dirty="0"/>
              <a:t>文件“</a:t>
            </a:r>
            <a:r>
              <a:rPr lang="en-US" altLang="zh-CN" sz="2000" dirty="0"/>
              <a:t>scores.xlsx</a:t>
            </a:r>
            <a:r>
              <a:rPr lang="zh-CN" altLang="zh-CN" sz="2000" dirty="0"/>
              <a:t>”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和文件“</a:t>
            </a:r>
            <a:r>
              <a:rPr lang="en-US" altLang="zh-CN" sz="2000" dirty="0"/>
              <a:t>data.txt</a:t>
            </a:r>
            <a:r>
              <a:rPr lang="zh-CN" altLang="zh-CN" sz="2000" dirty="0"/>
              <a:t>”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3BD1A2-76DB-4294-8912-0962FCD1AB46}"/>
              </a:ext>
            </a:extLst>
          </p:cNvPr>
          <p:cNvSpPr/>
          <p:nvPr/>
        </p:nvSpPr>
        <p:spPr>
          <a:xfrm>
            <a:off x="5892885" y="5449144"/>
            <a:ext cx="3370603" cy="9665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文件夹“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下包含：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文件“</a:t>
            </a:r>
            <a:r>
              <a:rPr lang="en-US" altLang="zh-CN" sz="2000" dirty="0"/>
              <a:t>5-1.py</a:t>
            </a:r>
            <a:r>
              <a:rPr lang="zh-CN" altLang="zh-CN" sz="2000" dirty="0"/>
              <a:t>”</a:t>
            </a:r>
            <a:endParaRPr lang="zh-CN" altLang="en-US" sz="20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89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5" y="1039705"/>
            <a:ext cx="10869053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文件保存的位置被称为路径。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绝对路径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400" dirty="0">
                <a:solidFill>
                  <a:srgbClr val="FF9900"/>
                </a:solidFill>
              </a:rPr>
              <a:t>从</a:t>
            </a:r>
            <a:r>
              <a:rPr lang="zh-CN" altLang="zh-CN" sz="2400" dirty="0"/>
              <a:t>文件所在</a:t>
            </a:r>
            <a:r>
              <a:rPr lang="zh-CN" altLang="zh-CN" sz="2400" dirty="0">
                <a:solidFill>
                  <a:srgbClr val="FF9900"/>
                </a:solidFill>
              </a:rPr>
              <a:t>驱动器名字</a:t>
            </a:r>
            <a:r>
              <a:rPr lang="zh-CN" altLang="zh-CN" sz="2400" dirty="0"/>
              <a:t>（又称为“盘符”）</a:t>
            </a:r>
            <a:r>
              <a:rPr lang="zh-CN" altLang="zh-CN" sz="2400" dirty="0">
                <a:solidFill>
                  <a:srgbClr val="FF9900"/>
                </a:solidFill>
              </a:rPr>
              <a:t>开始</a:t>
            </a:r>
            <a:r>
              <a:rPr lang="zh-CN" altLang="zh-CN" sz="2400" dirty="0"/>
              <a:t>描述文件的保存位置。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AAFF60-BDE5-42BC-97EB-1D4CD3F2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650" y="2628584"/>
            <a:ext cx="2770998" cy="3333347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1122DC96-23BA-466B-9E2B-D287AC678DAE}"/>
              </a:ext>
            </a:extLst>
          </p:cNvPr>
          <p:cNvSpPr/>
          <p:nvPr/>
        </p:nvSpPr>
        <p:spPr>
          <a:xfrm>
            <a:off x="8290650" y="5216892"/>
            <a:ext cx="741145" cy="779646"/>
          </a:xfrm>
          <a:prstGeom prst="ellipse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DC4C725-0022-4AB3-AEA3-6F6203F1D21E}"/>
              </a:ext>
            </a:extLst>
          </p:cNvPr>
          <p:cNvCxnSpPr>
            <a:cxnSpLocks/>
          </p:cNvCxnSpPr>
          <p:nvPr/>
        </p:nvCxnSpPr>
        <p:spPr>
          <a:xfrm>
            <a:off x="8364353" y="3147462"/>
            <a:ext cx="0" cy="219456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EFD06A0-398B-4157-B3AE-2A147578CBFD}"/>
              </a:ext>
            </a:extLst>
          </p:cNvPr>
          <p:cNvSpPr/>
          <p:nvPr/>
        </p:nvSpPr>
        <p:spPr>
          <a:xfrm>
            <a:off x="2644101" y="3053074"/>
            <a:ext cx="44516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2800" dirty="0"/>
              <a:t>F:\documents\python\5-1.py</a:t>
            </a:r>
            <a:endParaRPr lang="zh-CN" altLang="en-US" sz="28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D1B1D0C-EA13-47ED-9C62-AF4F8C8D7096}"/>
              </a:ext>
            </a:extLst>
          </p:cNvPr>
          <p:cNvGrpSpPr/>
          <p:nvPr/>
        </p:nvGrpSpPr>
        <p:grpSpPr>
          <a:xfrm>
            <a:off x="2979031" y="3570804"/>
            <a:ext cx="3137835" cy="5490"/>
            <a:chOff x="2127183" y="3511866"/>
            <a:chExt cx="3137835" cy="549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68B24F1-48A9-431E-9F1B-6F98D17B4CC0}"/>
                </a:ext>
              </a:extLst>
            </p:cNvPr>
            <p:cNvCxnSpPr>
              <a:cxnSpLocks/>
            </p:cNvCxnSpPr>
            <p:nvPr/>
          </p:nvCxnSpPr>
          <p:spPr>
            <a:xfrm>
              <a:off x="2127183" y="3511866"/>
              <a:ext cx="173255" cy="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42A7B63-30DA-4D65-9D8D-9C3775519523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26" y="3517356"/>
              <a:ext cx="173255" cy="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A241D57-213A-4872-B2A8-F7B2BB933B79}"/>
                </a:ext>
              </a:extLst>
            </p:cNvPr>
            <p:cNvCxnSpPr>
              <a:cxnSpLocks/>
            </p:cNvCxnSpPr>
            <p:nvPr/>
          </p:nvCxnSpPr>
          <p:spPr>
            <a:xfrm>
              <a:off x="5091763" y="3517356"/>
              <a:ext cx="173255" cy="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3FDF017A-578F-4E57-A91D-BBDC7CF8FB89}"/>
              </a:ext>
            </a:extLst>
          </p:cNvPr>
          <p:cNvSpPr/>
          <p:nvPr/>
        </p:nvSpPr>
        <p:spPr>
          <a:xfrm>
            <a:off x="394021" y="3099335"/>
            <a:ext cx="1427275" cy="364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/>
                </a:solidFill>
              </a:rPr>
              <a:t>分隔符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513E9A-2EEF-4FEC-B019-451AC57711E1}"/>
              </a:ext>
            </a:extLst>
          </p:cNvPr>
          <p:cNvSpPr/>
          <p:nvPr/>
        </p:nvSpPr>
        <p:spPr>
          <a:xfrm>
            <a:off x="2199385" y="4117411"/>
            <a:ext cx="5182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“F:</a:t>
            </a:r>
            <a:r>
              <a:rPr lang="en-US" altLang="zh-CN" sz="2800" dirty="0">
                <a:solidFill>
                  <a:schemeClr val="accent6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documents</a:t>
            </a:r>
            <a:r>
              <a:rPr lang="en-US" altLang="zh-CN" sz="2800" dirty="0">
                <a:solidFill>
                  <a:schemeClr val="accent6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en-US" altLang="zh-CN" sz="2800" dirty="0">
                <a:solidFill>
                  <a:schemeClr val="accent6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5-1.py”</a:t>
            </a:r>
            <a:endParaRPr lang="zh-CN" altLang="en-US" sz="28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E8E9B2-FE62-47D6-8F32-A477E838715C}"/>
              </a:ext>
            </a:extLst>
          </p:cNvPr>
          <p:cNvSpPr/>
          <p:nvPr/>
        </p:nvSpPr>
        <p:spPr>
          <a:xfrm>
            <a:off x="2318808" y="5206726"/>
            <a:ext cx="53044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“ F:\documents\python\5-1.py ”</a:t>
            </a:r>
            <a:endParaRPr lang="zh-CN" altLang="en-US" sz="28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2078BA-E164-467F-A4DC-3F0D800BC571}"/>
              </a:ext>
            </a:extLst>
          </p:cNvPr>
          <p:cNvSpPr/>
          <p:nvPr/>
        </p:nvSpPr>
        <p:spPr>
          <a:xfrm>
            <a:off x="140533" y="4215865"/>
            <a:ext cx="184946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zh-CN" sz="2400" dirty="0">
                <a:solidFill>
                  <a:schemeClr val="accent6"/>
                </a:solidFill>
              </a:rPr>
              <a:t>路径字符串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7B07E42-6136-48DB-8190-DCCD74F30BB2}"/>
              </a:ext>
            </a:extLst>
          </p:cNvPr>
          <p:cNvSpPr/>
          <p:nvPr/>
        </p:nvSpPr>
        <p:spPr>
          <a:xfrm>
            <a:off x="195420" y="5140034"/>
            <a:ext cx="1849469" cy="6782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dirty="0">
                <a:solidFill>
                  <a:schemeClr val="accent6"/>
                </a:solidFill>
              </a:rPr>
              <a:t>简便的</a:t>
            </a:r>
            <a:endParaRPr lang="en-US" altLang="zh-CN" sz="2400" dirty="0">
              <a:solidFill>
                <a:schemeClr val="accent6"/>
              </a:solidFill>
            </a:endParaRPr>
          </a:p>
          <a:p>
            <a:pPr algn="ctr"/>
            <a:r>
              <a:rPr lang="zh-CN" altLang="zh-CN" sz="2400" dirty="0">
                <a:solidFill>
                  <a:schemeClr val="accent6"/>
                </a:solidFill>
              </a:rPr>
              <a:t>路径字符串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92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/>
      <p:bldP spid="24" grpId="0"/>
      <p:bldP spid="25" grpId="0"/>
      <p:bldP spid="26" grpId="0"/>
      <p:bldP spid="27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 💻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5" y="1039705"/>
            <a:ext cx="10869053" cy="1227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文件保存的位置被称为路径。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相对路径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400" dirty="0">
                <a:solidFill>
                  <a:srgbClr val="FF9900"/>
                </a:solidFill>
              </a:rPr>
              <a:t>从当前工作目录开始</a:t>
            </a:r>
            <a:r>
              <a:rPr lang="zh-CN" altLang="zh-CN" sz="2400" dirty="0"/>
              <a:t>描述文件的保存位置。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AAFF60-BDE5-42BC-97EB-1D4CD3F2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33" y="3068493"/>
            <a:ext cx="2770998" cy="333334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1401F51-A671-4FAE-817F-89CDDB2CC35E}"/>
              </a:ext>
            </a:extLst>
          </p:cNvPr>
          <p:cNvSpPr/>
          <p:nvPr/>
        </p:nvSpPr>
        <p:spPr>
          <a:xfrm>
            <a:off x="853603" y="2373986"/>
            <a:ext cx="5242397" cy="9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当前工作目录，</a:t>
            </a:r>
            <a:r>
              <a:rPr lang="en-US" altLang="zh-CN" sz="2000" dirty="0" err="1">
                <a:latin typeface="+mn-ea"/>
              </a:rPr>
              <a:t>cwd</a:t>
            </a:r>
            <a:r>
              <a:rPr lang="zh-CN" altLang="en-US" sz="2000" dirty="0">
                <a:latin typeface="+mn-ea"/>
              </a:rPr>
              <a:t>，默认为安装目录。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可通过</a:t>
            </a:r>
            <a:r>
              <a:rPr lang="en-US" altLang="zh-CN" sz="2000" dirty="0" err="1">
                <a:latin typeface="+mn-ea"/>
              </a:rPr>
              <a:t>os</a:t>
            </a:r>
            <a:r>
              <a:rPr lang="zh-CN" altLang="en-US" sz="2000" dirty="0">
                <a:latin typeface="+mn-ea"/>
              </a:rPr>
              <a:t>库的方法查看和重设。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D89FDC-77B7-47F1-AA73-FC7582DA9F52}"/>
              </a:ext>
            </a:extLst>
          </p:cNvPr>
          <p:cNvSpPr/>
          <p:nvPr/>
        </p:nvSpPr>
        <p:spPr>
          <a:xfrm>
            <a:off x="279394" y="3335275"/>
            <a:ext cx="6096000" cy="32712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sv-SE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sv-SE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sv-SE" altLang="zh-CN" sz="2000" kern="100" dirty="0">
                <a:solidFill>
                  <a:srgbClr val="FF99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sv-SE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os</a:t>
            </a:r>
          </a:p>
          <a:p>
            <a:pPr>
              <a:lnSpc>
                <a:spcPct val="150000"/>
              </a:lnSpc>
            </a:pPr>
            <a:r>
              <a:rPr lang="sv-SE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sv-SE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os.getcwd()</a:t>
            </a:r>
          </a:p>
          <a:p>
            <a:pPr>
              <a:lnSpc>
                <a:spcPct val="150000"/>
              </a:lnSpc>
            </a:pPr>
            <a:r>
              <a:rPr lang="sv-SE" altLang="zh-CN" sz="20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'C:\\Programs\\Python\\Python37-32’</a:t>
            </a: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修改当前工作目录为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盘根目录下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documents</a:t>
            </a:r>
            <a:endParaRPr lang="sv-SE" altLang="zh-CN" sz="2000" kern="1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os.chdir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('F:\\documents')	</a:t>
            </a:r>
            <a:endParaRPr lang="zh-CN" altLang="zh-CN" sz="20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os.getcwd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'F:\\documents'</a:t>
            </a:r>
            <a:endParaRPr lang="zh-CN" altLang="zh-CN" sz="2000" kern="1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A5EA003C-CCAF-4155-9588-39BC85B29873}"/>
              </a:ext>
            </a:extLst>
          </p:cNvPr>
          <p:cNvSpPr/>
          <p:nvPr/>
        </p:nvSpPr>
        <p:spPr>
          <a:xfrm>
            <a:off x="2414081" y="3426178"/>
            <a:ext cx="2635956" cy="625941"/>
          </a:xfrm>
          <a:prstGeom prst="wedgeRectCallout">
            <a:avLst>
              <a:gd name="adj1" fmla="val -50670"/>
              <a:gd name="adj2" fmla="val 106686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/>
                </a:solidFill>
              </a:rPr>
              <a:t>默认的当前工作目录</a:t>
            </a:r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2D891660-B5F7-42FC-8514-663C707CC38A}"/>
              </a:ext>
            </a:extLst>
          </p:cNvPr>
          <p:cNvSpPr/>
          <p:nvPr/>
        </p:nvSpPr>
        <p:spPr>
          <a:xfrm>
            <a:off x="2470526" y="5650075"/>
            <a:ext cx="2863474" cy="625941"/>
          </a:xfrm>
          <a:prstGeom prst="wedgeRectCallout">
            <a:avLst>
              <a:gd name="adj1" fmla="val -63783"/>
              <a:gd name="adj2" fmla="val 6971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/>
                </a:solidFill>
              </a:rPr>
              <a:t>重新设置后的当前目录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ED7A86-CE18-4EDB-82F6-AB56844F14F1}"/>
              </a:ext>
            </a:extLst>
          </p:cNvPr>
          <p:cNvSpPr/>
          <p:nvPr/>
        </p:nvSpPr>
        <p:spPr>
          <a:xfrm>
            <a:off x="5991137" y="4131142"/>
            <a:ext cx="1896533" cy="5387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当前工作目录 </a:t>
            </a:r>
            <a:r>
              <a:rPr lang="en-US" altLang="zh-CN" dirty="0"/>
              <a:t>‘</a:t>
            </a:r>
            <a:r>
              <a:rPr lang="en-US" altLang="zh-CN" dirty="0">
                <a:solidFill>
                  <a:schemeClr val="accent6"/>
                </a:solidFill>
              </a:rPr>
              <a:t>\\</a:t>
            </a:r>
            <a:r>
              <a:rPr lang="en-US" altLang="zh-CN" dirty="0"/>
              <a:t>’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DE962D-10F4-46C3-8331-B736871A5BDE}"/>
              </a:ext>
            </a:extLst>
          </p:cNvPr>
          <p:cNvCxnSpPr/>
          <p:nvPr/>
        </p:nvCxnSpPr>
        <p:spPr>
          <a:xfrm>
            <a:off x="7998178" y="4400537"/>
            <a:ext cx="80151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CDE44E8-B6F4-413C-95F2-B1509FD8AB40}"/>
              </a:ext>
            </a:extLst>
          </p:cNvPr>
          <p:cNvSpPr/>
          <p:nvPr/>
        </p:nvSpPr>
        <p:spPr>
          <a:xfrm>
            <a:off x="5991137" y="3028073"/>
            <a:ext cx="1896533" cy="8281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当前目录的上一级目录    </a:t>
            </a:r>
            <a:r>
              <a:rPr lang="en-US" altLang="zh-CN" dirty="0"/>
              <a:t>’</a:t>
            </a:r>
            <a:r>
              <a:rPr lang="en-US" altLang="zh-CN" b="1" dirty="0">
                <a:solidFill>
                  <a:schemeClr val="accent6"/>
                </a:solidFill>
              </a:rPr>
              <a:t>..</a:t>
            </a:r>
            <a:r>
              <a:rPr lang="en-US" altLang="zh-CN" dirty="0"/>
              <a:t>’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71DF7C9-DEF4-4D3F-B105-C7880D487BF1}"/>
              </a:ext>
            </a:extLst>
          </p:cNvPr>
          <p:cNvCxnSpPr/>
          <p:nvPr/>
        </p:nvCxnSpPr>
        <p:spPr>
          <a:xfrm>
            <a:off x="7998178" y="3454401"/>
            <a:ext cx="80151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B09F5DCE-E8F5-406D-AEE0-6BB3A455075E}"/>
              </a:ext>
            </a:extLst>
          </p:cNvPr>
          <p:cNvSpPr/>
          <p:nvPr/>
        </p:nvSpPr>
        <p:spPr>
          <a:xfrm>
            <a:off x="5991137" y="4977133"/>
            <a:ext cx="1896533" cy="6540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当前目录的下一级目录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013EDE6-E9E8-4EA0-B2DA-9D1AF567B866}"/>
              </a:ext>
            </a:extLst>
          </p:cNvPr>
          <p:cNvCxnSpPr/>
          <p:nvPr/>
        </p:nvCxnSpPr>
        <p:spPr>
          <a:xfrm>
            <a:off x="7998178" y="5314262"/>
            <a:ext cx="80151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74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13" grpId="0" animBg="1"/>
      <p:bldP spid="7" grpId="0" animBg="1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5" y="1039705"/>
            <a:ext cx="10869053" cy="1227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文件保存的位置被称为路径。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相对路径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400" dirty="0">
                <a:solidFill>
                  <a:srgbClr val="FF9900"/>
                </a:solidFill>
              </a:rPr>
              <a:t>从当前工作目录开始</a:t>
            </a:r>
            <a:r>
              <a:rPr lang="zh-CN" altLang="zh-CN" sz="2400" dirty="0"/>
              <a:t>描述文件的保存位置。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52140AE-30D1-43AA-A7E8-99FECCE76E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40982" y="2433776"/>
            <a:ext cx="8470661" cy="4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6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8F5B83D-CDC3-4BBA-87DA-BBEE140E2ABB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295400" y="-1"/>
            <a:ext cx="9627524" cy="687680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https://www.bilibili.com/video/BV1Jgf6YvE8e?vd_source=5431d634c0425af0db3a0222bec3a7bf&amp;p=30&amp;spm_id_from=333.788.videopod.episodes</a:t>
            </a: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237341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24150D-6B41-45FE-853C-C5BCA0DCFD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关于文件路径的描述，以下哪一项是错误的？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C96F76-9693-4FA9-AD74-5F175D73F5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98017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DeepSeek-CJK-patch"/>
              </a:rPr>
              <a:t>绝对路径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DeepSeek-CJK-patch"/>
              </a:rPr>
              <a:t>从根目录开始（如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/>
                <a:ea typeface="Menlo"/>
              </a:rPr>
              <a:t>/home/user/file.txt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DeepSeek-CJK-patch"/>
              </a:rPr>
              <a:t>或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/>
                <a:ea typeface="Menlo"/>
              </a:rPr>
              <a:t>C:\Users\file.txt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DeepSeek-CJK-patch"/>
              </a:rPr>
              <a:t>），可在任何位置唯一定位文件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677CBE-84DF-4A34-A35B-424B510DA06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DeepSeek-CJK-patch"/>
              </a:rPr>
              <a:t>相对路径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DeepSeek-CJK-patch"/>
              </a:rPr>
              <a:t>基于当前工作目录（如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/>
                <a:ea typeface="Menlo"/>
              </a:rPr>
              <a:t>./docs/report.pdf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DeepSeek-CJK-patch"/>
              </a:rPr>
              <a:t>），在不同环境下可能指向不同文件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7EC072-ACD6-4132-ADD5-38B91EC32F9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../images/logo.png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表示从当前目录向上一级再进入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images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96BE41-5587-4EC6-B586-B447EE998B5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solidFill>
                  <a:srgbClr val="404040"/>
                </a:solidFill>
                <a:effectLst/>
                <a:latin typeface="DeepSeek-CJK-patch"/>
              </a:rPr>
              <a:t>相对路径总是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比绝对路径更安全可靠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209C11A-DBE0-4DEC-BE34-B1074EE1793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1FF8AC3-06FE-40B8-9BD6-F2839BC28FB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E9B388F-35B5-4A52-991E-49BF59E3CEE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DB818EE-FA1A-4471-A77E-E1C0434CB9A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240F1CF-71D5-4B6F-96CD-8EDC12E72F9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38E06C89-1648-43FC-B1F8-D7099B531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4E02E744-2FF3-4A98-8A32-200F871AE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BA5294-D160-4F85-92D0-8ECA312A6E6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BB947FD-5A14-4CD7-A1F9-C3D81556AE9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898F901-9DD6-4BAE-8548-28B30C7D66B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D3509FA-0029-4557-A991-23CC530BF2A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7648FB8-4597-4976-947A-7F2EEBD550B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8461341-1437-49D9-AA24-09CAE72EC23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0185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6" y="1169169"/>
            <a:ext cx="10869053" cy="233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</a:t>
            </a:r>
            <a:r>
              <a:rPr lang="zh-CN" altLang="en-US" sz="2800" dirty="0"/>
              <a:t>的操作一般包含三个步骤：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打开文件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读文件或者写文件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关闭文件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6E5D7E-E439-4AEE-8ED3-0CC5FEF64C5A}"/>
              </a:ext>
            </a:extLst>
          </p:cNvPr>
          <p:cNvSpPr/>
          <p:nvPr/>
        </p:nvSpPr>
        <p:spPr>
          <a:xfrm>
            <a:off x="1505626" y="3135220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将文件从外部存储器调入内存的过程</a:t>
            </a:r>
            <a:endParaRPr lang="zh-CN" altLang="en-US" sz="24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BCAD0FE-C861-4ABE-AF70-5D06F37EE290}"/>
              </a:ext>
            </a:extLst>
          </p:cNvPr>
          <p:cNvCxnSpPr/>
          <p:nvPr/>
        </p:nvCxnSpPr>
        <p:spPr>
          <a:xfrm>
            <a:off x="1952978" y="2348089"/>
            <a:ext cx="0" cy="7871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47EE8CF7-0E6F-4011-83E5-B298E9218698}"/>
              </a:ext>
            </a:extLst>
          </p:cNvPr>
          <p:cNvSpPr/>
          <p:nvPr/>
        </p:nvSpPr>
        <p:spPr>
          <a:xfrm>
            <a:off x="2660446" y="4158734"/>
            <a:ext cx="66752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 = </a:t>
            </a:r>
            <a:r>
              <a:rPr lang="en-US" altLang="zh-CN" sz="2400" dirty="0">
                <a:solidFill>
                  <a:srgbClr val="FF990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文件路径字符串，模式字符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88CBFD0-5638-45EE-B8CF-CEB73B32C0A8}"/>
              </a:ext>
            </a:extLst>
          </p:cNvPr>
          <p:cNvSpPr/>
          <p:nvPr/>
        </p:nvSpPr>
        <p:spPr>
          <a:xfrm>
            <a:off x="7377296" y="2641869"/>
            <a:ext cx="4701556" cy="787131"/>
          </a:xfrm>
          <a:prstGeom prst="borderCallout2">
            <a:avLst>
              <a:gd name="adj1" fmla="val 116947"/>
              <a:gd name="adj2" fmla="val 36928"/>
              <a:gd name="adj3" fmla="val 152620"/>
              <a:gd name="adj4" fmla="val 28714"/>
              <a:gd name="adj5" fmla="val 197978"/>
              <a:gd name="adj6" fmla="val 1876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accent1"/>
                </a:solidFill>
              </a:rPr>
              <a:t>指定打开文件的类型和操作文件的方式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567AAB2E-42D2-4320-B110-9C010538C0F7}"/>
              </a:ext>
            </a:extLst>
          </p:cNvPr>
          <p:cNvSpPr/>
          <p:nvPr/>
        </p:nvSpPr>
        <p:spPr>
          <a:xfrm>
            <a:off x="2547296" y="5371563"/>
            <a:ext cx="4730045" cy="778933"/>
          </a:xfrm>
          <a:prstGeom prst="borderCallout2">
            <a:avLst>
              <a:gd name="adj1" fmla="val -12409"/>
              <a:gd name="adj2" fmla="val 55390"/>
              <a:gd name="adj3" fmla="val -37047"/>
              <a:gd name="adj4" fmla="val 61734"/>
              <a:gd name="adj5" fmla="val -93297"/>
              <a:gd name="adj6" fmla="val 7588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accent1"/>
                </a:solidFill>
              </a:rPr>
              <a:t>可以采用绝对路径</a:t>
            </a:r>
            <a:r>
              <a:rPr lang="en-US" altLang="zh-CN" sz="2000" dirty="0">
                <a:solidFill>
                  <a:schemeClr val="accent1"/>
                </a:solidFill>
              </a:rPr>
              <a:t>,</a:t>
            </a:r>
            <a:r>
              <a:rPr lang="zh-CN" altLang="zh-CN" sz="2000" dirty="0">
                <a:solidFill>
                  <a:schemeClr val="accent1"/>
                </a:solidFill>
              </a:rPr>
              <a:t>也可以采用相对路径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Open files in Python: How? | Board Infinity">
            <a:extLst>
              <a:ext uri="{FF2B5EF4-FFF2-40B4-BE49-F238E27FC236}">
                <a16:creationId xmlns:a16="http://schemas.microsoft.com/office/drawing/2014/main" id="{C478A292-DC0C-DE39-2ED6-E10A7F9AC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472" y="-6808"/>
            <a:ext cx="4517203" cy="25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4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13722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打开文件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 📜 💻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47EE8CF7-0E6F-4011-83E5-B298E9218698}"/>
              </a:ext>
            </a:extLst>
          </p:cNvPr>
          <p:cNvSpPr/>
          <p:nvPr/>
        </p:nvSpPr>
        <p:spPr>
          <a:xfrm>
            <a:off x="1864579" y="953095"/>
            <a:ext cx="7757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800" dirty="0"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 = </a:t>
            </a:r>
            <a:r>
              <a:rPr lang="en-US" altLang="zh-CN" sz="2800" dirty="0">
                <a:solidFill>
                  <a:srgbClr val="FF990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latin typeface="+mn-ea"/>
                <a:cs typeface="Times New Roman" panose="02020603050405020304" pitchFamily="18" charset="0"/>
              </a:rPr>
              <a:t>文件路径字符串，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模式字符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)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5E685B-DE1E-4590-B6B9-6051BAC03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250840"/>
              </p:ext>
            </p:extLst>
          </p:nvPr>
        </p:nvGraphicFramePr>
        <p:xfrm>
          <a:off x="422348" y="1633549"/>
          <a:ext cx="11193920" cy="51206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596946">
                  <a:extLst>
                    <a:ext uri="{9D8B030D-6E8A-4147-A177-3AD203B41FA5}">
                      <a16:colId xmlns:a16="http://schemas.microsoft.com/office/drawing/2014/main" val="2518562308"/>
                    </a:ext>
                  </a:extLst>
                </a:gridCol>
                <a:gridCol w="1273254">
                  <a:extLst>
                    <a:ext uri="{9D8B030D-6E8A-4147-A177-3AD203B41FA5}">
                      <a16:colId xmlns:a16="http://schemas.microsoft.com/office/drawing/2014/main" val="3856944669"/>
                    </a:ext>
                  </a:extLst>
                </a:gridCol>
                <a:gridCol w="2604519">
                  <a:extLst>
                    <a:ext uri="{9D8B030D-6E8A-4147-A177-3AD203B41FA5}">
                      <a16:colId xmlns:a16="http://schemas.microsoft.com/office/drawing/2014/main" val="2955202079"/>
                    </a:ext>
                  </a:extLst>
                </a:gridCol>
                <a:gridCol w="2203172">
                  <a:extLst>
                    <a:ext uri="{9D8B030D-6E8A-4147-A177-3AD203B41FA5}">
                      <a16:colId xmlns:a16="http://schemas.microsoft.com/office/drawing/2014/main" val="2854998745"/>
                    </a:ext>
                  </a:extLst>
                </a:gridCol>
                <a:gridCol w="3516029">
                  <a:extLst>
                    <a:ext uri="{9D8B030D-6E8A-4147-A177-3AD203B41FA5}">
                      <a16:colId xmlns:a16="http://schemas.microsoft.com/office/drawing/2014/main" val="2165880764"/>
                    </a:ext>
                  </a:extLst>
                </a:gridCol>
              </a:tblGrid>
              <a:tr h="7229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打开模式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文件类型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操作方式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文件不存在时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是否覆盖写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2233271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6"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文本文件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eaVert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只可读文件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-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3018706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7453298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'w'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只可写文件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5788405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'w+'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9558018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'a'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只可写文件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否</a:t>
                      </a:r>
                      <a:r>
                        <a:rPr lang="en-US" sz="2400" kern="100">
                          <a:effectLst/>
                        </a:rPr>
                        <a:t>,</a:t>
                      </a:r>
                      <a:r>
                        <a:rPr lang="zh-CN" sz="2400" kern="100">
                          <a:effectLst/>
                        </a:rPr>
                        <a:t>从</a:t>
                      </a:r>
                      <a:r>
                        <a:rPr lang="en-US" sz="2400" kern="100">
                          <a:effectLst/>
                        </a:rPr>
                        <a:t>EOF</a:t>
                      </a:r>
                      <a:r>
                        <a:rPr lang="zh-CN" sz="2400" kern="100">
                          <a:effectLst/>
                        </a:rPr>
                        <a:t>处开始追加写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172663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'a+'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否</a:t>
                      </a:r>
                      <a:r>
                        <a:rPr lang="en-US" sz="2400" kern="100">
                          <a:effectLst/>
                        </a:rPr>
                        <a:t>,</a:t>
                      </a:r>
                      <a:r>
                        <a:rPr lang="zh-CN" sz="2400" kern="100">
                          <a:effectLst/>
                        </a:rPr>
                        <a:t>从</a:t>
                      </a:r>
                      <a:r>
                        <a:rPr lang="en-US" sz="2400" kern="100">
                          <a:effectLst/>
                        </a:rPr>
                        <a:t>EOF</a:t>
                      </a:r>
                      <a:r>
                        <a:rPr lang="zh-CN" sz="2400" kern="100">
                          <a:effectLst/>
                        </a:rPr>
                        <a:t>处开始追加写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9364375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'rb'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6"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二进制文件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eaVert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只可读文件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-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5700897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'rb+'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356433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'wb'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只可写文件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4792461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'wb+'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037180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'ab'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只可写文件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否</a:t>
                      </a:r>
                      <a:r>
                        <a:rPr lang="en-US" sz="2400" kern="100">
                          <a:effectLst/>
                        </a:rPr>
                        <a:t>,</a:t>
                      </a:r>
                      <a:r>
                        <a:rPr lang="zh-CN" sz="2400" kern="100">
                          <a:effectLst/>
                        </a:rPr>
                        <a:t>从</a:t>
                      </a:r>
                      <a:r>
                        <a:rPr lang="en-US" sz="2400" kern="100">
                          <a:effectLst/>
                        </a:rPr>
                        <a:t>EOF</a:t>
                      </a:r>
                      <a:r>
                        <a:rPr lang="zh-CN" sz="2400" kern="100">
                          <a:effectLst/>
                        </a:rPr>
                        <a:t>处开始追加写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3063406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'ab+'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否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zh-CN" sz="2400" kern="100" dirty="0">
                          <a:effectLst/>
                        </a:rPr>
                        <a:t>从</a:t>
                      </a:r>
                      <a:r>
                        <a:rPr lang="en-US" sz="2400" kern="100" dirty="0">
                          <a:effectLst/>
                        </a:rPr>
                        <a:t>EOF</a:t>
                      </a:r>
                      <a:r>
                        <a:rPr lang="zh-CN" sz="2400" kern="100" dirty="0">
                          <a:effectLst/>
                        </a:rPr>
                        <a:t>处开始追加写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8909265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0D81A16F-66BA-4591-9000-B24EB4216A81}"/>
              </a:ext>
            </a:extLst>
          </p:cNvPr>
          <p:cNvSpPr/>
          <p:nvPr/>
        </p:nvSpPr>
        <p:spPr>
          <a:xfrm>
            <a:off x="314336" y="2319867"/>
            <a:ext cx="11459975" cy="2280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73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关闭文件 🙌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47EE8CF7-0E6F-4011-83E5-B298E9218698}"/>
              </a:ext>
            </a:extLst>
          </p:cNvPr>
          <p:cNvSpPr/>
          <p:nvPr/>
        </p:nvSpPr>
        <p:spPr>
          <a:xfrm>
            <a:off x="3416801" y="1867495"/>
            <a:ext cx="30059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800" dirty="0"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/>
              <a:t>.</a:t>
            </a:r>
            <a:r>
              <a:rPr lang="en-US" altLang="zh-CN" sz="2800" dirty="0">
                <a:solidFill>
                  <a:srgbClr val="FF9900"/>
                </a:solidFill>
              </a:rPr>
              <a:t>close</a:t>
            </a:r>
            <a:r>
              <a:rPr lang="en-US" altLang="zh-CN" sz="2800" dirty="0"/>
              <a:t>()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B6DFEA-5EB5-4935-B8BA-7C62ADA5EF54}"/>
              </a:ext>
            </a:extLst>
          </p:cNvPr>
          <p:cNvSpPr/>
          <p:nvPr/>
        </p:nvSpPr>
        <p:spPr>
          <a:xfrm>
            <a:off x="1426859" y="1210464"/>
            <a:ext cx="80842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关闭文件，是</a:t>
            </a:r>
            <a:r>
              <a:rPr lang="zh-CN" altLang="zh-CN" sz="2800" dirty="0"/>
              <a:t>将文件从从内存保存回外存</a:t>
            </a:r>
            <a:r>
              <a:rPr lang="zh-CN" altLang="en-US" sz="2800" dirty="0"/>
              <a:t>的过程。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55C9BC-5E47-409F-AE4D-EAA4047DB714}"/>
              </a:ext>
            </a:extLst>
          </p:cNvPr>
          <p:cNvSpPr/>
          <p:nvPr/>
        </p:nvSpPr>
        <p:spPr>
          <a:xfrm>
            <a:off x="7234744" y="3513534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chemeClr val="accent2"/>
                </a:solidFill>
              </a:rPr>
              <a:t>内存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B1AE92-2A18-4DB6-8EA6-373C04AC5A0E}"/>
              </a:ext>
            </a:extLst>
          </p:cNvPr>
          <p:cNvSpPr/>
          <p:nvPr/>
        </p:nvSpPr>
        <p:spPr>
          <a:xfrm>
            <a:off x="3506803" y="3513534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chemeClr val="accent2"/>
                </a:solidFill>
              </a:rPr>
              <a:t>外存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B9F7A8-0CA3-4AC7-B97C-FDF01B2C471F}"/>
              </a:ext>
            </a:extLst>
          </p:cNvPr>
          <p:cNvSpPr/>
          <p:nvPr/>
        </p:nvSpPr>
        <p:spPr>
          <a:xfrm>
            <a:off x="3096433" y="515957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solidFill>
                  <a:srgbClr val="FF9900"/>
                </a:solidFill>
              </a:rPr>
              <a:t>长期保存</a:t>
            </a:r>
            <a:r>
              <a:rPr lang="zh-CN" altLang="en-US" sz="2000" dirty="0">
                <a:solidFill>
                  <a:srgbClr val="FF9900"/>
                </a:solidFill>
              </a:rPr>
              <a:t>文件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B16412-432F-49C9-9909-8DADA23807EB}"/>
              </a:ext>
            </a:extLst>
          </p:cNvPr>
          <p:cNvSpPr/>
          <p:nvPr/>
        </p:nvSpPr>
        <p:spPr>
          <a:xfrm>
            <a:off x="6422752" y="5159573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临时存放处理的中间结果</a:t>
            </a: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543402D5-6F3B-409D-9A36-3AB8A2C7F27C}"/>
              </a:ext>
            </a:extLst>
          </p:cNvPr>
          <p:cNvSpPr/>
          <p:nvPr/>
        </p:nvSpPr>
        <p:spPr>
          <a:xfrm>
            <a:off x="3993201" y="2847245"/>
            <a:ext cx="3657956" cy="1456292"/>
          </a:xfrm>
          <a:prstGeom prst="arc">
            <a:avLst>
              <a:gd name="adj1" fmla="val 11061898"/>
              <a:gd name="adj2" fmla="val 21452641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accent6"/>
                </a:solidFill>
              </a:rPr>
              <a:t>打开文件</a:t>
            </a:r>
            <a:r>
              <a:rPr lang="en-US" altLang="zh-CN" sz="2000" dirty="0">
                <a:solidFill>
                  <a:schemeClr val="accent6"/>
                </a:solidFill>
              </a:rPr>
              <a:t>,</a:t>
            </a:r>
            <a:r>
              <a:rPr lang="zh-CN" altLang="en-US" sz="2000" dirty="0">
                <a:solidFill>
                  <a:schemeClr val="accent6"/>
                </a:solidFill>
              </a:rPr>
              <a:t>便于</a:t>
            </a:r>
            <a:r>
              <a:rPr lang="en-US" altLang="zh-CN" sz="2000" dirty="0">
                <a:solidFill>
                  <a:schemeClr val="accent6"/>
                </a:solidFill>
              </a:rPr>
              <a:t>CPU</a:t>
            </a:r>
            <a:r>
              <a:rPr lang="zh-CN" altLang="en-US" sz="2000" dirty="0">
                <a:solidFill>
                  <a:schemeClr val="accent6"/>
                </a:solidFill>
              </a:rPr>
              <a:t>处理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2C79CBA-C48B-456B-A0F2-35925E801DB9}"/>
              </a:ext>
            </a:extLst>
          </p:cNvPr>
          <p:cNvGrpSpPr/>
          <p:nvPr/>
        </p:nvGrpSpPr>
        <p:grpSpPr>
          <a:xfrm>
            <a:off x="4021269" y="3386780"/>
            <a:ext cx="3657956" cy="1456292"/>
            <a:chOff x="4021269" y="3386780"/>
            <a:chExt cx="3657956" cy="1456292"/>
          </a:xfrm>
        </p:grpSpPr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1B0ACA1B-D5B2-4D47-AF07-F9071AE269D2}"/>
                </a:ext>
              </a:extLst>
            </p:cNvPr>
            <p:cNvSpPr/>
            <p:nvPr/>
          </p:nvSpPr>
          <p:spPr>
            <a:xfrm flipV="1">
              <a:off x="4021269" y="3386780"/>
              <a:ext cx="3657956" cy="1456292"/>
            </a:xfrm>
            <a:prstGeom prst="arc">
              <a:avLst>
                <a:gd name="adj1" fmla="val 11061898"/>
                <a:gd name="adj2" fmla="val 21452641"/>
              </a:avLst>
            </a:prstGeom>
            <a:ln w="19050">
              <a:solidFill>
                <a:srgbClr val="00B05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31DA2A-254C-44B5-90C9-532A721203A2}"/>
                </a:ext>
              </a:extLst>
            </p:cNvPr>
            <p:cNvSpPr/>
            <p:nvPr/>
          </p:nvSpPr>
          <p:spPr>
            <a:xfrm>
              <a:off x="4154433" y="4113212"/>
              <a:ext cx="3451299" cy="3709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</a:rPr>
                <a:t>关闭文件</a:t>
              </a:r>
              <a:r>
                <a:rPr lang="en-US" altLang="zh-CN" sz="2000" dirty="0">
                  <a:solidFill>
                    <a:srgbClr val="00B050"/>
                  </a:solidFill>
                </a:rPr>
                <a:t>,</a:t>
              </a:r>
              <a:r>
                <a:rPr lang="zh-CN" altLang="en-US" sz="2000" dirty="0">
                  <a:solidFill>
                    <a:srgbClr val="00B050"/>
                  </a:solidFill>
                </a:rPr>
                <a:t>同步变化</a:t>
              </a:r>
              <a:r>
                <a:rPr lang="en-US" altLang="zh-CN" sz="2000" dirty="0">
                  <a:solidFill>
                    <a:srgbClr val="00B050"/>
                  </a:solidFill>
                </a:rPr>
                <a:t>,</a:t>
              </a:r>
              <a:r>
                <a:rPr lang="zh-CN" altLang="en-US" sz="2000" dirty="0">
                  <a:solidFill>
                    <a:srgbClr val="00B050"/>
                  </a:solidFill>
                </a:rPr>
                <a:t>长期保存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B74477F-51E1-AB71-9DA2-779737820E2D}"/>
              </a:ext>
            </a:extLst>
          </p:cNvPr>
          <p:cNvSpPr txBox="1"/>
          <p:nvPr/>
        </p:nvSpPr>
        <p:spPr>
          <a:xfrm>
            <a:off x="2202646" y="6253590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​长时间运行的程序如果不关闭文件，可能导致资源逐渐耗尽，影响系统性能。</a:t>
            </a:r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16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/>
      <p:bldP spid="13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  💻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F5A18984-B6F5-4650-85E8-FF2C7DE1B66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72" b="1810"/>
          <a:stretch/>
        </p:blipFill>
        <p:spPr bwMode="auto">
          <a:xfrm>
            <a:off x="745474" y="1662513"/>
            <a:ext cx="3582687" cy="31091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31DBEBB-5243-42F8-8AAD-6DB4FC3975F6}"/>
              </a:ext>
            </a:extLst>
          </p:cNvPr>
          <p:cNvSpPr/>
          <p:nvPr/>
        </p:nvSpPr>
        <p:spPr>
          <a:xfrm>
            <a:off x="615077" y="4854566"/>
            <a:ext cx="4715714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>
                <a:solidFill>
                  <a:srgbClr val="FF99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endParaRPr lang="zh-CN" altLang="zh-CN" sz="20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os.chdir</a:t>
            </a:r>
            <a:r>
              <a:rPr lang="en-US" altLang="zh-CN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"F:\\documents\\python"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&gt;&gt;&gt; file=</a:t>
            </a:r>
            <a:r>
              <a:rPr lang="en-US" altLang="zh-CN" sz="2000" dirty="0">
                <a:solidFill>
                  <a:srgbClr val="7030A0"/>
                </a:solidFill>
              </a:rPr>
              <a:t>open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 err="1">
                <a:solidFill>
                  <a:srgbClr val="00B050"/>
                </a:solidFill>
              </a:rPr>
              <a:t>mydata.txt"</a:t>
            </a:r>
            <a:r>
              <a:rPr lang="en-US" altLang="zh-CN" sz="2000" dirty="0" err="1"/>
              <a:t>,</a:t>
            </a:r>
            <a:r>
              <a:rPr lang="en-US" altLang="zh-CN" sz="2000" dirty="0" err="1">
                <a:solidFill>
                  <a:srgbClr val="00B050"/>
                </a:solidFill>
              </a:rPr>
              <a:t>'w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en-US" altLang="zh-CN" sz="2000" dirty="0"/>
              <a:t>)</a:t>
            </a:r>
            <a:endParaRPr lang="zh-CN" altLang="zh-CN" sz="2000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0EE4C5D-8F7F-4378-8640-3EEE8E99F3C6}"/>
              </a:ext>
            </a:extLst>
          </p:cNvPr>
          <p:cNvSpPr/>
          <p:nvPr/>
        </p:nvSpPr>
        <p:spPr>
          <a:xfrm>
            <a:off x="5330791" y="2515614"/>
            <a:ext cx="1110114" cy="46166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D238C2-5B9F-4D9A-B282-DA6B480050E0}"/>
              </a:ext>
            </a:extLst>
          </p:cNvPr>
          <p:cNvSpPr/>
          <p:nvPr/>
        </p:nvSpPr>
        <p:spPr>
          <a:xfrm>
            <a:off x="4466121" y="3060226"/>
            <a:ext cx="2954957" cy="1194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</a:t>
            </a:r>
            <a:r>
              <a:rPr lang="zh-CN" altLang="en-US" b="1" dirty="0">
                <a:solidFill>
                  <a:schemeClr val="accent6"/>
                </a:solidFill>
              </a:rPr>
              <a:t>写模式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打开</a:t>
            </a:r>
            <a:r>
              <a:rPr lang="zh-CN" altLang="en-US" b="1" dirty="0">
                <a:solidFill>
                  <a:schemeClr val="accent6"/>
                </a:solidFill>
              </a:rPr>
              <a:t>不存在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的文件可以在指定文件夹</a:t>
            </a:r>
            <a:r>
              <a:rPr lang="zh-CN" altLang="en-US" b="1" dirty="0">
                <a:solidFill>
                  <a:schemeClr val="accent6"/>
                </a:solidFill>
              </a:rPr>
              <a:t>新建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一个</a:t>
            </a:r>
            <a:r>
              <a:rPr lang="zh-CN" altLang="en-US" b="1" dirty="0">
                <a:solidFill>
                  <a:schemeClr val="accent6"/>
                </a:solidFill>
              </a:rPr>
              <a:t>新文件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EECD778-DF8C-421A-96DF-8CEFC0541BC6}"/>
              </a:ext>
            </a:extLst>
          </p:cNvPr>
          <p:cNvGrpSpPr/>
          <p:nvPr/>
        </p:nvGrpSpPr>
        <p:grpSpPr>
          <a:xfrm>
            <a:off x="7421078" y="1662513"/>
            <a:ext cx="3782729" cy="3109105"/>
            <a:chOff x="7421078" y="1662513"/>
            <a:chExt cx="3782729" cy="3109105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FBA1C01-C0C0-4752-9E12-CE0228099F1E}"/>
                </a:ext>
              </a:extLst>
            </p:cNvPr>
            <p:cNvPicPr/>
            <p:nvPr/>
          </p:nvPicPr>
          <p:blipFill rotWithShape="1">
            <a:blip r:embed="rId4"/>
            <a:srcRect l="1033" r="30522" b="2269"/>
            <a:stretch/>
          </p:blipFill>
          <p:spPr bwMode="auto">
            <a:xfrm>
              <a:off x="7421078" y="1662513"/>
              <a:ext cx="3782729" cy="310910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395068B-F3CE-47AC-B1CC-9F36D99080CF}"/>
                </a:ext>
              </a:extLst>
            </p:cNvPr>
            <p:cNvSpPr/>
            <p:nvPr/>
          </p:nvSpPr>
          <p:spPr>
            <a:xfrm>
              <a:off x="8739739" y="4543124"/>
              <a:ext cx="385010" cy="228494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E8FF814-E355-4CF0-984B-F4B17744B2FB}"/>
                </a:ext>
              </a:extLst>
            </p:cNvPr>
            <p:cNvSpPr/>
            <p:nvPr/>
          </p:nvSpPr>
          <p:spPr>
            <a:xfrm>
              <a:off x="8739739" y="2469023"/>
              <a:ext cx="558265" cy="59181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箭头: 下 23">
            <a:extLst>
              <a:ext uri="{FF2B5EF4-FFF2-40B4-BE49-F238E27FC236}">
                <a16:creationId xmlns:a16="http://schemas.microsoft.com/office/drawing/2014/main" id="{A63247E7-B8BE-4D41-B2D6-8549A74B61A4}"/>
              </a:ext>
            </a:extLst>
          </p:cNvPr>
          <p:cNvSpPr/>
          <p:nvPr/>
        </p:nvSpPr>
        <p:spPr>
          <a:xfrm>
            <a:off x="9230627" y="4897104"/>
            <a:ext cx="394636" cy="46201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72EF5D-D053-4F68-9870-B39EDA8234E8}"/>
              </a:ext>
            </a:extLst>
          </p:cNvPr>
          <p:cNvSpPr/>
          <p:nvPr/>
        </p:nvSpPr>
        <p:spPr>
          <a:xfrm>
            <a:off x="9625264" y="4923826"/>
            <a:ext cx="1578543" cy="394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打开文件后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D92C78A-558E-417B-8340-B62BAE0F481C}"/>
              </a:ext>
            </a:extLst>
          </p:cNvPr>
          <p:cNvSpPr/>
          <p:nvPr/>
        </p:nvSpPr>
        <p:spPr>
          <a:xfrm>
            <a:off x="7900909" y="5385839"/>
            <a:ext cx="3775393" cy="9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与</a:t>
            </a:r>
            <a:r>
              <a:rPr lang="zh-CN" altLang="zh-CN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文件对象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关联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后续文件操作通过</a:t>
            </a:r>
            <a:r>
              <a:rPr lang="zh-CN" altLang="en-US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文件对象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实现</a:t>
            </a:r>
          </a:p>
        </p:txBody>
      </p:sp>
    </p:spTree>
    <p:extLst>
      <p:ext uri="{BB962C8B-B14F-4D97-AF65-F5344CB8AC3E}">
        <p14:creationId xmlns:p14="http://schemas.microsoft.com/office/powerpoint/2010/main" val="79655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4" grpId="0"/>
      <p:bldP spid="24" grpId="0" animBg="1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write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.write(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写入字符串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将指定的字符串写入文件当前插入点位置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530360" y="3153315"/>
            <a:ext cx="4399909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file=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mydata.txt",'w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file.write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file.write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file.close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089B67-8458-4261-A141-5C2A381A9487}"/>
              </a:ext>
            </a:extLst>
          </p:cNvPr>
          <p:cNvSpPr/>
          <p:nvPr/>
        </p:nvSpPr>
        <p:spPr>
          <a:xfrm>
            <a:off x="1068405" y="4352545"/>
            <a:ext cx="3667225" cy="490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# </a:t>
            </a:r>
            <a:r>
              <a:rPr lang="zh-CN" altLang="en-US" dirty="0">
                <a:solidFill>
                  <a:srgbClr val="FF0000"/>
                </a:solidFill>
              </a:rPr>
              <a:t>回显写入的字符数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9649D92-430A-41B9-A25D-665E16C91525}"/>
              </a:ext>
            </a:extLst>
          </p:cNvPr>
          <p:cNvPicPr/>
          <p:nvPr/>
        </p:nvPicPr>
        <p:blipFill rotWithShape="1">
          <a:blip r:embed="rId3"/>
          <a:srcRect l="478" t="1" r="855" b="1083"/>
          <a:stretch/>
        </p:blipFill>
        <p:spPr bwMode="auto">
          <a:xfrm>
            <a:off x="5369927" y="3188831"/>
            <a:ext cx="6447762" cy="3423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BB7C8D-4680-4566-B570-D6D826449AF8}"/>
              </a:ext>
            </a:extLst>
          </p:cNvPr>
          <p:cNvCxnSpPr/>
          <p:nvPr/>
        </p:nvCxnSpPr>
        <p:spPr>
          <a:xfrm>
            <a:off x="8662737" y="4321743"/>
            <a:ext cx="102990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0FE210F-E603-4CD2-8FCB-EAE32D39CD19}"/>
              </a:ext>
            </a:extLst>
          </p:cNvPr>
          <p:cNvCxnSpPr/>
          <p:nvPr/>
        </p:nvCxnSpPr>
        <p:spPr>
          <a:xfrm>
            <a:off x="9824646" y="4321743"/>
            <a:ext cx="102990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60B9B753-285D-4C0C-A267-D77652989E6A}"/>
              </a:ext>
            </a:extLst>
          </p:cNvPr>
          <p:cNvSpPr/>
          <p:nvPr/>
        </p:nvSpPr>
        <p:spPr>
          <a:xfrm>
            <a:off x="8343388" y="4655052"/>
            <a:ext cx="2962516" cy="490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连续写入两个字符串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字符串之间没有任何分隔符</a:t>
            </a:r>
          </a:p>
        </p:txBody>
      </p:sp>
    </p:spTree>
    <p:extLst>
      <p:ext uri="{BB962C8B-B14F-4D97-AF65-F5344CB8AC3E}">
        <p14:creationId xmlns:p14="http://schemas.microsoft.com/office/powerpoint/2010/main" val="163724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0CE5288-3EE6-4008-9E79-52363410F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878" y="3142799"/>
            <a:ext cx="3590925" cy="3228975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kern="100" dirty="0" err="1">
                <a:latin typeface="+mn-ea"/>
                <a:cs typeface="Times New Roman" panose="02020603050405020304" pitchFamily="18" charset="0"/>
              </a:rPr>
              <a:t>writelines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.write(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字符串序列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以序列的形式接受多个字符串作为参数，一次性写入多个串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3237944"/>
            <a:ext cx="5199607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mydata.txt",'w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ls=[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飞雪连天射白鹿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(ls)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横批：越女剑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])</a:t>
            </a:r>
            <a:endParaRPr lang="zh-CN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BB7C8D-4680-4566-B570-D6D826449AF8}"/>
              </a:ext>
            </a:extLst>
          </p:cNvPr>
          <p:cNvCxnSpPr/>
          <p:nvPr/>
        </p:nvCxnSpPr>
        <p:spPr>
          <a:xfrm>
            <a:off x="6115706" y="3927107"/>
            <a:ext cx="113289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0FE210F-E603-4CD2-8FCB-EAE32D39CD19}"/>
              </a:ext>
            </a:extLst>
          </p:cNvPr>
          <p:cNvCxnSpPr>
            <a:cxnSpLocks/>
          </p:cNvCxnSpPr>
          <p:nvPr/>
        </p:nvCxnSpPr>
        <p:spPr>
          <a:xfrm>
            <a:off x="7270825" y="3927107"/>
            <a:ext cx="107256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60B9B753-285D-4C0C-A267-D77652989E6A}"/>
              </a:ext>
            </a:extLst>
          </p:cNvPr>
          <p:cNvSpPr/>
          <p:nvPr/>
        </p:nvSpPr>
        <p:spPr>
          <a:xfrm>
            <a:off x="6466082" y="4288526"/>
            <a:ext cx="2962516" cy="845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连续写入多个字符串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字符串之间没有任何分隔符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CDFE51E-BEFC-47FB-92F7-6410E19B9AF8}"/>
              </a:ext>
            </a:extLst>
          </p:cNvPr>
          <p:cNvCxnSpPr>
            <a:cxnSpLocks/>
          </p:cNvCxnSpPr>
          <p:nvPr/>
        </p:nvCxnSpPr>
        <p:spPr>
          <a:xfrm>
            <a:off x="8353013" y="3927107"/>
            <a:ext cx="89686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77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442A25-85AD-4854-AF5F-91E53B0C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844" y="3206360"/>
            <a:ext cx="3533775" cy="32004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kern="100" dirty="0" err="1">
                <a:latin typeface="+mn-ea"/>
                <a:cs typeface="Times New Roman" panose="02020603050405020304" pitchFamily="18" charset="0"/>
              </a:rPr>
              <a:t>writelines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.write(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字符串序列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以序列的形式接受多个字符串作为参数，一次性写入多个串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3237944"/>
            <a:ext cx="5900187" cy="2352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mydata.txt",'w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ls=[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飞雪连天射白鹿</a:t>
            </a:r>
            <a:r>
              <a:rPr lang="en-US" altLang="zh-CN" sz="2000" kern="100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\t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\n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(ls)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横批：越女剑</a:t>
            </a:r>
            <a:r>
              <a:rPr lang="en-US" altLang="zh-CN" sz="2000" kern="100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\n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])</a:t>
            </a:r>
            <a:endParaRPr lang="zh-CN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8B8988-7090-4866-80BF-FE78D5E30803}"/>
              </a:ext>
            </a:extLst>
          </p:cNvPr>
          <p:cNvSpPr/>
          <p:nvPr/>
        </p:nvSpPr>
        <p:spPr>
          <a:xfrm>
            <a:off x="422347" y="5530723"/>
            <a:ext cx="6425020" cy="845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可以通过在字符串结尾加入分隔符将分隔符写入文件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FABCA72-E23B-455B-8EA2-F0A9BB5CB6CC}"/>
              </a:ext>
            </a:extLst>
          </p:cNvPr>
          <p:cNvCxnSpPr/>
          <p:nvPr/>
        </p:nvCxnSpPr>
        <p:spPr>
          <a:xfrm flipV="1">
            <a:off x="6227545" y="4081112"/>
            <a:ext cx="1665171" cy="1872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04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776097" y="964620"/>
            <a:ext cx="9994231" cy="66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write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方法和</a:t>
            </a:r>
            <a:r>
              <a:rPr lang="en-US" altLang="zh-CN" sz="2800" kern="100" dirty="0" err="1">
                <a:latin typeface="+mn-ea"/>
                <a:cs typeface="Times New Roman" panose="02020603050405020304" pitchFamily="18" charset="0"/>
              </a:rPr>
              <a:t>writelines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方法也可以用于追加模式（</a:t>
            </a: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'a'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或者</a:t>
            </a: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'a+’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）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3201066" y="2293387"/>
            <a:ext cx="4353162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mydata.txt",'w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9B2C8D-303B-43D6-AB30-07A183A3F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53" y="2433086"/>
            <a:ext cx="2390775" cy="28003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EDA12E-E0A6-4CB9-95B1-E4F1DFF8B58F}"/>
              </a:ext>
            </a:extLst>
          </p:cNvPr>
          <p:cNvSpPr/>
          <p:nvPr/>
        </p:nvSpPr>
        <p:spPr>
          <a:xfrm>
            <a:off x="860318" y="5319499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文件打开前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2763BC-80F2-4E96-AE4B-125766BCA7B1}"/>
              </a:ext>
            </a:extLst>
          </p:cNvPr>
          <p:cNvSpPr/>
          <p:nvPr/>
        </p:nvSpPr>
        <p:spPr>
          <a:xfrm>
            <a:off x="3124064" y="5008132"/>
            <a:ext cx="4353162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"mydata.txt", 'a'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8D6350-BCF1-4AE3-AE93-15CD204EC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226" y="1775287"/>
            <a:ext cx="2390775" cy="27363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973E1B7-40AB-49BA-969A-A48CB7748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696" y="4057650"/>
            <a:ext cx="2428875" cy="28003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8F4027-3D66-4CE9-B123-5EA1102F277B}"/>
              </a:ext>
            </a:extLst>
          </p:cNvPr>
          <p:cNvSpPr/>
          <p:nvPr/>
        </p:nvSpPr>
        <p:spPr>
          <a:xfrm>
            <a:off x="7819517" y="3004864"/>
            <a:ext cx="1956661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从头覆盖写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CAE3DF-F79F-4671-9C34-0647FAAF454B}"/>
              </a:ext>
            </a:extLst>
          </p:cNvPr>
          <p:cNvSpPr/>
          <p:nvPr/>
        </p:nvSpPr>
        <p:spPr>
          <a:xfrm>
            <a:off x="8847533" y="5534171"/>
            <a:ext cx="2428875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从文档结尾处追加写</a:t>
            </a:r>
          </a:p>
        </p:txBody>
      </p:sp>
    </p:spTree>
    <p:extLst>
      <p:ext uri="{BB962C8B-B14F-4D97-AF65-F5344CB8AC3E}">
        <p14:creationId xmlns:p14="http://schemas.microsoft.com/office/powerpoint/2010/main" val="230046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8AFA973-A602-431F-BBE8-059ECC824E15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295400" y="0"/>
            <a:ext cx="9610898" cy="68649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https://www.bilibili.com/video/BV1Jgf6YvE8e?vd_source=5431d634c0425af0db3a0222bec3a7bf&amp;spm_id_from=333.788.videopod.episodes&amp;p=32</a:t>
            </a: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372185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dirty="0"/>
              <a:t>read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</a:t>
            </a:r>
            <a:r>
              <a:rPr lang="zh-CN" altLang="en-GB" sz="2800" kern="100" dirty="0">
                <a:latin typeface="+mn-ea"/>
                <a:cs typeface="Times New Roman" panose="02020603050405020304" pitchFamily="18" charset="0"/>
              </a:rPr>
              <a:t>读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具体的格式：字符串变量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=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.read()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读出文件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所有内容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并作为一个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字符串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返回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3100472"/>
            <a:ext cx="5145772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 = 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data.txt"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'r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\t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横批：越女剑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\n’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file.close</a:t>
            </a: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2D070E-0FB2-4481-B4B3-BBD9FCC7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474" y="2950554"/>
            <a:ext cx="4029075" cy="357187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B8B4338F-F886-46E9-872D-7CD887EA2A97}"/>
              </a:ext>
            </a:extLst>
          </p:cNvPr>
          <p:cNvSpPr/>
          <p:nvPr/>
        </p:nvSpPr>
        <p:spPr>
          <a:xfrm>
            <a:off x="2637737" y="4862623"/>
            <a:ext cx="388996" cy="4808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553D5C6-F744-49DC-92B6-46ABA823D802}"/>
              </a:ext>
            </a:extLst>
          </p:cNvPr>
          <p:cNvSpPr/>
          <p:nvPr/>
        </p:nvSpPr>
        <p:spPr>
          <a:xfrm>
            <a:off x="5047624" y="4862623"/>
            <a:ext cx="388996" cy="4808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81D0166-65AF-401F-81B3-B7F109720E75}"/>
              </a:ext>
            </a:extLst>
          </p:cNvPr>
          <p:cNvSpPr/>
          <p:nvPr/>
        </p:nvSpPr>
        <p:spPr>
          <a:xfrm>
            <a:off x="2275935" y="5420629"/>
            <a:ext cx="388996" cy="4808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3E103A-D175-4506-B351-8E78B50F7F56}"/>
              </a:ext>
            </a:extLst>
          </p:cNvPr>
          <p:cNvSpPr/>
          <p:nvPr/>
        </p:nvSpPr>
        <p:spPr>
          <a:xfrm>
            <a:off x="3304080" y="5789353"/>
            <a:ext cx="2947864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分隔符将一起读出</a:t>
            </a:r>
          </a:p>
        </p:txBody>
      </p:sp>
    </p:spTree>
    <p:extLst>
      <p:ext uri="{BB962C8B-B14F-4D97-AF65-F5344CB8AC3E}">
        <p14:creationId xmlns:p14="http://schemas.microsoft.com/office/powerpoint/2010/main" val="56111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19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 💻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dirty="0" err="1"/>
              <a:t>readline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读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具体的格式：字符串变量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=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</a:t>
            </a:r>
            <a:r>
              <a:rPr lang="en-US" altLang="zh-CN" sz="2400" kern="100" dirty="0" err="1">
                <a:latin typeface="+mn-ea"/>
                <a:cs typeface="Times New Roman" panose="02020603050405020304" pitchFamily="18" charset="0"/>
              </a:rPr>
              <a:t>readline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()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dirty="0"/>
              <a:t>读出文件中</a:t>
            </a:r>
            <a:r>
              <a:rPr lang="zh-CN" altLang="zh-CN" sz="2400" dirty="0">
                <a:solidFill>
                  <a:srgbClr val="FF0000"/>
                </a:solidFill>
              </a:rPr>
              <a:t>当前行</a:t>
            </a:r>
            <a:r>
              <a:rPr lang="zh-CN" altLang="zh-CN" sz="2400" dirty="0"/>
              <a:t>，并以</a:t>
            </a:r>
            <a:r>
              <a:rPr lang="zh-CN" altLang="zh-CN" sz="2400" dirty="0">
                <a:solidFill>
                  <a:srgbClr val="FF0000"/>
                </a:solidFill>
              </a:rPr>
              <a:t>字符串</a:t>
            </a:r>
            <a:r>
              <a:rPr lang="zh-CN" altLang="zh-CN" sz="2400" dirty="0"/>
              <a:t>的形式返回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2950554"/>
            <a:ext cx="5397205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 = 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data.txt"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'r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.readline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\t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\n’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text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.readline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横批：越女剑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\n'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2D070E-0FB2-4481-B4B3-BBD9FCC7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474" y="2950554"/>
            <a:ext cx="4029075" cy="357187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0043C7B-98BE-4049-924B-10E2CC40EB95}"/>
              </a:ext>
            </a:extLst>
          </p:cNvPr>
          <p:cNvSpPr/>
          <p:nvPr/>
        </p:nvSpPr>
        <p:spPr>
          <a:xfrm>
            <a:off x="3877610" y="5441886"/>
            <a:ext cx="2947864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每次读一行</a:t>
            </a:r>
          </a:p>
        </p:txBody>
      </p:sp>
    </p:spTree>
    <p:extLst>
      <p:ext uri="{BB962C8B-B14F-4D97-AF65-F5344CB8AC3E}">
        <p14:creationId xmlns:p14="http://schemas.microsoft.com/office/powerpoint/2010/main" val="38793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 💻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dirty="0" err="1"/>
              <a:t>readlines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读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具体的格式：字符串变量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=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</a:t>
            </a:r>
            <a:r>
              <a:rPr lang="en-US" altLang="zh-CN" sz="2400" kern="100" dirty="0" err="1">
                <a:latin typeface="+mn-ea"/>
                <a:cs typeface="Times New Roman" panose="02020603050405020304" pitchFamily="18" charset="0"/>
              </a:rPr>
              <a:t>readlines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读出文件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所有内容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并作为一个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列表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返回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2950554"/>
            <a:ext cx="5312145" cy="279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 = 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data.txt"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'r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ls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.readlines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ls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\t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\n', 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横批：越女剑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\n']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2D070E-0FB2-4481-B4B3-BBD9FCC7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474" y="2950554"/>
            <a:ext cx="4029075" cy="35718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6704A86-3D88-40E5-83F2-CC78376E7C9F}"/>
              </a:ext>
            </a:extLst>
          </p:cNvPr>
          <p:cNvSpPr/>
          <p:nvPr/>
        </p:nvSpPr>
        <p:spPr>
          <a:xfrm>
            <a:off x="3005739" y="5441886"/>
            <a:ext cx="3749479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一行作为列表的一个元素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0EFBFA90-57CD-4A6A-BABB-57C8FBAB347F}"/>
              </a:ext>
            </a:extLst>
          </p:cNvPr>
          <p:cNvSpPr/>
          <p:nvPr/>
        </p:nvSpPr>
        <p:spPr>
          <a:xfrm>
            <a:off x="8664037" y="578040"/>
            <a:ext cx="3258406" cy="1321644"/>
          </a:xfrm>
          <a:prstGeom prst="wedgeRectCallout">
            <a:avLst>
              <a:gd name="adj1" fmla="val -70784"/>
              <a:gd name="adj2" fmla="val 9146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将文件的行处理，</a:t>
            </a:r>
            <a:endParaRPr lang="en-US" altLang="zh-CN" sz="2400" dirty="0"/>
          </a:p>
          <a:p>
            <a:pPr algn="ctr">
              <a:lnSpc>
                <a:spcPct val="150000"/>
              </a:lnSpc>
            </a:pPr>
            <a:r>
              <a:rPr lang="zh-CN" altLang="en-US" sz="2400" dirty="0"/>
              <a:t>转换为列表的元素处理</a:t>
            </a:r>
          </a:p>
        </p:txBody>
      </p:sp>
    </p:spTree>
    <p:extLst>
      <p:ext uri="{BB962C8B-B14F-4D97-AF65-F5344CB8AC3E}">
        <p14:creationId xmlns:p14="http://schemas.microsoft.com/office/powerpoint/2010/main" val="339452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BA545EE-62F7-4ED3-81FC-08815FDC683C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295400" y="0"/>
            <a:ext cx="9601199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https://www.bilibili.com/video/BV1Jgf6YvE8e?vd_source=5431d634c0425af0db3a0222bec3a7bf&amp;spm_id_from=333.788.videopod.episodes&amp;p=31</a:t>
            </a: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970524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776097" y="937062"/>
            <a:ext cx="11274975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请将第四章例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4-6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中的问卷调查结果用文本文件“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result.txt”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保存。编写程序读文件然后统计各评语出现的次数，并将最终统计结果追加至“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result.txt”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文件中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AFACCF-07D4-4821-8F94-9286EE2E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36" y="2301672"/>
            <a:ext cx="11626388" cy="43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1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02B4249-81F0-4AD9-901C-3BC5B4A29C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04"/>
          <a:stretch/>
        </p:blipFill>
        <p:spPr>
          <a:xfrm>
            <a:off x="314336" y="637287"/>
            <a:ext cx="11232622" cy="609733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20E7518-BF95-456E-B749-D4BF7212A86A}"/>
              </a:ext>
            </a:extLst>
          </p:cNvPr>
          <p:cNvSpPr/>
          <p:nvPr/>
        </p:nvSpPr>
        <p:spPr>
          <a:xfrm>
            <a:off x="1141228" y="1042007"/>
            <a:ext cx="8654902" cy="22698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E83A0D-EF5E-4032-AF3C-6FD7F22EDDBD}"/>
              </a:ext>
            </a:extLst>
          </p:cNvPr>
          <p:cNvSpPr/>
          <p:nvPr/>
        </p:nvSpPr>
        <p:spPr>
          <a:xfrm>
            <a:off x="1141228" y="6477051"/>
            <a:ext cx="8654902" cy="321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FC0F3C-F44B-4DC7-A21A-3397EEC0BFDE}"/>
              </a:ext>
            </a:extLst>
          </p:cNvPr>
          <p:cNvSpPr/>
          <p:nvPr/>
        </p:nvSpPr>
        <p:spPr>
          <a:xfrm>
            <a:off x="10134599" y="2069805"/>
            <a:ext cx="1632574" cy="637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读文件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返回字符串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D4DA3A-A3F4-4CDA-8BA3-B932D762269A}"/>
              </a:ext>
            </a:extLst>
          </p:cNvPr>
          <p:cNvSpPr/>
          <p:nvPr/>
        </p:nvSpPr>
        <p:spPr>
          <a:xfrm>
            <a:off x="10051313" y="6430284"/>
            <a:ext cx="1826352" cy="414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结果写回文件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60075-75F6-4999-926F-8839A00EDFC1}"/>
              </a:ext>
            </a:extLst>
          </p:cNvPr>
          <p:cNvSpPr/>
          <p:nvPr/>
        </p:nvSpPr>
        <p:spPr>
          <a:xfrm>
            <a:off x="8814629" y="4665282"/>
            <a:ext cx="2558902" cy="7159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用函数实现</a:t>
            </a:r>
          </a:p>
        </p:txBody>
      </p:sp>
    </p:spTree>
    <p:extLst>
      <p:ext uri="{BB962C8B-B14F-4D97-AF65-F5344CB8AC3E}">
        <p14:creationId xmlns:p14="http://schemas.microsoft.com/office/powerpoint/2010/main" val="317585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7FCDA09-BD82-46CD-BA5D-4070314DE8C1}"/>
              </a:ext>
            </a:extLst>
          </p:cNvPr>
          <p:cNvSpPr/>
          <p:nvPr/>
        </p:nvSpPr>
        <p:spPr>
          <a:xfrm>
            <a:off x="530360" y="1192026"/>
            <a:ext cx="5821835" cy="298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Step1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新建文件，以字符串存放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90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个调查结果，如右图。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Step2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编写读文件函数，返回字符串。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733D0D-ACFA-4CD1-B533-09DE406D1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67" y="1104567"/>
            <a:ext cx="5191125" cy="53435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6FFD117-DD7B-48EA-A5FA-BE57C065FDF0}"/>
              </a:ext>
            </a:extLst>
          </p:cNvPr>
          <p:cNvSpPr/>
          <p:nvPr/>
        </p:nvSpPr>
        <p:spPr>
          <a:xfrm>
            <a:off x="1516333" y="4197027"/>
            <a:ext cx="4431452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def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0000FF"/>
                </a:solidFill>
              </a:rPr>
              <a:t>readFile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file =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,</a:t>
            </a:r>
            <a:r>
              <a:rPr lang="en-US" altLang="zh-CN" sz="2400" dirty="0">
                <a:solidFill>
                  <a:srgbClr val="00B050"/>
                </a:solidFill>
              </a:rPr>
              <a:t>'r'</a:t>
            </a:r>
            <a:r>
              <a:rPr lang="en-US" altLang="zh-CN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res = </a:t>
            </a:r>
            <a:r>
              <a:rPr lang="en-US" altLang="zh-CN" sz="2400" dirty="0" err="1"/>
              <a:t>file.read</a:t>
            </a:r>
            <a:r>
              <a:rPr lang="en-US" altLang="zh-CN" sz="2400" dirty="0"/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9900"/>
                </a:solidFill>
              </a:rPr>
              <a:t>return</a:t>
            </a:r>
            <a:r>
              <a:rPr lang="en-US" altLang="zh-CN" sz="2400" dirty="0"/>
              <a:t> res</a:t>
            </a:r>
          </a:p>
        </p:txBody>
      </p:sp>
    </p:spTree>
    <p:extLst>
      <p:ext uri="{BB962C8B-B14F-4D97-AF65-F5344CB8AC3E}">
        <p14:creationId xmlns:p14="http://schemas.microsoft.com/office/powerpoint/2010/main" val="74189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7FCDA09-BD82-46CD-BA5D-4070314DE8C1}"/>
              </a:ext>
            </a:extLst>
          </p:cNvPr>
          <p:cNvSpPr/>
          <p:nvPr/>
        </p:nvSpPr>
        <p:spPr>
          <a:xfrm>
            <a:off x="367329" y="1397589"/>
            <a:ext cx="4396059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Step3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统计各评语出现的次数，结果放在字典里。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F7E606-234A-4291-86DA-918FA00F926F}"/>
              </a:ext>
            </a:extLst>
          </p:cNvPr>
          <p:cNvSpPr/>
          <p:nvPr/>
        </p:nvSpPr>
        <p:spPr>
          <a:xfrm>
            <a:off x="4253026" y="2819813"/>
            <a:ext cx="6904072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def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0000FF"/>
                </a:solidFill>
              </a:rPr>
              <a:t>countComments</a:t>
            </a:r>
            <a:r>
              <a:rPr lang="en-US" altLang="zh-CN" sz="2400" dirty="0"/>
              <a:t>(result):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resList</a:t>
            </a:r>
            <a:r>
              <a:rPr lang="en-US" altLang="zh-CN" sz="2400" dirty="0"/>
              <a:t>=</a:t>
            </a:r>
            <a:r>
              <a:rPr lang="en-US" altLang="zh-CN" sz="2400" dirty="0" err="1"/>
              <a:t>result.split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','</a:t>
            </a:r>
            <a:r>
              <a:rPr lang="en-US" altLang="zh-CN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commentCnts</a:t>
            </a:r>
            <a:r>
              <a:rPr lang="en-US" altLang="zh-CN" sz="2400" dirty="0"/>
              <a:t>={}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9900"/>
                </a:solidFill>
              </a:rPr>
              <a:t>for</a:t>
            </a:r>
            <a:r>
              <a:rPr lang="en-US" altLang="zh-CN" sz="2400" dirty="0"/>
              <a:t> res </a:t>
            </a:r>
            <a:r>
              <a:rPr lang="en-US" altLang="zh-CN" sz="2400" dirty="0">
                <a:solidFill>
                  <a:srgbClr val="FF9900"/>
                </a:solidFill>
              </a:rPr>
              <a:t>in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resList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commentCnts</a:t>
            </a:r>
            <a:r>
              <a:rPr lang="en-US" altLang="zh-CN" sz="2400" dirty="0"/>
              <a:t>[res]=</a:t>
            </a:r>
            <a:r>
              <a:rPr lang="en-US" altLang="zh-CN" sz="2400" dirty="0" err="1"/>
              <a:t>commentCnts.get</a:t>
            </a:r>
            <a:r>
              <a:rPr lang="en-US" altLang="zh-CN" sz="2400" dirty="0"/>
              <a:t>(res,0)+1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9900"/>
                </a:solidFill>
              </a:rPr>
              <a:t>return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commentCnts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5242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7FCDA09-BD82-46CD-BA5D-4070314DE8C1}"/>
              </a:ext>
            </a:extLst>
          </p:cNvPr>
          <p:cNvSpPr/>
          <p:nvPr/>
        </p:nvSpPr>
        <p:spPr>
          <a:xfrm>
            <a:off x="56906" y="1438841"/>
            <a:ext cx="3714108" cy="288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Step4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调用读文件函数和统计函数，并将结果追加至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result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文件中，如图。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FFD117-DD7B-48EA-A5FA-BE57C065FDF0}"/>
              </a:ext>
            </a:extLst>
          </p:cNvPr>
          <p:cNvSpPr/>
          <p:nvPr/>
        </p:nvSpPr>
        <p:spPr>
          <a:xfrm>
            <a:off x="4581474" y="565890"/>
            <a:ext cx="7029280" cy="6046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file = </a:t>
            </a:r>
            <a:r>
              <a:rPr lang="en-US" altLang="zh-CN" sz="2000" dirty="0">
                <a:solidFill>
                  <a:srgbClr val="7030A0"/>
                </a:solidFill>
              </a:rPr>
              <a:t>open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"d:\\result.txt"</a:t>
            </a:r>
            <a:r>
              <a:rPr lang="en-US" altLang="zh-CN" sz="2000" dirty="0"/>
              <a:t>,</a:t>
            </a:r>
            <a:r>
              <a:rPr lang="en-US" altLang="zh-CN" sz="2000" dirty="0">
                <a:solidFill>
                  <a:srgbClr val="00B050"/>
                </a:solidFill>
              </a:rPr>
              <a:t>'a'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most=</a:t>
            </a:r>
            <a:r>
              <a:rPr lang="en-US" altLang="zh-CN" sz="2000" dirty="0">
                <a:solidFill>
                  <a:srgbClr val="7030A0"/>
                </a:solidFill>
              </a:rPr>
              <a:t>max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dicCnts.values</a:t>
            </a:r>
            <a:r>
              <a:rPr lang="en-US" altLang="zh-CN" sz="2000" dirty="0"/>
              <a:t>())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9900"/>
                </a:solidFill>
              </a:rPr>
              <a:t>for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k,v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9900"/>
                </a:solidFill>
              </a:rPr>
              <a:t>in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dicCnts.items</a:t>
            </a:r>
            <a:r>
              <a:rPr lang="en-US" altLang="zh-CN" sz="2000" dirty="0"/>
              <a:t>():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9900"/>
                </a:solidFill>
              </a:rPr>
              <a:t>if</a:t>
            </a:r>
            <a:r>
              <a:rPr lang="en-US" altLang="zh-CN" sz="2000" dirty="0"/>
              <a:t> v == most: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mostComment</a:t>
            </a:r>
            <a:r>
              <a:rPr lang="en-US" altLang="zh-CN" sz="2000" dirty="0"/>
              <a:t> = k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</a:t>
            </a:r>
            <a:r>
              <a:rPr lang="en-US" altLang="zh-CN" sz="2000" dirty="0">
                <a:solidFill>
                  <a:srgbClr val="FF9900"/>
                </a:solidFill>
              </a:rPr>
              <a:t>break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根据统计</a:t>
            </a:r>
            <a:r>
              <a:rPr lang="en-US" altLang="zh-CN" sz="2000" dirty="0">
                <a:solidFill>
                  <a:srgbClr val="00B050"/>
                </a:solidFill>
              </a:rPr>
              <a:t>,</a:t>
            </a:r>
            <a:r>
              <a:rPr lang="zh-CN" altLang="en-US" sz="2000" dirty="0">
                <a:solidFill>
                  <a:srgbClr val="00B050"/>
                </a:solidFill>
              </a:rPr>
              <a:t>对今天伙食感觉</a:t>
            </a:r>
            <a:r>
              <a:rPr lang="en-US" altLang="zh-CN" sz="2000" dirty="0">
                <a:solidFill>
                  <a:srgbClr val="00B050"/>
                </a:solidFill>
              </a:rPr>
              <a:t>:\n"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很满意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</a:t>
            </a:r>
            <a:r>
              <a:rPr lang="en-US" altLang="zh-CN" sz="2000" dirty="0">
                <a:solidFill>
                  <a:srgbClr val="00B050"/>
                </a:solidFill>
              </a:rPr>
              <a:t>;\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很满意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满意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</a:t>
            </a:r>
            <a:r>
              <a:rPr lang="en-US" altLang="zh-CN" sz="2000" dirty="0">
                <a:solidFill>
                  <a:srgbClr val="00B050"/>
                </a:solidFill>
              </a:rPr>
              <a:t>;\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满意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一般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</a:t>
            </a:r>
            <a:r>
              <a:rPr lang="en-US" altLang="zh-CN" sz="2000" dirty="0">
                <a:solidFill>
                  <a:srgbClr val="00B050"/>
                </a:solidFill>
              </a:rPr>
              <a:t>;\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一般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不满意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人。</a:t>
            </a:r>
            <a:r>
              <a:rPr lang="en-US" altLang="zh-CN" sz="2000" dirty="0">
                <a:solidFill>
                  <a:srgbClr val="00B050"/>
                </a:solidFill>
              </a:rPr>
              <a:t>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不满意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出现次数最多的评语是</a:t>
            </a:r>
            <a:r>
              <a:rPr lang="en-US" altLang="zh-CN" sz="2000" dirty="0">
                <a:solidFill>
                  <a:srgbClr val="00B050"/>
                </a:solidFill>
              </a:rPr>
              <a:t>{}\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mostComment</a:t>
            </a:r>
            <a:r>
              <a:rPr lang="en-US" altLang="zh-CN" sz="2000" dirty="0"/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file.close</a:t>
            </a:r>
            <a:r>
              <a:rPr lang="en-US" altLang="zh-CN" sz="2000" dirty="0"/>
              <a:t>()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D8785B-C668-4874-BCE2-FDE5C2F962B1}"/>
              </a:ext>
            </a:extLst>
          </p:cNvPr>
          <p:cNvSpPr/>
          <p:nvPr/>
        </p:nvSpPr>
        <p:spPr>
          <a:xfrm>
            <a:off x="530360" y="4753820"/>
            <a:ext cx="4125234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result = </a:t>
            </a:r>
            <a:r>
              <a:rPr lang="en-US" altLang="zh-CN" sz="2000" dirty="0" err="1"/>
              <a:t>readFile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"d:\\result.txt"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dicCnts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countComments</a:t>
            </a:r>
            <a:r>
              <a:rPr lang="en-US" altLang="zh-CN" sz="2000" dirty="0"/>
              <a:t>(result)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200695-9E42-47EE-8362-267332A6C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451" y="362016"/>
            <a:ext cx="3568229" cy="29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4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4707110" y="2835723"/>
            <a:ext cx="3873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CSV</a:t>
            </a:r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文件操作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02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18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59" y="971228"/>
            <a:ext cx="11328487" cy="5463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CSV</a:t>
            </a:r>
            <a:r>
              <a:rPr lang="zh-CN" altLang="zh-CN" sz="2800" dirty="0"/>
              <a:t>，是英文</a:t>
            </a:r>
            <a:r>
              <a:rPr lang="en-US" altLang="zh-CN" sz="2800" dirty="0"/>
              <a:t>Comma-Separated Values</a:t>
            </a:r>
            <a:r>
              <a:rPr lang="zh-CN" altLang="zh-CN" sz="2800" dirty="0"/>
              <a:t>的缩写，翻译为“逗号分隔值”。</a:t>
            </a:r>
            <a:r>
              <a:rPr lang="en-US" altLang="zh-CN" sz="2800" dirty="0"/>
              <a:t>CSV</a:t>
            </a:r>
            <a:r>
              <a:rPr lang="zh-CN" altLang="zh-CN" sz="2800" dirty="0"/>
              <a:t>文件可以理解为以</a:t>
            </a:r>
            <a:r>
              <a:rPr lang="zh-CN" altLang="zh-CN" sz="2800" dirty="0">
                <a:solidFill>
                  <a:srgbClr val="FF0000"/>
                </a:solidFill>
              </a:rPr>
              <a:t>带逗号分隔</a:t>
            </a:r>
            <a:r>
              <a:rPr lang="zh-CN" altLang="zh-CN" sz="2800" dirty="0"/>
              <a:t>（也可以是其他简单字符分割）</a:t>
            </a:r>
            <a:r>
              <a:rPr lang="zh-CN" altLang="zh-CN" sz="2800" dirty="0">
                <a:solidFill>
                  <a:srgbClr val="FF0000"/>
                </a:solidFill>
              </a:rPr>
              <a:t>的纯文本</a:t>
            </a:r>
            <a:r>
              <a:rPr lang="zh-CN" altLang="zh-CN" sz="2800" dirty="0"/>
              <a:t>形式存储表格数据的文件。</a:t>
            </a:r>
            <a:r>
              <a:rPr lang="en-US" altLang="zh-CN" sz="2800" dirty="0"/>
              <a:t>			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dirty="0"/>
              <a:t>stu.csv</a:t>
            </a:r>
            <a:r>
              <a:rPr lang="zh-CN" altLang="en-US" sz="2400" dirty="0"/>
              <a:t>文件</a:t>
            </a: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/>
              <a:t>可以用记事本，</a:t>
            </a: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/>
              <a:t>也可用</a:t>
            </a:r>
            <a:r>
              <a:rPr lang="en-US" altLang="zh-CN" sz="2400" dirty="0"/>
              <a:t>Excel</a:t>
            </a:r>
            <a:r>
              <a:rPr lang="zh-CN" altLang="en-US" sz="2400" dirty="0"/>
              <a:t>打开</a:t>
            </a: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C2D132-F0EC-4797-A1C4-C2E4D597458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734" y="2995740"/>
            <a:ext cx="3047098" cy="33528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8280450-644A-45E4-BD62-96EE0284B85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447080" y="2995740"/>
            <a:ext cx="3214561" cy="3296374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B1E3CE3A-A825-4373-9578-F6DBEBD258AF}"/>
              </a:ext>
            </a:extLst>
          </p:cNvPr>
          <p:cNvSpPr/>
          <p:nvPr/>
        </p:nvSpPr>
        <p:spPr>
          <a:xfrm>
            <a:off x="3338623" y="4210493"/>
            <a:ext cx="701749" cy="461665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4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60" y="1169169"/>
            <a:ext cx="11328487" cy="4003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CSV</a:t>
            </a:r>
            <a:r>
              <a:rPr lang="zh-CN" altLang="en-US" sz="2800" dirty="0"/>
              <a:t>文件，一般具有以下特征：</a:t>
            </a:r>
            <a:endParaRPr lang="en-US" altLang="zh-CN" sz="2800" dirty="0"/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FF9900"/>
                </a:solidFill>
              </a:rPr>
              <a:t>纯文本</a:t>
            </a:r>
            <a:r>
              <a:rPr lang="zh-CN" altLang="en-US" sz="2400" dirty="0"/>
              <a:t>，使用某个编码标准，比如</a:t>
            </a:r>
            <a:r>
              <a:rPr lang="en-US" altLang="zh-CN" sz="2400" dirty="0"/>
              <a:t>ASCII</a:t>
            </a:r>
            <a:r>
              <a:rPr lang="zh-CN" altLang="en-US" sz="2400" dirty="0"/>
              <a:t>、</a:t>
            </a:r>
            <a:r>
              <a:rPr lang="en-US" altLang="zh-CN" sz="2400" dirty="0"/>
              <a:t>Unicode</a:t>
            </a:r>
            <a:r>
              <a:rPr lang="zh-CN" altLang="en-US" sz="2400" dirty="0"/>
              <a:t>、</a:t>
            </a:r>
            <a:r>
              <a:rPr lang="en-US" altLang="zh-CN" sz="2400" dirty="0"/>
              <a:t>EBCDIC</a:t>
            </a:r>
            <a:r>
              <a:rPr lang="zh-CN" altLang="en-US" sz="2400" dirty="0"/>
              <a:t>或</a:t>
            </a:r>
            <a:r>
              <a:rPr lang="en-US" altLang="zh-CN" sz="2400" dirty="0"/>
              <a:t>GB2312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由</a:t>
            </a:r>
            <a:r>
              <a:rPr lang="zh-CN" altLang="en-US" sz="2400" dirty="0">
                <a:solidFill>
                  <a:srgbClr val="FF9900"/>
                </a:solidFill>
              </a:rPr>
              <a:t>记录组成</a:t>
            </a:r>
            <a:r>
              <a:rPr lang="zh-CN" altLang="en-US" sz="2400" dirty="0"/>
              <a:t>，一行对应一条记录，</a:t>
            </a:r>
            <a:r>
              <a:rPr lang="zh-CN" altLang="en-US" sz="2400" dirty="0">
                <a:solidFill>
                  <a:srgbClr val="FF0000"/>
                </a:solidFill>
              </a:rPr>
              <a:t>每行开头不留空格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每条记录被</a:t>
            </a:r>
            <a:r>
              <a:rPr lang="zh-CN" altLang="en-US" sz="2400" dirty="0">
                <a:solidFill>
                  <a:srgbClr val="FF9900"/>
                </a:solidFill>
              </a:rPr>
              <a:t>英文半角分隔符</a:t>
            </a:r>
            <a:r>
              <a:rPr lang="zh-CN" altLang="en-US" sz="2400" dirty="0"/>
              <a:t>（可以使逗号、分号、制表符等）分割为字段；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每条记录都有</a:t>
            </a:r>
            <a:r>
              <a:rPr lang="zh-CN" altLang="en-US" sz="2400" dirty="0">
                <a:solidFill>
                  <a:srgbClr val="FF9900"/>
                </a:solidFill>
              </a:rPr>
              <a:t>同样的字段序列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如果文件包含字段名，</a:t>
            </a:r>
            <a:r>
              <a:rPr lang="zh-CN" altLang="en-US" sz="2400" dirty="0">
                <a:solidFill>
                  <a:srgbClr val="FF0000"/>
                </a:solidFill>
              </a:rPr>
              <a:t>字段名写在文件第一行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不包含特殊字符，文件中均为</a:t>
            </a:r>
            <a:r>
              <a:rPr lang="zh-CN" altLang="en-US" sz="2400" dirty="0">
                <a:solidFill>
                  <a:srgbClr val="FF9900"/>
                </a:solidFill>
              </a:rPr>
              <a:t>字符串</a:t>
            </a:r>
            <a:r>
              <a:rPr lang="zh-CN" altLang="en-US" sz="2400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8FA4CE-3D15-48CC-87EC-8CAEB82B74CA}"/>
              </a:ext>
            </a:extLst>
          </p:cNvPr>
          <p:cNvSpPr/>
          <p:nvPr/>
        </p:nvSpPr>
        <p:spPr>
          <a:xfrm>
            <a:off x="2346225" y="5688831"/>
            <a:ext cx="7923131" cy="52322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CSV</a:t>
            </a:r>
            <a:r>
              <a:rPr lang="zh-CN" altLang="en-US" sz="2800" dirty="0">
                <a:solidFill>
                  <a:schemeClr val="bg1"/>
                </a:solidFill>
              </a:rPr>
              <a:t>文件广泛应用于在不同程序之间转移表格数据</a:t>
            </a:r>
          </a:p>
        </p:txBody>
      </p:sp>
    </p:spTree>
    <p:extLst>
      <p:ext uri="{BB962C8B-B14F-4D97-AF65-F5344CB8AC3E}">
        <p14:creationId xmlns:p14="http://schemas.microsoft.com/office/powerpoint/2010/main" val="237106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61" y="1169169"/>
            <a:ext cx="10605472" cy="196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/>
              <a:t>针对</a:t>
            </a:r>
            <a:r>
              <a:rPr lang="en-US" altLang="zh-CN" sz="2800" dirty="0"/>
              <a:t>CSV</a:t>
            </a:r>
            <a:r>
              <a:rPr lang="zh-CN" altLang="en-US" sz="2800" dirty="0"/>
              <a:t>文件，</a:t>
            </a:r>
            <a:r>
              <a:rPr lang="en-US" altLang="zh-CN" sz="2800" dirty="0"/>
              <a:t>Python</a:t>
            </a:r>
            <a:r>
              <a:rPr lang="zh-CN" altLang="en-US" sz="2800" dirty="0"/>
              <a:t>提供了内置同名模块</a:t>
            </a:r>
            <a:r>
              <a:rPr lang="en-US" altLang="zh-CN" sz="2800" dirty="0"/>
              <a:t>csv</a:t>
            </a:r>
            <a:r>
              <a:rPr lang="zh-CN" altLang="en-US" sz="2800" dirty="0"/>
              <a:t>进行读写操作，读操作使用模块中的</a:t>
            </a:r>
            <a:r>
              <a:rPr lang="en-US" altLang="zh-CN" sz="2800" dirty="0"/>
              <a:t>reader</a:t>
            </a:r>
            <a:r>
              <a:rPr lang="zh-CN" altLang="en-US" sz="2800" dirty="0"/>
              <a:t>对象，写操作使用模块中的</a:t>
            </a:r>
            <a:r>
              <a:rPr lang="en-US" altLang="zh-CN" sz="2800" dirty="0"/>
              <a:t>writer</a:t>
            </a:r>
            <a:r>
              <a:rPr lang="zh-CN" altLang="en-US" sz="2800" dirty="0"/>
              <a:t>对象。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CSV</a:t>
            </a:r>
            <a:r>
              <a:rPr lang="zh-CN" altLang="en-US" sz="2800" dirty="0"/>
              <a:t>文件进行读、写操作前也需要先打开文件。</a:t>
            </a:r>
            <a:endParaRPr lang="en-US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1139847" y="3619939"/>
            <a:ext cx="6096000" cy="16953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文件名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读写模式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file</a:t>
            </a:r>
            <a:r>
              <a:rPr lang="zh-CN" altLang="en-US" sz="2400" dirty="0"/>
              <a:t>对象名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C00000"/>
                </a:solidFill>
              </a:rPr>
              <a:t>#</a:t>
            </a:r>
            <a:r>
              <a:rPr lang="zh-CN" altLang="en-US" sz="2400" dirty="0">
                <a:solidFill>
                  <a:srgbClr val="C00000"/>
                </a:solidFill>
              </a:rPr>
              <a:t>读写操作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3C9BB712-6E58-45D5-B238-FAD814817A1D}"/>
              </a:ext>
            </a:extLst>
          </p:cNvPr>
          <p:cNvSpPr/>
          <p:nvPr/>
        </p:nvSpPr>
        <p:spPr>
          <a:xfrm>
            <a:off x="7732033" y="3086945"/>
            <a:ext cx="4182140" cy="2346698"/>
          </a:xfrm>
          <a:prstGeom prst="wedgeRectCallout">
            <a:avLst>
              <a:gd name="adj1" fmla="val -60591"/>
              <a:gd name="adj2" fmla="val -259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用</a:t>
            </a:r>
            <a:r>
              <a:rPr lang="en-US" altLang="zh-CN" sz="2400" dirty="0"/>
              <a:t>with</a:t>
            </a:r>
            <a:r>
              <a:rPr lang="zh-CN" altLang="en-US" sz="2400" dirty="0"/>
              <a:t>子句打开的文件，当文件读操作结束后，系统自动调用</a:t>
            </a:r>
            <a:r>
              <a:rPr lang="en-US" altLang="zh-CN" sz="2400" dirty="0"/>
              <a:t>close</a:t>
            </a:r>
            <a:r>
              <a:rPr lang="zh-CN" altLang="en-US" sz="2400" dirty="0"/>
              <a:t>方法关闭文件。</a:t>
            </a:r>
          </a:p>
        </p:txBody>
      </p:sp>
    </p:spTree>
    <p:extLst>
      <p:ext uri="{BB962C8B-B14F-4D97-AF65-F5344CB8AC3E}">
        <p14:creationId xmlns:p14="http://schemas.microsoft.com/office/powerpoint/2010/main" val="142147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422348" y="128786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r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r>
              <a:rPr lang="en-US" altLang="zh-CN" sz="2400" dirty="0"/>
              <a:t>	reader = </a:t>
            </a:r>
            <a:r>
              <a:rPr lang="en-US" altLang="zh-CN" sz="2400" dirty="0" err="1"/>
              <a:t>csv.reader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9900"/>
                </a:solidFill>
              </a:rPr>
              <a:t>for</a:t>
            </a:r>
            <a:r>
              <a:rPr lang="en-US" altLang="zh-CN" sz="2400" dirty="0"/>
              <a:t> row </a:t>
            </a:r>
            <a:r>
              <a:rPr lang="en-US" altLang="zh-CN" sz="2400" dirty="0">
                <a:solidFill>
                  <a:srgbClr val="FF9900"/>
                </a:solidFill>
              </a:rPr>
              <a:t>in</a:t>
            </a:r>
            <a:r>
              <a:rPr lang="en-US" altLang="zh-CN" sz="2400" dirty="0"/>
              <a:t> reader:</a:t>
            </a:r>
            <a:endParaRPr lang="zh-CN" altLang="zh-CN" sz="2400" dirty="0"/>
          </a:p>
          <a:p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rgbClr val="7030A0"/>
                </a:solidFill>
              </a:rPr>
              <a:t>print</a:t>
            </a:r>
            <a:r>
              <a:rPr lang="en-US" altLang="zh-CN" sz="2400" dirty="0"/>
              <a:t>(row)		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962BB2-2665-4571-9620-8DEDE2BE7BD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4069" y="707504"/>
            <a:ext cx="3047098" cy="335283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80CD832-6DAD-449B-8408-10F6DD774515}"/>
              </a:ext>
            </a:extLst>
          </p:cNvPr>
          <p:cNvSpPr/>
          <p:nvPr/>
        </p:nvSpPr>
        <p:spPr>
          <a:xfrm>
            <a:off x="674376" y="381245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姓名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性别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年龄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李明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'19']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杨柳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'18']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张一凡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'18']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许可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'20']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王小小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'19']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陈心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'19']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5089450" y="4247063"/>
            <a:ext cx="6691423" cy="22430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模块读取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文件数据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先创建一个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对象。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然后通过迭代遍历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读出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文件中的每一行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标注: 线形 6">
            <a:extLst>
              <a:ext uri="{FF2B5EF4-FFF2-40B4-BE49-F238E27FC236}">
                <a16:creationId xmlns:a16="http://schemas.microsoft.com/office/drawing/2014/main" id="{17EFF5B9-A6A6-490D-8ED2-0F84204788D7}"/>
              </a:ext>
            </a:extLst>
          </p:cNvPr>
          <p:cNvSpPr/>
          <p:nvPr/>
        </p:nvSpPr>
        <p:spPr>
          <a:xfrm>
            <a:off x="5571461" y="2906233"/>
            <a:ext cx="2799907" cy="1145973"/>
          </a:xfrm>
          <a:prstGeom prst="borderCallout1">
            <a:avLst>
              <a:gd name="adj1" fmla="val 18750"/>
              <a:gd name="adj2" fmla="val -8333"/>
              <a:gd name="adj3" fmla="val 139018"/>
              <a:gd name="adj4" fmla="val -5858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一行对应一个列表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列表元素都是字符串</a:t>
            </a:r>
          </a:p>
        </p:txBody>
      </p:sp>
    </p:spTree>
    <p:extLst>
      <p:ext uri="{BB962C8B-B14F-4D97-AF65-F5344CB8AC3E}">
        <p14:creationId xmlns:p14="http://schemas.microsoft.com/office/powerpoint/2010/main" val="1990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480629" y="1365837"/>
            <a:ext cx="6096000" cy="33590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writer=</a:t>
            </a:r>
            <a:r>
              <a:rPr lang="en-US" altLang="zh-CN" sz="2400" dirty="0" err="1"/>
              <a:t>csv.writer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张芳</a:t>
            </a:r>
            <a:r>
              <a:rPr lang="en-US" altLang="zh-CN" sz="2400" dirty="0"/>
              <a:t>','</a:t>
            </a:r>
            <a:r>
              <a:rPr lang="zh-CN" altLang="zh-CN" sz="2400" dirty="0"/>
              <a:t>女</a:t>
            </a:r>
            <a:r>
              <a:rPr lang="en-US" altLang="zh-CN" sz="2400" dirty="0"/>
              <a:t>','20'])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王虎</a:t>
            </a:r>
            <a:r>
              <a:rPr lang="en-US" altLang="zh-CN" sz="2400" dirty="0"/>
              <a:t>','</a:t>
            </a:r>
            <a:r>
              <a:rPr lang="zh-CN" altLang="zh-CN" sz="2400" dirty="0"/>
              <a:t>男</a:t>
            </a:r>
            <a:r>
              <a:rPr lang="en-US" altLang="zh-CN" sz="2400" dirty="0"/>
              <a:t>','18'])</a:t>
            </a:r>
            <a:r>
              <a:rPr lang="en-US" altLang="zh-CN" dirty="0"/>
              <a:t>	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314336" y="4647637"/>
            <a:ext cx="6691423" cy="1689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模块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写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时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writer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400" dirty="0" err="1">
                <a:latin typeface="+mn-ea"/>
                <a:cs typeface="Times New Roman" panose="02020603050405020304" pitchFamily="18" charset="0"/>
              </a:rPr>
              <a:t>writerow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方法按行写入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写入文件的一行内容要用列表存储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4C5C17-1510-40D7-AAE8-6A028C81D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922" y="642804"/>
            <a:ext cx="4904466" cy="3885357"/>
          </a:xfrm>
          <a:prstGeom prst="rect">
            <a:avLst/>
          </a:prstGeom>
        </p:spPr>
      </p:pic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911C09B5-CA2A-401A-9C01-C654ABCA6CC6}"/>
              </a:ext>
            </a:extLst>
          </p:cNvPr>
          <p:cNvSpPr/>
          <p:nvPr/>
        </p:nvSpPr>
        <p:spPr>
          <a:xfrm>
            <a:off x="8224959" y="5211527"/>
            <a:ext cx="3570208" cy="113710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3732"/>
              <a:gd name="adj6" fmla="val -10064"/>
            </a:avLst>
          </a:prstGeom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记录之间出现了空行，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读文件的时候会出现错误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7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204869" y="998039"/>
            <a:ext cx="7082665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zh-CN" altLang="en-US" sz="2400" dirty="0"/>
              <a:t>，</a:t>
            </a:r>
            <a:r>
              <a:rPr lang="en-US" altLang="zh-CN" sz="2400" dirty="0"/>
              <a:t>newline='')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writer=</a:t>
            </a:r>
            <a:r>
              <a:rPr lang="en-US" altLang="zh-CN" sz="2400" dirty="0" err="1"/>
              <a:t>csv.writer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张芳</a:t>
            </a:r>
            <a:r>
              <a:rPr lang="en-US" altLang="zh-CN" sz="2400" dirty="0"/>
              <a:t>','</a:t>
            </a:r>
            <a:r>
              <a:rPr lang="zh-CN" altLang="zh-CN" sz="2400" dirty="0"/>
              <a:t>女</a:t>
            </a:r>
            <a:r>
              <a:rPr lang="en-US" altLang="zh-CN" sz="2400" dirty="0"/>
              <a:t>','20'])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王虎</a:t>
            </a:r>
            <a:r>
              <a:rPr lang="en-US" altLang="zh-CN" sz="2400" dirty="0"/>
              <a:t>','</a:t>
            </a:r>
            <a:r>
              <a:rPr lang="zh-CN" altLang="zh-CN" sz="2400" dirty="0"/>
              <a:t>男</a:t>
            </a:r>
            <a:r>
              <a:rPr lang="en-US" altLang="zh-CN" sz="2400" dirty="0"/>
              <a:t>','18'])</a:t>
            </a:r>
            <a:r>
              <a:rPr lang="en-US" altLang="zh-CN" dirty="0"/>
              <a:t>	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629139" y="4515813"/>
            <a:ext cx="6205839" cy="11350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打开文件时增加一个参数“</a:t>
            </a:r>
            <a:r>
              <a:rPr lang="en-US" altLang="zh-CN" sz="2400" dirty="0"/>
              <a:t>newline=‘’</a:t>
            </a:r>
            <a:r>
              <a:rPr lang="zh-CN" altLang="zh-CN" sz="2400" dirty="0"/>
              <a:t>”，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zh-CN" sz="2400" dirty="0"/>
              <a:t>指明在写入新的记录后不插入空行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C0D734-F47C-4663-882F-000A91672F82}"/>
              </a:ext>
            </a:extLst>
          </p:cNvPr>
          <p:cNvSpPr/>
          <p:nvPr/>
        </p:nvSpPr>
        <p:spPr>
          <a:xfrm>
            <a:off x="4224669" y="1573618"/>
            <a:ext cx="1431851" cy="623777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A10A6AE-B31C-40C3-88AF-BB7CA75E892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06833" y="726997"/>
            <a:ext cx="4488333" cy="3845003"/>
          </a:xfrm>
          <a:prstGeom prst="rect">
            <a:avLst/>
          </a:prstGeom>
        </p:spPr>
      </p:pic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911C09B5-CA2A-401A-9C01-C654ABCA6CC6}"/>
              </a:ext>
            </a:extLst>
          </p:cNvPr>
          <p:cNvSpPr/>
          <p:nvPr/>
        </p:nvSpPr>
        <p:spPr>
          <a:xfrm>
            <a:off x="8224959" y="5211527"/>
            <a:ext cx="2954655" cy="58310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40942"/>
              <a:gd name="adj6" fmla="val 9062"/>
            </a:avLst>
          </a:prstGeom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记录之间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不再有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空行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93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204869" y="998039"/>
            <a:ext cx="10427689" cy="2805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zh-CN" altLang="en-US" sz="2400" dirty="0"/>
              <a:t>，</a:t>
            </a:r>
            <a:r>
              <a:rPr lang="en-US" altLang="zh-CN" sz="2400" dirty="0"/>
              <a:t>newline='')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writer=</a:t>
            </a:r>
            <a:r>
              <a:rPr lang="en-US" altLang="zh-CN" sz="2400" dirty="0" err="1"/>
              <a:t>csv.writer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 err="1">
                <a:solidFill>
                  <a:srgbClr val="FF0000"/>
                </a:solidFill>
              </a:rPr>
              <a:t>s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[</a:t>
            </a:r>
            <a:r>
              <a:rPr lang="en-US" altLang="zh-CN" sz="2400" dirty="0"/>
              <a:t>['</a:t>
            </a:r>
            <a:r>
              <a:rPr lang="zh-CN" altLang="zh-CN" sz="2400" dirty="0"/>
              <a:t>张芳</a:t>
            </a:r>
            <a:r>
              <a:rPr lang="en-US" altLang="zh-CN" sz="2400" dirty="0"/>
              <a:t>','</a:t>
            </a:r>
            <a:r>
              <a:rPr lang="zh-CN" altLang="zh-CN" sz="2400" dirty="0"/>
              <a:t>女</a:t>
            </a:r>
            <a:r>
              <a:rPr lang="en-US" altLang="zh-CN" sz="2400" dirty="0"/>
              <a:t>','20']</a:t>
            </a:r>
            <a:r>
              <a:rPr lang="zh-CN" altLang="en-US" sz="2400" dirty="0"/>
              <a:t>，</a:t>
            </a:r>
            <a:r>
              <a:rPr lang="en-US" altLang="zh-CN" sz="2400" dirty="0"/>
              <a:t>['</a:t>
            </a:r>
            <a:r>
              <a:rPr lang="zh-CN" altLang="zh-CN" sz="2400" dirty="0"/>
              <a:t>王虎</a:t>
            </a:r>
            <a:r>
              <a:rPr lang="en-US" altLang="zh-CN" sz="2400" dirty="0"/>
              <a:t>','</a:t>
            </a:r>
            <a:r>
              <a:rPr lang="zh-CN" altLang="zh-CN" sz="2400" dirty="0"/>
              <a:t>男</a:t>
            </a:r>
            <a:r>
              <a:rPr lang="en-US" altLang="zh-CN" sz="2400" dirty="0"/>
              <a:t>','18’]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dirty="0"/>
              <a:t>	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1366331" y="3746395"/>
            <a:ext cx="7331102" cy="2797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csv</a:t>
            </a:r>
            <a:r>
              <a:rPr lang="zh-CN" altLang="en-US" sz="2400" dirty="0"/>
              <a:t>模块也可以使用</a:t>
            </a:r>
            <a:r>
              <a:rPr lang="en-US" altLang="zh-CN" sz="2400" dirty="0" err="1"/>
              <a:t>writerows</a:t>
            </a:r>
            <a:r>
              <a:rPr lang="zh-CN" altLang="en-US" sz="2400" dirty="0"/>
              <a:t>方法依次写入多行：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将要写入文件的每一行存储在一个列表中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将每一个列表依次作为元素组成一个新序列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将带有嵌套列表元素的序列作为参数使用</a:t>
            </a:r>
            <a:r>
              <a:rPr lang="en-US" altLang="zh-CN" sz="2400" dirty="0" err="1">
                <a:latin typeface="+mn-ea"/>
                <a:cs typeface="Times New Roman" panose="02020603050405020304" pitchFamily="18" charset="0"/>
              </a:rPr>
              <a:t>writerows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5" name="标注: 线形 4">
            <a:extLst>
              <a:ext uri="{FF2B5EF4-FFF2-40B4-BE49-F238E27FC236}">
                <a16:creationId xmlns:a16="http://schemas.microsoft.com/office/drawing/2014/main" id="{CF55B10E-DEFD-4C2A-A2C6-2F5264402EB2}"/>
              </a:ext>
            </a:extLst>
          </p:cNvPr>
          <p:cNvSpPr/>
          <p:nvPr/>
        </p:nvSpPr>
        <p:spPr>
          <a:xfrm>
            <a:off x="6195238" y="476671"/>
            <a:ext cx="5756452" cy="1137106"/>
          </a:xfrm>
          <a:prstGeom prst="borderCallout1">
            <a:avLst>
              <a:gd name="adj1" fmla="val 18750"/>
              <a:gd name="adj2" fmla="val -8333"/>
              <a:gd name="adj3" fmla="val 194194"/>
              <a:gd name="adj4" fmla="val -18883"/>
            </a:avLst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writerows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方法只接受一个序列作为参数，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可以是列表，也可以是元组。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57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530360" y="1039705"/>
            <a:ext cx="11274975" cy="1316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>
              <a:lnSpc>
                <a:spcPct val="150000"/>
              </a:lnSpc>
            </a:pPr>
            <a:r>
              <a:rPr lang="zh-CN" altLang="zh-CN" sz="2800" dirty="0"/>
              <a:t>请编写程序根据第五章课后习题</a:t>
            </a:r>
            <a:r>
              <a:rPr lang="en-US" altLang="zh-CN" sz="2800" dirty="0"/>
              <a:t>1</a:t>
            </a:r>
            <a:r>
              <a:rPr lang="zh-CN" altLang="zh-CN" sz="2800" dirty="0"/>
              <a:t>中最后生成的通信录字典创建“通信录</a:t>
            </a:r>
            <a:r>
              <a:rPr lang="en-US" altLang="zh-CN" sz="2800" dirty="0"/>
              <a:t>.csv</a:t>
            </a:r>
            <a:r>
              <a:rPr lang="zh-CN" altLang="zh-CN" sz="2800" dirty="0"/>
              <a:t>”文件；然后在程序中查询大王的手机号、</a:t>
            </a:r>
            <a:r>
              <a:rPr lang="en-US" altLang="zh-CN" sz="2800" dirty="0"/>
              <a:t>QQ</a:t>
            </a:r>
            <a:r>
              <a:rPr lang="zh-CN" altLang="zh-CN" sz="2800" dirty="0"/>
              <a:t>号和微信号。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A62852F-A18C-417B-A211-F558239B8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03312"/>
              </p:ext>
            </p:extLst>
          </p:nvPr>
        </p:nvGraphicFramePr>
        <p:xfrm>
          <a:off x="1416308" y="2433628"/>
          <a:ext cx="9359385" cy="42322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5101">
                  <a:extLst>
                    <a:ext uri="{9D8B030D-6E8A-4147-A177-3AD203B41FA5}">
                      <a16:colId xmlns:a16="http://schemas.microsoft.com/office/drawing/2014/main" val="1597325236"/>
                    </a:ext>
                  </a:extLst>
                </a:gridCol>
                <a:gridCol w="2209048">
                  <a:extLst>
                    <a:ext uri="{9D8B030D-6E8A-4147-A177-3AD203B41FA5}">
                      <a16:colId xmlns:a16="http://schemas.microsoft.com/office/drawing/2014/main" val="928707280"/>
                    </a:ext>
                  </a:extLst>
                </a:gridCol>
                <a:gridCol w="2877618">
                  <a:extLst>
                    <a:ext uri="{9D8B030D-6E8A-4147-A177-3AD203B41FA5}">
                      <a16:colId xmlns:a16="http://schemas.microsoft.com/office/drawing/2014/main" val="3379943324"/>
                    </a:ext>
                  </a:extLst>
                </a:gridCol>
                <a:gridCol w="2877618">
                  <a:extLst>
                    <a:ext uri="{9D8B030D-6E8A-4147-A177-3AD203B41FA5}">
                      <a16:colId xmlns:a16="http://schemas.microsoft.com/office/drawing/2014/main" val="1972591264"/>
                    </a:ext>
                  </a:extLst>
                </a:gridCol>
              </a:tblGrid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姓名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手机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QQ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微信号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11897986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小新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13913000001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18191220001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xx9907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96202507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小亮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13913000002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18191220002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</a:rPr>
                        <a:t>13913000002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53213136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小刚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13913000003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18191220003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gang1004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98570545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大刘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13914000001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18191230001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liu666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28132480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大王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13914000004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18191230002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jack_w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45928483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大张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13914000003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18191230003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effectLst/>
                        </a:rPr>
                        <a:t>13914000003</a:t>
                      </a:r>
                      <a:endParaRPr lang="zh-CN" alt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48343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00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7082E5A-82DD-4D1B-998F-F56B83BA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3" y="578040"/>
            <a:ext cx="5385796" cy="38631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216CD0-4564-48AC-BC91-453ADA75499F}"/>
              </a:ext>
            </a:extLst>
          </p:cNvPr>
          <p:cNvSpPr/>
          <p:nvPr/>
        </p:nvSpPr>
        <p:spPr>
          <a:xfrm>
            <a:off x="314336" y="1800833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C000"/>
                </a:solidFill>
              </a:rPr>
              <a:t>import</a:t>
            </a:r>
            <a:r>
              <a:rPr lang="zh-CN" altLang="en-US" sz="2400" dirty="0"/>
              <a:t> csv</a:t>
            </a:r>
          </a:p>
          <a:p>
            <a:r>
              <a:rPr lang="zh-CN" altLang="en-US" sz="2400" dirty="0">
                <a:solidFill>
                  <a:srgbClr val="FFC000"/>
                </a:solidFill>
              </a:rPr>
              <a:t>with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7030A0"/>
                </a:solidFill>
              </a:rPr>
              <a:t>open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"d:\\通信录.csv"</a:t>
            </a:r>
            <a:r>
              <a:rPr lang="zh-CN" altLang="en-US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'r'</a:t>
            </a:r>
            <a:r>
              <a:rPr lang="zh-CN" altLang="en-US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encoding='utf-8'</a:t>
            </a:r>
            <a:r>
              <a:rPr lang="zh-CN" altLang="en-US" sz="2400" dirty="0"/>
              <a:t>) as txlcsv:</a:t>
            </a:r>
          </a:p>
          <a:p>
            <a:r>
              <a:rPr lang="zh-CN" altLang="en-US" sz="2400" dirty="0"/>
              <a:t>    reader = csv.reader(txlcsv)</a:t>
            </a:r>
          </a:p>
          <a:p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rgbClr val="FFC000"/>
                </a:solidFill>
              </a:rPr>
              <a:t>for</a:t>
            </a:r>
            <a:r>
              <a:rPr lang="zh-CN" altLang="en-US" sz="2400" dirty="0"/>
              <a:t> row </a:t>
            </a:r>
            <a:r>
              <a:rPr lang="zh-CN" altLang="en-US" sz="2400" dirty="0">
                <a:solidFill>
                  <a:srgbClr val="FFC000"/>
                </a:solidFill>
              </a:rPr>
              <a:t>in</a:t>
            </a:r>
            <a:r>
              <a:rPr lang="zh-CN" altLang="en-US" sz="2400" dirty="0"/>
              <a:t> reader:</a:t>
            </a:r>
          </a:p>
          <a:p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FFC000"/>
                </a:solidFill>
              </a:rPr>
              <a:t>if</a:t>
            </a:r>
            <a:r>
              <a:rPr lang="zh-CN" altLang="en-US" sz="2400" dirty="0"/>
              <a:t> row[0] == '大王':</a:t>
            </a:r>
          </a:p>
          <a:p>
            <a:r>
              <a:rPr lang="zh-CN" altLang="en-US" sz="2400" dirty="0"/>
              <a:t>            res = row</a:t>
            </a:r>
          </a:p>
          <a:p>
            <a:r>
              <a:rPr lang="zh-CN" altLang="en-US" sz="2400" dirty="0"/>
              <a:t>            </a:t>
            </a:r>
            <a:r>
              <a:rPr lang="zh-CN" altLang="en-US" sz="2400" dirty="0">
                <a:solidFill>
                  <a:srgbClr val="FFC000"/>
                </a:solidFill>
              </a:rPr>
              <a:t>break</a:t>
            </a:r>
          </a:p>
          <a:p>
            <a:r>
              <a:rPr lang="zh-CN" altLang="en-US" sz="2400" dirty="0">
                <a:solidFill>
                  <a:srgbClr val="7030A0"/>
                </a:solidFill>
              </a:rPr>
              <a:t>print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"大王的手机号是："</a:t>
            </a:r>
            <a:r>
              <a:rPr lang="zh-CN" altLang="en-US" sz="2400" dirty="0"/>
              <a:t>,res[1])</a:t>
            </a:r>
          </a:p>
          <a:p>
            <a:r>
              <a:rPr lang="zh-CN" altLang="en-US" sz="2400" dirty="0">
                <a:solidFill>
                  <a:srgbClr val="7030A0"/>
                </a:solidFill>
              </a:rPr>
              <a:t>print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"大王的QQ号是："</a:t>
            </a:r>
            <a:r>
              <a:rPr lang="zh-CN" altLang="en-US" sz="2400" dirty="0"/>
              <a:t>,res[2])</a:t>
            </a:r>
          </a:p>
          <a:p>
            <a:r>
              <a:rPr lang="zh-CN" altLang="en-US" sz="2400" dirty="0">
                <a:solidFill>
                  <a:srgbClr val="7030A0"/>
                </a:solidFill>
              </a:rPr>
              <a:t>print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"大王的微信号是："</a:t>
            </a:r>
            <a:r>
              <a:rPr lang="zh-CN" altLang="en-US" sz="2400" dirty="0"/>
              <a:t>,res[3])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A3B170-93F2-4B94-9A7B-973599DBAA1E}"/>
              </a:ext>
            </a:extLst>
          </p:cNvPr>
          <p:cNvSpPr/>
          <p:nvPr/>
        </p:nvSpPr>
        <p:spPr>
          <a:xfrm>
            <a:off x="6781390" y="4773405"/>
            <a:ext cx="4914424" cy="1695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大王的手机号是： 13914000004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大王的QQ号是： 18191230002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大王的微信号是： jack_w</a:t>
            </a: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A28D97F0-B624-473C-B9E4-7517B652C4C2}"/>
              </a:ext>
            </a:extLst>
          </p:cNvPr>
          <p:cNvSpPr/>
          <p:nvPr/>
        </p:nvSpPr>
        <p:spPr>
          <a:xfrm>
            <a:off x="2003912" y="834286"/>
            <a:ext cx="3110147" cy="966547"/>
          </a:xfrm>
          <a:prstGeom prst="borderCallout2">
            <a:avLst>
              <a:gd name="adj1" fmla="val 55216"/>
              <a:gd name="adj2" fmla="val 102476"/>
              <a:gd name="adj3" fmla="val 53296"/>
              <a:gd name="adj4" fmla="val 128975"/>
              <a:gd name="adj5" fmla="val 135000"/>
              <a:gd name="adj6" fmla="val 10744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6"/>
                </a:solidFill>
              </a:rPr>
              <a:t>将编码指定为</a:t>
            </a:r>
            <a:r>
              <a:rPr lang="en-US" altLang="zh-CN" sz="2000" dirty="0">
                <a:solidFill>
                  <a:schemeClr val="accent6"/>
                </a:solidFill>
              </a:rPr>
              <a:t>UTF-8</a:t>
            </a:r>
            <a:r>
              <a:rPr lang="zh-CN" altLang="en-US" sz="2000" dirty="0">
                <a:solidFill>
                  <a:schemeClr val="accent6"/>
                </a:solidFill>
              </a:rPr>
              <a:t>编码，</a:t>
            </a:r>
            <a:endParaRPr lang="en-US" altLang="zh-CN" sz="2000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6"/>
                </a:solidFill>
              </a:rPr>
              <a:t>避免中文文本读写错误</a:t>
            </a:r>
          </a:p>
        </p:txBody>
      </p:sp>
    </p:spTree>
    <p:extLst>
      <p:ext uri="{BB962C8B-B14F-4D97-AF65-F5344CB8AC3E}">
        <p14:creationId xmlns:p14="http://schemas.microsoft.com/office/powerpoint/2010/main" val="313458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846CE8A-284B-4A45-BE56-B65FF27C49B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TXT </a:t>
            </a:r>
            <a:r>
              <a:rPr lang="zh-CN" altLang="en-US" sz="2800" b="1" i="0" dirty="0">
                <a:solidFill>
                  <a:srgbClr val="404040"/>
                </a:solidFill>
                <a:effectLst/>
                <a:latin typeface="DeepSeek-CJK-patch"/>
              </a:rPr>
              <a:t>和 </a:t>
            </a:r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CSV </a:t>
            </a:r>
            <a:r>
              <a:rPr lang="zh-CN" altLang="en-US" sz="2800" b="1" i="0" dirty="0">
                <a:solidFill>
                  <a:srgbClr val="404040"/>
                </a:solidFill>
                <a:effectLst/>
                <a:latin typeface="DeepSeek-CJK-patch"/>
              </a:rPr>
              <a:t>文件分别适合什么场景？</a:t>
            </a:r>
            <a:endParaRPr lang="zh-CN" altLang="en-US" sz="2800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5C0F6A-1704-498B-BD0B-7F581169F2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TXT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 适合存储结构化表格数据，</a:t>
            </a:r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CSV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 适合存储纯文本日志。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04934A-31D0-4031-920E-9D2B8C33845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i="0" dirty="0">
                <a:solidFill>
                  <a:srgbClr val="404040"/>
                </a:solidFill>
                <a:effectLst/>
                <a:latin typeface="DeepSeek-CJK-patch"/>
              </a:rPr>
              <a:t>TXT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 适合存储非结构化文本（如代码、日志），</a:t>
            </a:r>
            <a:r>
              <a:rPr lang="en-US" altLang="zh-CN" sz="2400" b="1" i="0" dirty="0">
                <a:solidFill>
                  <a:srgbClr val="404040"/>
                </a:solidFill>
                <a:effectLst/>
                <a:latin typeface="DeepSeek-CJK-patch"/>
              </a:rPr>
              <a:t>CSV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 适合存储结构化表格数据（如 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DeepSeek-CJK-patch"/>
              </a:rPr>
              <a:t>Excel 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可处理的数据）。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53CA72-FDD6-40C8-B326-5DB57AEF28C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TXT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 和 </a:t>
            </a:r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CSV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 都可以直接导入数据库，没有区别。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46ED8-FB55-432C-8073-E06369B5A33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CSV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 只能存储数字数据，不能存储文本。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FABFA6D-3C19-41FF-8739-9C0E0B0B667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F123FA3-064D-477D-A1F8-8E90296798D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B37EFB-29C1-44BB-9502-729A9C4920B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4C6441A-EBE3-4A4C-BA41-C19E6EAB000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A8C9D24-70E4-4CE3-9997-0829F2B4A14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2AA074-1E57-487E-B3B6-0772CDADDA9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0D7890E-E19B-4B9D-94F8-C0501CB85B9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315F6E8-4976-427E-8642-C133AE07AD4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DB57F8E-C47A-42C3-802E-A4F9F5650B8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F418A238-AF02-41C6-8D3F-F109AF745FC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293281B-7FEC-42F3-85FA-C34CD04AF54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914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977604" y="2703040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异常和异常处理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03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465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异常简介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 💻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59" y="971228"/>
            <a:ext cx="11328487" cy="2509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		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45817CB-82E6-4423-B964-D54193B8B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83" y="942498"/>
            <a:ext cx="5491002" cy="12279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68A881D-7511-46D0-8E06-246076DF5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54" y="2245761"/>
            <a:ext cx="5546731" cy="11662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EBBD88-3CE5-44E8-AE7F-29F2E17B7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25" y="3555729"/>
            <a:ext cx="5540988" cy="12344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6356F6-D011-4898-B0B9-1A13FA446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083" y="5046872"/>
            <a:ext cx="5726298" cy="1192384"/>
          </a:xfrm>
          <a:prstGeom prst="rect">
            <a:avLst/>
          </a:prstGeom>
        </p:spPr>
      </p:pic>
      <p:sp>
        <p:nvSpPr>
          <p:cNvPr id="8" name="右大括号 7">
            <a:extLst>
              <a:ext uri="{FF2B5EF4-FFF2-40B4-BE49-F238E27FC236}">
                <a16:creationId xmlns:a16="http://schemas.microsoft.com/office/drawing/2014/main" id="{EE460400-48AC-47B4-86F9-959B39CBD3AA}"/>
              </a:ext>
            </a:extLst>
          </p:cNvPr>
          <p:cNvSpPr/>
          <p:nvPr/>
        </p:nvSpPr>
        <p:spPr>
          <a:xfrm>
            <a:off x="6552381" y="1502735"/>
            <a:ext cx="642317" cy="438403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2B3942-CA20-4BCA-B556-8D840451321F}"/>
              </a:ext>
            </a:extLst>
          </p:cNvPr>
          <p:cNvSpPr/>
          <p:nvPr/>
        </p:nvSpPr>
        <p:spPr>
          <a:xfrm>
            <a:off x="7289830" y="3275100"/>
            <a:ext cx="4070345" cy="17813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影响了程序的正常执行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导致程序非正常终止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C841ED41-A485-4D95-816E-A035178CE836}"/>
              </a:ext>
            </a:extLst>
          </p:cNvPr>
          <p:cNvSpPr/>
          <p:nvPr/>
        </p:nvSpPr>
        <p:spPr>
          <a:xfrm>
            <a:off x="9158177" y="5056485"/>
            <a:ext cx="524539" cy="38738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42F06E-70A2-4FD6-B3AD-4025597BDC00}"/>
              </a:ext>
            </a:extLst>
          </p:cNvPr>
          <p:cNvSpPr/>
          <p:nvPr/>
        </p:nvSpPr>
        <p:spPr>
          <a:xfrm>
            <a:off x="7268870" y="5264354"/>
            <a:ext cx="4487452" cy="1112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/>
                </a:solidFill>
              </a:rPr>
              <a:t>捕获异常、控制异常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D62023-5542-4D8B-BF63-D5145C3549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3852" y="0"/>
            <a:ext cx="3807827" cy="341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60B3D1-88B8-4AED-998E-56C276C62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795492"/>
              </p:ext>
            </p:extLst>
          </p:nvPr>
        </p:nvGraphicFramePr>
        <p:xfrm>
          <a:off x="864405" y="1169168"/>
          <a:ext cx="10604581" cy="45369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68415">
                  <a:extLst>
                    <a:ext uri="{9D8B030D-6E8A-4147-A177-3AD203B41FA5}">
                      <a16:colId xmlns:a16="http://schemas.microsoft.com/office/drawing/2014/main" val="2775072790"/>
                    </a:ext>
                  </a:extLst>
                </a:gridCol>
                <a:gridCol w="7036166">
                  <a:extLst>
                    <a:ext uri="{9D8B030D-6E8A-4147-A177-3AD203B41FA5}">
                      <a16:colId xmlns:a16="http://schemas.microsoft.com/office/drawing/2014/main" val="3712957325"/>
                    </a:ext>
                  </a:extLst>
                </a:gridCol>
              </a:tblGrid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异常名称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描述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8816885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Exception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常规异常的基类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4905643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ZeroDivisionError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除数为零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8341201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IOError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输入</a:t>
                      </a:r>
                      <a:r>
                        <a:rPr lang="en-US" sz="2400" kern="100">
                          <a:effectLst/>
                        </a:rPr>
                        <a:t>/</a:t>
                      </a:r>
                      <a:r>
                        <a:rPr lang="zh-CN" sz="2400" kern="100">
                          <a:effectLst/>
                        </a:rPr>
                        <a:t>输出操作失败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6662194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IndexError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序列中没有此索引</a:t>
                      </a:r>
                      <a:r>
                        <a:rPr lang="en-US" sz="2400" kern="100">
                          <a:effectLst/>
                        </a:rPr>
                        <a:t>(index)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3445368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KeyError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映射中没有这个键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0258069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NameError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未声明</a:t>
                      </a:r>
                      <a:r>
                        <a:rPr lang="en-US" sz="2400" kern="100" dirty="0">
                          <a:effectLst/>
                        </a:rPr>
                        <a:t>/</a:t>
                      </a:r>
                      <a:r>
                        <a:rPr lang="zh-CN" sz="2400" kern="100" dirty="0">
                          <a:effectLst/>
                        </a:rPr>
                        <a:t>初始化对象</a:t>
                      </a:r>
                      <a:r>
                        <a:rPr lang="en-US" sz="2400" kern="100" dirty="0">
                          <a:effectLst/>
                        </a:rPr>
                        <a:t> (</a:t>
                      </a:r>
                      <a:r>
                        <a:rPr lang="zh-CN" sz="2400" kern="100" dirty="0">
                          <a:effectLst/>
                        </a:rPr>
                        <a:t>没有属性</a:t>
                      </a:r>
                      <a:r>
                        <a:rPr lang="en-US" sz="2400" kern="100" dirty="0">
                          <a:effectLst/>
                        </a:rPr>
                        <a:t>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8368053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5048440" y="582450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常见异常及其描述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200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1142746" y="1231238"/>
            <a:ext cx="66977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try</a:t>
            </a:r>
            <a:r>
              <a:rPr lang="zh-CN" altLang="zh-CN" sz="2800" dirty="0"/>
              <a:t>子句</a:t>
            </a:r>
            <a:r>
              <a:rPr lang="zh-CN" altLang="en-US" sz="2800" dirty="0"/>
              <a:t>专门用</a:t>
            </a:r>
            <a:r>
              <a:rPr lang="zh-CN" altLang="zh-CN" sz="2800" dirty="0"/>
              <a:t>来进行异常的捕捉与处理</a:t>
            </a:r>
            <a:r>
              <a:rPr lang="zh-CN" altLang="en-US" sz="2800" dirty="0"/>
              <a:t>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263F7E-D7DD-4835-8A2F-67BF83D9C04C}"/>
              </a:ext>
            </a:extLst>
          </p:cNvPr>
          <p:cNvSpPr/>
          <p:nvPr/>
        </p:nvSpPr>
        <p:spPr>
          <a:xfrm>
            <a:off x="1275907" y="2040038"/>
            <a:ext cx="6096000" cy="3357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try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语句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except</a:t>
            </a:r>
            <a:r>
              <a:rPr lang="en-US" altLang="zh-CN" sz="2400" dirty="0"/>
              <a:t> </a:t>
            </a:r>
            <a:r>
              <a:rPr lang="zh-CN" altLang="en-US" sz="2400" dirty="0"/>
              <a:t>异常名称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捕获异常时处理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else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未发生异常时处理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4C28D1-3682-42A3-993F-8CC3438D5A0B}"/>
              </a:ext>
            </a:extLst>
          </p:cNvPr>
          <p:cNvSpPr/>
          <p:nvPr/>
        </p:nvSpPr>
        <p:spPr>
          <a:xfrm>
            <a:off x="5569721" y="3547970"/>
            <a:ext cx="6096000" cy="2797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程序执行时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如果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try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子句中</a:t>
            </a:r>
            <a:r>
              <a:rPr lang="zh-CN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发生了指定的异常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则</a:t>
            </a:r>
            <a:r>
              <a:rPr lang="zh-CN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执行</a:t>
            </a:r>
            <a:r>
              <a:rPr lang="en-US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except</a:t>
            </a:r>
            <a:r>
              <a:rPr lang="zh-CN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子句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部分进行异常的处理；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如果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try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子句执行</a:t>
            </a:r>
            <a:r>
              <a:rPr lang="zh-CN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未发生异常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则</a:t>
            </a:r>
            <a:r>
              <a:rPr lang="zh-CN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执行</a:t>
            </a:r>
            <a:r>
              <a:rPr lang="en-US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else</a:t>
            </a:r>
            <a:r>
              <a:rPr lang="zh-CN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子句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部分。</a:t>
            </a:r>
          </a:p>
        </p:txBody>
      </p:sp>
      <p:pic>
        <p:nvPicPr>
          <p:cNvPr id="1026" name="Picture 2" descr="Exception Handling in Python: Mastering Robust and Error-Resistant Code |  by Saurabh Pandey | Medium">
            <a:extLst>
              <a:ext uri="{FF2B5EF4-FFF2-40B4-BE49-F238E27FC236}">
                <a16:creationId xmlns:a16="http://schemas.microsoft.com/office/drawing/2014/main" id="{D77383CD-DACF-80AA-7125-A4443B044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928" y="0"/>
            <a:ext cx="3917360" cy="314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94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947532A-5898-4BBC-8E31-45F8C352516E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295400" y="0"/>
            <a:ext cx="9601199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https://www.bilibili.com/video/BV1Jgf6YvE8e?vd_source=5431d634c0425af0db3a0222bec3a7bf&amp;spm_id_from=333.788.videopod.episodes&amp;p=33</a:t>
            </a: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658239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2D462C4-96ED-49CB-9341-88A5FC93B15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Python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语言设计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try-except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语句的主要目的是什么？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748C88-92F9-40D5-A0CF-974F1B5261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用于定义新的异常类型，增强代码的可读性。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22E528-A2CA-4CF4-8FE1-1E737B18FB8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902589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用于捕获和处理运行时错误或异常，防止程序意外崩溃。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A1E2FB-3601-4794-8D26-E0735A8DFBD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用于优化代码执行速度，减少不必要的计算。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D86E51-78E9-41A8-BB5A-45F47120528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用于强制终止循环或函数执行。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CBD19F5-0E58-4127-9AD8-D0925760524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C3385B3-00DE-4CAB-BE98-8C2E27C551D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BBCA149-2CB2-4733-837D-F936D1B7E09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F269D5B-D946-4CB1-A82D-CFCED91EBDF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BCF377-67F1-472A-91C6-B3E2B7AD7C5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3D15259-9750-4B1F-AE35-076155062F3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96E5F73-7B10-4FC5-842F-610BFD730C1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733E07A-5886-430E-A2CA-7568C99931D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9E62105-4B59-4BA0-B0F0-08545A2AC54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A0D7EB0-8609-4095-8C1A-08009F0F4B3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4D7DA8E-E450-4105-84F8-C4A9309BD47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9375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674376" y="1011497"/>
            <a:ext cx="11082750" cy="1695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【例</a:t>
            </a:r>
            <a:r>
              <a:rPr lang="en-US" altLang="zh-CN" sz="2400" dirty="0"/>
              <a:t>7-1</a:t>
            </a:r>
            <a:r>
              <a:rPr lang="zh-CN" altLang="zh-CN" sz="2400" dirty="0"/>
              <a:t>】从键盘输入</a:t>
            </a:r>
            <a:r>
              <a:rPr lang="en-US" altLang="zh-CN" sz="2400" dirty="0"/>
              <a:t>a</a:t>
            </a:r>
            <a:r>
              <a:rPr lang="zh-CN" altLang="zh-CN" sz="2400" dirty="0"/>
              <a:t>和</a:t>
            </a:r>
            <a:r>
              <a:rPr lang="en-US" altLang="zh-CN" sz="2400" dirty="0"/>
              <a:t>b</a:t>
            </a:r>
            <a:r>
              <a:rPr lang="zh-CN" altLang="zh-CN" sz="2400" dirty="0"/>
              <a:t>，求</a:t>
            </a:r>
            <a:r>
              <a:rPr lang="en-US" altLang="zh-CN" sz="2400" dirty="0"/>
              <a:t>a</a:t>
            </a:r>
            <a:r>
              <a:rPr lang="zh-CN" altLang="zh-CN" sz="2400" dirty="0"/>
              <a:t>除以</a:t>
            </a:r>
            <a:r>
              <a:rPr lang="en-US" altLang="zh-CN" sz="2400" dirty="0"/>
              <a:t>b</a:t>
            </a:r>
            <a:r>
              <a:rPr lang="zh-CN" altLang="zh-CN" sz="2400" dirty="0"/>
              <a:t>的结果并输出。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【分析】从键盘输入除数，就有可能会输入</a:t>
            </a:r>
            <a:r>
              <a:rPr lang="en-US" altLang="zh-CN" sz="2400" dirty="0"/>
              <a:t>0</a:t>
            </a:r>
            <a:r>
              <a:rPr lang="zh-CN" altLang="zh-CN" sz="2400" dirty="0"/>
              <a:t>，而除数为</a:t>
            </a:r>
            <a:r>
              <a:rPr lang="en-US" altLang="zh-CN" sz="2400" dirty="0"/>
              <a:t>0</a:t>
            </a:r>
            <a:r>
              <a:rPr lang="zh-CN" altLang="zh-CN" sz="2400" dirty="0"/>
              <a:t>是个很严重的错误，应该进行</a:t>
            </a:r>
            <a:r>
              <a:rPr lang="en-US" altLang="zh-CN" sz="2400" dirty="0" err="1"/>
              <a:t>ZeroDivisionError</a:t>
            </a:r>
            <a:r>
              <a:rPr lang="zh-CN" altLang="zh-CN" sz="2400" dirty="0"/>
              <a:t>异常的捕获和处理。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61BAE73-2C96-46FA-BD87-AF14846FE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34327"/>
              </p:ext>
            </p:extLst>
          </p:nvPr>
        </p:nvGraphicFramePr>
        <p:xfrm>
          <a:off x="664900" y="2705908"/>
          <a:ext cx="6879868" cy="382392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70251">
                  <a:extLst>
                    <a:ext uri="{9D8B030D-6E8A-4147-A177-3AD203B41FA5}">
                      <a16:colId xmlns:a16="http://schemas.microsoft.com/office/drawing/2014/main" val="2517914886"/>
                    </a:ext>
                  </a:extLst>
                </a:gridCol>
                <a:gridCol w="6509617">
                  <a:extLst>
                    <a:ext uri="{9D8B030D-6E8A-4147-A177-3AD203B41FA5}">
                      <a16:colId xmlns:a16="http://schemas.microsoft.com/office/drawing/2014/main" val="3868985122"/>
                    </a:ext>
                  </a:extLst>
                </a:gridCol>
              </a:tblGrid>
              <a:tr h="698734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</a:t>
                      </a:r>
                      <a:r>
                        <a:rPr lang="zh-CN" sz="2000" kern="100" dirty="0">
                          <a:effectLst/>
                        </a:rPr>
                        <a:t>从键盘输入</a:t>
                      </a:r>
                      <a:r>
                        <a:rPr lang="en-US" sz="2000" kern="100" dirty="0">
                          <a:effectLst/>
                        </a:rPr>
                        <a:t>a</a:t>
                      </a:r>
                      <a:r>
                        <a:rPr lang="zh-CN" sz="2000" kern="100" dirty="0">
                          <a:effectLst/>
                        </a:rPr>
                        <a:t>和</a:t>
                      </a:r>
                      <a:r>
                        <a:rPr lang="en-US" sz="2000" kern="100" dirty="0">
                          <a:effectLst/>
                        </a:rPr>
                        <a:t>b</a:t>
                      </a:r>
                      <a:r>
                        <a:rPr lang="zh-CN" sz="2000" kern="100" dirty="0">
                          <a:effectLst/>
                        </a:rPr>
                        <a:t>，求</a:t>
                      </a:r>
                      <a:r>
                        <a:rPr lang="en-US" sz="2000" kern="100" dirty="0">
                          <a:effectLst/>
                        </a:rPr>
                        <a:t>a</a:t>
                      </a:r>
                      <a:r>
                        <a:rPr lang="zh-CN" sz="2000" kern="100" dirty="0">
                          <a:effectLst/>
                        </a:rPr>
                        <a:t>除以</a:t>
                      </a:r>
                      <a:r>
                        <a:rPr lang="en-US" sz="2000" kern="100" dirty="0">
                          <a:effectLst/>
                        </a:rPr>
                        <a:t>b</a:t>
                      </a:r>
                      <a:r>
                        <a:rPr lang="zh-CN" sz="2000" kern="100" dirty="0">
                          <a:effectLst/>
                        </a:rPr>
                        <a:t>的结果并输出。</a:t>
                      </a:r>
                      <a:r>
                        <a:rPr lang="en-US" sz="2000" kern="100" dirty="0">
                          <a:effectLst/>
                        </a:rPr>
                        <a:t>  7-1.py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40424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try: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34486385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a=int(input("a="))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05995287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b=int(input("b="))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5214775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4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c=a/b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59356448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5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except </a:t>
                      </a:r>
                      <a:r>
                        <a:rPr lang="en-US" sz="2400" kern="100" dirty="0" err="1">
                          <a:effectLst/>
                        </a:rPr>
                        <a:t>ZeroDivisionError</a:t>
                      </a:r>
                      <a:r>
                        <a:rPr lang="en-US" sz="2400" kern="100" dirty="0">
                          <a:effectLst/>
                        </a:rPr>
                        <a:t>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6208141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6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</a:t>
                      </a:r>
                      <a:r>
                        <a:rPr lang="zh-CN" sz="2400" kern="100" dirty="0">
                          <a:effectLst/>
                        </a:rPr>
                        <a:t>除数不能为</a:t>
                      </a:r>
                      <a:r>
                        <a:rPr lang="en-US" sz="2400" kern="100" dirty="0">
                          <a:effectLst/>
                        </a:rPr>
                        <a:t>0</a:t>
                      </a:r>
                      <a:r>
                        <a:rPr lang="zh-CN" sz="2400" kern="100" dirty="0">
                          <a:effectLst/>
                        </a:rPr>
                        <a:t>！</a:t>
                      </a:r>
                      <a:r>
                        <a:rPr lang="en-US" sz="2400" kern="100" dirty="0">
                          <a:effectLst/>
                        </a:rPr>
                        <a:t>")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75935835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7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else: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07728211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8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print("c=",c)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58350132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C008E74F-7F2B-4D8F-9CA4-ADE961B22E54}"/>
              </a:ext>
            </a:extLst>
          </p:cNvPr>
          <p:cNvPicPr/>
          <p:nvPr/>
        </p:nvPicPr>
        <p:blipFill rotWithShape="1">
          <a:blip r:embed="rId3"/>
          <a:srcRect t="1" r="50000" b="-13499"/>
          <a:stretch/>
        </p:blipFill>
        <p:spPr>
          <a:xfrm>
            <a:off x="8036441" y="3172710"/>
            <a:ext cx="3212805" cy="104487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0688912-DC17-44E4-9A77-84B03B7798A7}"/>
              </a:ext>
            </a:extLst>
          </p:cNvPr>
          <p:cNvPicPr/>
          <p:nvPr/>
        </p:nvPicPr>
        <p:blipFill rotWithShape="1">
          <a:blip r:embed="rId4"/>
          <a:srcRect r="56294" b="-1064"/>
          <a:stretch/>
        </p:blipFill>
        <p:spPr>
          <a:xfrm>
            <a:off x="8087167" y="4968104"/>
            <a:ext cx="3162079" cy="10448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74B5E2-701F-4FD6-8AD0-D23205CC1CBF}"/>
              </a:ext>
            </a:extLst>
          </p:cNvPr>
          <p:cNvSpPr/>
          <p:nvPr/>
        </p:nvSpPr>
        <p:spPr>
          <a:xfrm>
            <a:off x="1247553" y="3813544"/>
            <a:ext cx="2799907" cy="115456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9133C61-0355-4F87-814F-EE5928E95491}"/>
              </a:ext>
            </a:extLst>
          </p:cNvPr>
          <p:cNvGrpSpPr/>
          <p:nvPr/>
        </p:nvGrpSpPr>
        <p:grpSpPr>
          <a:xfrm>
            <a:off x="4047457" y="4563189"/>
            <a:ext cx="1474382" cy="1141228"/>
            <a:chOff x="4047457" y="4563189"/>
            <a:chExt cx="1474382" cy="1141228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A2479D7-E9AD-4B22-938C-CD0F3A181965}"/>
                </a:ext>
              </a:extLst>
            </p:cNvPr>
            <p:cNvGrpSpPr/>
            <p:nvPr/>
          </p:nvGrpSpPr>
          <p:grpSpPr>
            <a:xfrm>
              <a:off x="4047457" y="4563189"/>
              <a:ext cx="1474382" cy="1141228"/>
              <a:chOff x="4047460" y="4387702"/>
              <a:chExt cx="581247" cy="1141228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1D38012B-5ED1-4057-A99F-C34268CDFE13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4047460" y="4390824"/>
                <a:ext cx="581247" cy="0"/>
              </a:xfrm>
              <a:prstGeom prst="line">
                <a:avLst/>
              </a:prstGeom>
              <a:ln w="28575">
                <a:solidFill>
                  <a:srgbClr val="FF99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9E3F05E-4892-4463-95B1-F4ECF2756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1619" y="4387702"/>
                <a:ext cx="0" cy="1141228"/>
              </a:xfrm>
              <a:prstGeom prst="line">
                <a:avLst/>
              </a:prstGeom>
              <a:ln w="28575">
                <a:solidFill>
                  <a:srgbClr val="FF99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03FC828F-E336-4FE0-9036-7CF4B434F6BD}"/>
                  </a:ext>
                </a:extLst>
              </p:cNvPr>
              <p:cNvCxnSpPr/>
              <p:nvPr/>
            </p:nvCxnSpPr>
            <p:spPr>
              <a:xfrm flipH="1">
                <a:off x="4366437" y="5528930"/>
                <a:ext cx="262270" cy="0"/>
              </a:xfrm>
              <a:prstGeom prst="straightConnector1">
                <a:avLst/>
              </a:prstGeom>
              <a:ln w="28575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721DF1B-17BE-4836-9401-DA92CB90D151}"/>
                </a:ext>
              </a:extLst>
            </p:cNvPr>
            <p:cNvSpPr/>
            <p:nvPr/>
          </p:nvSpPr>
          <p:spPr>
            <a:xfrm>
              <a:off x="4078060" y="4576731"/>
              <a:ext cx="1233376" cy="4102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rgbClr val="FFC000"/>
                  </a:solidFill>
                </a:rPr>
                <a:t>除数</a:t>
              </a:r>
              <a:r>
                <a:rPr lang="en-US" altLang="zh-CN" sz="2000" dirty="0">
                  <a:solidFill>
                    <a:srgbClr val="FFC000"/>
                  </a:solidFill>
                </a:rPr>
                <a:t>b</a:t>
              </a:r>
              <a:r>
                <a:rPr lang="zh-CN" altLang="en-US" sz="2000" dirty="0">
                  <a:solidFill>
                    <a:srgbClr val="FFC000"/>
                  </a:solidFill>
                </a:rPr>
                <a:t>为</a:t>
              </a:r>
              <a:r>
                <a:rPr lang="en-US" altLang="zh-CN" sz="2000" dirty="0">
                  <a:solidFill>
                    <a:srgbClr val="FFC000"/>
                  </a:solidFill>
                </a:rPr>
                <a:t>0</a:t>
              </a:r>
              <a:endParaRPr lang="zh-CN" altLang="en-US" sz="2000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3E2EFC1-87DC-4889-97F3-D4834F105CEF}"/>
              </a:ext>
            </a:extLst>
          </p:cNvPr>
          <p:cNvGrpSpPr/>
          <p:nvPr/>
        </p:nvGrpSpPr>
        <p:grpSpPr>
          <a:xfrm>
            <a:off x="3237486" y="3569850"/>
            <a:ext cx="3076349" cy="2866384"/>
            <a:chOff x="3237486" y="3569850"/>
            <a:chExt cx="3076349" cy="2866384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BE4B9BF8-3F80-47AD-A630-284FD816DE85}"/>
                </a:ext>
              </a:extLst>
            </p:cNvPr>
            <p:cNvGrpSpPr/>
            <p:nvPr/>
          </p:nvGrpSpPr>
          <p:grpSpPr>
            <a:xfrm>
              <a:off x="3237486" y="4002605"/>
              <a:ext cx="3076349" cy="2433629"/>
              <a:chOff x="3837920" y="4387702"/>
              <a:chExt cx="790787" cy="1141228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C649B45E-CAD4-4DFE-9B07-6549BEFE7E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7460" y="4390824"/>
                <a:ext cx="581247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373B80E9-9438-45B7-8003-935E1090E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1619" y="4387702"/>
                <a:ext cx="0" cy="1141228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4D3DFC5D-7768-47FA-9D33-CA659A5F1E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7920" y="5528930"/>
                <a:ext cx="790787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7F73AE9-DDEC-4949-8DD6-23DCA3605296}"/>
                </a:ext>
              </a:extLst>
            </p:cNvPr>
            <p:cNvSpPr/>
            <p:nvPr/>
          </p:nvSpPr>
          <p:spPr>
            <a:xfrm>
              <a:off x="4343641" y="3569850"/>
              <a:ext cx="1816154" cy="4102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</a:rPr>
                <a:t>除数</a:t>
              </a:r>
              <a:r>
                <a:rPr lang="en-US" altLang="zh-CN" sz="2000" dirty="0">
                  <a:solidFill>
                    <a:srgbClr val="00B050"/>
                  </a:solidFill>
                </a:rPr>
                <a:t>b</a:t>
              </a:r>
              <a:r>
                <a:rPr lang="zh-CN" altLang="en-US" sz="2000" dirty="0">
                  <a:solidFill>
                    <a:srgbClr val="00B050"/>
                  </a:solidFill>
                </a:rPr>
                <a:t>不为为</a:t>
              </a:r>
              <a:r>
                <a:rPr lang="en-US" altLang="zh-CN" sz="2000" dirty="0">
                  <a:solidFill>
                    <a:srgbClr val="00B050"/>
                  </a:solidFill>
                </a:rPr>
                <a:t>0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950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 💻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674376" y="1856741"/>
            <a:ext cx="11082750" cy="2249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【例</a:t>
            </a:r>
            <a:r>
              <a:rPr lang="en-US" altLang="zh-CN" sz="2400" dirty="0"/>
              <a:t>7-2</a:t>
            </a:r>
            <a:r>
              <a:rPr lang="zh-CN" altLang="zh-CN" sz="2400" dirty="0"/>
              <a:t>】读取并输出</a:t>
            </a:r>
            <a:r>
              <a:rPr lang="en-US" altLang="zh-CN" sz="2400" dirty="0"/>
              <a:t>F:\documents\python</a:t>
            </a:r>
            <a:r>
              <a:rPr lang="zh-CN" altLang="zh-CN" sz="2400" dirty="0"/>
              <a:t>下</a:t>
            </a:r>
            <a:r>
              <a:rPr lang="en-US" altLang="zh-CN" sz="2400" dirty="0"/>
              <a:t>data2.txt</a:t>
            </a:r>
            <a:r>
              <a:rPr lang="zh-CN" altLang="zh-CN" sz="2400" dirty="0"/>
              <a:t>文件内容，如果文件不存在则提醒用户先创建文件。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【分析】题目要求读出 文件内容，需要用读模式打开，但是如果文件不存在系统会报错，所以需要进行</a:t>
            </a:r>
            <a:r>
              <a:rPr lang="en-US" altLang="zh-CN" sz="2400" dirty="0" err="1"/>
              <a:t>IOError</a:t>
            </a:r>
            <a:r>
              <a:rPr lang="zh-CN" altLang="zh-CN" sz="2400" dirty="0"/>
              <a:t>异常的捕获和处理。</a:t>
            </a:r>
          </a:p>
        </p:txBody>
      </p:sp>
    </p:spTree>
    <p:extLst>
      <p:ext uri="{BB962C8B-B14F-4D97-AF65-F5344CB8AC3E}">
        <p14:creationId xmlns:p14="http://schemas.microsoft.com/office/powerpoint/2010/main" val="11958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D82534-B4BB-4D51-83BF-FB764B2FB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964141"/>
              </p:ext>
            </p:extLst>
          </p:nvPr>
        </p:nvGraphicFramePr>
        <p:xfrm>
          <a:off x="776096" y="1169169"/>
          <a:ext cx="7311737" cy="533085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59669">
                  <a:extLst>
                    <a:ext uri="{9D8B030D-6E8A-4147-A177-3AD203B41FA5}">
                      <a16:colId xmlns:a16="http://schemas.microsoft.com/office/drawing/2014/main" val="3801845816"/>
                    </a:ext>
                  </a:extLst>
                </a:gridCol>
                <a:gridCol w="6752068">
                  <a:extLst>
                    <a:ext uri="{9D8B030D-6E8A-4147-A177-3AD203B41FA5}">
                      <a16:colId xmlns:a16="http://schemas.microsoft.com/office/drawing/2014/main" val="2443911512"/>
                    </a:ext>
                  </a:extLst>
                </a:gridCol>
              </a:tblGrid>
              <a:tr h="410066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读取并输出</a:t>
                      </a:r>
                      <a:r>
                        <a:rPr lang="en-US" sz="2000" kern="100">
                          <a:effectLst/>
                        </a:rPr>
                        <a:t>F:\documents\python</a:t>
                      </a:r>
                      <a:r>
                        <a:rPr lang="zh-CN" sz="2000" kern="100">
                          <a:effectLst/>
                        </a:rPr>
                        <a:t>下</a:t>
                      </a:r>
                      <a:r>
                        <a:rPr lang="en-US" sz="2000" kern="100">
                          <a:effectLst/>
                        </a:rPr>
                        <a:t>data2.txt</a:t>
                      </a:r>
                      <a:r>
                        <a:rPr lang="zh-CN" sz="2000" kern="100">
                          <a:effectLst/>
                        </a:rPr>
                        <a:t>文件内容</a:t>
                      </a:r>
                      <a:r>
                        <a:rPr lang="en-US" sz="2000" kern="100">
                          <a:effectLst/>
                        </a:rPr>
                        <a:t>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498319"/>
                  </a:ext>
                </a:extLst>
              </a:tr>
              <a:tr h="410066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如果文件不存在则提醒用户先创建文件。</a:t>
                      </a:r>
                      <a:r>
                        <a:rPr lang="en-US" sz="2000" kern="100">
                          <a:effectLst/>
                        </a:rPr>
                        <a:t>   7-2.py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873283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import </a:t>
                      </a:r>
                      <a:r>
                        <a:rPr lang="en-US" sz="2400" kern="100" dirty="0" err="1">
                          <a:effectLst/>
                        </a:rPr>
                        <a:t>os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0533224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</a:rPr>
                        <a:t>os.chdir</a:t>
                      </a:r>
                      <a:r>
                        <a:rPr lang="en-US" sz="2400" kern="100" dirty="0">
                          <a:effectLst/>
                        </a:rPr>
                        <a:t>(</a:t>
                      </a:r>
                      <a:r>
                        <a:rPr lang="en-US" sz="2400" kern="100" dirty="0" err="1">
                          <a:effectLst/>
                        </a:rPr>
                        <a:t>r'F</a:t>
                      </a:r>
                      <a:r>
                        <a:rPr lang="en-US" sz="2400" kern="100" dirty="0">
                          <a:effectLst/>
                        </a:rPr>
                        <a:t>:\documents\python')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1806705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950901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try: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2965261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file=open("data2.txt",'r')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39749540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except </a:t>
                      </a:r>
                      <a:r>
                        <a:rPr lang="en-US" sz="2400" kern="100" dirty="0" err="1">
                          <a:effectLst/>
                        </a:rPr>
                        <a:t>IOError</a:t>
                      </a:r>
                      <a:r>
                        <a:rPr lang="en-US" sz="2400" kern="100" dirty="0">
                          <a:effectLst/>
                        </a:rPr>
                        <a:t>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69708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print("data2.txt</a:t>
                      </a:r>
                      <a:r>
                        <a:rPr lang="zh-CN" sz="2400" kern="100" dirty="0">
                          <a:effectLst/>
                        </a:rPr>
                        <a:t>文件不存在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zh-CN" sz="2400" kern="100" dirty="0">
                          <a:effectLst/>
                        </a:rPr>
                        <a:t>请先创建</a:t>
                      </a:r>
                      <a:r>
                        <a:rPr lang="en-US" sz="2400" kern="100" dirty="0">
                          <a:effectLst/>
                        </a:rPr>
                        <a:t>!")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912747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else: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2070168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text=</a:t>
                      </a:r>
                      <a:r>
                        <a:rPr lang="en-US" sz="2400" kern="100" dirty="0" err="1">
                          <a:effectLst/>
                        </a:rPr>
                        <a:t>file.read</a:t>
                      </a:r>
                      <a:r>
                        <a:rPr lang="en-US" sz="2400" kern="100" dirty="0">
                          <a:effectLst/>
                        </a:rPr>
                        <a:t>()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46178205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print("data2.txt</a:t>
                      </a:r>
                      <a:r>
                        <a:rPr lang="zh-CN" sz="2400" kern="100" dirty="0">
                          <a:effectLst/>
                        </a:rPr>
                        <a:t>内容</a:t>
                      </a:r>
                      <a:r>
                        <a:rPr lang="en-US" sz="2400" kern="100" dirty="0">
                          <a:effectLst/>
                        </a:rPr>
                        <a:t>:\</a:t>
                      </a:r>
                      <a:r>
                        <a:rPr lang="en-US" sz="2400" kern="100" dirty="0" err="1">
                          <a:effectLst/>
                        </a:rPr>
                        <a:t>n",text</a:t>
                      </a:r>
                      <a:r>
                        <a:rPr lang="en-US" sz="2400" kern="100" dirty="0">
                          <a:effectLst/>
                        </a:rPr>
                        <a:t>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345235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</a:t>
                      </a:r>
                      <a:r>
                        <a:rPr lang="en-US" sz="2400" kern="100" dirty="0" err="1">
                          <a:effectLst/>
                        </a:rPr>
                        <a:t>file.close</a:t>
                      </a:r>
                      <a:r>
                        <a:rPr lang="en-US" sz="2400" kern="100" dirty="0">
                          <a:effectLst/>
                        </a:rPr>
                        <a:t>()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56577269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4AB0E1E-8D3E-41DE-A0A4-52289A0FB108}"/>
              </a:ext>
            </a:extLst>
          </p:cNvPr>
          <p:cNvSpPr/>
          <p:nvPr/>
        </p:nvSpPr>
        <p:spPr>
          <a:xfrm>
            <a:off x="2977116" y="1991833"/>
            <a:ext cx="3650512" cy="538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设置当前路径为文件所在目录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6DB745-62CC-4363-9E27-3DC3BAF72C63}"/>
              </a:ext>
            </a:extLst>
          </p:cNvPr>
          <p:cNvSpPr/>
          <p:nvPr/>
        </p:nvSpPr>
        <p:spPr>
          <a:xfrm>
            <a:off x="2332033" y="4951228"/>
            <a:ext cx="4199861" cy="538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B050"/>
                </a:solidFill>
              </a:rPr>
              <a:t>文件存在时，执行正常的文件操作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E1FBE19-1696-4E42-BF39-A2BDF097008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10794" y="2427308"/>
            <a:ext cx="3724276" cy="503496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618F39F-D96F-4145-8942-D24105AB0AE8}"/>
              </a:ext>
            </a:extLst>
          </p:cNvPr>
          <p:cNvCxnSpPr/>
          <p:nvPr/>
        </p:nvCxnSpPr>
        <p:spPr>
          <a:xfrm flipV="1">
            <a:off x="5365898" y="2984205"/>
            <a:ext cx="1949302" cy="1495646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EEF69908-3430-41E0-A15E-7C1A9C63F17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510794" y="4692439"/>
            <a:ext cx="4447290" cy="867334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3DE4BF5-8A3B-4D4C-B8B5-43AE30B7959E}"/>
              </a:ext>
            </a:extLst>
          </p:cNvPr>
          <p:cNvCxnSpPr/>
          <p:nvPr/>
        </p:nvCxnSpPr>
        <p:spPr>
          <a:xfrm flipV="1">
            <a:off x="5557284" y="5220586"/>
            <a:ext cx="1757916" cy="7123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5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1FD3D2-3D28-4236-953D-80875A4B911A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295400" y="0"/>
            <a:ext cx="9601199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https://www.bilibili.com/video/BV1KG4y197ZT?spm_id_from=333.788.videopod.sections&amp;vd_source=5431d634c0425af0db3a0222bec3a7bf</a:t>
            </a: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4106592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602BF5-7743-449B-A53B-1717C8A7C85E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282467" y="-18476"/>
            <a:ext cx="9627066" cy="687647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https://www.bilibili.com/video/BV1Cs4y147fC?spm_id_from=333.788.videopod.sections&amp;vd_source=5431d634c0425af0db3a0222bec3a7bf</a:t>
            </a: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32042899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5B26028-56A0-426F-A7B3-108FD912AA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在计算机科学中，程序错误通常被称为 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"Bug"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，这一术语的起源与以下哪种说法最相关？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146943-17F6-4A59-A120-8EE20F2E2D7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因为早期程序员常熬夜工作，像夜间的虫子（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Bug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）一样。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9A5325-7F3B-4279-9F75-407D65B475B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源自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1947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年，一只飞蛾（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Moth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）卡在计算机的继电器中，导致故障。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A5CED8-0A28-4E55-8FB8-0798BBDB5A1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来自德语单词 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"</a:t>
            </a:r>
            <a:r>
              <a:rPr lang="en-US" altLang="zh-CN" sz="2800" b="0" i="0" dirty="0" err="1">
                <a:solidFill>
                  <a:srgbClr val="404040"/>
                </a:solidFill>
                <a:effectLst/>
                <a:latin typeface="DeepSeek-CJK-patch"/>
              </a:rPr>
              <a:t>Baugruppe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"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，意为硬件故障。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749AF5-6DD9-455B-BA68-E0A8B30DA20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由于早期计算机散热差，常吸引昆虫（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Bugs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）干扰电路。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CEE55CF-D10B-45E6-A30B-EBAA7C43326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B442774-87BE-44C7-8E55-3F4408474CD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E17A02E-6EC1-409A-B5C6-FD215BB4B4F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0A167A7-6E36-4495-B2CC-4400794B24E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92457CF-C5C7-4963-8C6E-F2AF1D6BCB3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0336A31-18D5-480F-AE47-D938C98ED31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5FD5D61-CBE6-448C-93A1-EC614D2C161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67157240-5213-4A60-BE62-CFBD83B04A2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DEEEA0F-7959-41D1-BE9D-55BF8949326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0CF6CB5-8FF0-443D-9C1F-88C812318EA4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EA70410-5A76-4F81-8C65-1B31C7F8F0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093DF94-CF83-49C8-A192-95464F29634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03231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530360" y="1807122"/>
            <a:ext cx="11082750" cy="280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【例</a:t>
            </a:r>
            <a:r>
              <a:rPr lang="en-US" altLang="zh-CN" sz="2400" dirty="0"/>
              <a:t>7-3</a:t>
            </a:r>
            <a:r>
              <a:rPr lang="zh-CN" altLang="zh-CN" sz="2400" dirty="0"/>
              <a:t>】《哈姆雷特》是莎士比亚的一部经典悲剧作品。已知该</a:t>
            </a:r>
            <a:r>
              <a:rPr lang="zh-CN" altLang="zh-CN" sz="2400" dirty="0">
                <a:solidFill>
                  <a:schemeClr val="accent6"/>
                </a:solidFill>
              </a:rPr>
              <a:t>作品对应的</a:t>
            </a:r>
            <a:r>
              <a:rPr lang="en-US" altLang="zh-CN" sz="2400" dirty="0">
                <a:solidFill>
                  <a:schemeClr val="accent6"/>
                </a:solidFill>
              </a:rPr>
              <a:t>hamlet.txt</a:t>
            </a:r>
            <a:r>
              <a:rPr lang="zh-CN" altLang="zh-CN" sz="2400" dirty="0">
                <a:solidFill>
                  <a:schemeClr val="accent6"/>
                </a:solidFill>
              </a:rPr>
              <a:t>文件</a:t>
            </a:r>
            <a:r>
              <a:rPr lang="zh-CN" altLang="zh-CN" sz="2400" dirty="0"/>
              <a:t>保存在</a:t>
            </a:r>
            <a:r>
              <a:rPr lang="en-US" altLang="zh-CN" sz="2400" dirty="0"/>
              <a:t>F:\documents\python</a:t>
            </a:r>
            <a:r>
              <a:rPr lang="zh-CN" altLang="zh-CN" sz="2400" dirty="0"/>
              <a:t>目录下，请编写程序统计</a:t>
            </a:r>
            <a:r>
              <a:rPr lang="en-US" altLang="zh-CN" sz="2400" dirty="0"/>
              <a:t>hamlet</a:t>
            </a:r>
            <a:r>
              <a:rPr lang="zh-CN" altLang="zh-CN" sz="2400" dirty="0"/>
              <a:t>中出现频率最高的前</a:t>
            </a:r>
            <a:r>
              <a:rPr lang="en-US" altLang="zh-CN" sz="2400" dirty="0"/>
              <a:t>10</a:t>
            </a:r>
            <a:r>
              <a:rPr lang="zh-CN" altLang="zh-CN" sz="2400" dirty="0"/>
              <a:t>个单词，并将</a:t>
            </a:r>
            <a:r>
              <a:rPr lang="zh-CN" altLang="zh-CN" sz="2400" dirty="0">
                <a:solidFill>
                  <a:schemeClr val="accent6"/>
                </a:solidFill>
              </a:rPr>
              <a:t>结果用文件名“</a:t>
            </a:r>
            <a:r>
              <a:rPr lang="en-US" altLang="zh-CN" sz="2400" dirty="0">
                <a:solidFill>
                  <a:schemeClr val="accent6"/>
                </a:solidFill>
              </a:rPr>
              <a:t>hamlet_</a:t>
            </a:r>
            <a:r>
              <a:rPr lang="zh-CN" altLang="zh-CN" sz="2400" dirty="0">
                <a:solidFill>
                  <a:schemeClr val="accent6"/>
                </a:solidFill>
              </a:rPr>
              <a:t>词频</a:t>
            </a:r>
            <a:r>
              <a:rPr lang="en-US" altLang="zh-CN" sz="2400" dirty="0">
                <a:solidFill>
                  <a:schemeClr val="accent6"/>
                </a:solidFill>
              </a:rPr>
              <a:t>.txt</a:t>
            </a:r>
            <a:r>
              <a:rPr lang="zh-CN" altLang="zh-CN" sz="2400" dirty="0">
                <a:solidFill>
                  <a:schemeClr val="accent6"/>
                </a:solidFill>
              </a:rPr>
              <a:t>”保存</a:t>
            </a:r>
            <a:r>
              <a:rPr lang="zh-CN" altLang="zh-CN" sz="2400" dirty="0"/>
              <a:t>在同目录下。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【分析】本题除了要求从指定文件获取文本外，其余都和例</a:t>
            </a:r>
            <a:r>
              <a:rPr lang="en-US" altLang="zh-CN" sz="2400" dirty="0"/>
              <a:t>6-19</a:t>
            </a:r>
            <a:r>
              <a:rPr lang="zh-CN" altLang="zh-CN" sz="2400" dirty="0"/>
              <a:t>中的要求一致。因此我们可以参考例</a:t>
            </a:r>
            <a:r>
              <a:rPr lang="en-US" altLang="zh-CN" sz="2400" dirty="0"/>
              <a:t>6-19</a:t>
            </a:r>
            <a:r>
              <a:rPr lang="zh-CN" altLang="zh-CN" sz="2400" dirty="0"/>
              <a:t>的代码，并增加文件的读写操作。</a:t>
            </a:r>
          </a:p>
        </p:txBody>
      </p:sp>
    </p:spTree>
    <p:extLst>
      <p:ext uri="{BB962C8B-B14F-4D97-AF65-F5344CB8AC3E}">
        <p14:creationId xmlns:p14="http://schemas.microsoft.com/office/powerpoint/2010/main" val="55021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BD8790E-1808-411E-8806-F2B91DCB3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48908"/>
              </p:ext>
            </p:extLst>
          </p:nvPr>
        </p:nvGraphicFramePr>
        <p:xfrm>
          <a:off x="3596313" y="448827"/>
          <a:ext cx="8099501" cy="621914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79321">
                  <a:extLst>
                    <a:ext uri="{9D8B030D-6E8A-4147-A177-3AD203B41FA5}">
                      <a16:colId xmlns:a16="http://schemas.microsoft.com/office/drawing/2014/main" val="2217707282"/>
                    </a:ext>
                  </a:extLst>
                </a:gridCol>
                <a:gridCol w="7720180">
                  <a:extLst>
                    <a:ext uri="{9D8B030D-6E8A-4147-A177-3AD203B41FA5}">
                      <a16:colId xmlns:a16="http://schemas.microsoft.com/office/drawing/2014/main" val="2205887750"/>
                    </a:ext>
                  </a:extLst>
                </a:gridCol>
              </a:tblGrid>
              <a:tr h="158556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分析《哈姆雷特》中前</a:t>
                      </a:r>
                      <a:r>
                        <a:rPr lang="en-US" sz="2000" kern="100">
                          <a:effectLst/>
                        </a:rPr>
                        <a:t>10</a:t>
                      </a:r>
                      <a:r>
                        <a:rPr lang="zh-CN" sz="2000" kern="100">
                          <a:effectLst/>
                        </a:rPr>
                        <a:t>位的高频词 </a:t>
                      </a:r>
                      <a:r>
                        <a:rPr lang="en-US" sz="2000" kern="100">
                          <a:effectLst/>
                        </a:rPr>
                        <a:t>             7-3.py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01469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编写函数对待分析文本进行预处理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02895959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def getText(text):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20268358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text = text.lower()             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6360634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for ch in ",.;?-:\'":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65733700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text = text.replace(ch, " ")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42076154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return text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14692892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7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33039526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</a:t>
                      </a:r>
                      <a:r>
                        <a:rPr lang="zh-CN" sz="2000" kern="100" dirty="0">
                          <a:effectLst/>
                        </a:rPr>
                        <a:t>编写函数</a:t>
                      </a:r>
                      <a:r>
                        <a:rPr lang="zh-CN" sz="2000" kern="0" dirty="0">
                          <a:effectLst/>
                        </a:rPr>
                        <a:t>统计单词出现频率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27614989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 text</a:t>
                      </a:r>
                      <a:r>
                        <a:rPr lang="zh-CN" sz="2000" kern="100">
                          <a:effectLst/>
                        </a:rPr>
                        <a:t>为待统计文本，</a:t>
                      </a:r>
                      <a:r>
                        <a:rPr lang="en-US" sz="2000" kern="100">
                          <a:effectLst/>
                        </a:rPr>
                        <a:t>topn</a:t>
                      </a:r>
                      <a:r>
                        <a:rPr lang="zh-CN" sz="2000" kern="100">
                          <a:effectLst/>
                        </a:rPr>
                        <a:t>表示取频率最高的单词个数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5028955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def wordFreq(text,topn):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73665921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words  = text.split()    # </a:t>
                      </a:r>
                      <a:r>
                        <a:rPr lang="zh-CN" sz="2000" kern="100">
                          <a:effectLst/>
                        </a:rPr>
                        <a:t>将文本分词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8439421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counts = {}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0235990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for word in words: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96506955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counts[word] = counts.get(word,0) + 1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33204286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730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excludes={'the','and','to','of','a','be','it','is','not','but'}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12408677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for word in excludes: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3903860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del(counts[word])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2749184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items = list(counts.items())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5889682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return items[:</a:t>
                      </a:r>
                      <a:r>
                        <a:rPr lang="en-US" sz="2000" kern="100" dirty="0" err="1">
                          <a:effectLst/>
                        </a:rPr>
                        <a:t>topn</a:t>
                      </a:r>
                      <a:r>
                        <a:rPr lang="en-US" sz="2000" kern="100" dirty="0">
                          <a:effectLst/>
                        </a:rPr>
                        <a:t>]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8524802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313ED0AB-BBC3-4D9B-9C09-758D3D0CEA18}"/>
              </a:ext>
            </a:extLst>
          </p:cNvPr>
          <p:cNvSpPr/>
          <p:nvPr/>
        </p:nvSpPr>
        <p:spPr>
          <a:xfrm>
            <a:off x="433996" y="2927975"/>
            <a:ext cx="2668853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6-19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中用于词频分析的核心代码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709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FEE8B3F-2833-43A8-99A3-51594F03F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05651"/>
              </p:ext>
            </p:extLst>
          </p:nvPr>
        </p:nvGraphicFramePr>
        <p:xfrm>
          <a:off x="530360" y="866072"/>
          <a:ext cx="11361680" cy="574608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361680">
                  <a:extLst>
                    <a:ext uri="{9D8B030D-6E8A-4147-A177-3AD203B41FA5}">
                      <a16:colId xmlns:a16="http://schemas.microsoft.com/office/drawing/2014/main" val="2176028084"/>
                    </a:ext>
                  </a:extLst>
                </a:gridCol>
              </a:tblGrid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编写主程序，调用函数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182132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try: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5716233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with open(r"F:\documents\python\hamlet.txt",'r') as file: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34872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text = file.read()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605902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text = getText(text)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6189339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freqs = wordFreq(text,10)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951433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except IOError: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911888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print("</a:t>
                      </a:r>
                      <a:r>
                        <a:rPr lang="zh-CN" sz="2000" kern="100" dirty="0">
                          <a:effectLst/>
                        </a:rPr>
                        <a:t>文件不存在</a:t>
                      </a:r>
                      <a:r>
                        <a:rPr lang="en-US" sz="2000" kern="100" dirty="0">
                          <a:effectLst/>
                        </a:rPr>
                        <a:t>,</a:t>
                      </a:r>
                      <a:r>
                        <a:rPr lang="zh-CN" sz="2000" kern="100" dirty="0">
                          <a:effectLst/>
                        </a:rPr>
                        <a:t>请确认</a:t>
                      </a:r>
                      <a:r>
                        <a:rPr lang="en-US" sz="2000" kern="100" dirty="0">
                          <a:effectLst/>
                        </a:rPr>
                        <a:t>!\n")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526163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else: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305346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try: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66765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with open(r"F:\documents\python\hamlet_</a:t>
                      </a:r>
                      <a:r>
                        <a:rPr lang="zh-CN" sz="2000" kern="100">
                          <a:effectLst/>
                        </a:rPr>
                        <a:t>词频</a:t>
                      </a:r>
                      <a:r>
                        <a:rPr lang="en-US" sz="2000" kern="100">
                          <a:effectLst/>
                        </a:rPr>
                        <a:t>.txt",'w')as fileFreq: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335342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        items =[ word + '\t' + str(</a:t>
                      </a:r>
                      <a:r>
                        <a:rPr lang="en-US" sz="2000" kern="100" dirty="0" err="1">
                          <a:effectLst/>
                        </a:rPr>
                        <a:t>freq</a:t>
                      </a:r>
                      <a:r>
                        <a:rPr lang="en-US" sz="2000" kern="100" dirty="0">
                          <a:effectLst/>
                        </a:rPr>
                        <a:t>) + '\n' for </a:t>
                      </a:r>
                      <a:r>
                        <a:rPr lang="en-US" sz="2000" kern="100" dirty="0" err="1">
                          <a:effectLst/>
                        </a:rPr>
                        <a:t>word,freq</a:t>
                      </a:r>
                      <a:r>
                        <a:rPr lang="en-US" sz="2000" kern="100" dirty="0">
                          <a:effectLst/>
                        </a:rPr>
                        <a:t> in </a:t>
                      </a:r>
                      <a:r>
                        <a:rPr lang="en-US" sz="2000" kern="100" dirty="0" err="1">
                          <a:effectLst/>
                        </a:rPr>
                        <a:t>freqs</a:t>
                      </a:r>
                      <a:r>
                        <a:rPr lang="en-US" sz="2000" kern="100" dirty="0">
                          <a:effectLst/>
                        </a:rPr>
                        <a:t>]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376399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    fileFreq.writelines(items)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9397093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except IOError: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243848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print("</a:t>
                      </a:r>
                      <a:r>
                        <a:rPr lang="zh-CN" sz="2000" kern="100" dirty="0">
                          <a:effectLst/>
                        </a:rPr>
                        <a:t>写入文件出错</a:t>
                      </a:r>
                      <a:r>
                        <a:rPr lang="en-US" sz="2000" kern="100" dirty="0">
                          <a:effectLst/>
                        </a:rPr>
                        <a:t>")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9936792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for </a:t>
                      </a:r>
                      <a:r>
                        <a:rPr lang="en-US" sz="2000" kern="100" dirty="0" err="1">
                          <a:effectLst/>
                        </a:rPr>
                        <a:t>word,freq</a:t>
                      </a:r>
                      <a:r>
                        <a:rPr lang="en-US" sz="2000" kern="100" dirty="0">
                          <a:effectLst/>
                        </a:rPr>
                        <a:t> in </a:t>
                      </a:r>
                      <a:r>
                        <a:rPr lang="en-US" sz="2000" kern="100" dirty="0" err="1">
                          <a:effectLst/>
                        </a:rPr>
                        <a:t>freqs</a:t>
                      </a:r>
                      <a:r>
                        <a:rPr lang="en-US" sz="2000" kern="100" dirty="0">
                          <a:effectLst/>
                        </a:rPr>
                        <a:t>: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6890398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    print("{:&lt;10}{:&gt;}".format(word, </a:t>
                      </a:r>
                      <a:r>
                        <a:rPr lang="en-US" sz="2000" kern="100" dirty="0" err="1">
                          <a:effectLst/>
                        </a:rPr>
                        <a:t>freq</a:t>
                      </a:r>
                      <a:r>
                        <a:rPr lang="en-US" sz="2000" kern="100" dirty="0">
                          <a:effectLst/>
                        </a:rPr>
                        <a:t>))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712300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9155D5F-61F0-4B92-9BE6-D3A6B68A110A}"/>
              </a:ext>
            </a:extLst>
          </p:cNvPr>
          <p:cNvSpPr/>
          <p:nvPr/>
        </p:nvSpPr>
        <p:spPr>
          <a:xfrm>
            <a:off x="418214" y="1169581"/>
            <a:ext cx="7301023" cy="1779182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3F3947-57ED-4E90-9646-F09AE6261C15}"/>
              </a:ext>
            </a:extLst>
          </p:cNvPr>
          <p:cNvSpPr/>
          <p:nvPr/>
        </p:nvSpPr>
        <p:spPr>
          <a:xfrm>
            <a:off x="8150503" y="1666158"/>
            <a:ext cx="3310270" cy="786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针对读文件操作的异常处理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6DF629-1B07-4511-A196-83050AEE4938}"/>
              </a:ext>
            </a:extLst>
          </p:cNvPr>
          <p:cNvSpPr/>
          <p:nvPr/>
        </p:nvSpPr>
        <p:spPr>
          <a:xfrm>
            <a:off x="776097" y="3909238"/>
            <a:ext cx="7374406" cy="1315744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632B77-9DDE-4683-8907-AABADDA44AF0}"/>
              </a:ext>
            </a:extLst>
          </p:cNvPr>
          <p:cNvSpPr/>
          <p:nvPr/>
        </p:nvSpPr>
        <p:spPr>
          <a:xfrm>
            <a:off x="8366136" y="4135222"/>
            <a:ext cx="3310270" cy="786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针对写文件操作的异常处理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74B1E-D52E-4B89-B8CB-E1842C3E5F23}"/>
              </a:ext>
            </a:extLst>
          </p:cNvPr>
          <p:cNvSpPr/>
          <p:nvPr/>
        </p:nvSpPr>
        <p:spPr>
          <a:xfrm>
            <a:off x="5110675" y="5801077"/>
            <a:ext cx="4199861" cy="538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</a:rPr>
              <a:t>写文件出错时，直接屏显结果</a:t>
            </a:r>
          </a:p>
        </p:txBody>
      </p:sp>
    </p:spTree>
    <p:extLst>
      <p:ext uri="{BB962C8B-B14F-4D97-AF65-F5344CB8AC3E}">
        <p14:creationId xmlns:p14="http://schemas.microsoft.com/office/powerpoint/2010/main" val="28488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vvideo/id/BV1Jgf6YvE8e_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vvideo/id/BV1Jgf6YvE8e_3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vvideo/id/BV1Jgf6YvE8e_3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vvideo/id/BV1Jgf6YvE8e_3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vvideo/id/BV1KG4y197Z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vvideo/id/BV1Cs4y147fC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​​">
  <a:themeElements>
    <a:clrScheme name="自定义 222">
      <a:dk1>
        <a:sysClr val="windowText" lastClr="000000"/>
      </a:dk1>
      <a:lt1>
        <a:sysClr val="window" lastClr="FFFFFF"/>
      </a:lt1>
      <a:dk2>
        <a:srgbClr val="435258"/>
      </a:dk2>
      <a:lt2>
        <a:srgbClr val="EEECE1"/>
      </a:lt2>
      <a:accent1>
        <a:srgbClr val="2A8FBD"/>
      </a:accent1>
      <a:accent2>
        <a:srgbClr val="00B0F0"/>
      </a:accent2>
      <a:accent3>
        <a:srgbClr val="435258"/>
      </a:accent3>
      <a:accent4>
        <a:srgbClr val="1E6787"/>
      </a:accent4>
      <a:accent5>
        <a:srgbClr val="2A8FBD"/>
      </a:accent5>
      <a:accent6>
        <a:srgbClr val="E44860"/>
      </a:accent6>
      <a:hlink>
        <a:srgbClr val="E44860"/>
      </a:hlink>
      <a:folHlink>
        <a:srgbClr val="435258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18664</TotalTime>
  <Words>4634</Words>
  <Application>Microsoft Office PowerPoint</Application>
  <PresentationFormat>宽屏</PresentationFormat>
  <Paragraphs>679</Paragraphs>
  <Slides>54</Slides>
  <Notes>40</Notes>
  <HiddenSlides>3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Arial Unicode MS</vt:lpstr>
      <vt:lpstr>DeepSeek-CJK-patch</vt:lpstr>
      <vt:lpstr>Impact MT Std</vt:lpstr>
      <vt:lpstr>等线</vt:lpstr>
      <vt:lpstr>宋体</vt:lpstr>
      <vt:lpstr>Microsoft Yahei</vt:lpstr>
      <vt:lpstr>Microsoft Yahei</vt:lpstr>
      <vt:lpstr>造字工房尚黑（非商用）细体</vt:lpstr>
      <vt:lpstr>Arial</vt:lpstr>
      <vt:lpstr>Calibri</vt:lpstr>
      <vt:lpstr>Gill Sans Ultra Bold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ZhaoLu</dc:creator>
  <cp:lastModifiedBy>Fan Bi</cp:lastModifiedBy>
  <cp:revision>195</cp:revision>
  <dcterms:created xsi:type="dcterms:W3CDTF">2019-01-13T07:44:05Z</dcterms:created>
  <dcterms:modified xsi:type="dcterms:W3CDTF">2025-05-06T07:26:34Z</dcterms:modified>
</cp:coreProperties>
</file>