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42" r:id="rId3"/>
    <p:sldId id="260" r:id="rId4"/>
    <p:sldId id="318" r:id="rId6"/>
    <p:sldId id="380" r:id="rId7"/>
    <p:sldId id="344" r:id="rId8"/>
    <p:sldId id="381" r:id="rId9"/>
    <p:sldId id="382" r:id="rId10"/>
    <p:sldId id="383" r:id="rId11"/>
    <p:sldId id="384" r:id="rId12"/>
    <p:sldId id="385" r:id="rId13"/>
    <p:sldId id="386" r:id="rId14"/>
    <p:sldId id="387" r:id="rId15"/>
    <p:sldId id="389" r:id="rId16"/>
    <p:sldId id="390" r:id="rId17"/>
    <p:sldId id="391" r:id="rId18"/>
    <p:sldId id="392" r:id="rId19"/>
    <p:sldId id="393" r:id="rId20"/>
    <p:sldId id="394" r:id="rId21"/>
    <p:sldId id="395" r:id="rId22"/>
    <p:sldId id="388" r:id="rId23"/>
    <p:sldId id="396" r:id="rId24"/>
    <p:sldId id="397" r:id="rId25"/>
    <p:sldId id="398" r:id="rId26"/>
    <p:sldId id="399" r:id="rId27"/>
    <p:sldId id="400" r:id="rId28"/>
    <p:sldId id="401" r:id="rId29"/>
    <p:sldId id="402" r:id="rId30"/>
    <p:sldId id="403" r:id="rId31"/>
    <p:sldId id="404" r:id="rId32"/>
    <p:sldId id="405" r:id="rId33"/>
    <p:sldId id="406" r:id="rId34"/>
    <p:sldId id="408" r:id="rId35"/>
    <p:sldId id="407" r:id="rId36"/>
    <p:sldId id="409" r:id="rId37"/>
    <p:sldId id="410" r:id="rId38"/>
    <p:sldId id="411" r:id="rId39"/>
    <p:sldId id="412" r:id="rId40"/>
    <p:sldId id="413" r:id="rId41"/>
    <p:sldId id="414" r:id="rId42"/>
    <p:sldId id="416" r:id="rId43"/>
    <p:sldId id="417" r:id="rId44"/>
    <p:sldId id="418" r:id="rId45"/>
    <p:sldId id="419" r:id="rId46"/>
    <p:sldId id="420" r:id="rId47"/>
    <p:sldId id="421" r:id="rId48"/>
    <p:sldId id="422" r:id="rId49"/>
    <p:sldId id="423" r:id="rId50"/>
    <p:sldId id="424" r:id="rId51"/>
    <p:sldId id="425" r:id="rId52"/>
    <p:sldId id="426" r:id="rId53"/>
    <p:sldId id="428" r:id="rId54"/>
    <p:sldId id="429" r:id="rId55"/>
    <p:sldId id="431" r:id="rId56"/>
    <p:sldId id="430" r:id="rId57"/>
    <p:sldId id="432" r:id="rId58"/>
    <p:sldId id="433" r:id="rId59"/>
    <p:sldId id="434" r:id="rId60"/>
    <p:sldId id="415" r:id="rId61"/>
    <p:sldId id="435" r:id="rId62"/>
    <p:sldId id="436"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BE1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3560" autoAdjust="0"/>
  </p:normalViewPr>
  <p:slideViewPr>
    <p:cSldViewPr snapToGrid="0">
      <p:cViewPr varScale="1">
        <p:scale>
          <a:sx n="74" d="100"/>
          <a:sy n="74" d="100"/>
        </p:scale>
        <p:origin x="492" y="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41353-A0F4-4DD2-AF90-B2B2D232929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74753-AFF2-43A3-98C7-386D01E496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kern="1200" dirty="0" err="1" smtClean="0">
                <a:solidFill>
                  <a:schemeClr val="tx1"/>
                </a:solidFill>
                <a:effectLst/>
                <a:latin typeface="+mn-lt"/>
                <a:ea typeface="+mn-ea"/>
                <a:cs typeface="+mn-cs"/>
              </a:rPr>
              <a:t>NumPy</a:t>
            </a:r>
            <a:r>
              <a:rPr lang="zh-CN" altLang="zh-CN" sz="1200" kern="1200" dirty="0" smtClean="0">
                <a:solidFill>
                  <a:schemeClr val="tx1"/>
                </a:solidFill>
                <a:effectLst/>
                <a:latin typeface="+mn-lt"/>
                <a:ea typeface="+mn-ea"/>
                <a:cs typeface="+mn-cs"/>
              </a:rPr>
              <a:t>和</a:t>
            </a:r>
            <a:r>
              <a:rPr lang="en-US" altLang="zh-CN" sz="1200" kern="1200" dirty="0" err="1" smtClean="0">
                <a:solidFill>
                  <a:schemeClr val="tx1"/>
                </a:solidFill>
                <a:effectLst/>
                <a:latin typeface="+mn-lt"/>
                <a:ea typeface="+mn-ea"/>
                <a:cs typeface="+mn-cs"/>
              </a:rPr>
              <a:t>Matplotlib</a:t>
            </a:r>
            <a:r>
              <a:rPr lang="zh-CN" altLang="zh-CN" sz="1200" kern="1200" dirty="0" smtClean="0">
                <a:solidFill>
                  <a:schemeClr val="tx1"/>
                </a:solidFill>
                <a:effectLst/>
                <a:latin typeface="+mn-lt"/>
                <a:ea typeface="+mn-ea"/>
                <a:cs typeface="+mn-cs"/>
              </a:rPr>
              <a:t>这两个第三方库为我们利用</a:t>
            </a:r>
            <a:r>
              <a:rPr lang="en-US" altLang="zh-CN" sz="1200" kern="1200" dirty="0" smtClean="0">
                <a:solidFill>
                  <a:schemeClr val="tx1"/>
                </a:solidFill>
                <a:effectLst/>
                <a:latin typeface="+mn-lt"/>
                <a:ea typeface="+mn-ea"/>
                <a:cs typeface="+mn-cs"/>
              </a:rPr>
              <a:t>Python</a:t>
            </a:r>
            <a:r>
              <a:rPr lang="zh-CN" altLang="zh-CN" sz="1200" kern="1200" dirty="0" smtClean="0">
                <a:solidFill>
                  <a:schemeClr val="tx1"/>
                </a:solidFill>
                <a:effectLst/>
                <a:latin typeface="+mn-lt"/>
                <a:ea typeface="+mn-ea"/>
                <a:cs typeface="+mn-cs"/>
              </a:rPr>
              <a:t>语言进行科学计算提供了组织数据和展示数据非常强大的支撑。这两个库都是科学计算生态系统</a:t>
            </a:r>
            <a:r>
              <a:rPr lang="en-US" altLang="zh-CN" sz="1200" kern="1200" dirty="0" err="1" smtClean="0">
                <a:solidFill>
                  <a:schemeClr val="tx1"/>
                </a:solidFill>
                <a:effectLst/>
                <a:latin typeface="+mn-lt"/>
                <a:ea typeface="+mn-ea"/>
                <a:cs typeface="+mn-cs"/>
              </a:rPr>
              <a:t>SciPy</a:t>
            </a:r>
            <a:r>
              <a:rPr lang="zh-CN" altLang="zh-CN" sz="1200" kern="1200" dirty="0" smtClean="0">
                <a:solidFill>
                  <a:schemeClr val="tx1"/>
                </a:solidFill>
                <a:effectLst/>
                <a:latin typeface="+mn-lt"/>
                <a:ea typeface="+mn-ea"/>
                <a:cs typeface="+mn-cs"/>
              </a:rPr>
              <a:t>中的核心组成部分。如果想了解</a:t>
            </a:r>
            <a:r>
              <a:rPr lang="en-US" altLang="zh-CN" sz="1200" kern="1200" dirty="0" err="1" smtClean="0">
                <a:solidFill>
                  <a:schemeClr val="tx1"/>
                </a:solidFill>
                <a:effectLst/>
                <a:latin typeface="+mn-lt"/>
                <a:ea typeface="+mn-ea"/>
                <a:cs typeface="+mn-cs"/>
              </a:rPr>
              <a:t>SciPy</a:t>
            </a:r>
            <a:r>
              <a:rPr lang="zh-CN" altLang="zh-CN" sz="1200" kern="1200" dirty="0" smtClean="0">
                <a:solidFill>
                  <a:schemeClr val="tx1"/>
                </a:solidFill>
                <a:effectLst/>
                <a:latin typeface="+mn-lt"/>
                <a:ea typeface="+mn-ea"/>
                <a:cs typeface="+mn-cs"/>
              </a:rPr>
              <a:t>，请参</a:t>
            </a:r>
            <a:r>
              <a:rPr lang="en-US" altLang="zh-CN" sz="1200" kern="1200" dirty="0" err="1" smtClean="0">
                <a:solidFill>
                  <a:schemeClr val="tx1"/>
                </a:solidFill>
                <a:effectLst/>
                <a:latin typeface="+mn-lt"/>
                <a:ea typeface="+mn-ea"/>
                <a:cs typeface="+mn-cs"/>
              </a:rPr>
              <a:t>SciPy</a:t>
            </a:r>
            <a:r>
              <a:rPr lang="zh-CN" altLang="zh-CN" sz="1200" kern="1200" dirty="0" smtClean="0">
                <a:solidFill>
                  <a:schemeClr val="tx1"/>
                </a:solidFill>
                <a:effectLst/>
                <a:latin typeface="+mn-lt"/>
                <a:ea typeface="+mn-ea"/>
                <a:cs typeface="+mn-cs"/>
              </a:rPr>
              <a:t>考官网</a:t>
            </a:r>
            <a:r>
              <a:rPr lang="en-US" altLang="zh-CN" sz="1200" kern="1200" dirty="0" smtClean="0">
                <a:solidFill>
                  <a:schemeClr val="tx1"/>
                </a:solidFill>
                <a:effectLst/>
                <a:latin typeface="+mn-lt"/>
                <a:ea typeface="+mn-ea"/>
                <a:cs typeface="+mn-cs"/>
              </a:rPr>
              <a:t>:http://www.scipy.org</a:t>
            </a:r>
            <a:r>
              <a:rPr lang="zh-CN"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我们知道</a:t>
            </a:r>
            <a:r>
              <a:rPr lang="en-US" altLang="zh-CN" sz="1200" kern="1200" dirty="0" smtClean="0">
                <a:solidFill>
                  <a:schemeClr val="tx1"/>
                </a:solidFill>
                <a:effectLst/>
                <a:latin typeface="+mn-lt"/>
                <a:ea typeface="+mn-ea"/>
                <a:cs typeface="+mn-cs"/>
              </a:rPr>
              <a:t>Python</a:t>
            </a:r>
            <a:r>
              <a:rPr lang="zh-CN" altLang="zh-CN" sz="1200" kern="1200" dirty="0" smtClean="0">
                <a:solidFill>
                  <a:schemeClr val="tx1"/>
                </a:solidFill>
                <a:effectLst/>
                <a:latin typeface="+mn-lt"/>
                <a:ea typeface="+mn-ea"/>
                <a:cs typeface="+mn-cs"/>
              </a:rPr>
              <a:t>语言本身支持数值类型有整型（</a:t>
            </a:r>
            <a:r>
              <a:rPr lang="en-US" altLang="zh-CN" sz="1200" kern="1200" dirty="0" err="1" smtClean="0">
                <a:solidFill>
                  <a:schemeClr val="tx1"/>
                </a:solidFill>
                <a:effectLst/>
                <a:latin typeface="+mn-lt"/>
                <a:ea typeface="+mn-ea"/>
                <a:cs typeface="+mn-cs"/>
              </a:rPr>
              <a:t>int</a:t>
            </a:r>
            <a:r>
              <a:rPr lang="zh-CN" altLang="zh-CN" sz="1200" kern="1200" dirty="0" smtClean="0">
                <a:solidFill>
                  <a:schemeClr val="tx1"/>
                </a:solidFill>
                <a:effectLst/>
                <a:latin typeface="+mn-lt"/>
                <a:ea typeface="+mn-ea"/>
                <a:cs typeface="+mn-cs"/>
              </a:rPr>
              <a:t>）、浮点型（</a:t>
            </a:r>
            <a:r>
              <a:rPr lang="en-US" altLang="zh-CN" sz="1200" kern="1200" dirty="0" smtClean="0">
                <a:solidFill>
                  <a:schemeClr val="tx1"/>
                </a:solidFill>
                <a:effectLst/>
                <a:latin typeface="+mn-lt"/>
                <a:ea typeface="+mn-ea"/>
                <a:cs typeface="+mn-cs"/>
              </a:rPr>
              <a:t>float</a:t>
            </a:r>
            <a:r>
              <a:rPr lang="zh-CN" altLang="zh-CN" sz="1200" kern="1200" dirty="0" smtClean="0">
                <a:solidFill>
                  <a:schemeClr val="tx1"/>
                </a:solidFill>
                <a:effectLst/>
                <a:latin typeface="+mn-lt"/>
                <a:ea typeface="+mn-ea"/>
                <a:cs typeface="+mn-cs"/>
              </a:rPr>
              <a:t>）和复数型（</a:t>
            </a:r>
            <a:r>
              <a:rPr lang="en-US" altLang="zh-CN" sz="1200" kern="1200" dirty="0" smtClean="0">
                <a:solidFill>
                  <a:schemeClr val="tx1"/>
                </a:solidFill>
                <a:effectLst/>
                <a:latin typeface="+mn-lt"/>
                <a:ea typeface="+mn-ea"/>
                <a:cs typeface="+mn-cs"/>
              </a:rPr>
              <a:t>complex</a:t>
            </a:r>
            <a:r>
              <a:rPr lang="zh-CN" altLang="zh-CN" sz="1200" kern="1200" dirty="0" smtClean="0">
                <a:solidFill>
                  <a:schemeClr val="tx1"/>
                </a:solidFill>
                <a:effectLst/>
                <a:latin typeface="+mn-lt"/>
                <a:ea typeface="+mn-ea"/>
                <a:cs typeface="+mn-cs"/>
              </a:rPr>
              <a:t>）。但这些类型不足以满足科学计算的需求，因为科学计算涉及的数据较多，对数据的存储和处理的性能都有较高的要求，因此</a:t>
            </a:r>
            <a:r>
              <a:rPr lang="en-US" altLang="zh-CN" sz="1200" kern="1200" dirty="0" err="1" smtClean="0">
                <a:solidFill>
                  <a:schemeClr val="tx1"/>
                </a:solidFill>
                <a:effectLst/>
                <a:latin typeface="+mn-lt"/>
                <a:ea typeface="+mn-ea"/>
                <a:cs typeface="+mn-cs"/>
              </a:rPr>
              <a:t>NumPy</a:t>
            </a:r>
            <a:r>
              <a:rPr lang="zh-CN" altLang="zh-CN" sz="1200" kern="1200" dirty="0" smtClean="0">
                <a:solidFill>
                  <a:schemeClr val="tx1"/>
                </a:solidFill>
                <a:effectLst/>
                <a:latin typeface="+mn-lt"/>
                <a:ea typeface="+mn-ea"/>
                <a:cs typeface="+mn-cs"/>
              </a:rPr>
              <a:t>添加了很多其他的数值类型</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solidFill>
                  <a:schemeClr val="accent4"/>
                </a:solidFill>
                <a:latin typeface="微软雅黑" panose="020B0503020204020204" pitchFamily="34" charset="-122"/>
                <a:ea typeface="微软雅黑" panose="020B0503020204020204" pitchFamily="34" charset="-122"/>
              </a:rPr>
              <a:t>一维矩阵是线型的，类似于</a:t>
            </a:r>
            <a:r>
              <a:rPr lang="en-US" altLang="zh-CN" sz="1200" dirty="0" smtClean="0">
                <a:solidFill>
                  <a:schemeClr val="accent4"/>
                </a:solidFill>
                <a:latin typeface="微软雅黑" panose="020B0503020204020204" pitchFamily="34" charset="-122"/>
                <a:ea typeface="微软雅黑" panose="020B0503020204020204" pitchFamily="34" charset="-122"/>
              </a:rPr>
              <a:t>Python</a:t>
            </a:r>
            <a:r>
              <a:rPr lang="zh-CN" altLang="en-US" sz="1200" dirty="0" smtClean="0">
                <a:solidFill>
                  <a:schemeClr val="accent4"/>
                </a:solidFill>
                <a:latin typeface="微软雅黑" panose="020B0503020204020204" pitchFamily="34" charset="-122"/>
                <a:ea typeface="微软雅黑" panose="020B0503020204020204" pitchFamily="34" charset="-122"/>
              </a:rPr>
              <a:t>中的普通列表，二维矩阵是表格状的，类似于</a:t>
            </a:r>
            <a:r>
              <a:rPr lang="en-US" altLang="zh-CN" sz="1200" dirty="0" smtClean="0">
                <a:solidFill>
                  <a:schemeClr val="accent4"/>
                </a:solidFill>
                <a:latin typeface="微软雅黑" panose="020B0503020204020204" pitchFamily="34" charset="-122"/>
                <a:ea typeface="微软雅黑" panose="020B0503020204020204" pitchFamily="34" charset="-122"/>
              </a:rPr>
              <a:t>Python</a:t>
            </a:r>
            <a:r>
              <a:rPr lang="zh-CN" altLang="en-US" sz="1200" dirty="0" smtClean="0">
                <a:solidFill>
                  <a:schemeClr val="accent4"/>
                </a:solidFill>
                <a:latin typeface="微软雅黑" panose="020B0503020204020204" pitchFamily="34" charset="-122"/>
                <a:ea typeface="微软雅黑" panose="020B0503020204020204" pitchFamily="34" charset="-122"/>
              </a:rPr>
              <a:t>中的嵌套列表。但由于列表运算的低效性，无法满足科学计算的要求。</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在微积分里有泰勒展开的概念，也就是用一个无穷级数来表示一个可微的函数。任何可微的函数都可以用一个</a:t>
            </a:r>
            <a:r>
              <a:rPr lang="en-US" altLang="zh-CN" sz="1200" kern="1200" dirty="0" smtClean="0">
                <a:solidFill>
                  <a:schemeClr val="tx1"/>
                </a:solidFill>
                <a:effectLst/>
                <a:latin typeface="+mn-lt"/>
                <a:ea typeface="+mn-ea"/>
                <a:cs typeface="+mn-cs"/>
              </a:rPr>
              <a:t>N</a:t>
            </a:r>
            <a:r>
              <a:rPr lang="zh-CN" altLang="zh-CN" sz="1200" kern="1200" dirty="0" smtClean="0">
                <a:solidFill>
                  <a:schemeClr val="tx1"/>
                </a:solidFill>
                <a:effectLst/>
                <a:latin typeface="+mn-lt"/>
                <a:ea typeface="+mn-ea"/>
                <a:cs typeface="+mn-cs"/>
              </a:rPr>
              <a:t>次多项式来逼近。</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上述的一些函数，只是展示了</a:t>
            </a:r>
            <a:r>
              <a:rPr lang="en-US" altLang="zh-CN" sz="1200" kern="1200" dirty="0" err="1" smtClean="0">
                <a:solidFill>
                  <a:schemeClr val="tx1"/>
                </a:solidFill>
                <a:effectLst/>
                <a:latin typeface="+mn-lt"/>
                <a:ea typeface="+mn-ea"/>
                <a:cs typeface="+mn-cs"/>
              </a:rPr>
              <a:t>NumPy</a:t>
            </a:r>
            <a:r>
              <a:rPr lang="zh-CN" altLang="zh-CN" sz="1200" kern="1200" dirty="0" smtClean="0">
                <a:solidFill>
                  <a:schemeClr val="tx1"/>
                </a:solidFill>
                <a:effectLst/>
                <a:latin typeface="+mn-lt"/>
                <a:ea typeface="+mn-ea"/>
                <a:cs typeface="+mn-cs"/>
              </a:rPr>
              <a:t>在多项式中的一些常见应用，更多</a:t>
            </a:r>
            <a:r>
              <a:rPr lang="en-US" altLang="zh-CN" sz="1200" kern="1200" dirty="0" err="1" smtClean="0">
                <a:solidFill>
                  <a:schemeClr val="tx1"/>
                </a:solidFill>
                <a:effectLst/>
                <a:latin typeface="+mn-lt"/>
                <a:ea typeface="+mn-ea"/>
                <a:cs typeface="+mn-cs"/>
              </a:rPr>
              <a:t>NumPy</a:t>
            </a:r>
            <a:r>
              <a:rPr lang="zh-CN" altLang="zh-CN" sz="1200" kern="1200" dirty="0" smtClean="0">
                <a:solidFill>
                  <a:schemeClr val="tx1"/>
                </a:solidFill>
                <a:effectLst/>
                <a:latin typeface="+mn-lt"/>
                <a:ea typeface="+mn-ea"/>
                <a:cs typeface="+mn-cs"/>
              </a:rPr>
              <a:t>中多项式的相关内容，读者可自行查阅</a:t>
            </a:r>
            <a:r>
              <a:rPr lang="en-US" altLang="zh-CN" sz="1200" kern="1200" dirty="0" err="1" smtClean="0">
                <a:solidFill>
                  <a:schemeClr val="tx1"/>
                </a:solidFill>
                <a:effectLst/>
                <a:latin typeface="+mn-lt"/>
                <a:ea typeface="+mn-ea"/>
                <a:cs typeface="+mn-cs"/>
              </a:rPr>
              <a:t>NumPy</a:t>
            </a:r>
            <a:r>
              <a:rPr lang="zh-CN" altLang="zh-CN" sz="1200" kern="1200" dirty="0" smtClean="0">
                <a:solidFill>
                  <a:schemeClr val="tx1"/>
                </a:solidFill>
                <a:effectLst/>
                <a:latin typeface="+mn-lt"/>
                <a:ea typeface="+mn-ea"/>
                <a:cs typeface="+mn-cs"/>
              </a:rPr>
              <a:t>的帮助手册。</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前面的章节中，我们已经学习了文件的内容，使用文件来实现数据的输入和结果的保存在实际的应用中是一种很常见也是很重要的方式</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由于</a:t>
            </a:r>
            <a:r>
              <a:rPr lang="en-US" altLang="zh-CN" sz="1200" kern="1200" dirty="0" smtClean="0">
                <a:solidFill>
                  <a:schemeClr val="tx1"/>
                </a:solidFill>
                <a:effectLst/>
                <a:latin typeface="+mn-lt"/>
                <a:ea typeface="+mn-ea"/>
                <a:cs typeface="+mn-cs"/>
              </a:rPr>
              <a:t>CSV</a:t>
            </a:r>
            <a:r>
              <a:rPr lang="zh-CN" altLang="zh-CN" sz="1200" kern="1200" dirty="0" smtClean="0">
                <a:solidFill>
                  <a:schemeClr val="tx1"/>
                </a:solidFill>
                <a:effectLst/>
                <a:latin typeface="+mn-lt"/>
                <a:ea typeface="+mn-ea"/>
                <a:cs typeface="+mn-cs"/>
              </a:rPr>
              <a:t>格式的文件更具有通用性，所以很多时候，我们把文件保存为</a:t>
            </a:r>
            <a:r>
              <a:rPr lang="en-US" altLang="zh-CN" sz="1200" kern="1200" dirty="0" smtClean="0">
                <a:solidFill>
                  <a:schemeClr val="tx1"/>
                </a:solidFill>
                <a:effectLst/>
                <a:latin typeface="+mn-lt"/>
                <a:ea typeface="+mn-ea"/>
                <a:cs typeface="+mn-cs"/>
              </a:rPr>
              <a:t>CSV</a:t>
            </a:r>
            <a:r>
              <a:rPr lang="zh-CN" altLang="zh-CN" sz="1200" kern="1200" dirty="0" smtClean="0">
                <a:solidFill>
                  <a:schemeClr val="tx1"/>
                </a:solidFill>
                <a:effectLst/>
                <a:latin typeface="+mn-lt"/>
                <a:ea typeface="+mn-ea"/>
                <a:cs typeface="+mn-cs"/>
              </a:rPr>
              <a:t>文件类型，在使用</a:t>
            </a:r>
            <a:r>
              <a:rPr lang="en-US" altLang="zh-CN" sz="1200" kern="1200" dirty="0" err="1" smtClean="0">
                <a:solidFill>
                  <a:schemeClr val="tx1"/>
                </a:solidFill>
                <a:effectLst/>
                <a:latin typeface="+mn-lt"/>
                <a:ea typeface="+mn-ea"/>
                <a:cs typeface="+mn-cs"/>
              </a:rPr>
              <a:t>savetxt</a:t>
            </a:r>
            <a:r>
              <a:rPr lang="zh-CN" altLang="zh-CN" sz="1200" kern="1200" dirty="0" smtClean="0">
                <a:solidFill>
                  <a:schemeClr val="tx1"/>
                </a:solidFill>
                <a:effectLst/>
                <a:latin typeface="+mn-lt"/>
                <a:ea typeface="+mn-ea"/>
                <a:cs typeface="+mn-cs"/>
              </a:rPr>
              <a:t>（）时，</a:t>
            </a:r>
            <a:r>
              <a:rPr lang="en-US" altLang="zh-CN" sz="1200" kern="1200" dirty="0" smtClean="0">
                <a:solidFill>
                  <a:schemeClr val="tx1"/>
                </a:solidFill>
                <a:effectLst/>
                <a:latin typeface="+mn-lt"/>
                <a:ea typeface="+mn-ea"/>
                <a:cs typeface="+mn-cs"/>
              </a:rPr>
              <a:t>delimiter</a:t>
            </a:r>
            <a:r>
              <a:rPr lang="zh-CN" altLang="zh-CN" sz="1200" kern="1200" dirty="0" smtClean="0">
                <a:solidFill>
                  <a:schemeClr val="tx1"/>
                </a:solidFill>
                <a:effectLst/>
                <a:latin typeface="+mn-lt"/>
                <a:ea typeface="+mn-ea"/>
                <a:cs typeface="+mn-cs"/>
              </a:rPr>
              <a:t>参数用“，”来赋值。</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其他的文件读写函数，请大家课后自学</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如果想了解</a:t>
            </a:r>
            <a:r>
              <a:rPr lang="en-US" altLang="zh-CN" sz="1200" kern="1200" dirty="0" err="1" smtClean="0">
                <a:solidFill>
                  <a:schemeClr val="tx1"/>
                </a:solidFill>
                <a:effectLst/>
                <a:latin typeface="+mn-lt"/>
                <a:ea typeface="+mn-ea"/>
                <a:cs typeface="+mn-cs"/>
              </a:rPr>
              <a:t>SciPy</a:t>
            </a:r>
            <a:r>
              <a:rPr lang="zh-CN" altLang="zh-CN" sz="1200" kern="1200" dirty="0" smtClean="0">
                <a:solidFill>
                  <a:schemeClr val="tx1"/>
                </a:solidFill>
                <a:effectLst/>
                <a:latin typeface="+mn-lt"/>
                <a:ea typeface="+mn-ea"/>
                <a:cs typeface="+mn-cs"/>
              </a:rPr>
              <a:t>，请参</a:t>
            </a:r>
            <a:r>
              <a:rPr lang="en-US" altLang="zh-CN" sz="1200" kern="1200" dirty="0" err="1" smtClean="0">
                <a:solidFill>
                  <a:schemeClr val="tx1"/>
                </a:solidFill>
                <a:effectLst/>
                <a:latin typeface="+mn-lt"/>
                <a:ea typeface="+mn-ea"/>
                <a:cs typeface="+mn-cs"/>
              </a:rPr>
              <a:t>SciPy</a:t>
            </a:r>
            <a:r>
              <a:rPr lang="zh-CN" altLang="zh-CN" sz="1200" kern="1200" dirty="0" smtClean="0">
                <a:solidFill>
                  <a:schemeClr val="tx1"/>
                </a:solidFill>
                <a:effectLst/>
                <a:latin typeface="+mn-lt"/>
                <a:ea typeface="+mn-ea"/>
                <a:cs typeface="+mn-cs"/>
              </a:rPr>
              <a:t>考官网</a:t>
            </a:r>
            <a:r>
              <a:rPr lang="en-US" altLang="zh-CN" sz="1200" kern="1200" dirty="0" smtClean="0">
                <a:solidFill>
                  <a:schemeClr val="tx1"/>
                </a:solidFill>
                <a:effectLst/>
                <a:latin typeface="+mn-lt"/>
                <a:ea typeface="+mn-ea"/>
                <a:cs typeface="+mn-cs"/>
              </a:rPr>
              <a:t>:http://www.scipy.org</a:t>
            </a:r>
            <a:r>
              <a:rPr lang="zh-CN"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上述代码中</a:t>
            </a:r>
            <a:r>
              <a:rPr lang="en-US" altLang="zh-CN" sz="1200" kern="1200" dirty="0" smtClean="0">
                <a:solidFill>
                  <a:schemeClr val="tx1"/>
                </a:solidFill>
                <a:effectLst/>
                <a:latin typeface="+mn-lt"/>
                <a:ea typeface="+mn-ea"/>
                <a:cs typeface="+mn-cs"/>
              </a:rPr>
              <a:t>plot</a:t>
            </a:r>
            <a:r>
              <a:rPr lang="zh-CN" altLang="zh-CN" sz="1200" kern="1200" dirty="0" smtClean="0">
                <a:solidFill>
                  <a:schemeClr val="tx1"/>
                </a:solidFill>
                <a:effectLst/>
                <a:latin typeface="+mn-lt"/>
                <a:ea typeface="+mn-ea"/>
                <a:cs typeface="+mn-cs"/>
              </a:rPr>
              <a:t>（）函数中只有一个参数，此时，这个参数作为即将要绘制的图形中的</a:t>
            </a:r>
            <a:r>
              <a:rPr lang="en-US" altLang="zh-CN" sz="1200" kern="1200" dirty="0" smtClean="0">
                <a:solidFill>
                  <a:schemeClr val="tx1"/>
                </a:solidFill>
                <a:effectLst/>
                <a:latin typeface="+mn-lt"/>
                <a:ea typeface="+mn-ea"/>
                <a:cs typeface="+mn-cs"/>
              </a:rPr>
              <a:t>y</a:t>
            </a:r>
            <a:r>
              <a:rPr lang="zh-CN" altLang="zh-CN" sz="1200" kern="1200" dirty="0" smtClean="0">
                <a:solidFill>
                  <a:schemeClr val="tx1"/>
                </a:solidFill>
                <a:effectLst/>
                <a:latin typeface="+mn-lt"/>
                <a:ea typeface="+mn-ea"/>
                <a:cs typeface="+mn-cs"/>
              </a:rPr>
              <a:t>值，而把</a:t>
            </a:r>
            <a:r>
              <a:rPr lang="en-US" altLang="zh-CN" sz="1200" kern="1200" dirty="0" smtClean="0">
                <a:solidFill>
                  <a:schemeClr val="tx1"/>
                </a:solidFill>
                <a:effectLst/>
                <a:latin typeface="+mn-lt"/>
                <a:ea typeface="+mn-ea"/>
                <a:cs typeface="+mn-cs"/>
              </a:rPr>
              <a:t>y</a:t>
            </a:r>
            <a:r>
              <a:rPr lang="zh-CN" altLang="zh-CN" sz="1200" kern="1200" dirty="0" smtClean="0">
                <a:solidFill>
                  <a:schemeClr val="tx1"/>
                </a:solidFill>
                <a:effectLst/>
                <a:latin typeface="+mn-lt"/>
                <a:ea typeface="+mn-ea"/>
                <a:cs typeface="+mn-cs"/>
              </a:rPr>
              <a:t>中每个元素的索引值，作为</a:t>
            </a:r>
            <a:r>
              <a:rPr lang="en-US" altLang="zh-CN" sz="1200" kern="1200" dirty="0" smtClean="0">
                <a:solidFill>
                  <a:schemeClr val="tx1"/>
                </a:solidFill>
                <a:effectLst/>
                <a:latin typeface="+mn-lt"/>
                <a:ea typeface="+mn-ea"/>
                <a:cs typeface="+mn-cs"/>
              </a:rPr>
              <a:t>x</a:t>
            </a:r>
            <a:r>
              <a:rPr lang="zh-CN" altLang="zh-CN" sz="1200" kern="1200" dirty="0" smtClean="0">
                <a:solidFill>
                  <a:schemeClr val="tx1"/>
                </a:solidFill>
                <a:effectLst/>
                <a:latin typeface="+mn-lt"/>
                <a:ea typeface="+mn-ea"/>
                <a:cs typeface="+mn-cs"/>
              </a:rPr>
              <a:t>值，即</a:t>
            </a:r>
            <a:r>
              <a:rPr lang="en-US" altLang="zh-CN" sz="1200" kern="1200" dirty="0" err="1" smtClean="0">
                <a:solidFill>
                  <a:schemeClr val="tx1"/>
                </a:solidFill>
                <a:effectLst/>
                <a:latin typeface="+mn-lt"/>
                <a:ea typeface="+mn-ea"/>
                <a:cs typeface="+mn-cs"/>
              </a:rPr>
              <a:t>plt.plot</a:t>
            </a:r>
            <a:r>
              <a:rPr lang="en-US" altLang="zh-CN" sz="1200" kern="1200" dirty="0" smtClean="0">
                <a:solidFill>
                  <a:schemeClr val="tx1"/>
                </a:solidFill>
                <a:effectLst/>
                <a:latin typeface="+mn-lt"/>
                <a:ea typeface="+mn-ea"/>
                <a:cs typeface="+mn-cs"/>
              </a:rPr>
              <a:t>([1,2,3])</a:t>
            </a:r>
            <a:r>
              <a:rPr lang="zh-CN" altLang="zh-CN" sz="1200" kern="1200" dirty="0" smtClean="0">
                <a:solidFill>
                  <a:schemeClr val="tx1"/>
                </a:solidFill>
                <a:effectLst/>
                <a:latin typeface="+mn-lt"/>
                <a:ea typeface="+mn-ea"/>
                <a:cs typeface="+mn-cs"/>
              </a:rPr>
              <a:t>等价于</a:t>
            </a:r>
            <a:r>
              <a:rPr lang="en-US" altLang="zh-CN" sz="1200" kern="1200" dirty="0" err="1" smtClean="0">
                <a:solidFill>
                  <a:schemeClr val="tx1"/>
                </a:solidFill>
                <a:effectLst/>
                <a:latin typeface="+mn-lt"/>
                <a:ea typeface="+mn-ea"/>
                <a:cs typeface="+mn-cs"/>
              </a:rPr>
              <a:t>plt.plot</a:t>
            </a:r>
            <a:r>
              <a:rPr lang="en-US" altLang="zh-CN" sz="1200" kern="1200" dirty="0" smtClean="0">
                <a:solidFill>
                  <a:schemeClr val="tx1"/>
                </a:solidFill>
                <a:effectLst/>
                <a:latin typeface="+mn-lt"/>
                <a:ea typeface="+mn-ea"/>
                <a:cs typeface="+mn-cs"/>
              </a:rPr>
              <a:t>([0,1,2]</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[1,2,3])</a:t>
            </a:r>
            <a:r>
              <a:rPr lang="zh-CN" altLang="zh-CN" sz="1200" kern="1200" dirty="0" smtClean="0">
                <a:solidFill>
                  <a:schemeClr val="tx1"/>
                </a:solidFill>
                <a:effectLst/>
                <a:latin typeface="+mn-lt"/>
                <a:ea typeface="+mn-ea"/>
                <a:cs typeface="+mn-cs"/>
              </a:rPr>
              <a:t>，我们可以把要绘制的线理解为经过三个点的线，这三个点的坐标分别是由</a:t>
            </a:r>
            <a:r>
              <a:rPr lang="en-US" altLang="zh-CN" sz="1200" kern="1200" dirty="0" smtClean="0">
                <a:solidFill>
                  <a:schemeClr val="tx1"/>
                </a:solidFill>
                <a:effectLst/>
                <a:latin typeface="+mn-lt"/>
                <a:ea typeface="+mn-ea"/>
                <a:cs typeface="+mn-cs"/>
              </a:rPr>
              <a:t>x</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y</a:t>
            </a:r>
            <a:r>
              <a:rPr lang="zh-CN" altLang="zh-CN" sz="1200" kern="1200" dirty="0" smtClean="0">
                <a:solidFill>
                  <a:schemeClr val="tx1"/>
                </a:solidFill>
                <a:effectLst/>
                <a:latin typeface="+mn-lt"/>
                <a:ea typeface="+mn-ea"/>
                <a:cs typeface="+mn-cs"/>
              </a:rPr>
              <a:t>对应元素的值构成，分别是（</a:t>
            </a:r>
            <a:r>
              <a:rPr lang="en-US" altLang="zh-CN" sz="1200" kern="1200" dirty="0" smtClean="0">
                <a:solidFill>
                  <a:schemeClr val="tx1"/>
                </a:solidFill>
                <a:effectLst/>
                <a:latin typeface="+mn-lt"/>
                <a:ea typeface="+mn-ea"/>
                <a:cs typeface="+mn-cs"/>
              </a:rPr>
              <a:t>0,1</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1,2</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2,3</a:t>
            </a:r>
            <a:r>
              <a:rPr lang="zh-CN" altLang="zh-CN" sz="1200" kern="1200" dirty="0" smtClean="0">
                <a:solidFill>
                  <a:schemeClr val="tx1"/>
                </a:solidFill>
                <a:effectLst/>
                <a:latin typeface="+mn-lt"/>
                <a:ea typeface="+mn-ea"/>
                <a:cs typeface="+mn-cs"/>
              </a:rPr>
              <a:t>），相信大家也可以轻松的推导出该直线的数学表达式：</a:t>
            </a:r>
            <a:r>
              <a:rPr lang="en-US" altLang="zh-CN" sz="1200" kern="1200" dirty="0" smtClean="0">
                <a:solidFill>
                  <a:schemeClr val="tx1"/>
                </a:solidFill>
                <a:effectLst/>
                <a:latin typeface="+mn-lt"/>
                <a:ea typeface="+mn-ea"/>
                <a:cs typeface="+mn-cs"/>
              </a:rPr>
              <a:t>y=x+1</a:t>
            </a:r>
            <a:r>
              <a:rPr lang="zh-CN"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标题和坐标轴的中文字体不一样</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4936B7B-B83E-48FC-9145-C5D7D2DAFA4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自定义版式">
    <p:bg>
      <p:bgPr>
        <a:solidFill>
          <a:srgbClr val="F2F2F2"/>
        </a:solid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8" y="-14371"/>
            <a:ext cx="2299838" cy="584775"/>
          </a:xfrm>
          <a:prstGeom prst="rect">
            <a:avLst/>
          </a:prstGeom>
          <a:noFill/>
        </p:spPr>
        <p:txBody>
          <a:bodyPr wrap="square" rtlCol="0">
            <a:spAutoFit/>
          </a:bodyPr>
          <a:lstStyle/>
          <a:p>
            <a:r>
              <a:rPr lang="en-US" altLang="zh-CN" sz="3200" dirty="0">
                <a:solidFill>
                  <a:srgbClr val="333333"/>
                </a:solidFill>
                <a:latin typeface="Gill Sans Ultra Bold" panose="020B0A02020104020203" pitchFamily="34" charset="0"/>
              </a:rPr>
              <a:t>LOGO</a:t>
            </a:r>
            <a:endParaRPr lang="zh-CN" altLang="en-US" sz="3200" dirty="0">
              <a:solidFill>
                <a:srgbClr val="333333"/>
              </a:solidFill>
              <a:latin typeface="Gill Sans Ultra Bold" panose="020B0A02020104020203"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2.xml"/><Relationship Id="rId4" Type="http://schemas.openxmlformats.org/officeDocument/2006/relationships/hyperlink" Target="https://matplotlib.org/api/_as_gen/matplotlib.pyplot.specgram.html#matplotlib.pyplot.specgram" TargetMode="External"/><Relationship Id="rId3" Type="http://schemas.openxmlformats.org/officeDocument/2006/relationships/hyperlink" Target="https://matplotlib.org/api/_as_gen/matplotlib.pyplot.scatter.html#matplotlib.pyplot.scatter" TargetMode="External"/><Relationship Id="rId2" Type="http://schemas.openxmlformats.org/officeDocument/2006/relationships/hyperlink" Target="https://matplotlib.org/api/_as_gen/matplotlib.pyplot.polar.html#matplotlib.pyplot.polar" TargetMode="Externa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clrChange>
              <a:clrFrom>
                <a:srgbClr val="FFFDFF"/>
              </a:clrFrom>
              <a:clrTo>
                <a:srgbClr val="FFFDFF">
                  <a:alpha val="0"/>
                </a:srgbClr>
              </a:clrTo>
            </a:clrChange>
          </a:blip>
          <a:stretch>
            <a:fillRect/>
          </a:stretch>
        </p:blipFill>
        <p:spPr>
          <a:xfrm>
            <a:off x="0" y="-31693"/>
            <a:ext cx="12192001" cy="6870567"/>
          </a:xfrm>
          <a:prstGeom prst="rect">
            <a:avLst/>
          </a:prstGeom>
        </p:spPr>
      </p:pic>
      <p:cxnSp>
        <p:nvCxnSpPr>
          <p:cNvPr id="24" name="直接连接符 23"/>
          <p:cNvCxnSpPr/>
          <p:nvPr/>
        </p:nvCxnSpPr>
        <p:spPr>
          <a:xfrm>
            <a:off x="1842448" y="3358242"/>
            <a:ext cx="9717206" cy="108289"/>
          </a:xfrm>
          <a:prstGeom prst="line">
            <a:avLst/>
          </a:prstGeom>
          <a:ln w="25400">
            <a:solidFill>
              <a:schemeClr val="bg1"/>
            </a:solidFill>
          </a:ln>
          <a:effectLst>
            <a:outerShdw dist="254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3" name="Freeform 284"/>
          <p:cNvSpPr>
            <a:spLocks noEditPoints="1"/>
          </p:cNvSpPr>
          <p:nvPr/>
        </p:nvSpPr>
        <p:spPr bwMode="auto">
          <a:xfrm>
            <a:off x="8933349" y="4285049"/>
            <a:ext cx="1914405" cy="1419137"/>
          </a:xfrm>
          <a:custGeom>
            <a:avLst/>
            <a:gdLst>
              <a:gd name="T0" fmla="*/ 1 w 85"/>
              <a:gd name="T1" fmla="*/ 0 h 63"/>
              <a:gd name="T2" fmla="*/ 0 w 85"/>
              <a:gd name="T3" fmla="*/ 62 h 63"/>
              <a:gd name="T4" fmla="*/ 16 w 85"/>
              <a:gd name="T5" fmla="*/ 63 h 63"/>
              <a:gd name="T6" fmla="*/ 18 w 85"/>
              <a:gd name="T7" fmla="*/ 1 h 63"/>
              <a:gd name="T8" fmla="*/ 2 w 85"/>
              <a:gd name="T9" fmla="*/ 5 h 63"/>
              <a:gd name="T10" fmla="*/ 14 w 85"/>
              <a:gd name="T11" fmla="*/ 4 h 63"/>
              <a:gd name="T12" fmla="*/ 16 w 85"/>
              <a:gd name="T13" fmla="*/ 28 h 63"/>
              <a:gd name="T14" fmla="*/ 3 w 85"/>
              <a:gd name="T15" fmla="*/ 29 h 63"/>
              <a:gd name="T16" fmla="*/ 2 w 85"/>
              <a:gd name="T17" fmla="*/ 5 h 63"/>
              <a:gd name="T18" fmla="*/ 2 w 85"/>
              <a:gd name="T19" fmla="*/ 56 h 63"/>
              <a:gd name="T20" fmla="*/ 2 w 85"/>
              <a:gd name="T21" fmla="*/ 55 h 63"/>
              <a:gd name="T22" fmla="*/ 16 w 85"/>
              <a:gd name="T23" fmla="*/ 56 h 63"/>
              <a:gd name="T24" fmla="*/ 16 w 85"/>
              <a:gd name="T25" fmla="*/ 52 h 63"/>
              <a:gd name="T26" fmla="*/ 2 w 85"/>
              <a:gd name="T27" fmla="*/ 52 h 63"/>
              <a:gd name="T28" fmla="*/ 16 w 85"/>
              <a:gd name="T29" fmla="*/ 51 h 63"/>
              <a:gd name="T30" fmla="*/ 16 w 85"/>
              <a:gd name="T31" fmla="*/ 52 h 63"/>
              <a:gd name="T32" fmla="*/ 21 w 85"/>
              <a:gd name="T33" fmla="*/ 0 h 63"/>
              <a:gd name="T34" fmla="*/ 19 w 85"/>
              <a:gd name="T35" fmla="*/ 62 h 63"/>
              <a:gd name="T36" fmla="*/ 36 w 85"/>
              <a:gd name="T37" fmla="*/ 63 h 63"/>
              <a:gd name="T38" fmla="*/ 38 w 85"/>
              <a:gd name="T39" fmla="*/ 1 h 63"/>
              <a:gd name="T40" fmla="*/ 22 w 85"/>
              <a:gd name="T41" fmla="*/ 5 h 63"/>
              <a:gd name="T42" fmla="*/ 34 w 85"/>
              <a:gd name="T43" fmla="*/ 4 h 63"/>
              <a:gd name="T44" fmla="*/ 35 w 85"/>
              <a:gd name="T45" fmla="*/ 28 h 63"/>
              <a:gd name="T46" fmla="*/ 23 w 85"/>
              <a:gd name="T47" fmla="*/ 29 h 63"/>
              <a:gd name="T48" fmla="*/ 22 w 85"/>
              <a:gd name="T49" fmla="*/ 5 h 63"/>
              <a:gd name="T50" fmla="*/ 22 w 85"/>
              <a:gd name="T51" fmla="*/ 56 h 63"/>
              <a:gd name="T52" fmla="*/ 22 w 85"/>
              <a:gd name="T53" fmla="*/ 55 h 63"/>
              <a:gd name="T54" fmla="*/ 36 w 85"/>
              <a:gd name="T55" fmla="*/ 56 h 63"/>
              <a:gd name="T56" fmla="*/ 35 w 85"/>
              <a:gd name="T57" fmla="*/ 52 h 63"/>
              <a:gd name="T58" fmla="*/ 21 w 85"/>
              <a:gd name="T59" fmla="*/ 52 h 63"/>
              <a:gd name="T60" fmla="*/ 35 w 85"/>
              <a:gd name="T61" fmla="*/ 51 h 63"/>
              <a:gd name="T62" fmla="*/ 35 w 85"/>
              <a:gd name="T63" fmla="*/ 52 h 63"/>
              <a:gd name="T64" fmla="*/ 53 w 85"/>
              <a:gd name="T65" fmla="*/ 1 h 63"/>
              <a:gd name="T66" fmla="*/ 38 w 85"/>
              <a:gd name="T67" fmla="*/ 9 h 63"/>
              <a:gd name="T68" fmla="*/ 69 w 85"/>
              <a:gd name="T69" fmla="*/ 62 h 63"/>
              <a:gd name="T70" fmla="*/ 84 w 85"/>
              <a:gd name="T71" fmla="*/ 55 h 63"/>
              <a:gd name="T72" fmla="*/ 64 w 85"/>
              <a:gd name="T73" fmla="*/ 27 h 63"/>
              <a:gd name="T74" fmla="*/ 53 w 85"/>
              <a:gd name="T75" fmla="*/ 32 h 63"/>
              <a:gd name="T76" fmla="*/ 42 w 85"/>
              <a:gd name="T77" fmla="*/ 11 h 63"/>
              <a:gd name="T78" fmla="*/ 53 w 85"/>
              <a:gd name="T79" fmla="*/ 6 h 63"/>
              <a:gd name="T80" fmla="*/ 64 w 85"/>
              <a:gd name="T81" fmla="*/ 27 h 63"/>
              <a:gd name="T82" fmla="*/ 66 w 85"/>
              <a:gd name="T83" fmla="*/ 52 h 63"/>
              <a:gd name="T84" fmla="*/ 78 w 85"/>
              <a:gd name="T85" fmla="*/ 46 h 63"/>
              <a:gd name="T86" fmla="*/ 66 w 85"/>
              <a:gd name="T87" fmla="*/ 53 h 63"/>
              <a:gd name="T88" fmla="*/ 80 w 85"/>
              <a:gd name="T89" fmla="*/ 49 h 63"/>
              <a:gd name="T90" fmla="*/ 68 w 85"/>
              <a:gd name="T91" fmla="*/ 56 h 63"/>
              <a:gd name="T92" fmla="*/ 79 w 85"/>
              <a:gd name="T93" fmla="*/ 49 h 63"/>
              <a:gd name="T94" fmla="*/ 80 w 85"/>
              <a:gd name="T95" fmla="*/ 4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63">
                <a:moveTo>
                  <a:pt x="16" y="0"/>
                </a:moveTo>
                <a:cubicBezTo>
                  <a:pt x="1" y="0"/>
                  <a:pt x="1" y="0"/>
                  <a:pt x="1" y="0"/>
                </a:cubicBezTo>
                <a:cubicBezTo>
                  <a:pt x="1" y="0"/>
                  <a:pt x="0" y="1"/>
                  <a:pt x="0" y="1"/>
                </a:cubicBezTo>
                <a:cubicBezTo>
                  <a:pt x="0" y="62"/>
                  <a:pt x="0" y="62"/>
                  <a:pt x="0" y="62"/>
                </a:cubicBezTo>
                <a:cubicBezTo>
                  <a:pt x="0" y="62"/>
                  <a:pt x="1" y="63"/>
                  <a:pt x="1" y="63"/>
                </a:cubicBezTo>
                <a:cubicBezTo>
                  <a:pt x="16" y="63"/>
                  <a:pt x="16" y="63"/>
                  <a:pt x="16" y="63"/>
                </a:cubicBezTo>
                <a:cubicBezTo>
                  <a:pt x="17" y="63"/>
                  <a:pt x="18" y="62"/>
                  <a:pt x="18" y="62"/>
                </a:cubicBezTo>
                <a:cubicBezTo>
                  <a:pt x="18" y="1"/>
                  <a:pt x="18" y="1"/>
                  <a:pt x="18" y="1"/>
                </a:cubicBezTo>
                <a:cubicBezTo>
                  <a:pt x="18" y="1"/>
                  <a:pt x="17" y="0"/>
                  <a:pt x="16" y="0"/>
                </a:cubicBezTo>
                <a:close/>
                <a:moveTo>
                  <a:pt x="2" y="5"/>
                </a:moveTo>
                <a:cubicBezTo>
                  <a:pt x="2" y="4"/>
                  <a:pt x="3" y="4"/>
                  <a:pt x="3" y="4"/>
                </a:cubicBezTo>
                <a:cubicBezTo>
                  <a:pt x="14" y="4"/>
                  <a:pt x="14" y="4"/>
                  <a:pt x="14" y="4"/>
                </a:cubicBezTo>
                <a:cubicBezTo>
                  <a:pt x="15" y="4"/>
                  <a:pt x="16" y="4"/>
                  <a:pt x="16" y="5"/>
                </a:cubicBezTo>
                <a:cubicBezTo>
                  <a:pt x="16" y="28"/>
                  <a:pt x="16" y="28"/>
                  <a:pt x="16" y="28"/>
                </a:cubicBezTo>
                <a:cubicBezTo>
                  <a:pt x="16" y="28"/>
                  <a:pt x="15" y="29"/>
                  <a:pt x="14" y="29"/>
                </a:cubicBezTo>
                <a:cubicBezTo>
                  <a:pt x="3" y="29"/>
                  <a:pt x="3" y="29"/>
                  <a:pt x="3" y="29"/>
                </a:cubicBezTo>
                <a:cubicBezTo>
                  <a:pt x="3" y="29"/>
                  <a:pt x="2" y="28"/>
                  <a:pt x="2" y="28"/>
                </a:cubicBezTo>
                <a:lnTo>
                  <a:pt x="2" y="5"/>
                </a:lnTo>
                <a:close/>
                <a:moveTo>
                  <a:pt x="16" y="56"/>
                </a:moveTo>
                <a:cubicBezTo>
                  <a:pt x="2" y="56"/>
                  <a:pt x="2" y="56"/>
                  <a:pt x="2" y="56"/>
                </a:cubicBezTo>
                <a:cubicBezTo>
                  <a:pt x="2" y="56"/>
                  <a:pt x="2" y="56"/>
                  <a:pt x="2" y="56"/>
                </a:cubicBezTo>
                <a:cubicBezTo>
                  <a:pt x="2" y="55"/>
                  <a:pt x="2" y="55"/>
                  <a:pt x="2" y="55"/>
                </a:cubicBezTo>
                <a:cubicBezTo>
                  <a:pt x="16" y="55"/>
                  <a:pt x="16" y="55"/>
                  <a:pt x="16" y="55"/>
                </a:cubicBezTo>
                <a:cubicBezTo>
                  <a:pt x="16" y="55"/>
                  <a:pt x="16" y="55"/>
                  <a:pt x="16" y="56"/>
                </a:cubicBezTo>
                <a:cubicBezTo>
                  <a:pt x="16" y="56"/>
                  <a:pt x="16" y="56"/>
                  <a:pt x="16" y="56"/>
                </a:cubicBezTo>
                <a:close/>
                <a:moveTo>
                  <a:pt x="16" y="52"/>
                </a:moveTo>
                <a:cubicBezTo>
                  <a:pt x="2" y="52"/>
                  <a:pt x="2" y="52"/>
                  <a:pt x="2" y="52"/>
                </a:cubicBezTo>
                <a:cubicBezTo>
                  <a:pt x="2" y="52"/>
                  <a:pt x="2" y="52"/>
                  <a:pt x="2" y="52"/>
                </a:cubicBezTo>
                <a:cubicBezTo>
                  <a:pt x="2" y="52"/>
                  <a:pt x="2" y="51"/>
                  <a:pt x="2" y="51"/>
                </a:cubicBezTo>
                <a:cubicBezTo>
                  <a:pt x="16" y="51"/>
                  <a:pt x="16" y="51"/>
                  <a:pt x="16" y="51"/>
                </a:cubicBezTo>
                <a:cubicBezTo>
                  <a:pt x="16" y="51"/>
                  <a:pt x="16" y="52"/>
                  <a:pt x="16" y="52"/>
                </a:cubicBezTo>
                <a:cubicBezTo>
                  <a:pt x="16" y="52"/>
                  <a:pt x="16" y="52"/>
                  <a:pt x="16" y="52"/>
                </a:cubicBezTo>
                <a:close/>
                <a:moveTo>
                  <a:pt x="36" y="0"/>
                </a:moveTo>
                <a:cubicBezTo>
                  <a:pt x="21" y="0"/>
                  <a:pt x="21" y="0"/>
                  <a:pt x="21" y="0"/>
                </a:cubicBezTo>
                <a:cubicBezTo>
                  <a:pt x="20" y="0"/>
                  <a:pt x="19" y="1"/>
                  <a:pt x="19" y="1"/>
                </a:cubicBezTo>
                <a:cubicBezTo>
                  <a:pt x="19" y="62"/>
                  <a:pt x="19" y="62"/>
                  <a:pt x="19" y="62"/>
                </a:cubicBezTo>
                <a:cubicBezTo>
                  <a:pt x="19" y="62"/>
                  <a:pt x="20" y="63"/>
                  <a:pt x="21" y="63"/>
                </a:cubicBezTo>
                <a:cubicBezTo>
                  <a:pt x="36" y="63"/>
                  <a:pt x="36" y="63"/>
                  <a:pt x="36" y="63"/>
                </a:cubicBezTo>
                <a:cubicBezTo>
                  <a:pt x="37" y="63"/>
                  <a:pt x="38" y="62"/>
                  <a:pt x="38" y="62"/>
                </a:cubicBezTo>
                <a:cubicBezTo>
                  <a:pt x="38" y="1"/>
                  <a:pt x="38" y="1"/>
                  <a:pt x="38" y="1"/>
                </a:cubicBezTo>
                <a:cubicBezTo>
                  <a:pt x="38" y="1"/>
                  <a:pt x="37" y="0"/>
                  <a:pt x="36" y="0"/>
                </a:cubicBezTo>
                <a:close/>
                <a:moveTo>
                  <a:pt x="22" y="5"/>
                </a:moveTo>
                <a:cubicBezTo>
                  <a:pt x="22" y="4"/>
                  <a:pt x="22" y="4"/>
                  <a:pt x="23" y="4"/>
                </a:cubicBezTo>
                <a:cubicBezTo>
                  <a:pt x="34" y="4"/>
                  <a:pt x="34" y="4"/>
                  <a:pt x="34" y="4"/>
                </a:cubicBezTo>
                <a:cubicBezTo>
                  <a:pt x="35" y="4"/>
                  <a:pt x="35" y="4"/>
                  <a:pt x="35" y="5"/>
                </a:cubicBezTo>
                <a:cubicBezTo>
                  <a:pt x="35" y="28"/>
                  <a:pt x="35" y="28"/>
                  <a:pt x="35" y="28"/>
                </a:cubicBezTo>
                <a:cubicBezTo>
                  <a:pt x="35" y="28"/>
                  <a:pt x="35" y="29"/>
                  <a:pt x="34" y="29"/>
                </a:cubicBezTo>
                <a:cubicBezTo>
                  <a:pt x="23" y="29"/>
                  <a:pt x="23" y="29"/>
                  <a:pt x="23" y="29"/>
                </a:cubicBezTo>
                <a:cubicBezTo>
                  <a:pt x="22" y="29"/>
                  <a:pt x="22" y="28"/>
                  <a:pt x="22" y="28"/>
                </a:cubicBezTo>
                <a:lnTo>
                  <a:pt x="22" y="5"/>
                </a:lnTo>
                <a:close/>
                <a:moveTo>
                  <a:pt x="35" y="56"/>
                </a:moveTo>
                <a:cubicBezTo>
                  <a:pt x="22" y="56"/>
                  <a:pt x="22" y="56"/>
                  <a:pt x="22" y="56"/>
                </a:cubicBezTo>
                <a:cubicBezTo>
                  <a:pt x="22" y="56"/>
                  <a:pt x="21" y="56"/>
                  <a:pt x="21" y="56"/>
                </a:cubicBezTo>
                <a:cubicBezTo>
                  <a:pt x="21" y="55"/>
                  <a:pt x="22" y="55"/>
                  <a:pt x="22" y="55"/>
                </a:cubicBezTo>
                <a:cubicBezTo>
                  <a:pt x="35" y="55"/>
                  <a:pt x="35" y="55"/>
                  <a:pt x="35" y="55"/>
                </a:cubicBezTo>
                <a:cubicBezTo>
                  <a:pt x="35" y="55"/>
                  <a:pt x="36" y="55"/>
                  <a:pt x="36" y="56"/>
                </a:cubicBezTo>
                <a:cubicBezTo>
                  <a:pt x="36" y="56"/>
                  <a:pt x="35" y="56"/>
                  <a:pt x="35" y="56"/>
                </a:cubicBezTo>
                <a:close/>
                <a:moveTo>
                  <a:pt x="35" y="52"/>
                </a:moveTo>
                <a:cubicBezTo>
                  <a:pt x="22" y="52"/>
                  <a:pt x="22" y="52"/>
                  <a:pt x="22" y="52"/>
                </a:cubicBezTo>
                <a:cubicBezTo>
                  <a:pt x="22" y="52"/>
                  <a:pt x="21" y="52"/>
                  <a:pt x="21" y="52"/>
                </a:cubicBezTo>
                <a:cubicBezTo>
                  <a:pt x="21" y="52"/>
                  <a:pt x="22" y="51"/>
                  <a:pt x="22" y="51"/>
                </a:cubicBezTo>
                <a:cubicBezTo>
                  <a:pt x="35" y="51"/>
                  <a:pt x="35" y="51"/>
                  <a:pt x="35" y="51"/>
                </a:cubicBezTo>
                <a:cubicBezTo>
                  <a:pt x="35" y="51"/>
                  <a:pt x="36" y="52"/>
                  <a:pt x="36" y="52"/>
                </a:cubicBezTo>
                <a:cubicBezTo>
                  <a:pt x="36" y="52"/>
                  <a:pt x="35" y="52"/>
                  <a:pt x="35" y="52"/>
                </a:cubicBezTo>
                <a:close/>
                <a:moveTo>
                  <a:pt x="85" y="53"/>
                </a:moveTo>
                <a:cubicBezTo>
                  <a:pt x="53" y="1"/>
                  <a:pt x="53" y="1"/>
                  <a:pt x="53" y="1"/>
                </a:cubicBezTo>
                <a:cubicBezTo>
                  <a:pt x="53" y="1"/>
                  <a:pt x="52" y="1"/>
                  <a:pt x="51" y="1"/>
                </a:cubicBezTo>
                <a:cubicBezTo>
                  <a:pt x="38" y="9"/>
                  <a:pt x="38" y="9"/>
                  <a:pt x="38" y="9"/>
                </a:cubicBezTo>
                <a:cubicBezTo>
                  <a:pt x="38" y="10"/>
                  <a:pt x="37" y="10"/>
                  <a:pt x="38" y="11"/>
                </a:cubicBezTo>
                <a:cubicBezTo>
                  <a:pt x="69" y="62"/>
                  <a:pt x="69" y="62"/>
                  <a:pt x="69" y="62"/>
                </a:cubicBezTo>
                <a:cubicBezTo>
                  <a:pt x="70" y="63"/>
                  <a:pt x="70" y="63"/>
                  <a:pt x="71" y="62"/>
                </a:cubicBezTo>
                <a:cubicBezTo>
                  <a:pt x="84" y="55"/>
                  <a:pt x="84" y="55"/>
                  <a:pt x="84" y="55"/>
                </a:cubicBezTo>
                <a:cubicBezTo>
                  <a:pt x="85" y="54"/>
                  <a:pt x="85" y="53"/>
                  <a:pt x="85" y="53"/>
                </a:cubicBezTo>
                <a:close/>
                <a:moveTo>
                  <a:pt x="64" y="27"/>
                </a:moveTo>
                <a:cubicBezTo>
                  <a:pt x="55" y="32"/>
                  <a:pt x="55" y="32"/>
                  <a:pt x="55" y="32"/>
                </a:cubicBezTo>
                <a:cubicBezTo>
                  <a:pt x="54" y="33"/>
                  <a:pt x="54" y="33"/>
                  <a:pt x="53" y="32"/>
                </a:cubicBezTo>
                <a:cubicBezTo>
                  <a:pt x="42" y="13"/>
                  <a:pt x="42" y="13"/>
                  <a:pt x="42" y="13"/>
                </a:cubicBezTo>
                <a:cubicBezTo>
                  <a:pt x="41" y="12"/>
                  <a:pt x="41" y="11"/>
                  <a:pt x="42" y="11"/>
                </a:cubicBezTo>
                <a:cubicBezTo>
                  <a:pt x="51" y="5"/>
                  <a:pt x="51" y="5"/>
                  <a:pt x="51" y="5"/>
                </a:cubicBezTo>
                <a:cubicBezTo>
                  <a:pt x="52" y="5"/>
                  <a:pt x="53" y="5"/>
                  <a:pt x="53" y="6"/>
                </a:cubicBezTo>
                <a:cubicBezTo>
                  <a:pt x="65" y="25"/>
                  <a:pt x="65" y="25"/>
                  <a:pt x="65" y="25"/>
                </a:cubicBezTo>
                <a:cubicBezTo>
                  <a:pt x="65" y="26"/>
                  <a:pt x="65" y="26"/>
                  <a:pt x="64" y="27"/>
                </a:cubicBezTo>
                <a:close/>
                <a:moveTo>
                  <a:pt x="66" y="53"/>
                </a:moveTo>
                <a:cubicBezTo>
                  <a:pt x="66" y="53"/>
                  <a:pt x="66" y="53"/>
                  <a:pt x="66" y="52"/>
                </a:cubicBezTo>
                <a:cubicBezTo>
                  <a:pt x="77" y="45"/>
                  <a:pt x="77" y="45"/>
                  <a:pt x="77" y="45"/>
                </a:cubicBezTo>
                <a:cubicBezTo>
                  <a:pt x="78" y="45"/>
                  <a:pt x="78" y="45"/>
                  <a:pt x="78" y="46"/>
                </a:cubicBezTo>
                <a:cubicBezTo>
                  <a:pt x="78" y="46"/>
                  <a:pt x="78" y="46"/>
                  <a:pt x="78" y="46"/>
                </a:cubicBezTo>
                <a:cubicBezTo>
                  <a:pt x="66" y="53"/>
                  <a:pt x="66" y="53"/>
                  <a:pt x="66" y="53"/>
                </a:cubicBezTo>
                <a:cubicBezTo>
                  <a:pt x="66" y="53"/>
                  <a:pt x="66" y="53"/>
                  <a:pt x="66" y="53"/>
                </a:cubicBezTo>
                <a:close/>
                <a:moveTo>
                  <a:pt x="80" y="49"/>
                </a:moveTo>
                <a:cubicBezTo>
                  <a:pt x="68" y="56"/>
                  <a:pt x="68" y="56"/>
                  <a:pt x="68" y="56"/>
                </a:cubicBezTo>
                <a:cubicBezTo>
                  <a:pt x="68" y="56"/>
                  <a:pt x="68" y="56"/>
                  <a:pt x="68" y="56"/>
                </a:cubicBezTo>
                <a:cubicBezTo>
                  <a:pt x="68" y="56"/>
                  <a:pt x="68" y="56"/>
                  <a:pt x="68" y="56"/>
                </a:cubicBezTo>
                <a:cubicBezTo>
                  <a:pt x="79" y="49"/>
                  <a:pt x="79" y="49"/>
                  <a:pt x="79" y="49"/>
                </a:cubicBezTo>
                <a:cubicBezTo>
                  <a:pt x="80" y="48"/>
                  <a:pt x="80" y="49"/>
                  <a:pt x="80" y="49"/>
                </a:cubicBezTo>
                <a:cubicBezTo>
                  <a:pt x="80" y="49"/>
                  <a:pt x="80" y="49"/>
                  <a:pt x="80" y="49"/>
                </a:cubicBezTo>
                <a:close/>
              </a:path>
            </a:pathLst>
          </a:custGeom>
          <a:solidFill>
            <a:schemeClr val="accent2">
              <a:lumMod val="50000"/>
            </a:schemeClr>
          </a:solidFill>
          <a:ln>
            <a:noFill/>
          </a:ln>
        </p:spPr>
        <p:txBody>
          <a:bodyPr vert="horz" wrap="square" lIns="91440" tIns="45720" rIns="91440" bIns="45720" numCol="1" anchor="t" anchorCtr="0" compatLnSpc="1"/>
          <a:lstStyle/>
          <a:p>
            <a:endParaRPr lang="zh-CN" altLang="en-US" dirty="0"/>
          </a:p>
        </p:txBody>
      </p:sp>
      <p:grpSp>
        <p:nvGrpSpPr>
          <p:cNvPr id="74" name="组合 73"/>
          <p:cNvGrpSpPr/>
          <p:nvPr/>
        </p:nvGrpSpPr>
        <p:grpSpPr>
          <a:xfrm>
            <a:off x="-17094" y="-399144"/>
            <a:ext cx="863598" cy="7656288"/>
            <a:chOff x="-11273" y="-594773"/>
            <a:chExt cx="719786" cy="7462505"/>
          </a:xfrm>
        </p:grpSpPr>
        <p:sp>
          <p:nvSpPr>
            <p:cNvPr id="75" name="等腰三角形 74"/>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6" name="等腰三角形 75"/>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等腰三角形 76"/>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等腰三角形 77"/>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等腰三角形 78"/>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0" name="等腰三角形 79"/>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1" name="等腰三角形 80"/>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等腰三角形 81"/>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3" name="等腰三角形 82"/>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5" name="TextBox 1"/>
          <p:cNvSpPr txBox="1"/>
          <p:nvPr/>
        </p:nvSpPr>
        <p:spPr>
          <a:xfrm>
            <a:off x="1609293" y="2434912"/>
            <a:ext cx="8988358" cy="830997"/>
          </a:xfrm>
          <a:prstGeom prst="rect">
            <a:avLst/>
          </a:prstGeom>
          <a:noFill/>
        </p:spPr>
        <p:txBody>
          <a:bodyPr wrap="none" rtlCol="0">
            <a:spAutoFit/>
          </a:bodyPr>
          <a:lstStyle>
            <a:defPPr>
              <a:defRPr lang="zh-CN"/>
            </a:defPPr>
            <a:lvl1pPr>
              <a:defRPr sz="5400" b="1">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defRPr>
            </a:lvl1pPr>
          </a:lstStyle>
          <a:p>
            <a:r>
              <a:rPr lang="zh-CN" altLang="zh-CN" sz="4800" dirty="0"/>
              <a:t>科学计算基础</a:t>
            </a:r>
            <a:r>
              <a:rPr lang="en-US" altLang="zh-CN" sz="4800" dirty="0"/>
              <a:t>:</a:t>
            </a:r>
            <a:r>
              <a:rPr lang="en-US" altLang="zh-CN" sz="4800" dirty="0" err="1"/>
              <a:t>NumPy</a:t>
            </a:r>
            <a:r>
              <a:rPr lang="zh-CN" altLang="zh-CN" sz="4800" dirty="0"/>
              <a:t>和</a:t>
            </a:r>
            <a:r>
              <a:rPr lang="en-US" altLang="zh-CN" sz="4800" dirty="0" err="1"/>
              <a:t>Matplotlib</a:t>
            </a:r>
            <a:endParaRPr lang="zh-CN" alt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fade">
                                      <p:cBhvr>
                                        <p:cTn id="11" dur="500"/>
                                        <p:tgtEl>
                                          <p:spTgt spid="73"/>
                                        </p:tgtEl>
                                      </p:cBhvr>
                                    </p:animEffect>
                                    <p:anim calcmode="lin" valueType="num">
                                      <p:cBhvr>
                                        <p:cTn id="12" dur="500" fill="hold"/>
                                        <p:tgtEl>
                                          <p:spTgt spid="73"/>
                                        </p:tgtEl>
                                        <p:attrNameLst>
                                          <p:attrName>ppt_x</p:attrName>
                                        </p:attrNameLst>
                                      </p:cBhvr>
                                      <p:tavLst>
                                        <p:tav tm="0">
                                          <p:val>
                                            <p:strVal val="#ppt_x"/>
                                          </p:val>
                                        </p:tav>
                                        <p:tav tm="100000">
                                          <p:val>
                                            <p:strVal val="#ppt_x"/>
                                          </p:val>
                                        </p:tav>
                                      </p:tavLst>
                                    </p:anim>
                                    <p:anim calcmode="lin" valueType="num">
                                      <p:cBhvr>
                                        <p:cTn id="13" dur="500" fill="hold"/>
                                        <p:tgtEl>
                                          <p:spTgt spid="73"/>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95"/>
                                        </p:tgtEl>
                                        <p:attrNameLst>
                                          <p:attrName>style.visibility</p:attrName>
                                        </p:attrNameLst>
                                      </p:cBhvr>
                                      <p:to>
                                        <p:strVal val="visible"/>
                                      </p:to>
                                    </p:set>
                                    <p:anim calcmode="lin" valueType="num">
                                      <p:cBhvr>
                                        <p:cTn id="17" dur="800" fill="hold"/>
                                        <p:tgtEl>
                                          <p:spTgt spid="95"/>
                                        </p:tgtEl>
                                        <p:attrNameLst>
                                          <p:attrName>ppt_x</p:attrName>
                                        </p:attrNameLst>
                                      </p:cBhvr>
                                      <p:tavLst>
                                        <p:tav tm="0">
                                          <p:val>
                                            <p:strVal val="#ppt_x"/>
                                          </p:val>
                                        </p:tav>
                                        <p:tav tm="50000">
                                          <p:val>
                                            <p:strVal val="#ppt_x+.1"/>
                                          </p:val>
                                        </p:tav>
                                        <p:tav tm="100000">
                                          <p:val>
                                            <p:strVal val="#ppt_x"/>
                                          </p:val>
                                        </p:tav>
                                      </p:tavLst>
                                    </p:anim>
                                    <p:anim calcmode="lin" valueType="num">
                                      <p:cBhvr>
                                        <p:cTn id="18" dur="800" fill="hold"/>
                                        <p:tgtEl>
                                          <p:spTgt spid="95"/>
                                        </p:tgtEl>
                                        <p:attrNameLst>
                                          <p:attrName>ppt_y</p:attrName>
                                        </p:attrNameLst>
                                      </p:cBhvr>
                                      <p:tavLst>
                                        <p:tav tm="0">
                                          <p:val>
                                            <p:strVal val="#ppt_y"/>
                                          </p:val>
                                        </p:tav>
                                        <p:tav tm="100000">
                                          <p:val>
                                            <p:strVal val="#ppt_y"/>
                                          </p:val>
                                        </p:tav>
                                      </p:tavLst>
                                    </p:anim>
                                    <p:anim calcmode="lin" valueType="num">
                                      <p:cBhvr>
                                        <p:cTn id="19" dur="800" fill="hold"/>
                                        <p:tgtEl>
                                          <p:spTgt spid="95"/>
                                        </p:tgtEl>
                                        <p:attrNameLst>
                                          <p:attrName>ppt_h</p:attrName>
                                        </p:attrNameLst>
                                      </p:cBhvr>
                                      <p:tavLst>
                                        <p:tav tm="0">
                                          <p:val>
                                            <p:strVal val="#ppt_h/10"/>
                                          </p:val>
                                        </p:tav>
                                        <p:tav tm="50000">
                                          <p:val>
                                            <p:strVal val="#ppt_h+.01"/>
                                          </p:val>
                                        </p:tav>
                                        <p:tav tm="100000">
                                          <p:val>
                                            <p:strVal val="#ppt_h"/>
                                          </p:val>
                                        </p:tav>
                                      </p:tavLst>
                                    </p:anim>
                                    <p:anim calcmode="lin" valueType="num">
                                      <p:cBhvr>
                                        <p:cTn id="20" dur="800" fill="hold"/>
                                        <p:tgtEl>
                                          <p:spTgt spid="9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800" tmFilter="0,0; .5, 1; 1, 1"/>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95"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100" name="椭圆 7"/>
          <p:cNvSpPr/>
          <p:nvPr/>
        </p:nvSpPr>
        <p:spPr>
          <a:xfrm rot="5400000">
            <a:off x="2087856" y="3245736"/>
            <a:ext cx="3917626" cy="1075002"/>
          </a:xfrm>
          <a:custGeom>
            <a:avLst/>
            <a:gdLst>
              <a:gd name="connsiteX0" fmla="*/ 5141438 w 5232878"/>
              <a:gd name="connsiteY0" fmla="*/ 0 h 1208638"/>
              <a:gd name="connsiteX1" fmla="*/ 2570719 w 5232878"/>
              <a:gd name="connsiteY1" fmla="*/ 1208638 h 1208638"/>
              <a:gd name="connsiteX2" fmla="*/ 0 w 5232878"/>
              <a:gd name="connsiteY2" fmla="*/ 0 h 1208638"/>
              <a:gd name="connsiteX3" fmla="*/ 5232878 w 5232878"/>
              <a:gd name="connsiteY3" fmla="*/ 91440 h 1208638"/>
              <a:gd name="connsiteX0-1" fmla="*/ 5141438 w 5141438"/>
              <a:gd name="connsiteY0-2" fmla="*/ 0 h 1208638"/>
              <a:gd name="connsiteX1-3" fmla="*/ 2570719 w 5141438"/>
              <a:gd name="connsiteY1-4" fmla="*/ 1208638 h 1208638"/>
              <a:gd name="connsiteX2-5" fmla="*/ 0 w 5141438"/>
              <a:gd name="connsiteY2-6" fmla="*/ 0 h 1208638"/>
            </a:gdLst>
            <a:ahLst/>
            <a:cxnLst>
              <a:cxn ang="0">
                <a:pos x="connsiteX0-1" y="connsiteY0-2"/>
              </a:cxn>
              <a:cxn ang="0">
                <a:pos x="connsiteX1-3" y="connsiteY1-4"/>
              </a:cxn>
              <a:cxn ang="0">
                <a:pos x="connsiteX2-5" y="connsiteY2-6"/>
              </a:cxn>
            </a:cxnLst>
            <a:rect l="l" t="t" r="r" b="b"/>
            <a:pathLst>
              <a:path w="5141438" h="1208638">
                <a:moveTo>
                  <a:pt x="5141438" y="0"/>
                </a:moveTo>
                <a:cubicBezTo>
                  <a:pt x="4741027" y="708082"/>
                  <a:pt x="3740838" y="1208638"/>
                  <a:pt x="2570719" y="1208638"/>
                </a:cubicBezTo>
                <a:cubicBezTo>
                  <a:pt x="1400600" y="1208638"/>
                  <a:pt x="400411" y="708082"/>
                  <a:pt x="0" y="0"/>
                </a:cubicBezTo>
              </a:path>
            </a:pathLst>
          </a:cu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70320" y="203448"/>
            <a:ext cx="2354994" cy="504056"/>
            <a:chOff x="169526" y="203448"/>
            <a:chExt cx="2354994" cy="504056"/>
          </a:xfrm>
        </p:grpSpPr>
        <p:sp>
          <p:nvSpPr>
            <p:cNvPr id="4" name="TextBox 3"/>
            <p:cNvSpPr txBox="1"/>
            <p:nvPr/>
          </p:nvSpPr>
          <p:spPr>
            <a:xfrm>
              <a:off x="781174" y="245839"/>
              <a:ext cx="174334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本 章 提 要</a:t>
              </a:r>
              <a:endParaRPr lang="zh-CN" altLang="en-US" sz="24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59" name="椭圆 7"/>
          <p:cNvSpPr/>
          <p:nvPr/>
        </p:nvSpPr>
        <p:spPr>
          <a:xfrm rot="5400000" flipV="1">
            <a:off x="6560390" y="3157532"/>
            <a:ext cx="3917624" cy="1148198"/>
          </a:xfrm>
          <a:custGeom>
            <a:avLst/>
            <a:gdLst>
              <a:gd name="connsiteX0" fmla="*/ 5141438 w 5232878"/>
              <a:gd name="connsiteY0" fmla="*/ 0 h 1208638"/>
              <a:gd name="connsiteX1" fmla="*/ 2570719 w 5232878"/>
              <a:gd name="connsiteY1" fmla="*/ 1208638 h 1208638"/>
              <a:gd name="connsiteX2" fmla="*/ 0 w 5232878"/>
              <a:gd name="connsiteY2" fmla="*/ 0 h 1208638"/>
              <a:gd name="connsiteX3" fmla="*/ 5232878 w 5232878"/>
              <a:gd name="connsiteY3" fmla="*/ 91440 h 1208638"/>
              <a:gd name="connsiteX0-1" fmla="*/ 5141438 w 5141438"/>
              <a:gd name="connsiteY0-2" fmla="*/ 0 h 1208638"/>
              <a:gd name="connsiteX1-3" fmla="*/ 2570719 w 5141438"/>
              <a:gd name="connsiteY1-4" fmla="*/ 1208638 h 1208638"/>
              <a:gd name="connsiteX2-5" fmla="*/ 0 w 5141438"/>
              <a:gd name="connsiteY2-6" fmla="*/ 0 h 1208638"/>
            </a:gdLst>
            <a:ahLst/>
            <a:cxnLst>
              <a:cxn ang="0">
                <a:pos x="connsiteX0-1" y="connsiteY0-2"/>
              </a:cxn>
              <a:cxn ang="0">
                <a:pos x="connsiteX1-3" y="connsiteY1-4"/>
              </a:cxn>
              <a:cxn ang="0">
                <a:pos x="connsiteX2-5" y="connsiteY2-6"/>
              </a:cxn>
            </a:cxnLst>
            <a:rect l="l" t="t" r="r" b="b"/>
            <a:pathLst>
              <a:path w="5141438" h="1208638">
                <a:moveTo>
                  <a:pt x="5141438" y="0"/>
                </a:moveTo>
                <a:cubicBezTo>
                  <a:pt x="4741027" y="708082"/>
                  <a:pt x="3740838" y="1208638"/>
                  <a:pt x="2570719" y="1208638"/>
                </a:cubicBezTo>
                <a:cubicBezTo>
                  <a:pt x="1400600" y="1208638"/>
                  <a:pt x="400411" y="708082"/>
                  <a:pt x="0" y="0"/>
                </a:cubicBezTo>
              </a:path>
            </a:pathLst>
          </a:cu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cxnSp>
        <p:nvCxnSpPr>
          <p:cNvPr id="60" name="直接连接符 59"/>
          <p:cNvCxnSpPr/>
          <p:nvPr/>
        </p:nvCxnSpPr>
        <p:spPr>
          <a:xfrm>
            <a:off x="3799219" y="3696928"/>
            <a:ext cx="4949613"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40"/>
          <p:cNvSpPr txBox="1"/>
          <p:nvPr/>
        </p:nvSpPr>
        <p:spPr>
          <a:xfrm>
            <a:off x="898158" y="2148349"/>
            <a:ext cx="1943963" cy="412408"/>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rPr>
              <a:t>1</a:t>
            </a: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en-US" altLang="zh-CN" sz="1600" dirty="0"/>
              <a:t> </a:t>
            </a:r>
            <a:r>
              <a:rPr lang="en-US" altLang="zh-CN" sz="1600" dirty="0" err="1"/>
              <a:t>NumPy</a:t>
            </a:r>
            <a:r>
              <a:rPr lang="en-US" altLang="zh-CN" sz="1600" dirty="0"/>
              <a:t> </a:t>
            </a:r>
            <a:r>
              <a:rPr lang="zh-CN" altLang="zh-CN" sz="1600" dirty="0"/>
              <a:t>库的使用</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62" name="TextBox 41"/>
          <p:cNvSpPr txBox="1"/>
          <p:nvPr/>
        </p:nvSpPr>
        <p:spPr>
          <a:xfrm>
            <a:off x="853975" y="4218664"/>
            <a:ext cx="1943963" cy="732496"/>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rPr>
              <a:t>2</a:t>
            </a: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zh-CN" altLang="zh-CN" sz="1600" dirty="0"/>
              <a:t>数组对象的常见操作</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74" name="TextBox 43"/>
          <p:cNvSpPr txBox="1"/>
          <p:nvPr/>
        </p:nvSpPr>
        <p:spPr>
          <a:xfrm>
            <a:off x="9570940" y="2071127"/>
            <a:ext cx="2380654" cy="412408"/>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5.</a:t>
            </a:r>
            <a:r>
              <a:rPr lang="en-US" altLang="zh-CN" sz="1600" dirty="0"/>
              <a:t> </a:t>
            </a:r>
            <a:r>
              <a:rPr lang="en-US" altLang="zh-CN" sz="1600" dirty="0" err="1"/>
              <a:t>Matplotlib</a:t>
            </a:r>
            <a:r>
              <a:rPr lang="zh-CN" altLang="zh-CN" sz="1600" b="1" dirty="0"/>
              <a:t>库的使用</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grpSp>
        <p:nvGrpSpPr>
          <p:cNvPr id="75" name="组合 74"/>
          <p:cNvGrpSpPr/>
          <p:nvPr/>
        </p:nvGrpSpPr>
        <p:grpSpPr>
          <a:xfrm>
            <a:off x="5317554" y="2650555"/>
            <a:ext cx="1912944" cy="1912942"/>
            <a:chOff x="2690253" y="1702153"/>
            <a:chExt cx="4123259" cy="4123256"/>
          </a:xfrm>
          <a:effectLst>
            <a:outerShdw blurRad="50800" dist="38100" dir="5400000" algn="t" rotWithShape="0">
              <a:prstClr val="black">
                <a:alpha val="40000"/>
              </a:prstClr>
            </a:outerShdw>
          </a:effectLst>
        </p:grpSpPr>
        <p:grpSp>
          <p:nvGrpSpPr>
            <p:cNvPr id="76" name="组合 75"/>
            <p:cNvGrpSpPr/>
            <p:nvPr/>
          </p:nvGrpSpPr>
          <p:grpSpPr>
            <a:xfrm>
              <a:off x="2690253" y="1702153"/>
              <a:ext cx="4123259" cy="4123256"/>
              <a:chOff x="2690253" y="1702153"/>
              <a:chExt cx="4123259" cy="4123256"/>
            </a:xfrm>
          </p:grpSpPr>
          <p:sp>
            <p:nvSpPr>
              <p:cNvPr id="78" name="椭圆 77"/>
              <p:cNvSpPr/>
              <p:nvPr/>
            </p:nvSpPr>
            <p:spPr>
              <a:xfrm>
                <a:off x="2690253" y="1702153"/>
                <a:ext cx="4123259" cy="4123256"/>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sp>
            <p:nvSpPr>
              <p:cNvPr id="79" name="椭圆 78"/>
              <p:cNvSpPr/>
              <p:nvPr/>
            </p:nvSpPr>
            <p:spPr>
              <a:xfrm>
                <a:off x="2936823" y="1948721"/>
                <a:ext cx="3630119" cy="3630119"/>
              </a:xfrm>
              <a:prstGeom prst="ellipse">
                <a:avLst/>
              </a:prstGeom>
              <a:solidFill>
                <a:srgbClr val="1E67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sp>
          <p:nvSpPr>
            <p:cNvPr id="77" name="文本框 91"/>
            <p:cNvSpPr txBox="1"/>
            <p:nvPr/>
          </p:nvSpPr>
          <p:spPr>
            <a:xfrm>
              <a:off x="3786397" y="2727750"/>
              <a:ext cx="1945966" cy="2056533"/>
            </a:xfrm>
            <a:prstGeom prst="rect">
              <a:avLst/>
            </a:prstGeom>
            <a:noFill/>
          </p:spPr>
          <p:txBody>
            <a:bodyPr wrap="none" rtlCol="0">
              <a:spAutoFit/>
            </a:bodyPr>
            <a:lstStyle/>
            <a:p>
              <a:pPr algn="ct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本章</a:t>
              </a:r>
              <a:endParaRPr lang="en-US" altLang="zh-CN"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提要</a:t>
              </a:r>
              <a:endParaRPr lang="en-US" altLang="zh-CN" sz="28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81" name="组合 80"/>
          <p:cNvGrpSpPr/>
          <p:nvPr/>
        </p:nvGrpSpPr>
        <p:grpSpPr>
          <a:xfrm>
            <a:off x="3047902" y="2036744"/>
            <a:ext cx="1075004" cy="1075004"/>
            <a:chOff x="3724322" y="1908536"/>
            <a:chExt cx="1329153" cy="1329153"/>
          </a:xfrm>
        </p:grpSpPr>
        <p:sp>
          <p:nvSpPr>
            <p:cNvPr id="83" name="椭圆 82"/>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sp>
          <p:nvSpPr>
            <p:cNvPr id="84" name="椭圆 83"/>
            <p:cNvSpPr/>
            <p:nvPr/>
          </p:nvSpPr>
          <p:spPr>
            <a:xfrm>
              <a:off x="3839838" y="2024052"/>
              <a:ext cx="1098122" cy="1098122"/>
            </a:xfrm>
            <a:prstGeom prst="ellipse">
              <a:avLst/>
            </a:prstGeom>
            <a:solidFill>
              <a:srgbClr val="B3DF63"/>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grpSp>
      <p:grpSp>
        <p:nvGrpSpPr>
          <p:cNvPr id="86" name="组合 85"/>
          <p:cNvGrpSpPr/>
          <p:nvPr/>
        </p:nvGrpSpPr>
        <p:grpSpPr>
          <a:xfrm>
            <a:off x="3104669" y="4171535"/>
            <a:ext cx="1075004" cy="1075004"/>
            <a:chOff x="3724322" y="1908536"/>
            <a:chExt cx="1329153" cy="1329153"/>
          </a:xfrm>
        </p:grpSpPr>
        <p:sp>
          <p:nvSpPr>
            <p:cNvPr id="88" name="椭圆 87"/>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89" name="椭圆 88"/>
            <p:cNvSpPr/>
            <p:nvPr/>
          </p:nvSpPr>
          <p:spPr>
            <a:xfrm>
              <a:off x="3839838" y="2024052"/>
              <a:ext cx="1098122" cy="1098122"/>
            </a:xfrm>
            <a:prstGeom prst="ellipse">
              <a:avLst/>
            </a:prstGeom>
            <a:solidFill>
              <a:srgbClr val="1E6787"/>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91" name="组合 90"/>
          <p:cNvGrpSpPr/>
          <p:nvPr/>
        </p:nvGrpSpPr>
        <p:grpSpPr>
          <a:xfrm>
            <a:off x="8393326" y="4116265"/>
            <a:ext cx="1075004" cy="1075004"/>
            <a:chOff x="3724322" y="1908536"/>
            <a:chExt cx="1329153" cy="1329153"/>
          </a:xfrm>
        </p:grpSpPr>
        <p:sp>
          <p:nvSpPr>
            <p:cNvPr id="93" name="椭圆 92"/>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94" name="椭圆 93"/>
            <p:cNvSpPr/>
            <p:nvPr/>
          </p:nvSpPr>
          <p:spPr>
            <a:xfrm>
              <a:off x="3839838" y="2024052"/>
              <a:ext cx="1098122" cy="1098122"/>
            </a:xfrm>
            <a:prstGeom prst="ellipse">
              <a:avLst/>
            </a:prstGeom>
            <a:solidFill>
              <a:srgbClr val="B3DF63"/>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3286488" y="2373761"/>
            <a:ext cx="504825" cy="430213"/>
            <a:chOff x="3898900" y="152401"/>
            <a:chExt cx="504825" cy="430213"/>
          </a:xfrm>
          <a:solidFill>
            <a:schemeClr val="tx1">
              <a:lumMod val="75000"/>
              <a:lumOff val="25000"/>
            </a:schemeClr>
          </a:solidFill>
        </p:grpSpPr>
        <p:sp>
          <p:nvSpPr>
            <p:cNvPr id="43" name="Freeform 92"/>
            <p:cNvSpPr/>
            <p:nvPr/>
          </p:nvSpPr>
          <p:spPr bwMode="auto">
            <a:xfrm>
              <a:off x="4060825" y="481013"/>
              <a:ext cx="179388" cy="61913"/>
            </a:xfrm>
            <a:custGeom>
              <a:avLst/>
              <a:gdLst>
                <a:gd name="T0" fmla="*/ 3 w 113"/>
                <a:gd name="T1" fmla="*/ 0 h 39"/>
                <a:gd name="T2" fmla="*/ 0 w 113"/>
                <a:gd name="T3" fmla="*/ 39 h 39"/>
                <a:gd name="T4" fmla="*/ 113 w 113"/>
                <a:gd name="T5" fmla="*/ 39 h 39"/>
                <a:gd name="T6" fmla="*/ 111 w 113"/>
                <a:gd name="T7" fmla="*/ 0 h 39"/>
                <a:gd name="T8" fmla="*/ 3 w 113"/>
                <a:gd name="T9" fmla="*/ 0 h 39"/>
              </a:gdLst>
              <a:ahLst/>
              <a:cxnLst>
                <a:cxn ang="0">
                  <a:pos x="T0" y="T1"/>
                </a:cxn>
                <a:cxn ang="0">
                  <a:pos x="T2" y="T3"/>
                </a:cxn>
                <a:cxn ang="0">
                  <a:pos x="T4" y="T5"/>
                </a:cxn>
                <a:cxn ang="0">
                  <a:pos x="T6" y="T7"/>
                </a:cxn>
                <a:cxn ang="0">
                  <a:pos x="T8" y="T9"/>
                </a:cxn>
              </a:cxnLst>
              <a:rect l="0" t="0" r="r" b="b"/>
              <a:pathLst>
                <a:path w="113" h="39">
                  <a:moveTo>
                    <a:pt x="3" y="0"/>
                  </a:moveTo>
                  <a:lnTo>
                    <a:pt x="0" y="39"/>
                  </a:lnTo>
                  <a:lnTo>
                    <a:pt x="113" y="39"/>
                  </a:lnTo>
                  <a:lnTo>
                    <a:pt x="111"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93"/>
            <p:cNvSpPr>
              <a:spLocks noEditPoints="1"/>
            </p:cNvSpPr>
            <p:nvPr/>
          </p:nvSpPr>
          <p:spPr bwMode="auto">
            <a:xfrm>
              <a:off x="3898900" y="152401"/>
              <a:ext cx="504825" cy="312738"/>
            </a:xfrm>
            <a:custGeom>
              <a:avLst/>
              <a:gdLst>
                <a:gd name="T0" fmla="*/ 213 w 318"/>
                <a:gd name="T1" fmla="*/ 197 h 197"/>
                <a:gd name="T2" fmla="*/ 318 w 318"/>
                <a:gd name="T3" fmla="*/ 197 h 197"/>
                <a:gd name="T4" fmla="*/ 318 w 318"/>
                <a:gd name="T5" fmla="*/ 0 h 197"/>
                <a:gd name="T6" fmla="*/ 0 w 318"/>
                <a:gd name="T7" fmla="*/ 0 h 197"/>
                <a:gd name="T8" fmla="*/ 0 w 318"/>
                <a:gd name="T9" fmla="*/ 197 h 197"/>
                <a:gd name="T10" fmla="*/ 105 w 318"/>
                <a:gd name="T11" fmla="*/ 197 h 197"/>
                <a:gd name="T12" fmla="*/ 213 w 318"/>
                <a:gd name="T13" fmla="*/ 197 h 197"/>
                <a:gd name="T14" fmla="*/ 28 w 318"/>
                <a:gd name="T15" fmla="*/ 174 h 197"/>
                <a:gd name="T16" fmla="*/ 28 w 318"/>
                <a:gd name="T17" fmla="*/ 25 h 197"/>
                <a:gd name="T18" fmla="*/ 288 w 318"/>
                <a:gd name="T19" fmla="*/ 25 h 197"/>
                <a:gd name="T20" fmla="*/ 288 w 318"/>
                <a:gd name="T21" fmla="*/ 174 h 197"/>
                <a:gd name="T22" fmla="*/ 212 w 318"/>
                <a:gd name="T23" fmla="*/ 174 h 197"/>
                <a:gd name="T24" fmla="*/ 106 w 318"/>
                <a:gd name="T25" fmla="*/ 174 h 197"/>
                <a:gd name="T26" fmla="*/ 28 w 318"/>
                <a:gd name="T27" fmla="*/ 17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8" h="197">
                  <a:moveTo>
                    <a:pt x="213" y="197"/>
                  </a:moveTo>
                  <a:lnTo>
                    <a:pt x="318" y="197"/>
                  </a:lnTo>
                  <a:lnTo>
                    <a:pt x="318" y="0"/>
                  </a:lnTo>
                  <a:lnTo>
                    <a:pt x="0" y="0"/>
                  </a:lnTo>
                  <a:lnTo>
                    <a:pt x="0" y="197"/>
                  </a:lnTo>
                  <a:lnTo>
                    <a:pt x="105" y="197"/>
                  </a:lnTo>
                  <a:lnTo>
                    <a:pt x="213" y="197"/>
                  </a:lnTo>
                  <a:close/>
                  <a:moveTo>
                    <a:pt x="28" y="174"/>
                  </a:moveTo>
                  <a:lnTo>
                    <a:pt x="28" y="25"/>
                  </a:lnTo>
                  <a:lnTo>
                    <a:pt x="288" y="25"/>
                  </a:lnTo>
                  <a:lnTo>
                    <a:pt x="288" y="174"/>
                  </a:lnTo>
                  <a:lnTo>
                    <a:pt x="212" y="174"/>
                  </a:lnTo>
                  <a:lnTo>
                    <a:pt x="106" y="174"/>
                  </a:lnTo>
                  <a:lnTo>
                    <a:pt x="28" y="1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94"/>
            <p:cNvSpPr/>
            <p:nvPr/>
          </p:nvSpPr>
          <p:spPr bwMode="auto">
            <a:xfrm>
              <a:off x="4027488" y="558801"/>
              <a:ext cx="247650" cy="23813"/>
            </a:xfrm>
            <a:custGeom>
              <a:avLst/>
              <a:gdLst>
                <a:gd name="T0" fmla="*/ 0 w 156"/>
                <a:gd name="T1" fmla="*/ 0 h 15"/>
                <a:gd name="T2" fmla="*/ 0 w 156"/>
                <a:gd name="T3" fmla="*/ 15 h 15"/>
                <a:gd name="T4" fmla="*/ 156 w 156"/>
                <a:gd name="T5" fmla="*/ 15 h 15"/>
                <a:gd name="T6" fmla="*/ 156 w 156"/>
                <a:gd name="T7" fmla="*/ 0 h 15"/>
                <a:gd name="T8" fmla="*/ 134 w 156"/>
                <a:gd name="T9" fmla="*/ 0 h 15"/>
                <a:gd name="T10" fmla="*/ 21 w 156"/>
                <a:gd name="T11" fmla="*/ 0 h 15"/>
                <a:gd name="T12" fmla="*/ 0 w 15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6" h="15">
                  <a:moveTo>
                    <a:pt x="0" y="0"/>
                  </a:moveTo>
                  <a:lnTo>
                    <a:pt x="0" y="15"/>
                  </a:lnTo>
                  <a:lnTo>
                    <a:pt x="156" y="15"/>
                  </a:lnTo>
                  <a:lnTo>
                    <a:pt x="156" y="0"/>
                  </a:lnTo>
                  <a:lnTo>
                    <a:pt x="134" y="0"/>
                  </a:lnTo>
                  <a:lnTo>
                    <a:pt x="2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6" name="Freeform 50"/>
          <p:cNvSpPr>
            <a:spLocks noEditPoints="1"/>
          </p:cNvSpPr>
          <p:nvPr/>
        </p:nvSpPr>
        <p:spPr bwMode="auto">
          <a:xfrm>
            <a:off x="3415158" y="4444852"/>
            <a:ext cx="454025" cy="549275"/>
          </a:xfrm>
          <a:custGeom>
            <a:avLst/>
            <a:gdLst>
              <a:gd name="T0" fmla="*/ 0 w 195"/>
              <a:gd name="T1" fmla="*/ 235 h 235"/>
              <a:gd name="T2" fmla="*/ 48 w 195"/>
              <a:gd name="T3" fmla="*/ 183 h 235"/>
              <a:gd name="T4" fmla="*/ 195 w 195"/>
              <a:gd name="T5" fmla="*/ 183 h 235"/>
              <a:gd name="T6" fmla="*/ 195 w 195"/>
              <a:gd name="T7" fmla="*/ 0 h 235"/>
              <a:gd name="T8" fmla="*/ 0 w 195"/>
              <a:gd name="T9" fmla="*/ 0 h 235"/>
              <a:gd name="T10" fmla="*/ 0 w 195"/>
              <a:gd name="T11" fmla="*/ 235 h 235"/>
              <a:gd name="T12" fmla="*/ 150 w 195"/>
              <a:gd name="T13" fmla="*/ 77 h 235"/>
              <a:gd name="T14" fmla="*/ 167 w 195"/>
              <a:gd name="T15" fmla="*/ 93 h 235"/>
              <a:gd name="T16" fmla="*/ 150 w 195"/>
              <a:gd name="T17" fmla="*/ 110 h 235"/>
              <a:gd name="T18" fmla="*/ 134 w 195"/>
              <a:gd name="T19" fmla="*/ 93 h 235"/>
              <a:gd name="T20" fmla="*/ 150 w 195"/>
              <a:gd name="T21" fmla="*/ 77 h 235"/>
              <a:gd name="T22" fmla="*/ 97 w 195"/>
              <a:gd name="T23" fmla="*/ 77 h 235"/>
              <a:gd name="T24" fmla="*/ 114 w 195"/>
              <a:gd name="T25" fmla="*/ 93 h 235"/>
              <a:gd name="T26" fmla="*/ 97 w 195"/>
              <a:gd name="T27" fmla="*/ 110 h 235"/>
              <a:gd name="T28" fmla="*/ 81 w 195"/>
              <a:gd name="T29" fmla="*/ 93 h 235"/>
              <a:gd name="T30" fmla="*/ 97 w 195"/>
              <a:gd name="T31" fmla="*/ 77 h 235"/>
              <a:gd name="T32" fmla="*/ 45 w 195"/>
              <a:gd name="T33" fmla="*/ 77 h 235"/>
              <a:gd name="T34" fmla="*/ 61 w 195"/>
              <a:gd name="T35" fmla="*/ 93 h 235"/>
              <a:gd name="T36" fmla="*/ 45 w 195"/>
              <a:gd name="T37" fmla="*/ 110 h 235"/>
              <a:gd name="T38" fmla="*/ 28 w 195"/>
              <a:gd name="T39" fmla="*/ 93 h 235"/>
              <a:gd name="T40" fmla="*/ 45 w 195"/>
              <a:gd name="T41" fmla="*/ 7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5" h="235">
                <a:moveTo>
                  <a:pt x="0" y="235"/>
                </a:moveTo>
                <a:cubicBezTo>
                  <a:pt x="48" y="183"/>
                  <a:pt x="48" y="183"/>
                  <a:pt x="48" y="183"/>
                </a:cubicBezTo>
                <a:cubicBezTo>
                  <a:pt x="195" y="183"/>
                  <a:pt x="195" y="183"/>
                  <a:pt x="195" y="183"/>
                </a:cubicBezTo>
                <a:cubicBezTo>
                  <a:pt x="195" y="0"/>
                  <a:pt x="195" y="0"/>
                  <a:pt x="195" y="0"/>
                </a:cubicBezTo>
                <a:cubicBezTo>
                  <a:pt x="0" y="0"/>
                  <a:pt x="0" y="0"/>
                  <a:pt x="0" y="0"/>
                </a:cubicBezTo>
                <a:lnTo>
                  <a:pt x="0" y="235"/>
                </a:lnTo>
                <a:close/>
                <a:moveTo>
                  <a:pt x="150" y="77"/>
                </a:moveTo>
                <a:cubicBezTo>
                  <a:pt x="159" y="77"/>
                  <a:pt x="167" y="84"/>
                  <a:pt x="167" y="93"/>
                </a:cubicBezTo>
                <a:cubicBezTo>
                  <a:pt x="167" y="102"/>
                  <a:pt x="159" y="110"/>
                  <a:pt x="150" y="110"/>
                </a:cubicBezTo>
                <a:cubicBezTo>
                  <a:pt x="141" y="110"/>
                  <a:pt x="134" y="102"/>
                  <a:pt x="134" y="93"/>
                </a:cubicBezTo>
                <a:cubicBezTo>
                  <a:pt x="134" y="84"/>
                  <a:pt x="141" y="77"/>
                  <a:pt x="150" y="77"/>
                </a:cubicBezTo>
                <a:close/>
                <a:moveTo>
                  <a:pt x="97" y="77"/>
                </a:moveTo>
                <a:cubicBezTo>
                  <a:pt x="107" y="77"/>
                  <a:pt x="114" y="84"/>
                  <a:pt x="114" y="93"/>
                </a:cubicBezTo>
                <a:cubicBezTo>
                  <a:pt x="114" y="102"/>
                  <a:pt x="107" y="110"/>
                  <a:pt x="97" y="110"/>
                </a:cubicBezTo>
                <a:cubicBezTo>
                  <a:pt x="88" y="110"/>
                  <a:pt x="81" y="102"/>
                  <a:pt x="81" y="93"/>
                </a:cubicBezTo>
                <a:cubicBezTo>
                  <a:pt x="81" y="84"/>
                  <a:pt x="88" y="77"/>
                  <a:pt x="97" y="77"/>
                </a:cubicBezTo>
                <a:close/>
                <a:moveTo>
                  <a:pt x="45" y="77"/>
                </a:moveTo>
                <a:cubicBezTo>
                  <a:pt x="54" y="77"/>
                  <a:pt x="61" y="84"/>
                  <a:pt x="61" y="93"/>
                </a:cubicBezTo>
                <a:cubicBezTo>
                  <a:pt x="61" y="102"/>
                  <a:pt x="54" y="110"/>
                  <a:pt x="45" y="110"/>
                </a:cubicBezTo>
                <a:cubicBezTo>
                  <a:pt x="36" y="110"/>
                  <a:pt x="28" y="102"/>
                  <a:pt x="28" y="93"/>
                </a:cubicBezTo>
                <a:cubicBezTo>
                  <a:pt x="28" y="84"/>
                  <a:pt x="36" y="77"/>
                  <a:pt x="45" y="77"/>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p>
        </p:txBody>
      </p:sp>
      <p:grpSp>
        <p:nvGrpSpPr>
          <p:cNvPr id="47" name="组合 46"/>
          <p:cNvGrpSpPr/>
          <p:nvPr/>
        </p:nvGrpSpPr>
        <p:grpSpPr>
          <a:xfrm>
            <a:off x="8692953" y="4366971"/>
            <a:ext cx="485776" cy="523876"/>
            <a:chOff x="3908425" y="1887538"/>
            <a:chExt cx="485776" cy="523876"/>
          </a:xfrm>
          <a:solidFill>
            <a:schemeClr val="tx1">
              <a:lumMod val="75000"/>
              <a:lumOff val="25000"/>
            </a:schemeClr>
          </a:solidFill>
        </p:grpSpPr>
        <p:sp>
          <p:nvSpPr>
            <p:cNvPr id="48" name="Freeform 14"/>
            <p:cNvSpPr>
              <a:spLocks noEditPoints="1"/>
            </p:cNvSpPr>
            <p:nvPr/>
          </p:nvSpPr>
          <p:spPr bwMode="auto">
            <a:xfrm>
              <a:off x="3908425" y="1887538"/>
              <a:ext cx="236538" cy="523875"/>
            </a:xfrm>
            <a:custGeom>
              <a:avLst/>
              <a:gdLst>
                <a:gd name="T0" fmla="*/ 2 w 101"/>
                <a:gd name="T1" fmla="*/ 219 h 225"/>
                <a:gd name="T2" fmla="*/ 50 w 101"/>
                <a:gd name="T3" fmla="*/ 195 h 225"/>
                <a:gd name="T4" fmla="*/ 99 w 101"/>
                <a:gd name="T5" fmla="*/ 219 h 225"/>
                <a:gd name="T6" fmla="*/ 100 w 101"/>
                <a:gd name="T7" fmla="*/ 219 h 225"/>
                <a:gd name="T8" fmla="*/ 100 w 101"/>
                <a:gd name="T9" fmla="*/ 59 h 225"/>
                <a:gd name="T10" fmla="*/ 98 w 101"/>
                <a:gd name="T11" fmla="*/ 35 h 225"/>
                <a:gd name="T12" fmla="*/ 84 w 101"/>
                <a:gd name="T13" fmla="*/ 19 h 225"/>
                <a:gd name="T14" fmla="*/ 84 w 101"/>
                <a:gd name="T15" fmla="*/ 6 h 225"/>
                <a:gd name="T16" fmla="*/ 84 w 101"/>
                <a:gd name="T17" fmla="*/ 0 h 225"/>
                <a:gd name="T18" fmla="*/ 79 w 101"/>
                <a:gd name="T19" fmla="*/ 0 h 225"/>
                <a:gd name="T20" fmla="*/ 22 w 101"/>
                <a:gd name="T21" fmla="*/ 0 h 225"/>
                <a:gd name="T22" fmla="*/ 16 w 101"/>
                <a:gd name="T23" fmla="*/ 0 h 225"/>
                <a:gd name="T24" fmla="*/ 16 w 101"/>
                <a:gd name="T25" fmla="*/ 6 h 225"/>
                <a:gd name="T26" fmla="*/ 16 w 101"/>
                <a:gd name="T27" fmla="*/ 19 h 225"/>
                <a:gd name="T28" fmla="*/ 2 w 101"/>
                <a:gd name="T29" fmla="*/ 35 h 225"/>
                <a:gd name="T30" fmla="*/ 0 w 101"/>
                <a:gd name="T31" fmla="*/ 59 h 225"/>
                <a:gd name="T32" fmla="*/ 0 w 101"/>
                <a:gd name="T33" fmla="*/ 219 h 225"/>
                <a:gd name="T34" fmla="*/ 2 w 101"/>
                <a:gd name="T35" fmla="*/ 219 h 225"/>
                <a:gd name="T36" fmla="*/ 22 w 101"/>
                <a:gd name="T37" fmla="*/ 17 h 225"/>
                <a:gd name="T38" fmla="*/ 22 w 101"/>
                <a:gd name="T39" fmla="*/ 6 h 225"/>
                <a:gd name="T40" fmla="*/ 79 w 101"/>
                <a:gd name="T41" fmla="*/ 6 h 225"/>
                <a:gd name="T42" fmla="*/ 79 w 101"/>
                <a:gd name="T43" fmla="*/ 17 h 225"/>
                <a:gd name="T44" fmla="*/ 79 w 101"/>
                <a:gd name="T45" fmla="*/ 95 h 225"/>
                <a:gd name="T46" fmla="*/ 51 w 101"/>
                <a:gd name="T47" fmla="*/ 65 h 225"/>
                <a:gd name="T48" fmla="*/ 22 w 101"/>
                <a:gd name="T49" fmla="*/ 95 h 225"/>
                <a:gd name="T50" fmla="*/ 22 w 101"/>
                <a:gd name="T51" fmla="*/ 1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1" h="225">
                  <a:moveTo>
                    <a:pt x="2" y="219"/>
                  </a:moveTo>
                  <a:cubicBezTo>
                    <a:pt x="7" y="200"/>
                    <a:pt x="27" y="195"/>
                    <a:pt x="50" y="195"/>
                  </a:cubicBezTo>
                  <a:cubicBezTo>
                    <a:pt x="74" y="195"/>
                    <a:pt x="93" y="200"/>
                    <a:pt x="99" y="219"/>
                  </a:cubicBezTo>
                  <a:cubicBezTo>
                    <a:pt x="101" y="225"/>
                    <a:pt x="100" y="225"/>
                    <a:pt x="100" y="219"/>
                  </a:cubicBezTo>
                  <a:cubicBezTo>
                    <a:pt x="100" y="186"/>
                    <a:pt x="100" y="92"/>
                    <a:pt x="100" y="59"/>
                  </a:cubicBezTo>
                  <a:cubicBezTo>
                    <a:pt x="100" y="52"/>
                    <a:pt x="100" y="42"/>
                    <a:pt x="98" y="35"/>
                  </a:cubicBezTo>
                  <a:cubicBezTo>
                    <a:pt x="96" y="28"/>
                    <a:pt x="91" y="23"/>
                    <a:pt x="84" y="19"/>
                  </a:cubicBezTo>
                  <a:cubicBezTo>
                    <a:pt x="84" y="6"/>
                    <a:pt x="84" y="6"/>
                    <a:pt x="84" y="6"/>
                  </a:cubicBezTo>
                  <a:cubicBezTo>
                    <a:pt x="84" y="0"/>
                    <a:pt x="84" y="0"/>
                    <a:pt x="84" y="0"/>
                  </a:cubicBezTo>
                  <a:cubicBezTo>
                    <a:pt x="79" y="0"/>
                    <a:pt x="79" y="0"/>
                    <a:pt x="79" y="0"/>
                  </a:cubicBezTo>
                  <a:cubicBezTo>
                    <a:pt x="22" y="0"/>
                    <a:pt x="22" y="0"/>
                    <a:pt x="22" y="0"/>
                  </a:cubicBezTo>
                  <a:cubicBezTo>
                    <a:pt x="16" y="0"/>
                    <a:pt x="16" y="0"/>
                    <a:pt x="16" y="0"/>
                  </a:cubicBezTo>
                  <a:cubicBezTo>
                    <a:pt x="16" y="6"/>
                    <a:pt x="16" y="6"/>
                    <a:pt x="16" y="6"/>
                  </a:cubicBezTo>
                  <a:cubicBezTo>
                    <a:pt x="16" y="19"/>
                    <a:pt x="16" y="19"/>
                    <a:pt x="16" y="19"/>
                  </a:cubicBezTo>
                  <a:cubicBezTo>
                    <a:pt x="9" y="23"/>
                    <a:pt x="5" y="28"/>
                    <a:pt x="2" y="35"/>
                  </a:cubicBezTo>
                  <a:cubicBezTo>
                    <a:pt x="0" y="42"/>
                    <a:pt x="0" y="52"/>
                    <a:pt x="0" y="59"/>
                  </a:cubicBezTo>
                  <a:cubicBezTo>
                    <a:pt x="0" y="92"/>
                    <a:pt x="0" y="186"/>
                    <a:pt x="0" y="219"/>
                  </a:cubicBezTo>
                  <a:cubicBezTo>
                    <a:pt x="0" y="225"/>
                    <a:pt x="0" y="225"/>
                    <a:pt x="2" y="219"/>
                  </a:cubicBezTo>
                  <a:close/>
                  <a:moveTo>
                    <a:pt x="22" y="17"/>
                  </a:moveTo>
                  <a:cubicBezTo>
                    <a:pt x="22" y="6"/>
                    <a:pt x="22" y="6"/>
                    <a:pt x="22" y="6"/>
                  </a:cubicBezTo>
                  <a:cubicBezTo>
                    <a:pt x="79" y="6"/>
                    <a:pt x="79" y="6"/>
                    <a:pt x="79" y="6"/>
                  </a:cubicBezTo>
                  <a:cubicBezTo>
                    <a:pt x="79" y="17"/>
                    <a:pt x="79" y="17"/>
                    <a:pt x="79" y="17"/>
                  </a:cubicBezTo>
                  <a:cubicBezTo>
                    <a:pt x="79" y="95"/>
                    <a:pt x="79" y="95"/>
                    <a:pt x="79" y="95"/>
                  </a:cubicBezTo>
                  <a:cubicBezTo>
                    <a:pt x="51" y="65"/>
                    <a:pt x="51" y="65"/>
                    <a:pt x="51" y="65"/>
                  </a:cubicBezTo>
                  <a:cubicBezTo>
                    <a:pt x="22" y="95"/>
                    <a:pt x="22" y="95"/>
                    <a:pt x="22" y="95"/>
                  </a:cubicBezTo>
                  <a:cubicBezTo>
                    <a:pt x="22" y="17"/>
                    <a:pt x="22" y="17"/>
                    <a:pt x="22"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5"/>
            <p:cNvSpPr/>
            <p:nvPr/>
          </p:nvSpPr>
          <p:spPr bwMode="auto">
            <a:xfrm>
              <a:off x="4157663" y="1917701"/>
              <a:ext cx="236538" cy="493713"/>
            </a:xfrm>
            <a:custGeom>
              <a:avLst/>
              <a:gdLst>
                <a:gd name="T0" fmla="*/ 2 w 101"/>
                <a:gd name="T1" fmla="*/ 206 h 212"/>
                <a:gd name="T2" fmla="*/ 50 w 101"/>
                <a:gd name="T3" fmla="*/ 182 h 212"/>
                <a:gd name="T4" fmla="*/ 99 w 101"/>
                <a:gd name="T5" fmla="*/ 206 h 212"/>
                <a:gd name="T6" fmla="*/ 100 w 101"/>
                <a:gd name="T7" fmla="*/ 206 h 212"/>
                <a:gd name="T8" fmla="*/ 100 w 101"/>
                <a:gd name="T9" fmla="*/ 46 h 212"/>
                <a:gd name="T10" fmla="*/ 98 w 101"/>
                <a:gd name="T11" fmla="*/ 23 h 212"/>
                <a:gd name="T12" fmla="*/ 50 w 101"/>
                <a:gd name="T13" fmla="*/ 0 h 212"/>
                <a:gd name="T14" fmla="*/ 2 w 101"/>
                <a:gd name="T15" fmla="*/ 22 h 212"/>
                <a:gd name="T16" fmla="*/ 0 w 101"/>
                <a:gd name="T17" fmla="*/ 46 h 212"/>
                <a:gd name="T18" fmla="*/ 0 w 101"/>
                <a:gd name="T19" fmla="*/ 206 h 212"/>
                <a:gd name="T20" fmla="*/ 2 w 101"/>
                <a:gd name="T21" fmla="*/ 20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212">
                  <a:moveTo>
                    <a:pt x="2" y="206"/>
                  </a:moveTo>
                  <a:cubicBezTo>
                    <a:pt x="7" y="187"/>
                    <a:pt x="27" y="182"/>
                    <a:pt x="50" y="182"/>
                  </a:cubicBezTo>
                  <a:cubicBezTo>
                    <a:pt x="74" y="182"/>
                    <a:pt x="93" y="187"/>
                    <a:pt x="99" y="206"/>
                  </a:cubicBezTo>
                  <a:cubicBezTo>
                    <a:pt x="101" y="212"/>
                    <a:pt x="100" y="212"/>
                    <a:pt x="100" y="206"/>
                  </a:cubicBezTo>
                  <a:cubicBezTo>
                    <a:pt x="100" y="173"/>
                    <a:pt x="100" y="79"/>
                    <a:pt x="100" y="46"/>
                  </a:cubicBezTo>
                  <a:cubicBezTo>
                    <a:pt x="100" y="39"/>
                    <a:pt x="101" y="29"/>
                    <a:pt x="98" y="23"/>
                  </a:cubicBezTo>
                  <a:cubicBezTo>
                    <a:pt x="92" y="5"/>
                    <a:pt x="73" y="0"/>
                    <a:pt x="50" y="0"/>
                  </a:cubicBezTo>
                  <a:cubicBezTo>
                    <a:pt x="27" y="0"/>
                    <a:pt x="8" y="5"/>
                    <a:pt x="2" y="22"/>
                  </a:cubicBezTo>
                  <a:cubicBezTo>
                    <a:pt x="0" y="29"/>
                    <a:pt x="0" y="39"/>
                    <a:pt x="0" y="46"/>
                  </a:cubicBezTo>
                  <a:cubicBezTo>
                    <a:pt x="0" y="79"/>
                    <a:pt x="0" y="173"/>
                    <a:pt x="0" y="206"/>
                  </a:cubicBezTo>
                  <a:cubicBezTo>
                    <a:pt x="0" y="212"/>
                    <a:pt x="0" y="212"/>
                    <a:pt x="2"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0" name="Freeform 30"/>
          <p:cNvSpPr>
            <a:spLocks noEditPoints="1"/>
          </p:cNvSpPr>
          <p:nvPr/>
        </p:nvSpPr>
        <p:spPr bwMode="auto">
          <a:xfrm>
            <a:off x="5865885" y="5700007"/>
            <a:ext cx="509509" cy="556063"/>
          </a:xfrm>
          <a:custGeom>
            <a:avLst/>
            <a:gdLst>
              <a:gd name="T0" fmla="*/ 0 w 512"/>
              <a:gd name="T1" fmla="*/ 437 h 517"/>
              <a:gd name="T2" fmla="*/ 75 w 512"/>
              <a:gd name="T3" fmla="*/ 512 h 517"/>
              <a:gd name="T4" fmla="*/ 128 w 512"/>
              <a:gd name="T5" fmla="*/ 491 h 517"/>
              <a:gd name="T6" fmla="*/ 264 w 512"/>
              <a:gd name="T7" fmla="*/ 354 h 517"/>
              <a:gd name="T8" fmla="*/ 301 w 512"/>
              <a:gd name="T9" fmla="*/ 391 h 517"/>
              <a:gd name="T10" fmla="*/ 315 w 512"/>
              <a:gd name="T11" fmla="*/ 443 h 517"/>
              <a:gd name="T12" fmla="*/ 367 w 512"/>
              <a:gd name="T13" fmla="*/ 496 h 517"/>
              <a:gd name="T14" fmla="*/ 443 w 512"/>
              <a:gd name="T15" fmla="*/ 497 h 517"/>
              <a:gd name="T16" fmla="*/ 443 w 512"/>
              <a:gd name="T17" fmla="*/ 421 h 517"/>
              <a:gd name="T18" fmla="*/ 390 w 512"/>
              <a:gd name="T19" fmla="*/ 368 h 517"/>
              <a:gd name="T20" fmla="*/ 338 w 512"/>
              <a:gd name="T21" fmla="*/ 354 h 517"/>
              <a:gd name="T22" fmla="*/ 301 w 512"/>
              <a:gd name="T23" fmla="*/ 318 h 517"/>
              <a:gd name="T24" fmla="*/ 325 w 512"/>
              <a:gd name="T25" fmla="*/ 294 h 517"/>
              <a:gd name="T26" fmla="*/ 468 w 512"/>
              <a:gd name="T27" fmla="*/ 255 h 517"/>
              <a:gd name="T28" fmla="*/ 512 w 512"/>
              <a:gd name="T29" fmla="*/ 161 h 517"/>
              <a:gd name="T30" fmla="*/ 512 w 512"/>
              <a:gd name="T31" fmla="*/ 160 h 517"/>
              <a:gd name="T32" fmla="*/ 491 w 512"/>
              <a:gd name="T33" fmla="*/ 139 h 517"/>
              <a:gd name="T34" fmla="*/ 475 w 512"/>
              <a:gd name="T35" fmla="*/ 145 h 517"/>
              <a:gd name="T36" fmla="*/ 469 w 512"/>
              <a:gd name="T37" fmla="*/ 151 h 517"/>
              <a:gd name="T38" fmla="*/ 448 w 512"/>
              <a:gd name="T39" fmla="*/ 172 h 517"/>
              <a:gd name="T40" fmla="*/ 394 w 512"/>
              <a:gd name="T41" fmla="*/ 193 h 517"/>
              <a:gd name="T42" fmla="*/ 341 w 512"/>
              <a:gd name="T43" fmla="*/ 171 h 517"/>
              <a:gd name="T44" fmla="*/ 319 w 512"/>
              <a:gd name="T45" fmla="*/ 118 h 517"/>
              <a:gd name="T46" fmla="*/ 340 w 512"/>
              <a:gd name="T47" fmla="*/ 64 h 517"/>
              <a:gd name="T48" fmla="*/ 361 w 512"/>
              <a:gd name="T49" fmla="*/ 43 h 517"/>
              <a:gd name="T50" fmla="*/ 367 w 512"/>
              <a:gd name="T51" fmla="*/ 37 h 517"/>
              <a:gd name="T52" fmla="*/ 373 w 512"/>
              <a:gd name="T53" fmla="*/ 21 h 517"/>
              <a:gd name="T54" fmla="*/ 352 w 512"/>
              <a:gd name="T55" fmla="*/ 0 h 517"/>
              <a:gd name="T56" fmla="*/ 351 w 512"/>
              <a:gd name="T57" fmla="*/ 0 h 517"/>
              <a:gd name="T58" fmla="*/ 257 w 512"/>
              <a:gd name="T59" fmla="*/ 44 h 517"/>
              <a:gd name="T60" fmla="*/ 218 w 512"/>
              <a:gd name="T61" fmla="*/ 187 h 517"/>
              <a:gd name="T62" fmla="*/ 194 w 512"/>
              <a:gd name="T63" fmla="*/ 211 h 517"/>
              <a:gd name="T64" fmla="*/ 96 w 512"/>
              <a:gd name="T65" fmla="*/ 112 h 517"/>
              <a:gd name="T66" fmla="*/ 96 w 512"/>
              <a:gd name="T67" fmla="*/ 85 h 517"/>
              <a:gd name="T68" fmla="*/ 32 w 512"/>
              <a:gd name="T69" fmla="*/ 53 h 517"/>
              <a:gd name="T70" fmla="*/ 0 w 512"/>
              <a:gd name="T71" fmla="*/ 85 h 517"/>
              <a:gd name="T72" fmla="*/ 32 w 512"/>
              <a:gd name="T73" fmla="*/ 149 h 517"/>
              <a:gd name="T74" fmla="*/ 59 w 512"/>
              <a:gd name="T75" fmla="*/ 149 h 517"/>
              <a:gd name="T76" fmla="*/ 157 w 512"/>
              <a:gd name="T77" fmla="*/ 248 h 517"/>
              <a:gd name="T78" fmla="*/ 21 w 512"/>
              <a:gd name="T79" fmla="*/ 384 h 517"/>
              <a:gd name="T80" fmla="*/ 0 w 512"/>
              <a:gd name="T81" fmla="*/ 437 h 517"/>
              <a:gd name="T82" fmla="*/ 53 w 512"/>
              <a:gd name="T83" fmla="*/ 432 h 517"/>
              <a:gd name="T84" fmla="*/ 80 w 512"/>
              <a:gd name="T85" fmla="*/ 405 h 517"/>
              <a:gd name="T86" fmla="*/ 107 w 512"/>
              <a:gd name="T87" fmla="*/ 432 h 517"/>
              <a:gd name="T88" fmla="*/ 80 w 512"/>
              <a:gd name="T89" fmla="*/ 459 h 517"/>
              <a:gd name="T90" fmla="*/ 53 w 512"/>
              <a:gd name="T91" fmla="*/ 43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7">
                <a:moveTo>
                  <a:pt x="0" y="437"/>
                </a:moveTo>
                <a:cubicBezTo>
                  <a:pt x="0" y="479"/>
                  <a:pt x="33" y="512"/>
                  <a:pt x="75" y="512"/>
                </a:cubicBezTo>
                <a:cubicBezTo>
                  <a:pt x="95" y="512"/>
                  <a:pt x="114" y="504"/>
                  <a:pt x="128" y="491"/>
                </a:cubicBezTo>
                <a:cubicBezTo>
                  <a:pt x="264" y="354"/>
                  <a:pt x="264" y="354"/>
                  <a:pt x="264" y="354"/>
                </a:cubicBezTo>
                <a:cubicBezTo>
                  <a:pt x="301" y="391"/>
                  <a:pt x="301" y="391"/>
                  <a:pt x="301" y="391"/>
                </a:cubicBezTo>
                <a:cubicBezTo>
                  <a:pt x="296" y="409"/>
                  <a:pt x="300" y="429"/>
                  <a:pt x="315" y="443"/>
                </a:cubicBezTo>
                <a:cubicBezTo>
                  <a:pt x="367" y="496"/>
                  <a:pt x="367" y="496"/>
                  <a:pt x="367" y="496"/>
                </a:cubicBezTo>
                <a:cubicBezTo>
                  <a:pt x="389" y="517"/>
                  <a:pt x="422" y="517"/>
                  <a:pt x="443" y="497"/>
                </a:cubicBezTo>
                <a:cubicBezTo>
                  <a:pt x="464" y="476"/>
                  <a:pt x="464" y="442"/>
                  <a:pt x="443" y="421"/>
                </a:cubicBezTo>
                <a:cubicBezTo>
                  <a:pt x="390" y="368"/>
                  <a:pt x="390" y="368"/>
                  <a:pt x="390" y="368"/>
                </a:cubicBezTo>
                <a:cubicBezTo>
                  <a:pt x="376" y="354"/>
                  <a:pt x="356" y="349"/>
                  <a:pt x="338" y="354"/>
                </a:cubicBezTo>
                <a:cubicBezTo>
                  <a:pt x="301" y="318"/>
                  <a:pt x="301" y="318"/>
                  <a:pt x="301" y="318"/>
                </a:cubicBezTo>
                <a:cubicBezTo>
                  <a:pt x="325" y="294"/>
                  <a:pt x="325" y="294"/>
                  <a:pt x="325" y="294"/>
                </a:cubicBezTo>
                <a:cubicBezTo>
                  <a:pt x="375" y="307"/>
                  <a:pt x="430" y="294"/>
                  <a:pt x="468" y="255"/>
                </a:cubicBezTo>
                <a:cubicBezTo>
                  <a:pt x="495" y="229"/>
                  <a:pt x="510" y="196"/>
                  <a:pt x="512" y="161"/>
                </a:cubicBezTo>
                <a:cubicBezTo>
                  <a:pt x="512" y="160"/>
                  <a:pt x="512" y="160"/>
                  <a:pt x="512" y="160"/>
                </a:cubicBezTo>
                <a:cubicBezTo>
                  <a:pt x="512" y="148"/>
                  <a:pt x="502" y="139"/>
                  <a:pt x="491" y="139"/>
                </a:cubicBezTo>
                <a:cubicBezTo>
                  <a:pt x="485" y="139"/>
                  <a:pt x="479" y="141"/>
                  <a:pt x="475" y="145"/>
                </a:cubicBezTo>
                <a:cubicBezTo>
                  <a:pt x="469" y="151"/>
                  <a:pt x="469" y="151"/>
                  <a:pt x="469" y="151"/>
                </a:cubicBezTo>
                <a:cubicBezTo>
                  <a:pt x="448" y="172"/>
                  <a:pt x="448" y="172"/>
                  <a:pt x="448" y="172"/>
                </a:cubicBezTo>
                <a:cubicBezTo>
                  <a:pt x="434" y="185"/>
                  <a:pt x="415" y="193"/>
                  <a:pt x="394" y="193"/>
                </a:cubicBezTo>
                <a:cubicBezTo>
                  <a:pt x="373" y="193"/>
                  <a:pt x="355" y="184"/>
                  <a:pt x="341" y="171"/>
                </a:cubicBezTo>
                <a:cubicBezTo>
                  <a:pt x="328" y="157"/>
                  <a:pt x="319" y="139"/>
                  <a:pt x="319" y="118"/>
                </a:cubicBezTo>
                <a:cubicBezTo>
                  <a:pt x="319" y="97"/>
                  <a:pt x="327" y="78"/>
                  <a:pt x="340" y="64"/>
                </a:cubicBezTo>
                <a:cubicBezTo>
                  <a:pt x="361" y="43"/>
                  <a:pt x="361" y="43"/>
                  <a:pt x="361" y="43"/>
                </a:cubicBezTo>
                <a:cubicBezTo>
                  <a:pt x="367" y="37"/>
                  <a:pt x="367" y="37"/>
                  <a:pt x="367" y="37"/>
                </a:cubicBezTo>
                <a:cubicBezTo>
                  <a:pt x="371" y="33"/>
                  <a:pt x="373" y="27"/>
                  <a:pt x="373" y="21"/>
                </a:cubicBezTo>
                <a:cubicBezTo>
                  <a:pt x="373" y="10"/>
                  <a:pt x="364" y="0"/>
                  <a:pt x="352" y="0"/>
                </a:cubicBezTo>
                <a:cubicBezTo>
                  <a:pt x="351" y="0"/>
                  <a:pt x="351" y="0"/>
                  <a:pt x="351" y="0"/>
                </a:cubicBezTo>
                <a:cubicBezTo>
                  <a:pt x="316" y="2"/>
                  <a:pt x="283" y="17"/>
                  <a:pt x="257" y="44"/>
                </a:cubicBezTo>
                <a:cubicBezTo>
                  <a:pt x="218" y="82"/>
                  <a:pt x="205" y="138"/>
                  <a:pt x="218" y="187"/>
                </a:cubicBezTo>
                <a:cubicBezTo>
                  <a:pt x="194" y="211"/>
                  <a:pt x="194" y="211"/>
                  <a:pt x="194" y="211"/>
                </a:cubicBezTo>
                <a:cubicBezTo>
                  <a:pt x="96" y="112"/>
                  <a:pt x="96" y="112"/>
                  <a:pt x="96" y="112"/>
                </a:cubicBezTo>
                <a:cubicBezTo>
                  <a:pt x="96" y="85"/>
                  <a:pt x="96" y="85"/>
                  <a:pt x="96" y="85"/>
                </a:cubicBezTo>
                <a:cubicBezTo>
                  <a:pt x="32" y="53"/>
                  <a:pt x="32" y="53"/>
                  <a:pt x="32" y="53"/>
                </a:cubicBezTo>
                <a:cubicBezTo>
                  <a:pt x="0" y="85"/>
                  <a:pt x="0" y="85"/>
                  <a:pt x="0" y="85"/>
                </a:cubicBezTo>
                <a:cubicBezTo>
                  <a:pt x="32" y="149"/>
                  <a:pt x="32" y="149"/>
                  <a:pt x="32" y="149"/>
                </a:cubicBezTo>
                <a:cubicBezTo>
                  <a:pt x="59" y="149"/>
                  <a:pt x="59" y="149"/>
                  <a:pt x="59" y="149"/>
                </a:cubicBezTo>
                <a:cubicBezTo>
                  <a:pt x="157" y="248"/>
                  <a:pt x="157" y="248"/>
                  <a:pt x="157" y="248"/>
                </a:cubicBezTo>
                <a:cubicBezTo>
                  <a:pt x="21" y="384"/>
                  <a:pt x="21" y="384"/>
                  <a:pt x="21" y="384"/>
                </a:cubicBezTo>
                <a:cubicBezTo>
                  <a:pt x="8" y="398"/>
                  <a:pt x="0" y="417"/>
                  <a:pt x="0" y="437"/>
                </a:cubicBezTo>
                <a:close/>
                <a:moveTo>
                  <a:pt x="53" y="432"/>
                </a:moveTo>
                <a:cubicBezTo>
                  <a:pt x="53" y="417"/>
                  <a:pt x="65" y="405"/>
                  <a:pt x="80" y="405"/>
                </a:cubicBezTo>
                <a:cubicBezTo>
                  <a:pt x="95" y="405"/>
                  <a:pt x="107" y="417"/>
                  <a:pt x="107" y="432"/>
                </a:cubicBezTo>
                <a:cubicBezTo>
                  <a:pt x="107" y="447"/>
                  <a:pt x="95" y="459"/>
                  <a:pt x="80" y="459"/>
                </a:cubicBezTo>
                <a:cubicBezTo>
                  <a:pt x="65" y="459"/>
                  <a:pt x="53" y="447"/>
                  <a:pt x="53" y="432"/>
                </a:cubicBezTo>
                <a:close/>
              </a:path>
            </a:pathLst>
          </a:custGeom>
          <a:solidFill>
            <a:schemeClr val="bg1">
              <a:lumMod val="95000"/>
            </a:schemeClr>
          </a:solidFill>
          <a:ln>
            <a:noFill/>
          </a:ln>
        </p:spPr>
        <p:txBody>
          <a:bodyPr vert="horz" wrap="square" lIns="68580" tIns="34290" rIns="68580" bIns="34290" numCol="1" anchor="t" anchorCtr="0" compatLnSpc="1"/>
          <a:lstStyle/>
          <a:p>
            <a:endParaRPr lang="zh-CN" altLang="en-US" sz="1350">
              <a:solidFill>
                <a:srgbClr val="2E2E2E"/>
              </a:solidFill>
            </a:endParaRPr>
          </a:p>
        </p:txBody>
      </p:sp>
      <p:sp>
        <p:nvSpPr>
          <p:cNvPr id="71" name="TextBox 42"/>
          <p:cNvSpPr txBox="1"/>
          <p:nvPr/>
        </p:nvSpPr>
        <p:spPr>
          <a:xfrm>
            <a:off x="5962213" y="5833009"/>
            <a:ext cx="3247902" cy="412408"/>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3.</a:t>
            </a:r>
            <a:r>
              <a:rPr lang="en-US" altLang="zh-CN" sz="1600" dirty="0"/>
              <a:t> </a:t>
            </a:r>
            <a:r>
              <a:rPr lang="en-US" altLang="zh-CN" sz="1600" dirty="0" err="1"/>
              <a:t>NumPy</a:t>
            </a:r>
            <a:r>
              <a:rPr lang="zh-CN" altLang="zh-CN" sz="1600" dirty="0"/>
              <a:t>的专门应用</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grpSp>
        <p:nvGrpSpPr>
          <p:cNvPr id="95" name="组合 94"/>
          <p:cNvGrpSpPr/>
          <p:nvPr/>
        </p:nvGrpSpPr>
        <p:grpSpPr>
          <a:xfrm>
            <a:off x="8161493" y="1835471"/>
            <a:ext cx="1075004" cy="1075004"/>
            <a:chOff x="3724322" y="1908536"/>
            <a:chExt cx="1329153" cy="1329153"/>
          </a:xfrm>
        </p:grpSpPr>
        <p:sp>
          <p:nvSpPr>
            <p:cNvPr id="97" name="椭圆 96"/>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sp>
          <p:nvSpPr>
            <p:cNvPr id="101" name="椭圆 100"/>
            <p:cNvSpPr/>
            <p:nvPr/>
          </p:nvSpPr>
          <p:spPr>
            <a:xfrm>
              <a:off x="3839838" y="2024052"/>
              <a:ext cx="1098122" cy="1098122"/>
            </a:xfrm>
            <a:prstGeom prst="ellipse">
              <a:avLst/>
            </a:prstGeom>
            <a:solidFill>
              <a:srgbClr val="B3DF63"/>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grpSp>
      <p:grpSp>
        <p:nvGrpSpPr>
          <p:cNvPr id="102" name="组合 101"/>
          <p:cNvGrpSpPr/>
          <p:nvPr/>
        </p:nvGrpSpPr>
        <p:grpSpPr>
          <a:xfrm>
            <a:off x="8477542" y="2157866"/>
            <a:ext cx="504825" cy="430213"/>
            <a:chOff x="3898900" y="152401"/>
            <a:chExt cx="504825" cy="430213"/>
          </a:xfrm>
          <a:solidFill>
            <a:schemeClr val="tx1">
              <a:lumMod val="75000"/>
              <a:lumOff val="25000"/>
            </a:schemeClr>
          </a:solidFill>
        </p:grpSpPr>
        <p:sp>
          <p:nvSpPr>
            <p:cNvPr id="103" name="Freeform 92"/>
            <p:cNvSpPr/>
            <p:nvPr/>
          </p:nvSpPr>
          <p:spPr bwMode="auto">
            <a:xfrm>
              <a:off x="4060825" y="481013"/>
              <a:ext cx="179388" cy="61913"/>
            </a:xfrm>
            <a:custGeom>
              <a:avLst/>
              <a:gdLst>
                <a:gd name="T0" fmla="*/ 3 w 113"/>
                <a:gd name="T1" fmla="*/ 0 h 39"/>
                <a:gd name="T2" fmla="*/ 0 w 113"/>
                <a:gd name="T3" fmla="*/ 39 h 39"/>
                <a:gd name="T4" fmla="*/ 113 w 113"/>
                <a:gd name="T5" fmla="*/ 39 h 39"/>
                <a:gd name="T6" fmla="*/ 111 w 113"/>
                <a:gd name="T7" fmla="*/ 0 h 39"/>
                <a:gd name="T8" fmla="*/ 3 w 113"/>
                <a:gd name="T9" fmla="*/ 0 h 39"/>
              </a:gdLst>
              <a:ahLst/>
              <a:cxnLst>
                <a:cxn ang="0">
                  <a:pos x="T0" y="T1"/>
                </a:cxn>
                <a:cxn ang="0">
                  <a:pos x="T2" y="T3"/>
                </a:cxn>
                <a:cxn ang="0">
                  <a:pos x="T4" y="T5"/>
                </a:cxn>
                <a:cxn ang="0">
                  <a:pos x="T6" y="T7"/>
                </a:cxn>
                <a:cxn ang="0">
                  <a:pos x="T8" y="T9"/>
                </a:cxn>
              </a:cxnLst>
              <a:rect l="0" t="0" r="r" b="b"/>
              <a:pathLst>
                <a:path w="113" h="39">
                  <a:moveTo>
                    <a:pt x="3" y="0"/>
                  </a:moveTo>
                  <a:lnTo>
                    <a:pt x="0" y="39"/>
                  </a:lnTo>
                  <a:lnTo>
                    <a:pt x="113" y="39"/>
                  </a:lnTo>
                  <a:lnTo>
                    <a:pt x="111"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93"/>
            <p:cNvSpPr>
              <a:spLocks noEditPoints="1"/>
            </p:cNvSpPr>
            <p:nvPr/>
          </p:nvSpPr>
          <p:spPr bwMode="auto">
            <a:xfrm>
              <a:off x="3898900" y="152401"/>
              <a:ext cx="504825" cy="312738"/>
            </a:xfrm>
            <a:custGeom>
              <a:avLst/>
              <a:gdLst>
                <a:gd name="T0" fmla="*/ 213 w 318"/>
                <a:gd name="T1" fmla="*/ 197 h 197"/>
                <a:gd name="T2" fmla="*/ 318 w 318"/>
                <a:gd name="T3" fmla="*/ 197 h 197"/>
                <a:gd name="T4" fmla="*/ 318 w 318"/>
                <a:gd name="T5" fmla="*/ 0 h 197"/>
                <a:gd name="T6" fmla="*/ 0 w 318"/>
                <a:gd name="T7" fmla="*/ 0 h 197"/>
                <a:gd name="T8" fmla="*/ 0 w 318"/>
                <a:gd name="T9" fmla="*/ 197 h 197"/>
                <a:gd name="T10" fmla="*/ 105 w 318"/>
                <a:gd name="T11" fmla="*/ 197 h 197"/>
                <a:gd name="T12" fmla="*/ 213 w 318"/>
                <a:gd name="T13" fmla="*/ 197 h 197"/>
                <a:gd name="T14" fmla="*/ 28 w 318"/>
                <a:gd name="T15" fmla="*/ 174 h 197"/>
                <a:gd name="T16" fmla="*/ 28 w 318"/>
                <a:gd name="T17" fmla="*/ 25 h 197"/>
                <a:gd name="T18" fmla="*/ 288 w 318"/>
                <a:gd name="T19" fmla="*/ 25 h 197"/>
                <a:gd name="T20" fmla="*/ 288 w 318"/>
                <a:gd name="T21" fmla="*/ 174 h 197"/>
                <a:gd name="T22" fmla="*/ 212 w 318"/>
                <a:gd name="T23" fmla="*/ 174 h 197"/>
                <a:gd name="T24" fmla="*/ 106 w 318"/>
                <a:gd name="T25" fmla="*/ 174 h 197"/>
                <a:gd name="T26" fmla="*/ 28 w 318"/>
                <a:gd name="T27" fmla="*/ 17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8" h="197">
                  <a:moveTo>
                    <a:pt x="213" y="197"/>
                  </a:moveTo>
                  <a:lnTo>
                    <a:pt x="318" y="197"/>
                  </a:lnTo>
                  <a:lnTo>
                    <a:pt x="318" y="0"/>
                  </a:lnTo>
                  <a:lnTo>
                    <a:pt x="0" y="0"/>
                  </a:lnTo>
                  <a:lnTo>
                    <a:pt x="0" y="197"/>
                  </a:lnTo>
                  <a:lnTo>
                    <a:pt x="105" y="197"/>
                  </a:lnTo>
                  <a:lnTo>
                    <a:pt x="213" y="197"/>
                  </a:lnTo>
                  <a:close/>
                  <a:moveTo>
                    <a:pt x="28" y="174"/>
                  </a:moveTo>
                  <a:lnTo>
                    <a:pt x="28" y="25"/>
                  </a:lnTo>
                  <a:lnTo>
                    <a:pt x="288" y="25"/>
                  </a:lnTo>
                  <a:lnTo>
                    <a:pt x="288" y="174"/>
                  </a:lnTo>
                  <a:lnTo>
                    <a:pt x="212" y="174"/>
                  </a:lnTo>
                  <a:lnTo>
                    <a:pt x="106" y="174"/>
                  </a:lnTo>
                  <a:lnTo>
                    <a:pt x="28" y="1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94"/>
            <p:cNvSpPr/>
            <p:nvPr/>
          </p:nvSpPr>
          <p:spPr bwMode="auto">
            <a:xfrm>
              <a:off x="4027488" y="558801"/>
              <a:ext cx="247650" cy="23813"/>
            </a:xfrm>
            <a:custGeom>
              <a:avLst/>
              <a:gdLst>
                <a:gd name="T0" fmla="*/ 0 w 156"/>
                <a:gd name="T1" fmla="*/ 0 h 15"/>
                <a:gd name="T2" fmla="*/ 0 w 156"/>
                <a:gd name="T3" fmla="*/ 15 h 15"/>
                <a:gd name="T4" fmla="*/ 156 w 156"/>
                <a:gd name="T5" fmla="*/ 15 h 15"/>
                <a:gd name="T6" fmla="*/ 156 w 156"/>
                <a:gd name="T7" fmla="*/ 0 h 15"/>
                <a:gd name="T8" fmla="*/ 134 w 156"/>
                <a:gd name="T9" fmla="*/ 0 h 15"/>
                <a:gd name="T10" fmla="*/ 21 w 156"/>
                <a:gd name="T11" fmla="*/ 0 h 15"/>
                <a:gd name="T12" fmla="*/ 0 w 15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6" h="15">
                  <a:moveTo>
                    <a:pt x="0" y="0"/>
                  </a:moveTo>
                  <a:lnTo>
                    <a:pt x="0" y="15"/>
                  </a:lnTo>
                  <a:lnTo>
                    <a:pt x="156" y="15"/>
                  </a:lnTo>
                  <a:lnTo>
                    <a:pt x="156" y="0"/>
                  </a:lnTo>
                  <a:lnTo>
                    <a:pt x="134" y="0"/>
                  </a:lnTo>
                  <a:lnTo>
                    <a:pt x="2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06" name="TextBox 43"/>
          <p:cNvSpPr txBox="1"/>
          <p:nvPr/>
        </p:nvSpPr>
        <p:spPr>
          <a:xfrm>
            <a:off x="9384928" y="4198855"/>
            <a:ext cx="2566666" cy="412408"/>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rPr>
              <a:t>4</a:t>
            </a: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a:t>
            </a:r>
            <a:r>
              <a:rPr lang="zh-CN" altLang="zh-CN" sz="1600" dirty="0"/>
              <a:t>数组的文件输入输出</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107" name="TextBox 43"/>
          <p:cNvSpPr txBox="1"/>
          <p:nvPr/>
        </p:nvSpPr>
        <p:spPr>
          <a:xfrm>
            <a:off x="6369365" y="760952"/>
            <a:ext cx="1943963" cy="412408"/>
          </a:xfrm>
          <a:prstGeom prst="rect">
            <a:avLst/>
          </a:prstGeom>
          <a:noFill/>
        </p:spPr>
        <p:txBody>
          <a:bodyPr wrap="square" lIns="91428" tIns="45714" rIns="91428" bIns="4571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465" dirty="0" smtClean="0">
                <a:solidFill>
                  <a:prstClr val="black">
                    <a:lumMod val="65000"/>
                    <a:lumOff val="35000"/>
                  </a:prstClr>
                </a:solidFill>
                <a:latin typeface="微软雅黑" panose="020B0503020204020204" pitchFamily="34" charset="-122"/>
                <a:ea typeface="微软雅黑" panose="020B0503020204020204" pitchFamily="34" charset="-122"/>
              </a:rPr>
              <a:t>6.</a:t>
            </a:r>
            <a:r>
              <a:rPr lang="zh-CN" altLang="zh-CN" sz="1600" dirty="0"/>
              <a:t>综合应用</a:t>
            </a:r>
            <a:endParaRPr lang="en-US" altLang="zh-CN" sz="1465" dirty="0">
              <a:solidFill>
                <a:prstClr val="black">
                  <a:lumMod val="65000"/>
                  <a:lumOff val="35000"/>
                </a:prstClr>
              </a:solidFill>
              <a:latin typeface="微软雅黑" panose="020B0503020204020204" pitchFamily="34" charset="-122"/>
              <a:ea typeface="微软雅黑" panose="020B0503020204020204" pitchFamily="34" charset="-122"/>
            </a:endParaRPr>
          </a:p>
        </p:txBody>
      </p:sp>
      <p:grpSp>
        <p:nvGrpSpPr>
          <p:cNvPr id="108" name="组合 107"/>
          <p:cNvGrpSpPr/>
          <p:nvPr/>
        </p:nvGrpSpPr>
        <p:grpSpPr>
          <a:xfrm>
            <a:off x="5662586" y="742670"/>
            <a:ext cx="1075004" cy="1075004"/>
            <a:chOff x="3724322" y="1908536"/>
            <a:chExt cx="1329153" cy="1329153"/>
          </a:xfrm>
        </p:grpSpPr>
        <p:sp>
          <p:nvSpPr>
            <p:cNvPr id="109" name="椭圆 108"/>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10" name="椭圆 109"/>
            <p:cNvSpPr/>
            <p:nvPr/>
          </p:nvSpPr>
          <p:spPr>
            <a:xfrm>
              <a:off x="3839838" y="2024052"/>
              <a:ext cx="1098122" cy="1098122"/>
            </a:xfrm>
            <a:prstGeom prst="ellipse">
              <a:avLst/>
            </a:prstGeom>
            <a:solidFill>
              <a:srgbClr val="1E6787"/>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sp>
        <p:nvSpPr>
          <p:cNvPr id="111" name="Freeform 30"/>
          <p:cNvSpPr>
            <a:spLocks noEditPoints="1"/>
          </p:cNvSpPr>
          <p:nvPr/>
        </p:nvSpPr>
        <p:spPr bwMode="auto">
          <a:xfrm>
            <a:off x="5962213" y="975593"/>
            <a:ext cx="509509" cy="556063"/>
          </a:xfrm>
          <a:custGeom>
            <a:avLst/>
            <a:gdLst>
              <a:gd name="T0" fmla="*/ 0 w 512"/>
              <a:gd name="T1" fmla="*/ 437 h 517"/>
              <a:gd name="T2" fmla="*/ 75 w 512"/>
              <a:gd name="T3" fmla="*/ 512 h 517"/>
              <a:gd name="T4" fmla="*/ 128 w 512"/>
              <a:gd name="T5" fmla="*/ 491 h 517"/>
              <a:gd name="T6" fmla="*/ 264 w 512"/>
              <a:gd name="T7" fmla="*/ 354 h 517"/>
              <a:gd name="T8" fmla="*/ 301 w 512"/>
              <a:gd name="T9" fmla="*/ 391 h 517"/>
              <a:gd name="T10" fmla="*/ 315 w 512"/>
              <a:gd name="T11" fmla="*/ 443 h 517"/>
              <a:gd name="T12" fmla="*/ 367 w 512"/>
              <a:gd name="T13" fmla="*/ 496 h 517"/>
              <a:gd name="T14" fmla="*/ 443 w 512"/>
              <a:gd name="T15" fmla="*/ 497 h 517"/>
              <a:gd name="T16" fmla="*/ 443 w 512"/>
              <a:gd name="T17" fmla="*/ 421 h 517"/>
              <a:gd name="T18" fmla="*/ 390 w 512"/>
              <a:gd name="T19" fmla="*/ 368 h 517"/>
              <a:gd name="T20" fmla="*/ 338 w 512"/>
              <a:gd name="T21" fmla="*/ 354 h 517"/>
              <a:gd name="T22" fmla="*/ 301 w 512"/>
              <a:gd name="T23" fmla="*/ 318 h 517"/>
              <a:gd name="T24" fmla="*/ 325 w 512"/>
              <a:gd name="T25" fmla="*/ 294 h 517"/>
              <a:gd name="T26" fmla="*/ 468 w 512"/>
              <a:gd name="T27" fmla="*/ 255 h 517"/>
              <a:gd name="T28" fmla="*/ 512 w 512"/>
              <a:gd name="T29" fmla="*/ 161 h 517"/>
              <a:gd name="T30" fmla="*/ 512 w 512"/>
              <a:gd name="T31" fmla="*/ 160 h 517"/>
              <a:gd name="T32" fmla="*/ 491 w 512"/>
              <a:gd name="T33" fmla="*/ 139 h 517"/>
              <a:gd name="T34" fmla="*/ 475 w 512"/>
              <a:gd name="T35" fmla="*/ 145 h 517"/>
              <a:gd name="T36" fmla="*/ 469 w 512"/>
              <a:gd name="T37" fmla="*/ 151 h 517"/>
              <a:gd name="T38" fmla="*/ 448 w 512"/>
              <a:gd name="T39" fmla="*/ 172 h 517"/>
              <a:gd name="T40" fmla="*/ 394 w 512"/>
              <a:gd name="T41" fmla="*/ 193 h 517"/>
              <a:gd name="T42" fmla="*/ 341 w 512"/>
              <a:gd name="T43" fmla="*/ 171 h 517"/>
              <a:gd name="T44" fmla="*/ 319 w 512"/>
              <a:gd name="T45" fmla="*/ 118 h 517"/>
              <a:gd name="T46" fmla="*/ 340 w 512"/>
              <a:gd name="T47" fmla="*/ 64 h 517"/>
              <a:gd name="T48" fmla="*/ 361 w 512"/>
              <a:gd name="T49" fmla="*/ 43 h 517"/>
              <a:gd name="T50" fmla="*/ 367 w 512"/>
              <a:gd name="T51" fmla="*/ 37 h 517"/>
              <a:gd name="T52" fmla="*/ 373 w 512"/>
              <a:gd name="T53" fmla="*/ 21 h 517"/>
              <a:gd name="T54" fmla="*/ 352 w 512"/>
              <a:gd name="T55" fmla="*/ 0 h 517"/>
              <a:gd name="T56" fmla="*/ 351 w 512"/>
              <a:gd name="T57" fmla="*/ 0 h 517"/>
              <a:gd name="T58" fmla="*/ 257 w 512"/>
              <a:gd name="T59" fmla="*/ 44 h 517"/>
              <a:gd name="T60" fmla="*/ 218 w 512"/>
              <a:gd name="T61" fmla="*/ 187 h 517"/>
              <a:gd name="T62" fmla="*/ 194 w 512"/>
              <a:gd name="T63" fmla="*/ 211 h 517"/>
              <a:gd name="T64" fmla="*/ 96 w 512"/>
              <a:gd name="T65" fmla="*/ 112 h 517"/>
              <a:gd name="T66" fmla="*/ 96 w 512"/>
              <a:gd name="T67" fmla="*/ 85 h 517"/>
              <a:gd name="T68" fmla="*/ 32 w 512"/>
              <a:gd name="T69" fmla="*/ 53 h 517"/>
              <a:gd name="T70" fmla="*/ 0 w 512"/>
              <a:gd name="T71" fmla="*/ 85 h 517"/>
              <a:gd name="T72" fmla="*/ 32 w 512"/>
              <a:gd name="T73" fmla="*/ 149 h 517"/>
              <a:gd name="T74" fmla="*/ 59 w 512"/>
              <a:gd name="T75" fmla="*/ 149 h 517"/>
              <a:gd name="T76" fmla="*/ 157 w 512"/>
              <a:gd name="T77" fmla="*/ 248 h 517"/>
              <a:gd name="T78" fmla="*/ 21 w 512"/>
              <a:gd name="T79" fmla="*/ 384 h 517"/>
              <a:gd name="T80" fmla="*/ 0 w 512"/>
              <a:gd name="T81" fmla="*/ 437 h 517"/>
              <a:gd name="T82" fmla="*/ 53 w 512"/>
              <a:gd name="T83" fmla="*/ 432 h 517"/>
              <a:gd name="T84" fmla="*/ 80 w 512"/>
              <a:gd name="T85" fmla="*/ 405 h 517"/>
              <a:gd name="T86" fmla="*/ 107 w 512"/>
              <a:gd name="T87" fmla="*/ 432 h 517"/>
              <a:gd name="T88" fmla="*/ 80 w 512"/>
              <a:gd name="T89" fmla="*/ 459 h 517"/>
              <a:gd name="T90" fmla="*/ 53 w 512"/>
              <a:gd name="T91" fmla="*/ 43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7">
                <a:moveTo>
                  <a:pt x="0" y="437"/>
                </a:moveTo>
                <a:cubicBezTo>
                  <a:pt x="0" y="479"/>
                  <a:pt x="33" y="512"/>
                  <a:pt x="75" y="512"/>
                </a:cubicBezTo>
                <a:cubicBezTo>
                  <a:pt x="95" y="512"/>
                  <a:pt x="114" y="504"/>
                  <a:pt x="128" y="491"/>
                </a:cubicBezTo>
                <a:cubicBezTo>
                  <a:pt x="264" y="354"/>
                  <a:pt x="264" y="354"/>
                  <a:pt x="264" y="354"/>
                </a:cubicBezTo>
                <a:cubicBezTo>
                  <a:pt x="301" y="391"/>
                  <a:pt x="301" y="391"/>
                  <a:pt x="301" y="391"/>
                </a:cubicBezTo>
                <a:cubicBezTo>
                  <a:pt x="296" y="409"/>
                  <a:pt x="300" y="429"/>
                  <a:pt x="315" y="443"/>
                </a:cubicBezTo>
                <a:cubicBezTo>
                  <a:pt x="367" y="496"/>
                  <a:pt x="367" y="496"/>
                  <a:pt x="367" y="496"/>
                </a:cubicBezTo>
                <a:cubicBezTo>
                  <a:pt x="389" y="517"/>
                  <a:pt x="422" y="517"/>
                  <a:pt x="443" y="497"/>
                </a:cubicBezTo>
                <a:cubicBezTo>
                  <a:pt x="464" y="476"/>
                  <a:pt x="464" y="442"/>
                  <a:pt x="443" y="421"/>
                </a:cubicBezTo>
                <a:cubicBezTo>
                  <a:pt x="390" y="368"/>
                  <a:pt x="390" y="368"/>
                  <a:pt x="390" y="368"/>
                </a:cubicBezTo>
                <a:cubicBezTo>
                  <a:pt x="376" y="354"/>
                  <a:pt x="356" y="349"/>
                  <a:pt x="338" y="354"/>
                </a:cubicBezTo>
                <a:cubicBezTo>
                  <a:pt x="301" y="318"/>
                  <a:pt x="301" y="318"/>
                  <a:pt x="301" y="318"/>
                </a:cubicBezTo>
                <a:cubicBezTo>
                  <a:pt x="325" y="294"/>
                  <a:pt x="325" y="294"/>
                  <a:pt x="325" y="294"/>
                </a:cubicBezTo>
                <a:cubicBezTo>
                  <a:pt x="375" y="307"/>
                  <a:pt x="430" y="294"/>
                  <a:pt x="468" y="255"/>
                </a:cubicBezTo>
                <a:cubicBezTo>
                  <a:pt x="495" y="229"/>
                  <a:pt x="510" y="196"/>
                  <a:pt x="512" y="161"/>
                </a:cubicBezTo>
                <a:cubicBezTo>
                  <a:pt x="512" y="160"/>
                  <a:pt x="512" y="160"/>
                  <a:pt x="512" y="160"/>
                </a:cubicBezTo>
                <a:cubicBezTo>
                  <a:pt x="512" y="148"/>
                  <a:pt x="502" y="139"/>
                  <a:pt x="491" y="139"/>
                </a:cubicBezTo>
                <a:cubicBezTo>
                  <a:pt x="485" y="139"/>
                  <a:pt x="479" y="141"/>
                  <a:pt x="475" y="145"/>
                </a:cubicBezTo>
                <a:cubicBezTo>
                  <a:pt x="469" y="151"/>
                  <a:pt x="469" y="151"/>
                  <a:pt x="469" y="151"/>
                </a:cubicBezTo>
                <a:cubicBezTo>
                  <a:pt x="448" y="172"/>
                  <a:pt x="448" y="172"/>
                  <a:pt x="448" y="172"/>
                </a:cubicBezTo>
                <a:cubicBezTo>
                  <a:pt x="434" y="185"/>
                  <a:pt x="415" y="193"/>
                  <a:pt x="394" y="193"/>
                </a:cubicBezTo>
                <a:cubicBezTo>
                  <a:pt x="373" y="193"/>
                  <a:pt x="355" y="184"/>
                  <a:pt x="341" y="171"/>
                </a:cubicBezTo>
                <a:cubicBezTo>
                  <a:pt x="328" y="157"/>
                  <a:pt x="319" y="139"/>
                  <a:pt x="319" y="118"/>
                </a:cubicBezTo>
                <a:cubicBezTo>
                  <a:pt x="319" y="97"/>
                  <a:pt x="327" y="78"/>
                  <a:pt x="340" y="64"/>
                </a:cubicBezTo>
                <a:cubicBezTo>
                  <a:pt x="361" y="43"/>
                  <a:pt x="361" y="43"/>
                  <a:pt x="361" y="43"/>
                </a:cubicBezTo>
                <a:cubicBezTo>
                  <a:pt x="367" y="37"/>
                  <a:pt x="367" y="37"/>
                  <a:pt x="367" y="37"/>
                </a:cubicBezTo>
                <a:cubicBezTo>
                  <a:pt x="371" y="33"/>
                  <a:pt x="373" y="27"/>
                  <a:pt x="373" y="21"/>
                </a:cubicBezTo>
                <a:cubicBezTo>
                  <a:pt x="373" y="10"/>
                  <a:pt x="364" y="0"/>
                  <a:pt x="352" y="0"/>
                </a:cubicBezTo>
                <a:cubicBezTo>
                  <a:pt x="351" y="0"/>
                  <a:pt x="351" y="0"/>
                  <a:pt x="351" y="0"/>
                </a:cubicBezTo>
                <a:cubicBezTo>
                  <a:pt x="316" y="2"/>
                  <a:pt x="283" y="17"/>
                  <a:pt x="257" y="44"/>
                </a:cubicBezTo>
                <a:cubicBezTo>
                  <a:pt x="218" y="82"/>
                  <a:pt x="205" y="138"/>
                  <a:pt x="218" y="187"/>
                </a:cubicBezTo>
                <a:cubicBezTo>
                  <a:pt x="194" y="211"/>
                  <a:pt x="194" y="211"/>
                  <a:pt x="194" y="211"/>
                </a:cubicBezTo>
                <a:cubicBezTo>
                  <a:pt x="96" y="112"/>
                  <a:pt x="96" y="112"/>
                  <a:pt x="96" y="112"/>
                </a:cubicBezTo>
                <a:cubicBezTo>
                  <a:pt x="96" y="85"/>
                  <a:pt x="96" y="85"/>
                  <a:pt x="96" y="85"/>
                </a:cubicBezTo>
                <a:cubicBezTo>
                  <a:pt x="32" y="53"/>
                  <a:pt x="32" y="53"/>
                  <a:pt x="32" y="53"/>
                </a:cubicBezTo>
                <a:cubicBezTo>
                  <a:pt x="0" y="85"/>
                  <a:pt x="0" y="85"/>
                  <a:pt x="0" y="85"/>
                </a:cubicBezTo>
                <a:cubicBezTo>
                  <a:pt x="32" y="149"/>
                  <a:pt x="32" y="149"/>
                  <a:pt x="32" y="149"/>
                </a:cubicBezTo>
                <a:cubicBezTo>
                  <a:pt x="59" y="149"/>
                  <a:pt x="59" y="149"/>
                  <a:pt x="59" y="149"/>
                </a:cubicBezTo>
                <a:cubicBezTo>
                  <a:pt x="157" y="248"/>
                  <a:pt x="157" y="248"/>
                  <a:pt x="157" y="248"/>
                </a:cubicBezTo>
                <a:cubicBezTo>
                  <a:pt x="21" y="384"/>
                  <a:pt x="21" y="384"/>
                  <a:pt x="21" y="384"/>
                </a:cubicBezTo>
                <a:cubicBezTo>
                  <a:pt x="8" y="398"/>
                  <a:pt x="0" y="417"/>
                  <a:pt x="0" y="437"/>
                </a:cubicBezTo>
                <a:close/>
                <a:moveTo>
                  <a:pt x="53" y="432"/>
                </a:moveTo>
                <a:cubicBezTo>
                  <a:pt x="53" y="417"/>
                  <a:pt x="65" y="405"/>
                  <a:pt x="80" y="405"/>
                </a:cubicBezTo>
                <a:cubicBezTo>
                  <a:pt x="95" y="405"/>
                  <a:pt x="107" y="417"/>
                  <a:pt x="107" y="432"/>
                </a:cubicBezTo>
                <a:cubicBezTo>
                  <a:pt x="107" y="447"/>
                  <a:pt x="95" y="459"/>
                  <a:pt x="80" y="459"/>
                </a:cubicBezTo>
                <a:cubicBezTo>
                  <a:pt x="65" y="459"/>
                  <a:pt x="53" y="447"/>
                  <a:pt x="53" y="432"/>
                </a:cubicBezTo>
                <a:close/>
              </a:path>
            </a:pathLst>
          </a:custGeom>
          <a:solidFill>
            <a:schemeClr val="bg1">
              <a:lumMod val="95000"/>
            </a:schemeClr>
          </a:solidFill>
          <a:ln>
            <a:noFill/>
          </a:ln>
        </p:spPr>
        <p:txBody>
          <a:bodyPr vert="horz" wrap="square" lIns="68580" tIns="34290" rIns="68580" bIns="34290" numCol="1" anchor="t" anchorCtr="0" compatLnSpc="1"/>
          <a:lstStyle/>
          <a:p>
            <a:endParaRPr lang="zh-CN" altLang="en-US" sz="1350">
              <a:solidFill>
                <a:srgbClr val="2E2E2E"/>
              </a:solidFill>
            </a:endParaRPr>
          </a:p>
        </p:txBody>
      </p:sp>
      <p:grpSp>
        <p:nvGrpSpPr>
          <p:cNvPr id="113" name="组合 112"/>
          <p:cNvGrpSpPr/>
          <p:nvPr/>
        </p:nvGrpSpPr>
        <p:grpSpPr>
          <a:xfrm>
            <a:off x="5489510" y="5475312"/>
            <a:ext cx="1075004" cy="1075004"/>
            <a:chOff x="3724322" y="1908536"/>
            <a:chExt cx="1329153" cy="1329153"/>
          </a:xfrm>
        </p:grpSpPr>
        <p:sp>
          <p:nvSpPr>
            <p:cNvPr id="114" name="椭圆 113"/>
            <p:cNvSpPr/>
            <p:nvPr/>
          </p:nvSpPr>
          <p:spPr>
            <a:xfrm>
              <a:off x="3724322" y="1908536"/>
              <a:ext cx="1329153" cy="1329153"/>
            </a:xfrm>
            <a:prstGeom prst="ellipse">
              <a:avLst/>
            </a:prstGeom>
            <a:solidFill>
              <a:schemeClr val="bg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15" name="椭圆 114"/>
            <p:cNvSpPr/>
            <p:nvPr/>
          </p:nvSpPr>
          <p:spPr>
            <a:xfrm>
              <a:off x="3839838" y="2024052"/>
              <a:ext cx="1098122" cy="1098122"/>
            </a:xfrm>
            <a:prstGeom prst="ellipse">
              <a:avLst/>
            </a:prstGeom>
            <a:solidFill>
              <a:srgbClr val="1E6787"/>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sp>
        <p:nvSpPr>
          <p:cNvPr id="116" name="Freeform 30"/>
          <p:cNvSpPr>
            <a:spLocks noEditPoints="1"/>
          </p:cNvSpPr>
          <p:nvPr/>
        </p:nvSpPr>
        <p:spPr bwMode="auto">
          <a:xfrm>
            <a:off x="5789137" y="5708235"/>
            <a:ext cx="509509" cy="556063"/>
          </a:xfrm>
          <a:custGeom>
            <a:avLst/>
            <a:gdLst>
              <a:gd name="T0" fmla="*/ 0 w 512"/>
              <a:gd name="T1" fmla="*/ 437 h 517"/>
              <a:gd name="T2" fmla="*/ 75 w 512"/>
              <a:gd name="T3" fmla="*/ 512 h 517"/>
              <a:gd name="T4" fmla="*/ 128 w 512"/>
              <a:gd name="T5" fmla="*/ 491 h 517"/>
              <a:gd name="T6" fmla="*/ 264 w 512"/>
              <a:gd name="T7" fmla="*/ 354 h 517"/>
              <a:gd name="T8" fmla="*/ 301 w 512"/>
              <a:gd name="T9" fmla="*/ 391 h 517"/>
              <a:gd name="T10" fmla="*/ 315 w 512"/>
              <a:gd name="T11" fmla="*/ 443 h 517"/>
              <a:gd name="T12" fmla="*/ 367 w 512"/>
              <a:gd name="T13" fmla="*/ 496 h 517"/>
              <a:gd name="T14" fmla="*/ 443 w 512"/>
              <a:gd name="T15" fmla="*/ 497 h 517"/>
              <a:gd name="T16" fmla="*/ 443 w 512"/>
              <a:gd name="T17" fmla="*/ 421 h 517"/>
              <a:gd name="T18" fmla="*/ 390 w 512"/>
              <a:gd name="T19" fmla="*/ 368 h 517"/>
              <a:gd name="T20" fmla="*/ 338 w 512"/>
              <a:gd name="T21" fmla="*/ 354 h 517"/>
              <a:gd name="T22" fmla="*/ 301 w 512"/>
              <a:gd name="T23" fmla="*/ 318 h 517"/>
              <a:gd name="T24" fmla="*/ 325 w 512"/>
              <a:gd name="T25" fmla="*/ 294 h 517"/>
              <a:gd name="T26" fmla="*/ 468 w 512"/>
              <a:gd name="T27" fmla="*/ 255 h 517"/>
              <a:gd name="T28" fmla="*/ 512 w 512"/>
              <a:gd name="T29" fmla="*/ 161 h 517"/>
              <a:gd name="T30" fmla="*/ 512 w 512"/>
              <a:gd name="T31" fmla="*/ 160 h 517"/>
              <a:gd name="T32" fmla="*/ 491 w 512"/>
              <a:gd name="T33" fmla="*/ 139 h 517"/>
              <a:gd name="T34" fmla="*/ 475 w 512"/>
              <a:gd name="T35" fmla="*/ 145 h 517"/>
              <a:gd name="T36" fmla="*/ 469 w 512"/>
              <a:gd name="T37" fmla="*/ 151 h 517"/>
              <a:gd name="T38" fmla="*/ 448 w 512"/>
              <a:gd name="T39" fmla="*/ 172 h 517"/>
              <a:gd name="T40" fmla="*/ 394 w 512"/>
              <a:gd name="T41" fmla="*/ 193 h 517"/>
              <a:gd name="T42" fmla="*/ 341 w 512"/>
              <a:gd name="T43" fmla="*/ 171 h 517"/>
              <a:gd name="T44" fmla="*/ 319 w 512"/>
              <a:gd name="T45" fmla="*/ 118 h 517"/>
              <a:gd name="T46" fmla="*/ 340 w 512"/>
              <a:gd name="T47" fmla="*/ 64 h 517"/>
              <a:gd name="T48" fmla="*/ 361 w 512"/>
              <a:gd name="T49" fmla="*/ 43 h 517"/>
              <a:gd name="T50" fmla="*/ 367 w 512"/>
              <a:gd name="T51" fmla="*/ 37 h 517"/>
              <a:gd name="T52" fmla="*/ 373 w 512"/>
              <a:gd name="T53" fmla="*/ 21 h 517"/>
              <a:gd name="T54" fmla="*/ 352 w 512"/>
              <a:gd name="T55" fmla="*/ 0 h 517"/>
              <a:gd name="T56" fmla="*/ 351 w 512"/>
              <a:gd name="T57" fmla="*/ 0 h 517"/>
              <a:gd name="T58" fmla="*/ 257 w 512"/>
              <a:gd name="T59" fmla="*/ 44 h 517"/>
              <a:gd name="T60" fmla="*/ 218 w 512"/>
              <a:gd name="T61" fmla="*/ 187 h 517"/>
              <a:gd name="T62" fmla="*/ 194 w 512"/>
              <a:gd name="T63" fmla="*/ 211 h 517"/>
              <a:gd name="T64" fmla="*/ 96 w 512"/>
              <a:gd name="T65" fmla="*/ 112 h 517"/>
              <a:gd name="T66" fmla="*/ 96 w 512"/>
              <a:gd name="T67" fmla="*/ 85 h 517"/>
              <a:gd name="T68" fmla="*/ 32 w 512"/>
              <a:gd name="T69" fmla="*/ 53 h 517"/>
              <a:gd name="T70" fmla="*/ 0 w 512"/>
              <a:gd name="T71" fmla="*/ 85 h 517"/>
              <a:gd name="T72" fmla="*/ 32 w 512"/>
              <a:gd name="T73" fmla="*/ 149 h 517"/>
              <a:gd name="T74" fmla="*/ 59 w 512"/>
              <a:gd name="T75" fmla="*/ 149 h 517"/>
              <a:gd name="T76" fmla="*/ 157 w 512"/>
              <a:gd name="T77" fmla="*/ 248 h 517"/>
              <a:gd name="T78" fmla="*/ 21 w 512"/>
              <a:gd name="T79" fmla="*/ 384 h 517"/>
              <a:gd name="T80" fmla="*/ 0 w 512"/>
              <a:gd name="T81" fmla="*/ 437 h 517"/>
              <a:gd name="T82" fmla="*/ 53 w 512"/>
              <a:gd name="T83" fmla="*/ 432 h 517"/>
              <a:gd name="T84" fmla="*/ 80 w 512"/>
              <a:gd name="T85" fmla="*/ 405 h 517"/>
              <a:gd name="T86" fmla="*/ 107 w 512"/>
              <a:gd name="T87" fmla="*/ 432 h 517"/>
              <a:gd name="T88" fmla="*/ 80 w 512"/>
              <a:gd name="T89" fmla="*/ 459 h 517"/>
              <a:gd name="T90" fmla="*/ 53 w 512"/>
              <a:gd name="T91" fmla="*/ 43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517">
                <a:moveTo>
                  <a:pt x="0" y="437"/>
                </a:moveTo>
                <a:cubicBezTo>
                  <a:pt x="0" y="479"/>
                  <a:pt x="33" y="512"/>
                  <a:pt x="75" y="512"/>
                </a:cubicBezTo>
                <a:cubicBezTo>
                  <a:pt x="95" y="512"/>
                  <a:pt x="114" y="504"/>
                  <a:pt x="128" y="491"/>
                </a:cubicBezTo>
                <a:cubicBezTo>
                  <a:pt x="264" y="354"/>
                  <a:pt x="264" y="354"/>
                  <a:pt x="264" y="354"/>
                </a:cubicBezTo>
                <a:cubicBezTo>
                  <a:pt x="301" y="391"/>
                  <a:pt x="301" y="391"/>
                  <a:pt x="301" y="391"/>
                </a:cubicBezTo>
                <a:cubicBezTo>
                  <a:pt x="296" y="409"/>
                  <a:pt x="300" y="429"/>
                  <a:pt x="315" y="443"/>
                </a:cubicBezTo>
                <a:cubicBezTo>
                  <a:pt x="367" y="496"/>
                  <a:pt x="367" y="496"/>
                  <a:pt x="367" y="496"/>
                </a:cubicBezTo>
                <a:cubicBezTo>
                  <a:pt x="389" y="517"/>
                  <a:pt x="422" y="517"/>
                  <a:pt x="443" y="497"/>
                </a:cubicBezTo>
                <a:cubicBezTo>
                  <a:pt x="464" y="476"/>
                  <a:pt x="464" y="442"/>
                  <a:pt x="443" y="421"/>
                </a:cubicBezTo>
                <a:cubicBezTo>
                  <a:pt x="390" y="368"/>
                  <a:pt x="390" y="368"/>
                  <a:pt x="390" y="368"/>
                </a:cubicBezTo>
                <a:cubicBezTo>
                  <a:pt x="376" y="354"/>
                  <a:pt x="356" y="349"/>
                  <a:pt x="338" y="354"/>
                </a:cubicBezTo>
                <a:cubicBezTo>
                  <a:pt x="301" y="318"/>
                  <a:pt x="301" y="318"/>
                  <a:pt x="301" y="318"/>
                </a:cubicBezTo>
                <a:cubicBezTo>
                  <a:pt x="325" y="294"/>
                  <a:pt x="325" y="294"/>
                  <a:pt x="325" y="294"/>
                </a:cubicBezTo>
                <a:cubicBezTo>
                  <a:pt x="375" y="307"/>
                  <a:pt x="430" y="294"/>
                  <a:pt x="468" y="255"/>
                </a:cubicBezTo>
                <a:cubicBezTo>
                  <a:pt x="495" y="229"/>
                  <a:pt x="510" y="196"/>
                  <a:pt x="512" y="161"/>
                </a:cubicBezTo>
                <a:cubicBezTo>
                  <a:pt x="512" y="160"/>
                  <a:pt x="512" y="160"/>
                  <a:pt x="512" y="160"/>
                </a:cubicBezTo>
                <a:cubicBezTo>
                  <a:pt x="512" y="148"/>
                  <a:pt x="502" y="139"/>
                  <a:pt x="491" y="139"/>
                </a:cubicBezTo>
                <a:cubicBezTo>
                  <a:pt x="485" y="139"/>
                  <a:pt x="479" y="141"/>
                  <a:pt x="475" y="145"/>
                </a:cubicBezTo>
                <a:cubicBezTo>
                  <a:pt x="469" y="151"/>
                  <a:pt x="469" y="151"/>
                  <a:pt x="469" y="151"/>
                </a:cubicBezTo>
                <a:cubicBezTo>
                  <a:pt x="448" y="172"/>
                  <a:pt x="448" y="172"/>
                  <a:pt x="448" y="172"/>
                </a:cubicBezTo>
                <a:cubicBezTo>
                  <a:pt x="434" y="185"/>
                  <a:pt x="415" y="193"/>
                  <a:pt x="394" y="193"/>
                </a:cubicBezTo>
                <a:cubicBezTo>
                  <a:pt x="373" y="193"/>
                  <a:pt x="355" y="184"/>
                  <a:pt x="341" y="171"/>
                </a:cubicBezTo>
                <a:cubicBezTo>
                  <a:pt x="328" y="157"/>
                  <a:pt x="319" y="139"/>
                  <a:pt x="319" y="118"/>
                </a:cubicBezTo>
                <a:cubicBezTo>
                  <a:pt x="319" y="97"/>
                  <a:pt x="327" y="78"/>
                  <a:pt x="340" y="64"/>
                </a:cubicBezTo>
                <a:cubicBezTo>
                  <a:pt x="361" y="43"/>
                  <a:pt x="361" y="43"/>
                  <a:pt x="361" y="43"/>
                </a:cubicBezTo>
                <a:cubicBezTo>
                  <a:pt x="367" y="37"/>
                  <a:pt x="367" y="37"/>
                  <a:pt x="367" y="37"/>
                </a:cubicBezTo>
                <a:cubicBezTo>
                  <a:pt x="371" y="33"/>
                  <a:pt x="373" y="27"/>
                  <a:pt x="373" y="21"/>
                </a:cubicBezTo>
                <a:cubicBezTo>
                  <a:pt x="373" y="10"/>
                  <a:pt x="364" y="0"/>
                  <a:pt x="352" y="0"/>
                </a:cubicBezTo>
                <a:cubicBezTo>
                  <a:pt x="351" y="0"/>
                  <a:pt x="351" y="0"/>
                  <a:pt x="351" y="0"/>
                </a:cubicBezTo>
                <a:cubicBezTo>
                  <a:pt x="316" y="2"/>
                  <a:pt x="283" y="17"/>
                  <a:pt x="257" y="44"/>
                </a:cubicBezTo>
                <a:cubicBezTo>
                  <a:pt x="218" y="82"/>
                  <a:pt x="205" y="138"/>
                  <a:pt x="218" y="187"/>
                </a:cubicBezTo>
                <a:cubicBezTo>
                  <a:pt x="194" y="211"/>
                  <a:pt x="194" y="211"/>
                  <a:pt x="194" y="211"/>
                </a:cubicBezTo>
                <a:cubicBezTo>
                  <a:pt x="96" y="112"/>
                  <a:pt x="96" y="112"/>
                  <a:pt x="96" y="112"/>
                </a:cubicBezTo>
                <a:cubicBezTo>
                  <a:pt x="96" y="85"/>
                  <a:pt x="96" y="85"/>
                  <a:pt x="96" y="85"/>
                </a:cubicBezTo>
                <a:cubicBezTo>
                  <a:pt x="32" y="53"/>
                  <a:pt x="32" y="53"/>
                  <a:pt x="32" y="53"/>
                </a:cubicBezTo>
                <a:cubicBezTo>
                  <a:pt x="0" y="85"/>
                  <a:pt x="0" y="85"/>
                  <a:pt x="0" y="85"/>
                </a:cubicBezTo>
                <a:cubicBezTo>
                  <a:pt x="32" y="149"/>
                  <a:pt x="32" y="149"/>
                  <a:pt x="32" y="149"/>
                </a:cubicBezTo>
                <a:cubicBezTo>
                  <a:pt x="59" y="149"/>
                  <a:pt x="59" y="149"/>
                  <a:pt x="59" y="149"/>
                </a:cubicBezTo>
                <a:cubicBezTo>
                  <a:pt x="157" y="248"/>
                  <a:pt x="157" y="248"/>
                  <a:pt x="157" y="248"/>
                </a:cubicBezTo>
                <a:cubicBezTo>
                  <a:pt x="21" y="384"/>
                  <a:pt x="21" y="384"/>
                  <a:pt x="21" y="384"/>
                </a:cubicBezTo>
                <a:cubicBezTo>
                  <a:pt x="8" y="398"/>
                  <a:pt x="0" y="417"/>
                  <a:pt x="0" y="437"/>
                </a:cubicBezTo>
                <a:close/>
                <a:moveTo>
                  <a:pt x="53" y="432"/>
                </a:moveTo>
                <a:cubicBezTo>
                  <a:pt x="53" y="417"/>
                  <a:pt x="65" y="405"/>
                  <a:pt x="80" y="405"/>
                </a:cubicBezTo>
                <a:cubicBezTo>
                  <a:pt x="95" y="405"/>
                  <a:pt x="107" y="417"/>
                  <a:pt x="107" y="432"/>
                </a:cubicBezTo>
                <a:cubicBezTo>
                  <a:pt x="107" y="447"/>
                  <a:pt x="95" y="459"/>
                  <a:pt x="80" y="459"/>
                </a:cubicBezTo>
                <a:cubicBezTo>
                  <a:pt x="65" y="459"/>
                  <a:pt x="53" y="447"/>
                  <a:pt x="53" y="432"/>
                </a:cubicBezTo>
                <a:close/>
              </a:path>
            </a:pathLst>
          </a:custGeom>
          <a:solidFill>
            <a:schemeClr val="bg1">
              <a:lumMod val="95000"/>
            </a:schemeClr>
          </a:solidFill>
          <a:ln>
            <a:noFill/>
          </a:ln>
        </p:spPr>
        <p:txBody>
          <a:bodyPr vert="horz" wrap="square" lIns="68580" tIns="34290" rIns="68580" bIns="34290" numCol="1" anchor="t" anchorCtr="0" compatLnSpc="1"/>
          <a:lstStyle/>
          <a:p>
            <a:endParaRPr lang="zh-CN" altLang="en-US" sz="1350">
              <a:solidFill>
                <a:srgbClr val="2E2E2E"/>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Click="0">
        <p:random/>
      </p:transition>
    </mc:Choice>
    <mc:Fallback>
      <p:transition spd="slow" advClick="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anim calcmode="lin" valueType="num">
                                      <p:cBhvr>
                                        <p:cTn id="8" dur="1000" fill="hold"/>
                                        <p:tgtEl>
                                          <p:spTgt spid="75"/>
                                        </p:tgtEl>
                                        <p:attrNameLst>
                                          <p:attrName>ppt_x</p:attrName>
                                        </p:attrNameLst>
                                      </p:cBhvr>
                                      <p:tavLst>
                                        <p:tav tm="0">
                                          <p:val>
                                            <p:strVal val="#ppt_x"/>
                                          </p:val>
                                        </p:tav>
                                        <p:tav tm="100000">
                                          <p:val>
                                            <p:strVal val="#ppt_x"/>
                                          </p:val>
                                        </p:tav>
                                      </p:tavLst>
                                    </p:anim>
                                    <p:anim calcmode="lin" valueType="num">
                                      <p:cBhvr>
                                        <p:cTn id="9" dur="1000" fill="hold"/>
                                        <p:tgtEl>
                                          <p:spTgt spid="7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arn(outVertical)">
                                      <p:cBhvr>
                                        <p:cTn id="13" dur="500"/>
                                        <p:tgtEl>
                                          <p:spTgt spid="60"/>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100"/>
                                        </p:tgtEl>
                                        <p:attrNameLst>
                                          <p:attrName>style.visibility</p:attrName>
                                        </p:attrNameLst>
                                      </p:cBhvr>
                                      <p:to>
                                        <p:strVal val="visible"/>
                                      </p:to>
                                    </p:set>
                                    <p:animEffect transition="in" filter="wipe(left)">
                                      <p:cBhvr>
                                        <p:cTn id="21" dur="500"/>
                                        <p:tgtEl>
                                          <p:spTgt spid="100"/>
                                        </p:tgtEl>
                                      </p:cBhvr>
                                    </p:animEffect>
                                  </p:childTnLst>
                                </p:cTn>
                              </p:par>
                              <p:par>
                                <p:cTn id="22" presetID="47" presetClass="entr" presetSubtype="0" fill="hold" grpId="0" nodeType="with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fade">
                                      <p:cBhvr>
                                        <p:cTn id="24" dur="1000"/>
                                        <p:tgtEl>
                                          <p:spTgt spid="61"/>
                                        </p:tgtEl>
                                      </p:cBhvr>
                                    </p:animEffect>
                                    <p:anim calcmode="lin" valueType="num">
                                      <p:cBhvr>
                                        <p:cTn id="25" dur="1000" fill="hold"/>
                                        <p:tgtEl>
                                          <p:spTgt spid="61"/>
                                        </p:tgtEl>
                                        <p:attrNameLst>
                                          <p:attrName>ppt_x</p:attrName>
                                        </p:attrNameLst>
                                      </p:cBhvr>
                                      <p:tavLst>
                                        <p:tav tm="0">
                                          <p:val>
                                            <p:strVal val="#ppt_x"/>
                                          </p:val>
                                        </p:tav>
                                        <p:tav tm="100000">
                                          <p:val>
                                            <p:strVal val="#ppt_x"/>
                                          </p:val>
                                        </p:tav>
                                      </p:tavLst>
                                    </p:anim>
                                    <p:anim calcmode="lin" valueType="num">
                                      <p:cBhvr>
                                        <p:cTn id="26" dur="1000" fill="hold"/>
                                        <p:tgtEl>
                                          <p:spTgt spid="61"/>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1000"/>
                                        <p:tgtEl>
                                          <p:spTgt spid="62"/>
                                        </p:tgtEl>
                                      </p:cBhvr>
                                    </p:animEffect>
                                    <p:anim calcmode="lin" valueType="num">
                                      <p:cBhvr>
                                        <p:cTn id="30" dur="1000" fill="hold"/>
                                        <p:tgtEl>
                                          <p:spTgt spid="62"/>
                                        </p:tgtEl>
                                        <p:attrNameLst>
                                          <p:attrName>ppt_x</p:attrName>
                                        </p:attrNameLst>
                                      </p:cBhvr>
                                      <p:tavLst>
                                        <p:tav tm="0">
                                          <p:val>
                                            <p:strVal val="#ppt_x"/>
                                          </p:val>
                                        </p:tav>
                                        <p:tav tm="100000">
                                          <p:val>
                                            <p:strVal val="#ppt_x"/>
                                          </p:val>
                                        </p:tav>
                                      </p:tavLst>
                                    </p:anim>
                                    <p:anim calcmode="lin" valueType="num">
                                      <p:cBhvr>
                                        <p:cTn id="31" dur="1000" fill="hold"/>
                                        <p:tgtEl>
                                          <p:spTgt spid="62"/>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74"/>
                                        </p:tgtEl>
                                        <p:attrNameLst>
                                          <p:attrName>style.visibility</p:attrName>
                                        </p:attrNameLst>
                                      </p:cBhvr>
                                      <p:to>
                                        <p:strVal val="visible"/>
                                      </p:to>
                                    </p:set>
                                    <p:animEffect transition="in" filter="fade">
                                      <p:cBhvr>
                                        <p:cTn id="34" dur="1000"/>
                                        <p:tgtEl>
                                          <p:spTgt spid="74"/>
                                        </p:tgtEl>
                                      </p:cBhvr>
                                    </p:animEffect>
                                    <p:anim calcmode="lin" valueType="num">
                                      <p:cBhvr>
                                        <p:cTn id="35" dur="1000" fill="hold"/>
                                        <p:tgtEl>
                                          <p:spTgt spid="74"/>
                                        </p:tgtEl>
                                        <p:attrNameLst>
                                          <p:attrName>ppt_x</p:attrName>
                                        </p:attrNameLst>
                                      </p:cBhvr>
                                      <p:tavLst>
                                        <p:tav tm="0">
                                          <p:val>
                                            <p:strVal val="#ppt_x"/>
                                          </p:val>
                                        </p:tav>
                                        <p:tav tm="100000">
                                          <p:val>
                                            <p:strVal val="#ppt_x"/>
                                          </p:val>
                                        </p:tav>
                                      </p:tavLst>
                                    </p:anim>
                                    <p:anim calcmode="lin" valueType="num">
                                      <p:cBhvr>
                                        <p:cTn id="36" dur="1000" fill="hold"/>
                                        <p:tgtEl>
                                          <p:spTgt spid="74"/>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1000"/>
                                        <p:tgtEl>
                                          <p:spTgt spid="71"/>
                                        </p:tgtEl>
                                      </p:cBhvr>
                                    </p:animEffect>
                                    <p:anim calcmode="lin" valueType="num">
                                      <p:cBhvr>
                                        <p:cTn id="40" dur="1000" fill="hold"/>
                                        <p:tgtEl>
                                          <p:spTgt spid="71"/>
                                        </p:tgtEl>
                                        <p:attrNameLst>
                                          <p:attrName>ppt_x</p:attrName>
                                        </p:attrNameLst>
                                      </p:cBhvr>
                                      <p:tavLst>
                                        <p:tav tm="0">
                                          <p:val>
                                            <p:strVal val="#ppt_x"/>
                                          </p:val>
                                        </p:tav>
                                        <p:tav tm="100000">
                                          <p:val>
                                            <p:strVal val="#ppt_x"/>
                                          </p:val>
                                        </p:tav>
                                      </p:tavLst>
                                    </p:anim>
                                    <p:anim calcmode="lin" valueType="num">
                                      <p:cBhvr>
                                        <p:cTn id="41" dur="1000" fill="hold"/>
                                        <p:tgtEl>
                                          <p:spTgt spid="71"/>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106"/>
                                        </p:tgtEl>
                                        <p:attrNameLst>
                                          <p:attrName>style.visibility</p:attrName>
                                        </p:attrNameLst>
                                      </p:cBhvr>
                                      <p:to>
                                        <p:strVal val="visible"/>
                                      </p:to>
                                    </p:set>
                                    <p:animEffect transition="in" filter="fade">
                                      <p:cBhvr>
                                        <p:cTn id="44" dur="1000"/>
                                        <p:tgtEl>
                                          <p:spTgt spid="106"/>
                                        </p:tgtEl>
                                      </p:cBhvr>
                                    </p:animEffect>
                                    <p:anim calcmode="lin" valueType="num">
                                      <p:cBhvr>
                                        <p:cTn id="45" dur="1000" fill="hold"/>
                                        <p:tgtEl>
                                          <p:spTgt spid="106"/>
                                        </p:tgtEl>
                                        <p:attrNameLst>
                                          <p:attrName>ppt_x</p:attrName>
                                        </p:attrNameLst>
                                      </p:cBhvr>
                                      <p:tavLst>
                                        <p:tav tm="0">
                                          <p:val>
                                            <p:strVal val="#ppt_x"/>
                                          </p:val>
                                        </p:tav>
                                        <p:tav tm="100000">
                                          <p:val>
                                            <p:strVal val="#ppt_x"/>
                                          </p:val>
                                        </p:tav>
                                      </p:tavLst>
                                    </p:anim>
                                    <p:anim calcmode="lin" valueType="num">
                                      <p:cBhvr>
                                        <p:cTn id="46" dur="1000" fill="hold"/>
                                        <p:tgtEl>
                                          <p:spTgt spid="106"/>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107"/>
                                        </p:tgtEl>
                                        <p:attrNameLst>
                                          <p:attrName>style.visibility</p:attrName>
                                        </p:attrNameLst>
                                      </p:cBhvr>
                                      <p:to>
                                        <p:strVal val="visible"/>
                                      </p:to>
                                    </p:set>
                                    <p:animEffect transition="in" filter="fade">
                                      <p:cBhvr>
                                        <p:cTn id="49" dur="1000"/>
                                        <p:tgtEl>
                                          <p:spTgt spid="107"/>
                                        </p:tgtEl>
                                      </p:cBhvr>
                                    </p:animEffect>
                                    <p:anim calcmode="lin" valueType="num">
                                      <p:cBhvr>
                                        <p:cTn id="50" dur="1000" fill="hold"/>
                                        <p:tgtEl>
                                          <p:spTgt spid="107"/>
                                        </p:tgtEl>
                                        <p:attrNameLst>
                                          <p:attrName>ppt_x</p:attrName>
                                        </p:attrNameLst>
                                      </p:cBhvr>
                                      <p:tavLst>
                                        <p:tav tm="0">
                                          <p:val>
                                            <p:strVal val="#ppt_x"/>
                                          </p:val>
                                        </p:tav>
                                        <p:tav tm="100000">
                                          <p:val>
                                            <p:strVal val="#ppt_x"/>
                                          </p:val>
                                        </p:tav>
                                      </p:tavLst>
                                    </p:anim>
                                    <p:anim calcmode="lin" valueType="num">
                                      <p:cBhvr>
                                        <p:cTn id="51"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59" grpId="0" animBg="1"/>
      <p:bldP spid="61" grpId="0"/>
      <p:bldP spid="62" grpId="0"/>
      <p:bldP spid="74" grpId="0"/>
      <p:bldP spid="71" grpId="0"/>
      <p:bldP spid="106" grpId="0"/>
      <p:bldP spid="10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p:cNvGrpSpPr/>
          <p:nvPr/>
        </p:nvGrpSpPr>
        <p:grpSpPr>
          <a:xfrm>
            <a:off x="170320" y="143033"/>
            <a:ext cx="3127937" cy="646331"/>
            <a:chOff x="169526" y="143033"/>
            <a:chExt cx="3127937" cy="646331"/>
          </a:xfrm>
        </p:grpSpPr>
        <p:sp>
          <p:nvSpPr>
            <p:cNvPr id="4" name="TextBox 3"/>
            <p:cNvSpPr txBox="1"/>
            <p:nvPr/>
          </p:nvSpPr>
          <p:spPr>
            <a:xfrm>
              <a:off x="897235" y="143033"/>
              <a:ext cx="2400228"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引 言</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flipH="1">
            <a:off x="6744072" y="6245020"/>
            <a:ext cx="4921058" cy="0"/>
          </a:xfrm>
          <a:prstGeom prst="line">
            <a:avLst/>
          </a:prstGeom>
          <a:ln>
            <a:solidFill>
              <a:srgbClr val="1E6787"/>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6096000" y="5664640"/>
            <a:ext cx="504056" cy="504056"/>
            <a:chOff x="11207774" y="442662"/>
            <a:chExt cx="504056" cy="504056"/>
          </a:xfrm>
          <a:effectLst>
            <a:outerShdw blurRad="50800" dist="38100" dir="5400000" algn="t" rotWithShape="0">
              <a:prstClr val="black">
                <a:alpha val="40000"/>
              </a:prstClr>
            </a:outerShdw>
          </a:effectLst>
        </p:grpSpPr>
        <p:sp>
          <p:nvSpPr>
            <p:cNvPr id="49" name="椭圆 48"/>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0" name="椭圆 49"/>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sp>
        <p:nvSpPr>
          <p:cNvPr id="51" name="矩形 50"/>
          <p:cNvSpPr/>
          <p:nvPr/>
        </p:nvSpPr>
        <p:spPr>
          <a:xfrm>
            <a:off x="6953184" y="5649697"/>
            <a:ext cx="4071062" cy="662554"/>
          </a:xfrm>
          <a:prstGeom prst="rect">
            <a:avLst/>
          </a:prstGeom>
        </p:spPr>
        <p:txBody>
          <a:bodyPr wrap="non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800" b="1" kern="100" dirty="0" smtClean="0">
                <a:solidFill>
                  <a:srgbClr val="1E6787"/>
                </a:solidFill>
                <a:latin typeface="微软雅黑" panose="020B0503020204020204" pitchFamily="34" charset="-122"/>
                <a:ea typeface="微软雅黑" panose="020B0503020204020204" pitchFamily="34" charset="-122"/>
                <a:cs typeface="Times New Roman" panose="02020603050405020304" pitchFamily="18" charset="0"/>
              </a:rPr>
              <a:t>科学</a:t>
            </a:r>
            <a:r>
              <a:rPr lang="zh-CN" altLang="en-US" sz="2800" b="1" kern="100" dirty="0">
                <a:solidFill>
                  <a:srgbClr val="1E6787"/>
                </a:solidFill>
                <a:latin typeface="微软雅黑" panose="020B0503020204020204" pitchFamily="34" charset="-122"/>
                <a:ea typeface="微软雅黑" panose="020B0503020204020204" pitchFamily="34" charset="-122"/>
                <a:cs typeface="Times New Roman" panose="02020603050405020304" pitchFamily="18" charset="0"/>
              </a:rPr>
              <a:t>计算</a:t>
            </a:r>
            <a:r>
              <a:rPr lang="zh-CN" altLang="en-US" sz="2800" b="1" kern="100" dirty="0" smtClean="0">
                <a:solidFill>
                  <a:srgbClr val="1E6787"/>
                </a:solidFill>
                <a:latin typeface="微软雅黑" panose="020B0503020204020204" pitchFamily="34" charset="-122"/>
                <a:ea typeface="微软雅黑" panose="020B0503020204020204" pitchFamily="34" charset="-122"/>
                <a:cs typeface="Times New Roman" panose="02020603050405020304" pitchFamily="18" charset="0"/>
              </a:rPr>
              <a:t>基础</a:t>
            </a:r>
            <a:endParaRPr lang="zh-CN" altLang="zh-CN" sz="2800" b="1" kern="100" dirty="0">
              <a:solidFill>
                <a:srgbClr val="1E6787"/>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TextBox 2"/>
          <p:cNvSpPr txBox="1">
            <a:spLocks noChangeArrowheads="1"/>
          </p:cNvSpPr>
          <p:nvPr/>
        </p:nvSpPr>
        <p:spPr bwMode="auto">
          <a:xfrm>
            <a:off x="877725" y="1088358"/>
            <a:ext cx="9531388"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Arial" panose="020B0604020202020204" pitchFamily="34" charset="0"/>
              <a:buChar char="•"/>
            </a:pPr>
            <a:r>
              <a:rPr lang="zh-CN" altLang="en-US" sz="2800" dirty="0" smtClean="0">
                <a:solidFill>
                  <a:schemeClr val="accent4"/>
                </a:solidFill>
                <a:latin typeface="微软雅黑" panose="020B0503020204020204" pitchFamily="34" charset="-122"/>
                <a:ea typeface="微软雅黑" panose="020B0503020204020204" pitchFamily="34" charset="-122"/>
              </a:rPr>
              <a:t>科学</a:t>
            </a:r>
            <a:r>
              <a:rPr lang="zh-CN" altLang="en-US" sz="2800" dirty="0">
                <a:solidFill>
                  <a:schemeClr val="accent4"/>
                </a:solidFill>
                <a:latin typeface="微软雅黑" panose="020B0503020204020204" pitchFamily="34" charset="-122"/>
                <a:ea typeface="微软雅黑" panose="020B0503020204020204" pitchFamily="34" charset="-122"/>
              </a:rPr>
              <a:t>计算即是数值计算，科学计算是指应用计算机处理科学研究和工程技术中所遇到的数学</a:t>
            </a:r>
            <a:r>
              <a:rPr lang="zh-CN" altLang="en-US" sz="2800" dirty="0" smtClean="0">
                <a:solidFill>
                  <a:schemeClr val="accent4"/>
                </a:solidFill>
                <a:latin typeface="微软雅黑" panose="020B0503020204020204" pitchFamily="34" charset="-122"/>
                <a:ea typeface="微软雅黑" panose="020B0503020204020204" pitchFamily="34" charset="-122"/>
              </a:rPr>
              <a:t>计算。</a:t>
            </a:r>
            <a:endParaRPr lang="en-US" altLang="zh-CN" sz="2800" dirty="0">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zh-CN" altLang="en-US" sz="2800" dirty="0">
                <a:solidFill>
                  <a:schemeClr val="accent4"/>
                </a:solidFill>
                <a:latin typeface="微软雅黑" panose="020B0503020204020204" pitchFamily="34" charset="-122"/>
                <a:ea typeface="微软雅黑" panose="020B0503020204020204" pitchFamily="34" charset="-122"/>
              </a:rPr>
              <a:t>开展基本的科学计算一般分为两个步骤</a:t>
            </a:r>
            <a:r>
              <a:rPr lang="zh-CN" altLang="en-US" sz="2800" dirty="0" smtClean="0">
                <a:solidFill>
                  <a:schemeClr val="accent4"/>
                </a:solidFill>
                <a:latin typeface="微软雅黑" panose="020B0503020204020204" pitchFamily="34" charset="-122"/>
                <a:ea typeface="微软雅黑" panose="020B0503020204020204" pitchFamily="34" charset="-122"/>
              </a:rPr>
              <a:t>：</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marL="1371600" lvl="2" indent="-457200" algn="just">
              <a:lnSpc>
                <a:spcPct val="150000"/>
              </a:lnSpc>
              <a:buFont typeface="Wingdings" panose="05000000000000000000" pitchFamily="2" charset="2"/>
              <a:buChar char="u"/>
            </a:pPr>
            <a:r>
              <a:rPr lang="zh-CN" altLang="en-US" sz="2800" dirty="0">
                <a:solidFill>
                  <a:schemeClr val="accent4"/>
                </a:solidFill>
                <a:latin typeface="微软雅黑" panose="020B0503020204020204" pitchFamily="34" charset="-122"/>
                <a:ea typeface="微软雅黑" panose="020B0503020204020204" pitchFamily="34" charset="-122"/>
              </a:rPr>
              <a:t>组织数据：</a:t>
            </a:r>
            <a:r>
              <a:rPr lang="zh-CN" altLang="zh-CN" sz="2800" dirty="0"/>
              <a:t>开展科学计算的基础</a:t>
            </a:r>
            <a:endParaRPr lang="en-US" altLang="zh-CN" sz="2800" dirty="0">
              <a:solidFill>
                <a:schemeClr val="accent4"/>
              </a:solidFill>
              <a:latin typeface="微软雅黑" panose="020B0503020204020204" pitchFamily="34" charset="-122"/>
              <a:ea typeface="微软雅黑" panose="020B0503020204020204" pitchFamily="34" charset="-122"/>
            </a:endParaRPr>
          </a:p>
          <a:p>
            <a:pPr marL="1371600" lvl="2" indent="-457200" algn="just">
              <a:lnSpc>
                <a:spcPct val="150000"/>
              </a:lnSpc>
              <a:buFont typeface="Wingdings" panose="05000000000000000000" pitchFamily="2" charset="2"/>
              <a:buChar char="u"/>
            </a:pPr>
            <a:r>
              <a:rPr lang="zh-CN" altLang="en-US" sz="2800" dirty="0">
                <a:solidFill>
                  <a:schemeClr val="accent4"/>
                </a:solidFill>
                <a:latin typeface="微软雅黑" panose="020B0503020204020204" pitchFamily="34" charset="-122"/>
                <a:ea typeface="微软雅黑" panose="020B0503020204020204" pitchFamily="34" charset="-122"/>
              </a:rPr>
              <a:t>展示数据：</a:t>
            </a:r>
            <a:r>
              <a:rPr lang="zh-CN" altLang="zh-CN" sz="2800" dirty="0"/>
              <a:t>科学计算结果的一种直观展示</a:t>
            </a:r>
            <a:endParaRPr lang="en-US" altLang="zh-CN" sz="2800" dirty="0"/>
          </a:p>
          <a:p>
            <a:pPr lvl="1" algn="just">
              <a:lnSpc>
                <a:spcPct val="150000"/>
              </a:lnSpc>
              <a:buFont typeface="Arial" panose="020B0604020202020204" pitchFamily="34" charset="0"/>
              <a:buChar char="•"/>
            </a:pPr>
            <a:r>
              <a:rPr lang="en-US" altLang="zh-CN" sz="2800" dirty="0" smtClean="0">
                <a:solidFill>
                  <a:schemeClr val="accent4"/>
                </a:solidFill>
                <a:latin typeface="微软雅黑" panose="020B0503020204020204" pitchFamily="34" charset="-122"/>
                <a:ea typeface="微软雅黑" panose="020B0503020204020204" pitchFamily="34" charset="-122"/>
              </a:rPr>
              <a:t>   </a:t>
            </a:r>
            <a:r>
              <a:rPr lang="en-US" altLang="zh-CN" sz="2800" dirty="0" err="1" smtClean="0">
                <a:solidFill>
                  <a:schemeClr val="accent4"/>
                </a:solidFill>
                <a:latin typeface="微软雅黑" panose="020B0503020204020204" pitchFamily="34" charset="-122"/>
                <a:ea typeface="微软雅黑" panose="020B0503020204020204" pitchFamily="34" charset="-122"/>
              </a:rPr>
              <a:t>NumPy</a:t>
            </a:r>
            <a:r>
              <a:rPr lang="zh-CN" altLang="en-US" sz="2800" dirty="0" smtClean="0">
                <a:solidFill>
                  <a:schemeClr val="accent4"/>
                </a:solidFill>
                <a:latin typeface="微软雅黑" panose="020B0503020204020204" pitchFamily="34" charset="-122"/>
                <a:ea typeface="微软雅黑" panose="020B0503020204020204" pitchFamily="34" charset="-122"/>
              </a:rPr>
              <a:t>库负责组织数据</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en-US" altLang="zh-CN" sz="2800" dirty="0" smtClean="0">
                <a:solidFill>
                  <a:schemeClr val="accent4"/>
                </a:solidFill>
                <a:latin typeface="微软雅黑" panose="020B0503020204020204" pitchFamily="34" charset="-122"/>
                <a:ea typeface="微软雅黑" panose="020B0503020204020204" pitchFamily="34" charset="-122"/>
              </a:rPr>
              <a:t>   </a:t>
            </a:r>
            <a:r>
              <a:rPr lang="en-US" altLang="zh-CN" sz="2800" dirty="0" err="1" smtClean="0">
                <a:solidFill>
                  <a:schemeClr val="accent4"/>
                </a:solidFill>
                <a:latin typeface="微软雅黑" panose="020B0503020204020204" pitchFamily="34" charset="-122"/>
                <a:ea typeface="微软雅黑" panose="020B0503020204020204" pitchFamily="34" charset="-122"/>
              </a:rPr>
              <a:t>Matplotlib</a:t>
            </a:r>
            <a:r>
              <a:rPr lang="zh-CN" altLang="en-US" sz="2800" dirty="0" smtClean="0">
                <a:solidFill>
                  <a:schemeClr val="accent4"/>
                </a:solidFill>
                <a:latin typeface="微软雅黑" panose="020B0503020204020204" pitchFamily="34" charset="-122"/>
                <a:ea typeface="微软雅黑" panose="020B0503020204020204" pitchFamily="34" charset="-122"/>
              </a:rPr>
              <a:t>库负责展示数据</a:t>
            </a:r>
            <a:endParaRPr lang="zh-CN" altLang="zh-CN" sz="2800" dirty="0" smtClean="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23594" y="5049732"/>
            <a:ext cx="476250" cy="476250"/>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594" y="4456151"/>
            <a:ext cx="476250" cy="476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p:cTn id="11" dur="500" fill="hold"/>
                                        <p:tgtEl>
                                          <p:spTgt spid="48"/>
                                        </p:tgtEl>
                                        <p:attrNameLst>
                                          <p:attrName>ppt_w</p:attrName>
                                        </p:attrNameLst>
                                      </p:cBhvr>
                                      <p:tavLst>
                                        <p:tav tm="0">
                                          <p:val>
                                            <p:fltVal val="0"/>
                                          </p:val>
                                        </p:tav>
                                        <p:tav tm="100000">
                                          <p:val>
                                            <p:strVal val="#ppt_w"/>
                                          </p:val>
                                        </p:tav>
                                      </p:tavLst>
                                    </p:anim>
                                    <p:anim calcmode="lin" valueType="num">
                                      <p:cBhvr>
                                        <p:cTn id="12" dur="500" fill="hold"/>
                                        <p:tgtEl>
                                          <p:spTgt spid="48"/>
                                        </p:tgtEl>
                                        <p:attrNameLst>
                                          <p:attrName>ppt_h</p:attrName>
                                        </p:attrNameLst>
                                      </p:cBhvr>
                                      <p:tavLst>
                                        <p:tav tm="0">
                                          <p:val>
                                            <p:fltVal val="0"/>
                                          </p:val>
                                        </p:tav>
                                        <p:tav tm="100000">
                                          <p:val>
                                            <p:strVal val="#ppt_h"/>
                                          </p:val>
                                        </p:tav>
                                      </p:tavLst>
                                    </p:anim>
                                    <p:animEffect transition="in" filter="fade">
                                      <p:cBhvr>
                                        <p:cTn id="1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10" name="TextBox 1"/>
          <p:cNvSpPr txBox="1"/>
          <p:nvPr/>
        </p:nvSpPr>
        <p:spPr>
          <a:xfrm>
            <a:off x="3917593" y="2933114"/>
            <a:ext cx="4633000" cy="830997"/>
          </a:xfrm>
          <a:prstGeom prst="rect">
            <a:avLst/>
          </a:prstGeom>
          <a:noFill/>
        </p:spPr>
        <p:txBody>
          <a:bodyPr wrap="none" rtlCol="0">
            <a:spAutoFit/>
          </a:bodyPr>
          <a:lstStyle/>
          <a:p>
            <a:r>
              <a:rPr lang="en-US" altLang="zh-CN" sz="4800" b="1" dirty="0" err="1"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NumPy</a:t>
            </a:r>
            <a:r>
              <a:rPr lang="en-US" altLang="zh-CN" sz="48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 </a:t>
            </a:r>
            <a:r>
              <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库的使用</a:t>
            </a:r>
            <a:endParaRPr lang="zh-CN" altLang="en-US" sz="48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13" name="Group 5"/>
          <p:cNvGrpSpPr/>
          <p:nvPr/>
        </p:nvGrpSpPr>
        <p:grpSpPr>
          <a:xfrm>
            <a:off x="8825614" y="4241498"/>
            <a:ext cx="2169488" cy="2175406"/>
            <a:chOff x="5292553" y="3355717"/>
            <a:chExt cx="1711365" cy="2494000"/>
          </a:xfrm>
          <a:solidFill>
            <a:schemeClr val="bg1">
              <a:lumMod val="95000"/>
            </a:schemeClr>
          </a:solidFill>
        </p:grpSpPr>
        <p:sp>
          <p:nvSpPr>
            <p:cNvPr id="14"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15"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16"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17"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2"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5"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2"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39"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1"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3"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7"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9"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1"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2"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3"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4"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5"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6"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7"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8"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9"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0"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3" name="组合 2"/>
          <p:cNvGrpSpPr/>
          <p:nvPr/>
        </p:nvGrpSpPr>
        <p:grpSpPr>
          <a:xfrm>
            <a:off x="443983" y="1112313"/>
            <a:ext cx="1936868" cy="1936868"/>
            <a:chOff x="2572456" y="958222"/>
            <a:chExt cx="1936868" cy="1936868"/>
          </a:xfrm>
        </p:grpSpPr>
        <p:grpSp>
          <p:nvGrpSpPr>
            <p:cNvPr id="61" name="组合 60"/>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62" name="椭圆 61"/>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63" name="椭圆 62"/>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64" name="TextBox 1"/>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01</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65" name="组合 64"/>
          <p:cNvGrpSpPr/>
          <p:nvPr/>
        </p:nvGrpSpPr>
        <p:grpSpPr>
          <a:xfrm rot="5400000">
            <a:off x="7939470" y="-3214903"/>
            <a:ext cx="942183" cy="7462505"/>
            <a:chOff x="-11273" y="-594773"/>
            <a:chExt cx="719786" cy="7462505"/>
          </a:xfrm>
        </p:grpSpPr>
        <p:sp>
          <p:nvSpPr>
            <p:cNvPr id="66" name="等腰三角形 65"/>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等腰三角形 66"/>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等腰三角形 67"/>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等腰三角形 68"/>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等腰三角形 69"/>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等腰三角形 70"/>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等腰三角形 71"/>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3" name="等腰三角形 72"/>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等腰三角形 73"/>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8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10"/>
                                        </p:tgtEl>
                                        <p:attrNameLst>
                                          <p:attrName>ppt_y</p:attrName>
                                        </p:attrNameLst>
                                      </p:cBhvr>
                                      <p:tavLst>
                                        <p:tav tm="0">
                                          <p:val>
                                            <p:strVal val="#ppt_y"/>
                                          </p:val>
                                        </p:tav>
                                        <p:tav tm="100000">
                                          <p:val>
                                            <p:strVal val="#ppt_y"/>
                                          </p:val>
                                        </p:tav>
                                      </p:tavLst>
                                    </p:anim>
                                    <p:anim calcmode="lin" valueType="num">
                                      <p:cBhvr>
                                        <p:cTn id="9" dur="8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10"/>
                                        </p:tgtEl>
                                      </p:cBhvr>
                                    </p:animEffect>
                                  </p:childTnLst>
                                </p:cTn>
                              </p:par>
                            </p:childTnLst>
                          </p:cTn>
                        </p:par>
                        <p:par>
                          <p:cTn id="12" fill="hold">
                            <p:stCondLst>
                              <p:cond delay="1519"/>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2" name="组合 31"/>
          <p:cNvGrpSpPr/>
          <p:nvPr/>
        </p:nvGrpSpPr>
        <p:grpSpPr>
          <a:xfrm>
            <a:off x="170320" y="203448"/>
            <a:ext cx="7389579" cy="504056"/>
            <a:chOff x="169526" y="203448"/>
            <a:chExt cx="7488412" cy="504056"/>
          </a:xfrm>
        </p:grpSpPr>
        <p:sp>
          <p:nvSpPr>
            <p:cNvPr id="4" name="TextBox 3"/>
            <p:cNvSpPr txBox="1"/>
            <p:nvPr/>
          </p:nvSpPr>
          <p:spPr>
            <a:xfrm>
              <a:off x="781174" y="245839"/>
              <a:ext cx="6876764" cy="461665"/>
            </a:xfrm>
            <a:prstGeom prst="rect">
              <a:avLst/>
            </a:prstGeom>
            <a:noFill/>
          </p:spPr>
          <p:txBody>
            <a:bodyPr wrap="square" rtlCol="0">
              <a:spAutoFit/>
            </a:bodyPr>
            <a:lstStyle/>
            <a:p>
              <a:r>
                <a:rPr lang="zh-CN" altLang="en-US" sz="2400" b="1" spc="300" dirty="0" smtClean="0">
                  <a:solidFill>
                    <a:srgbClr val="1E6787"/>
                  </a:solidFill>
                  <a:latin typeface="微软雅黑" panose="020B0503020204020204" pitchFamily="34" charset="-122"/>
                  <a:ea typeface="微软雅黑" panose="020B0503020204020204" pitchFamily="34" charset="-122"/>
                </a:rPr>
                <a:t>核心</a:t>
              </a:r>
              <a:r>
                <a:rPr lang="zh-CN" altLang="en-US" sz="2400" b="1" spc="300" dirty="0">
                  <a:solidFill>
                    <a:srgbClr val="1E6787"/>
                  </a:solidFill>
                  <a:latin typeface="微软雅黑" panose="020B0503020204020204" pitchFamily="34" charset="-122"/>
                  <a:ea typeface="微软雅黑" panose="020B0503020204020204" pitchFamily="34" charset="-122"/>
                </a:rPr>
                <a:t>对象：</a:t>
              </a:r>
              <a:r>
                <a:rPr lang="en-US" altLang="zh-CN" sz="2400" b="1" spc="300" dirty="0">
                  <a:solidFill>
                    <a:srgbClr val="1E6787"/>
                  </a:solidFill>
                  <a:latin typeface="微软雅黑" panose="020B0503020204020204" pitchFamily="34" charset="-122"/>
                  <a:ea typeface="微软雅黑" panose="020B0503020204020204" pitchFamily="34" charset="-122"/>
                </a:rPr>
                <a:t>N</a:t>
              </a:r>
              <a:r>
                <a:rPr lang="zh-CN" altLang="en-US" sz="2400" b="1" spc="300" dirty="0">
                  <a:solidFill>
                    <a:srgbClr val="1E6787"/>
                  </a:solidFill>
                  <a:latin typeface="微软雅黑" panose="020B0503020204020204" pitchFamily="34" charset="-122"/>
                  <a:ea typeface="微软雅黑" panose="020B0503020204020204" pitchFamily="34" charset="-122"/>
                </a:rPr>
                <a:t>维数组（</a:t>
              </a:r>
              <a:r>
                <a:rPr lang="en-US" altLang="zh-CN" sz="2400" b="1" spc="300" dirty="0" err="1">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flipH="1">
            <a:off x="6744072" y="6245020"/>
            <a:ext cx="4921058" cy="0"/>
          </a:xfrm>
          <a:prstGeom prst="line">
            <a:avLst/>
          </a:prstGeom>
          <a:ln>
            <a:solidFill>
              <a:srgbClr val="1E6787"/>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6096000" y="5664640"/>
            <a:ext cx="504056" cy="504056"/>
            <a:chOff x="11207774" y="442662"/>
            <a:chExt cx="504056" cy="504056"/>
          </a:xfrm>
          <a:effectLst>
            <a:outerShdw blurRad="50800" dist="38100" dir="5400000" algn="t" rotWithShape="0">
              <a:prstClr val="black">
                <a:alpha val="40000"/>
              </a:prstClr>
            </a:outerShdw>
          </a:effectLst>
        </p:grpSpPr>
        <p:sp>
          <p:nvSpPr>
            <p:cNvPr id="49" name="椭圆 48"/>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0" name="椭圆 49"/>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sp>
        <p:nvSpPr>
          <p:cNvPr id="51" name="矩形 50"/>
          <p:cNvSpPr/>
          <p:nvPr/>
        </p:nvSpPr>
        <p:spPr>
          <a:xfrm>
            <a:off x="7106958" y="5664640"/>
            <a:ext cx="4071062" cy="662554"/>
          </a:xfrm>
          <a:prstGeom prst="rect">
            <a:avLst/>
          </a:prstGeom>
        </p:spPr>
        <p:txBody>
          <a:bodyPr wrap="non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800" b="1" kern="100" dirty="0" smtClean="0">
                <a:solidFill>
                  <a:srgbClr val="1E6787"/>
                </a:solidFill>
                <a:latin typeface="微软雅黑" panose="020B0503020204020204" pitchFamily="34" charset="-122"/>
                <a:ea typeface="微软雅黑" panose="020B0503020204020204" pitchFamily="34" charset="-122"/>
                <a:cs typeface="Times New Roman" panose="02020603050405020304" pitchFamily="18" charset="0"/>
              </a:rPr>
              <a:t>为什么需要数组</a:t>
            </a:r>
            <a:r>
              <a:rPr lang="en-US" altLang="zh-CN" sz="2800" b="1" kern="100" dirty="0" smtClean="0">
                <a:solidFill>
                  <a:srgbClr val="1E6787"/>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800" b="1" kern="100" dirty="0">
              <a:solidFill>
                <a:srgbClr val="1E6787"/>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TextBox 2"/>
          <p:cNvSpPr txBox="1">
            <a:spLocks noChangeArrowheads="1"/>
          </p:cNvSpPr>
          <p:nvPr/>
        </p:nvSpPr>
        <p:spPr bwMode="auto">
          <a:xfrm>
            <a:off x="877725" y="1088358"/>
            <a:ext cx="9531388"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Arial" panose="020B0604020202020204" pitchFamily="34" charset="0"/>
              <a:buChar char="•"/>
            </a:pPr>
            <a:r>
              <a:rPr lang="zh-CN" altLang="en-US" sz="2800" dirty="0">
                <a:solidFill>
                  <a:schemeClr val="accent4"/>
                </a:solidFill>
                <a:latin typeface="微软雅黑" panose="020B0503020204020204" pitchFamily="34" charset="-122"/>
                <a:ea typeface="微软雅黑" panose="020B0503020204020204" pitchFamily="34" charset="-122"/>
              </a:rPr>
              <a:t>假设：</a:t>
            </a:r>
            <a:r>
              <a:rPr lang="en-US" altLang="zh-CN" sz="2800" dirty="0">
                <a:solidFill>
                  <a:schemeClr val="accent4"/>
                </a:solidFill>
                <a:latin typeface="微软雅黑" panose="020B0503020204020204" pitchFamily="34" charset="-122"/>
                <a:ea typeface="微软雅黑" panose="020B0503020204020204" pitchFamily="34" charset="-122"/>
              </a:rPr>
              <a:t>A=[1,2,3,4]</a:t>
            </a:r>
            <a:r>
              <a:rPr lang="zh-CN" altLang="en-US" sz="2800" dirty="0">
                <a:solidFill>
                  <a:schemeClr val="accent4"/>
                </a:solidFill>
                <a:latin typeface="微软雅黑" panose="020B0503020204020204" pitchFamily="34" charset="-122"/>
                <a:ea typeface="微软雅黑" panose="020B0503020204020204" pitchFamily="34" charset="-122"/>
              </a:rPr>
              <a:t>，</a:t>
            </a:r>
            <a:r>
              <a:rPr lang="en-US" altLang="zh-CN" sz="2800" dirty="0">
                <a:solidFill>
                  <a:schemeClr val="accent4"/>
                </a:solidFill>
                <a:latin typeface="微软雅黑" panose="020B0503020204020204" pitchFamily="34" charset="-122"/>
                <a:ea typeface="微软雅黑" panose="020B0503020204020204" pitchFamily="34" charset="-122"/>
              </a:rPr>
              <a:t>B=[5,6,7,8]</a:t>
            </a:r>
            <a:r>
              <a:rPr lang="zh-CN" altLang="en-US" sz="2800" dirty="0">
                <a:solidFill>
                  <a:schemeClr val="accent4"/>
                </a:solidFill>
                <a:latin typeface="微软雅黑" panose="020B0503020204020204" pitchFamily="34" charset="-122"/>
                <a:ea typeface="微软雅黑" panose="020B0503020204020204" pitchFamily="34" charset="-122"/>
              </a:rPr>
              <a:t>，求</a:t>
            </a:r>
            <a:r>
              <a:rPr lang="en-US" altLang="zh-CN" sz="2800" dirty="0" smtClean="0">
                <a:solidFill>
                  <a:schemeClr val="accent4"/>
                </a:solidFill>
                <a:latin typeface="微软雅黑" panose="020B0503020204020204" pitchFamily="34" charset="-122"/>
                <a:ea typeface="微软雅黑" panose="020B0503020204020204" pitchFamily="34" charset="-122"/>
              </a:rPr>
              <a:t>C=A</a:t>
            </a:r>
            <a:r>
              <a:rPr lang="en-US" altLang="zh-CN" sz="2800" baseline="30000" dirty="0" smtClean="0">
                <a:solidFill>
                  <a:schemeClr val="accent4"/>
                </a:solidFill>
                <a:latin typeface="微软雅黑" panose="020B0503020204020204" pitchFamily="34" charset="-122"/>
                <a:ea typeface="微软雅黑" panose="020B0503020204020204" pitchFamily="34" charset="-122"/>
              </a:rPr>
              <a:t>2</a:t>
            </a:r>
            <a:r>
              <a:rPr lang="en-US" altLang="zh-CN" sz="2800" dirty="0" smtClean="0">
                <a:solidFill>
                  <a:schemeClr val="accent4"/>
                </a:solidFill>
                <a:latin typeface="微软雅黑" panose="020B0503020204020204" pitchFamily="34" charset="-122"/>
                <a:ea typeface="微软雅黑" panose="020B0503020204020204" pitchFamily="34" charset="-122"/>
              </a:rPr>
              <a:t>+B</a:t>
            </a:r>
            <a:r>
              <a:rPr lang="en-US" altLang="zh-CN" sz="2800" baseline="30000" dirty="0" smtClean="0">
                <a:solidFill>
                  <a:schemeClr val="accent4"/>
                </a:solidFill>
                <a:latin typeface="微软雅黑" panose="020B0503020204020204" pitchFamily="34" charset="-122"/>
                <a:ea typeface="微软雅黑" panose="020B0503020204020204" pitchFamily="34" charset="-122"/>
              </a:rPr>
              <a:t>3</a:t>
            </a:r>
            <a:endParaRPr lang="en-US" altLang="zh-CN" sz="2800" baseline="30000" dirty="0">
              <a:solidFill>
                <a:schemeClr val="accent4"/>
              </a:solidFill>
              <a:latin typeface="微软雅黑" panose="020B0503020204020204" pitchFamily="34" charset="-122"/>
              <a:ea typeface="微软雅黑" panose="020B0503020204020204" pitchFamily="34" charset="-122"/>
            </a:endParaRPr>
          </a:p>
        </p:txBody>
      </p:sp>
      <p:pic>
        <p:nvPicPr>
          <p:cNvPr id="1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9077" y="1936098"/>
            <a:ext cx="4338919" cy="24931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9362" y="1936097"/>
            <a:ext cx="4384382" cy="24931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
          <p:cNvSpPr txBox="1">
            <a:spLocks noChangeArrowheads="1"/>
          </p:cNvSpPr>
          <p:nvPr/>
        </p:nvSpPr>
        <p:spPr bwMode="auto">
          <a:xfrm>
            <a:off x="877725" y="4556776"/>
            <a:ext cx="9531388"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Arial" panose="020B0604020202020204" pitchFamily="34" charset="0"/>
              <a:buChar char="•"/>
            </a:pPr>
            <a:r>
              <a:rPr lang="zh-CN" altLang="en-US" sz="2800" dirty="0" smtClean="0">
                <a:solidFill>
                  <a:schemeClr val="accent4"/>
                </a:solidFill>
                <a:latin typeface="微软雅黑" panose="020B0503020204020204" pitchFamily="34" charset="-122"/>
                <a:ea typeface="微软雅黑" panose="020B0503020204020204" pitchFamily="34" charset="-122"/>
              </a:rPr>
              <a:t>一</a:t>
            </a:r>
            <a:r>
              <a:rPr lang="zh-CN" altLang="en-US" sz="2800" dirty="0">
                <a:solidFill>
                  <a:schemeClr val="accent4"/>
                </a:solidFill>
                <a:latin typeface="微软雅黑" panose="020B0503020204020204" pitchFamily="34" charset="-122"/>
                <a:ea typeface="微软雅黑" panose="020B0503020204020204" pitchFamily="34" charset="-122"/>
              </a:rPr>
              <a:t>组数据可以像单个变量一样计算</a:t>
            </a:r>
            <a:endParaRPr lang="zh-CN" altLang="en-US" sz="2800" dirty="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zh-CN" sz="2800" dirty="0">
              <a:solidFill>
                <a:schemeClr val="accent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p:cTn id="11" dur="500" fill="hold"/>
                                        <p:tgtEl>
                                          <p:spTgt spid="48"/>
                                        </p:tgtEl>
                                        <p:attrNameLst>
                                          <p:attrName>ppt_w</p:attrName>
                                        </p:attrNameLst>
                                      </p:cBhvr>
                                      <p:tavLst>
                                        <p:tav tm="0">
                                          <p:val>
                                            <p:fltVal val="0"/>
                                          </p:val>
                                        </p:tav>
                                        <p:tav tm="100000">
                                          <p:val>
                                            <p:strVal val="#ppt_w"/>
                                          </p:val>
                                        </p:tav>
                                      </p:tavLst>
                                    </p:anim>
                                    <p:anim calcmode="lin" valueType="num">
                                      <p:cBhvr>
                                        <p:cTn id="12" dur="500" fill="hold"/>
                                        <p:tgtEl>
                                          <p:spTgt spid="48"/>
                                        </p:tgtEl>
                                        <p:attrNameLst>
                                          <p:attrName>ppt_h</p:attrName>
                                        </p:attrNameLst>
                                      </p:cBhvr>
                                      <p:tavLst>
                                        <p:tav tm="0">
                                          <p:val>
                                            <p:fltVal val="0"/>
                                          </p:val>
                                        </p:tav>
                                        <p:tav tm="100000">
                                          <p:val>
                                            <p:strVal val="#ppt_h"/>
                                          </p:val>
                                        </p:tav>
                                      </p:tavLst>
                                    </p:anim>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arn(inVertical)">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arn(inVertical)">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1000"/>
                                        <p:tgtEl>
                                          <p:spTgt spid="26"/>
                                        </p:tgtEl>
                                      </p:cBhvr>
                                    </p:animEffect>
                                    <p:anim calcmode="lin" valueType="num">
                                      <p:cBhvr>
                                        <p:cTn id="29" dur="1000" fill="hold"/>
                                        <p:tgtEl>
                                          <p:spTgt spid="26"/>
                                        </p:tgtEl>
                                        <p:attrNameLst>
                                          <p:attrName>ppt_x</p:attrName>
                                        </p:attrNameLst>
                                      </p:cBhvr>
                                      <p:tavLst>
                                        <p:tav tm="0">
                                          <p:val>
                                            <p:strVal val="#ppt_x"/>
                                          </p:val>
                                        </p:tav>
                                        <p:tav tm="100000">
                                          <p:val>
                                            <p:strVal val="#ppt_x"/>
                                          </p:val>
                                        </p:tav>
                                      </p:tavLst>
                                    </p:anim>
                                    <p:anim calcmode="lin" valueType="num">
                                      <p:cBhvr>
                                        <p:cTn id="3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zh-CN" altLang="en-US" sz="2400" b="1" spc="300" dirty="0" smtClean="0">
                  <a:solidFill>
                    <a:srgbClr val="1E6787"/>
                  </a:solidFill>
                  <a:latin typeface="微软雅黑" panose="020B0503020204020204" pitchFamily="34" charset="-122"/>
                  <a:ea typeface="微软雅黑" panose="020B0503020204020204" pitchFamily="34" charset="-122"/>
                </a:rPr>
                <a:t>核心</a:t>
              </a:r>
              <a:r>
                <a:rPr lang="zh-CN" altLang="en-US" sz="2400" b="1" spc="300" dirty="0">
                  <a:solidFill>
                    <a:srgbClr val="1E6787"/>
                  </a:solidFill>
                  <a:latin typeface="微软雅黑" panose="020B0503020204020204" pitchFamily="34" charset="-122"/>
                  <a:ea typeface="微软雅黑" panose="020B0503020204020204" pitchFamily="34" charset="-122"/>
                </a:rPr>
                <a:t>对象：</a:t>
              </a:r>
              <a:r>
                <a:rPr lang="en-US" altLang="zh-CN" sz="2400" b="1" spc="300" dirty="0">
                  <a:solidFill>
                    <a:srgbClr val="1E6787"/>
                  </a:solidFill>
                  <a:latin typeface="微软雅黑" panose="020B0503020204020204" pitchFamily="34" charset="-122"/>
                  <a:ea typeface="微软雅黑" panose="020B0503020204020204" pitchFamily="34" charset="-122"/>
                </a:rPr>
                <a:t>N</a:t>
              </a:r>
              <a:r>
                <a:rPr lang="zh-CN" altLang="en-US" sz="2400" b="1" spc="300" dirty="0">
                  <a:solidFill>
                    <a:srgbClr val="1E6787"/>
                  </a:solidFill>
                  <a:latin typeface="微软雅黑" panose="020B0503020204020204" pitchFamily="34" charset="-122"/>
                  <a:ea typeface="微软雅黑" panose="020B0503020204020204" pitchFamily="34" charset="-122"/>
                </a:rPr>
                <a:t>维数组（</a:t>
              </a:r>
              <a:r>
                <a:rPr lang="en-US" altLang="zh-CN" sz="2400" b="1" spc="300" dirty="0" err="1">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8" name="TextBox 2"/>
          <p:cNvSpPr txBox="1">
            <a:spLocks noChangeArrowheads="1"/>
          </p:cNvSpPr>
          <p:nvPr/>
        </p:nvSpPr>
        <p:spPr bwMode="auto">
          <a:xfrm>
            <a:off x="768102" y="1088358"/>
            <a:ext cx="9531388"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Wingdings" panose="05000000000000000000" pitchFamily="2" charset="2"/>
              <a:buChar char="l"/>
            </a:pPr>
            <a:r>
              <a:rPr lang="en-US" altLang="zh-CN" sz="2800" dirty="0" err="1" smtClean="0">
                <a:solidFill>
                  <a:schemeClr val="accent4"/>
                </a:solidFill>
                <a:latin typeface="微软雅黑" panose="020B0503020204020204" pitchFamily="34" charset="-122"/>
                <a:ea typeface="微软雅黑" panose="020B0503020204020204" pitchFamily="34" charset="-122"/>
              </a:rPr>
              <a:t>NumPy</a:t>
            </a:r>
            <a:r>
              <a:rPr lang="zh-CN" altLang="en-US" sz="2800" dirty="0" smtClean="0">
                <a:solidFill>
                  <a:schemeClr val="accent4"/>
                </a:solidFill>
                <a:latin typeface="微软雅黑" panose="020B0503020204020204" pitchFamily="34" charset="-122"/>
                <a:ea typeface="微软雅黑" panose="020B0503020204020204" pitchFamily="34" charset="-122"/>
              </a:rPr>
              <a:t>中最基本的数据结构</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l"/>
            </a:pPr>
            <a:r>
              <a:rPr lang="zh-CN" altLang="en-US" sz="2800" dirty="0">
                <a:solidFill>
                  <a:schemeClr val="accent4"/>
                </a:solidFill>
                <a:latin typeface="微软雅黑" panose="020B0503020204020204" pitchFamily="34" charset="-122"/>
                <a:ea typeface="微软雅黑" panose="020B0503020204020204" pitchFamily="34" charset="-122"/>
              </a:rPr>
              <a:t>由同质元素</a:t>
            </a:r>
            <a:r>
              <a:rPr lang="zh-CN" altLang="en-US" sz="2800" dirty="0" smtClean="0">
                <a:solidFill>
                  <a:schemeClr val="accent4"/>
                </a:solidFill>
                <a:latin typeface="微软雅黑" panose="020B0503020204020204" pitchFamily="34" charset="-122"/>
                <a:ea typeface="微软雅黑" panose="020B0503020204020204" pitchFamily="34" charset="-122"/>
              </a:rPr>
              <a:t>组成</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l"/>
            </a:pPr>
            <a:r>
              <a:rPr lang="en-US" altLang="zh-CN" sz="2800" dirty="0" err="1" smtClean="0">
                <a:solidFill>
                  <a:schemeClr val="accent4"/>
                </a:solidFill>
                <a:latin typeface="微软雅黑" panose="020B0503020204020204" pitchFamily="34" charset="-122"/>
                <a:ea typeface="微软雅黑" panose="020B0503020204020204" pitchFamily="34" charset="-122"/>
              </a:rPr>
              <a:t>ndarry</a:t>
            </a:r>
            <a:r>
              <a:rPr lang="zh-CN" altLang="en-US" sz="2800" dirty="0" smtClean="0">
                <a:solidFill>
                  <a:schemeClr val="accent4"/>
                </a:solidFill>
                <a:latin typeface="微软雅黑" panose="020B0503020204020204" pitchFamily="34" charset="-122"/>
                <a:ea typeface="微软雅黑" panose="020B0503020204020204" pitchFamily="34" charset="-122"/>
              </a:rPr>
              <a:t>基本概念：</a:t>
            </a:r>
            <a:endParaRPr lang="en-US" altLang="zh-CN" sz="28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a:solidFill>
                  <a:schemeClr val="accent4"/>
                </a:solidFill>
                <a:latin typeface="微软雅黑" panose="020B0503020204020204" pitchFamily="34" charset="-122"/>
                <a:ea typeface="微软雅黑" panose="020B0503020204020204" pitchFamily="34" charset="-122"/>
              </a:rPr>
              <a:t>轴（</a:t>
            </a:r>
            <a:r>
              <a:rPr lang="en-US" altLang="zh-CN" sz="2400" dirty="0">
                <a:solidFill>
                  <a:schemeClr val="accent4"/>
                </a:solidFill>
                <a:latin typeface="微软雅黑" panose="020B0503020204020204" pitchFamily="34" charset="-122"/>
                <a:ea typeface="微软雅黑" panose="020B0503020204020204" pitchFamily="34" charset="-122"/>
              </a:rPr>
              <a:t>axes</a:t>
            </a:r>
            <a:r>
              <a:rPr lang="zh-CN" altLang="en-US" sz="2400" dirty="0">
                <a:solidFill>
                  <a:schemeClr val="accent4"/>
                </a:solidFill>
                <a:latin typeface="微软雅黑" panose="020B0503020204020204" pitchFamily="34" charset="-122"/>
                <a:ea typeface="微软雅黑" panose="020B0503020204020204" pitchFamily="34" charset="-122"/>
              </a:rPr>
              <a:t>）</a:t>
            </a:r>
            <a:r>
              <a:rPr lang="zh-CN" altLang="en-US" sz="2400" dirty="0" smtClean="0">
                <a:solidFill>
                  <a:schemeClr val="accent4"/>
                </a:solidFill>
                <a:latin typeface="微软雅黑" panose="020B0503020204020204" pitchFamily="34" charset="-122"/>
                <a:ea typeface="微软雅黑" panose="020B0503020204020204" pitchFamily="34" charset="-122"/>
              </a:rPr>
              <a:t>：数组</a:t>
            </a:r>
            <a:r>
              <a:rPr lang="zh-CN" altLang="en-US" sz="2400" dirty="0">
                <a:solidFill>
                  <a:schemeClr val="accent4"/>
                </a:solidFill>
                <a:latin typeface="微软雅黑" panose="020B0503020204020204" pitchFamily="34" charset="-122"/>
                <a:ea typeface="微软雅黑" panose="020B0503020204020204" pitchFamily="34" charset="-122"/>
              </a:rPr>
              <a:t>维度（</a:t>
            </a:r>
            <a:r>
              <a:rPr lang="en-US" altLang="zh-CN" sz="2400" dirty="0">
                <a:solidFill>
                  <a:schemeClr val="accent4"/>
                </a:solidFill>
                <a:latin typeface="微软雅黑" panose="020B0503020204020204" pitchFamily="34" charset="-122"/>
                <a:ea typeface="微软雅黑" panose="020B0503020204020204" pitchFamily="34" charset="-122"/>
              </a:rPr>
              <a:t>dimensions</a:t>
            </a:r>
            <a:r>
              <a:rPr lang="zh-CN" altLang="en-US" sz="2400" dirty="0">
                <a:solidFill>
                  <a:schemeClr val="accent4"/>
                </a:solidFill>
                <a:latin typeface="微软雅黑" panose="020B0503020204020204" pitchFamily="34" charset="-122"/>
                <a:ea typeface="微软雅黑" panose="020B0503020204020204" pitchFamily="34" charset="-122"/>
              </a:rPr>
              <a:t>）称为</a:t>
            </a:r>
            <a:r>
              <a:rPr lang="zh-CN" altLang="en-US" sz="2400" dirty="0" smtClean="0">
                <a:solidFill>
                  <a:schemeClr val="accent4"/>
                </a:solidFill>
                <a:latin typeface="微软雅黑" panose="020B0503020204020204" pitchFamily="34" charset="-122"/>
                <a:ea typeface="微软雅黑" panose="020B0503020204020204" pitchFamily="34" charset="-122"/>
              </a:rPr>
              <a:t>轴。</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秩</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rank</a:t>
            </a:r>
            <a:r>
              <a:rPr lang="zh-CN" altLang="en-US" sz="2400" dirty="0">
                <a:solidFill>
                  <a:schemeClr val="accent4"/>
                </a:solidFill>
                <a:latin typeface="微软雅黑" panose="020B0503020204020204" pitchFamily="34" charset="-122"/>
                <a:ea typeface="微软雅黑" panose="020B0503020204020204" pitchFamily="34" charset="-122"/>
              </a:rPr>
              <a:t>）：数组的</a:t>
            </a:r>
            <a:r>
              <a:rPr lang="zh-CN" altLang="en-US" sz="2400" dirty="0" smtClean="0">
                <a:solidFill>
                  <a:schemeClr val="accent4"/>
                </a:solidFill>
                <a:latin typeface="微软雅黑" panose="020B0503020204020204" pitchFamily="34" charset="-122"/>
                <a:ea typeface="微软雅黑" panose="020B0503020204020204" pitchFamily="34" charset="-122"/>
              </a:rPr>
              <a:t>维数。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大小</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size</a:t>
            </a:r>
            <a:r>
              <a:rPr lang="zh-CN" altLang="en-US" sz="2400" dirty="0">
                <a:solidFill>
                  <a:schemeClr val="accent4"/>
                </a:solidFill>
                <a:latin typeface="微软雅黑" panose="020B0503020204020204" pitchFamily="34" charset="-122"/>
                <a:ea typeface="微软雅黑" panose="020B0503020204020204" pitchFamily="34" charset="-122"/>
              </a:rPr>
              <a:t>）：数组的元素个数。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形状</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shape</a:t>
            </a:r>
            <a:r>
              <a:rPr lang="zh-CN" altLang="en-US" sz="2400" dirty="0">
                <a:solidFill>
                  <a:schemeClr val="accent4"/>
                </a:solidFill>
                <a:latin typeface="微软雅黑" panose="020B0503020204020204" pitchFamily="34" charset="-122"/>
                <a:ea typeface="微软雅黑" panose="020B0503020204020204" pitchFamily="34" charset="-122"/>
              </a:rPr>
              <a:t>）：数组的形状。</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类型</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err="1">
                <a:solidFill>
                  <a:schemeClr val="accent4"/>
                </a:solidFill>
                <a:latin typeface="微软雅黑" panose="020B0503020204020204" pitchFamily="34" charset="-122"/>
                <a:ea typeface="微软雅黑" panose="020B0503020204020204" pitchFamily="34" charset="-122"/>
              </a:rPr>
              <a:t>dtype</a:t>
            </a:r>
            <a:r>
              <a:rPr lang="zh-CN" altLang="en-US" sz="2400" dirty="0">
                <a:solidFill>
                  <a:schemeClr val="accent4"/>
                </a:solidFill>
                <a:latin typeface="微软雅黑" panose="020B0503020204020204" pitchFamily="34" charset="-122"/>
                <a:ea typeface="微软雅黑" panose="020B0503020204020204" pitchFamily="34" charset="-122"/>
              </a:rPr>
              <a:t>）：数组中元素的类型。</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元素</a:t>
            </a:r>
            <a:r>
              <a:rPr lang="zh-CN" altLang="en-US" sz="2400" dirty="0">
                <a:solidFill>
                  <a:schemeClr val="accent4"/>
                </a:solidFill>
                <a:latin typeface="微软雅黑" panose="020B0503020204020204" pitchFamily="34" charset="-122"/>
                <a:ea typeface="微软雅黑" panose="020B0503020204020204" pitchFamily="34" charset="-122"/>
              </a:rPr>
              <a:t>大小 （</a:t>
            </a:r>
            <a:r>
              <a:rPr lang="en-US" altLang="zh-CN" sz="2400" dirty="0" err="1">
                <a:solidFill>
                  <a:schemeClr val="accent4"/>
                </a:solidFill>
                <a:latin typeface="微软雅黑" panose="020B0503020204020204" pitchFamily="34" charset="-122"/>
                <a:ea typeface="微软雅黑" panose="020B0503020204020204" pitchFamily="34" charset="-122"/>
              </a:rPr>
              <a:t>itemsize</a:t>
            </a:r>
            <a:r>
              <a:rPr lang="zh-CN" altLang="en-US" sz="2400" dirty="0">
                <a:solidFill>
                  <a:schemeClr val="accent4"/>
                </a:solidFill>
                <a:latin typeface="微软雅黑" panose="020B0503020204020204" pitchFamily="34" charset="-122"/>
                <a:ea typeface="微软雅黑" panose="020B0503020204020204" pitchFamily="34" charset="-122"/>
              </a:rPr>
              <a:t>）：数组中元素占用的字节数。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zh-CN" sz="2800" dirty="0">
              <a:solidFill>
                <a:schemeClr val="accent4"/>
              </a:solidFill>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1">
            <a:clrChange>
              <a:clrFrom>
                <a:srgbClr val="FFFFFF"/>
              </a:clrFrom>
              <a:clrTo>
                <a:srgbClr val="FFFFFF">
                  <a:alpha val="0"/>
                </a:srgbClr>
              </a:clrTo>
            </a:clrChange>
          </a:blip>
          <a:stretch>
            <a:fillRect/>
          </a:stretch>
        </p:blipFill>
        <p:spPr>
          <a:xfrm>
            <a:off x="9144602" y="470028"/>
            <a:ext cx="1782686" cy="1762148"/>
          </a:xfrm>
          <a:prstGeom prst="rect">
            <a:avLst/>
          </a:prstGeom>
        </p:spPr>
      </p:pic>
      <p:pic>
        <p:nvPicPr>
          <p:cNvPr id="2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94146" y="2577282"/>
            <a:ext cx="2133142" cy="1898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zh-CN" altLang="en-US" sz="2400" b="1" spc="300" dirty="0" smtClean="0">
                  <a:solidFill>
                    <a:srgbClr val="1E6787"/>
                  </a:solidFill>
                  <a:latin typeface="微软雅黑" panose="020B0503020204020204" pitchFamily="34" charset="-122"/>
                  <a:ea typeface="微软雅黑" panose="020B0503020204020204" pitchFamily="34" charset="-122"/>
                </a:rPr>
                <a:t>核心</a:t>
              </a:r>
              <a:r>
                <a:rPr lang="zh-CN" altLang="en-US" sz="2400" b="1" spc="300" dirty="0">
                  <a:solidFill>
                    <a:srgbClr val="1E6787"/>
                  </a:solidFill>
                  <a:latin typeface="微软雅黑" panose="020B0503020204020204" pitchFamily="34" charset="-122"/>
                  <a:ea typeface="微软雅黑" panose="020B0503020204020204" pitchFamily="34" charset="-122"/>
                </a:rPr>
                <a:t>对象：</a:t>
              </a:r>
              <a:r>
                <a:rPr lang="en-US" altLang="zh-CN" sz="2400" b="1" spc="300" dirty="0">
                  <a:solidFill>
                    <a:srgbClr val="1E6787"/>
                  </a:solidFill>
                  <a:latin typeface="微软雅黑" panose="020B0503020204020204" pitchFamily="34" charset="-122"/>
                  <a:ea typeface="微软雅黑" panose="020B0503020204020204" pitchFamily="34" charset="-122"/>
                </a:rPr>
                <a:t>N</a:t>
              </a:r>
              <a:r>
                <a:rPr lang="zh-CN" altLang="en-US" sz="2400" b="1" spc="300" dirty="0">
                  <a:solidFill>
                    <a:srgbClr val="1E6787"/>
                  </a:solidFill>
                  <a:latin typeface="微软雅黑" panose="020B0503020204020204" pitchFamily="34" charset="-122"/>
                  <a:ea typeface="微软雅黑" panose="020B0503020204020204" pitchFamily="34" charset="-122"/>
                </a:rPr>
                <a:t>维数组（</a:t>
              </a:r>
              <a:r>
                <a:rPr lang="en-US" altLang="zh-CN" sz="2400" b="1" spc="300" dirty="0" err="1">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8" name="TextBox 2"/>
          <p:cNvSpPr txBox="1">
            <a:spLocks noChangeArrowheads="1"/>
          </p:cNvSpPr>
          <p:nvPr/>
        </p:nvSpPr>
        <p:spPr bwMode="auto">
          <a:xfrm>
            <a:off x="768102" y="1088358"/>
            <a:ext cx="9531388"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Wingdings" panose="05000000000000000000" pitchFamily="2" charset="2"/>
              <a:buChar char="l"/>
            </a:pPr>
            <a:r>
              <a:rPr lang="en-US" altLang="zh-CN" sz="2800" dirty="0" err="1" smtClean="0">
                <a:solidFill>
                  <a:schemeClr val="accent4"/>
                </a:solidFill>
                <a:latin typeface="微软雅黑" panose="020B0503020204020204" pitchFamily="34" charset="-122"/>
                <a:ea typeface="微软雅黑" panose="020B0503020204020204" pitchFamily="34" charset="-122"/>
              </a:rPr>
              <a:t>NumPy</a:t>
            </a:r>
            <a:r>
              <a:rPr lang="zh-CN" altLang="en-US" sz="2800" dirty="0" smtClean="0">
                <a:solidFill>
                  <a:schemeClr val="accent4"/>
                </a:solidFill>
                <a:latin typeface="微软雅黑" panose="020B0503020204020204" pitchFamily="34" charset="-122"/>
                <a:ea typeface="微软雅黑" panose="020B0503020204020204" pitchFamily="34" charset="-122"/>
              </a:rPr>
              <a:t>中最基本的数据结构</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l"/>
            </a:pPr>
            <a:r>
              <a:rPr lang="zh-CN" altLang="en-US" sz="2800" dirty="0">
                <a:solidFill>
                  <a:schemeClr val="accent4"/>
                </a:solidFill>
                <a:latin typeface="微软雅黑" panose="020B0503020204020204" pitchFamily="34" charset="-122"/>
                <a:ea typeface="微软雅黑" panose="020B0503020204020204" pitchFamily="34" charset="-122"/>
              </a:rPr>
              <a:t>由同质元素</a:t>
            </a:r>
            <a:r>
              <a:rPr lang="zh-CN" altLang="en-US" sz="2800" dirty="0" smtClean="0">
                <a:solidFill>
                  <a:schemeClr val="accent4"/>
                </a:solidFill>
                <a:latin typeface="微软雅黑" panose="020B0503020204020204" pitchFamily="34" charset="-122"/>
                <a:ea typeface="微软雅黑" panose="020B0503020204020204" pitchFamily="34" charset="-122"/>
              </a:rPr>
              <a:t>组成</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l"/>
            </a:pPr>
            <a:r>
              <a:rPr lang="en-US" altLang="zh-CN" sz="2800" dirty="0" err="1" smtClean="0">
                <a:solidFill>
                  <a:schemeClr val="accent4"/>
                </a:solidFill>
                <a:latin typeface="微软雅黑" panose="020B0503020204020204" pitchFamily="34" charset="-122"/>
                <a:ea typeface="微软雅黑" panose="020B0503020204020204" pitchFamily="34" charset="-122"/>
              </a:rPr>
              <a:t>ndarry</a:t>
            </a:r>
            <a:r>
              <a:rPr lang="zh-CN" altLang="en-US" sz="2800" dirty="0" smtClean="0">
                <a:solidFill>
                  <a:schemeClr val="accent4"/>
                </a:solidFill>
                <a:latin typeface="微软雅黑" panose="020B0503020204020204" pitchFamily="34" charset="-122"/>
                <a:ea typeface="微软雅黑" panose="020B0503020204020204" pitchFamily="34" charset="-122"/>
              </a:rPr>
              <a:t>基本概念：</a:t>
            </a:r>
            <a:endParaRPr lang="en-US" altLang="zh-CN" sz="28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a:solidFill>
                  <a:schemeClr val="accent4"/>
                </a:solidFill>
                <a:latin typeface="微软雅黑" panose="020B0503020204020204" pitchFamily="34" charset="-122"/>
                <a:ea typeface="微软雅黑" panose="020B0503020204020204" pitchFamily="34" charset="-122"/>
              </a:rPr>
              <a:t>轴（</a:t>
            </a:r>
            <a:r>
              <a:rPr lang="en-US" altLang="zh-CN" sz="2400" dirty="0">
                <a:solidFill>
                  <a:schemeClr val="accent4"/>
                </a:solidFill>
                <a:latin typeface="微软雅黑" panose="020B0503020204020204" pitchFamily="34" charset="-122"/>
                <a:ea typeface="微软雅黑" panose="020B0503020204020204" pitchFamily="34" charset="-122"/>
              </a:rPr>
              <a:t>axes</a:t>
            </a:r>
            <a:r>
              <a:rPr lang="zh-CN" altLang="en-US" sz="2400" dirty="0">
                <a:solidFill>
                  <a:schemeClr val="accent4"/>
                </a:solidFill>
                <a:latin typeface="微软雅黑" panose="020B0503020204020204" pitchFamily="34" charset="-122"/>
                <a:ea typeface="微软雅黑" panose="020B0503020204020204" pitchFamily="34" charset="-122"/>
              </a:rPr>
              <a:t>）</a:t>
            </a:r>
            <a:r>
              <a:rPr lang="zh-CN" altLang="en-US" sz="2400" dirty="0" smtClean="0">
                <a:solidFill>
                  <a:schemeClr val="accent4"/>
                </a:solidFill>
                <a:latin typeface="微软雅黑" panose="020B0503020204020204" pitchFamily="34" charset="-122"/>
                <a:ea typeface="微软雅黑" panose="020B0503020204020204" pitchFamily="34" charset="-122"/>
              </a:rPr>
              <a:t>：数组</a:t>
            </a:r>
            <a:r>
              <a:rPr lang="zh-CN" altLang="en-US" sz="2400" dirty="0">
                <a:solidFill>
                  <a:schemeClr val="accent4"/>
                </a:solidFill>
                <a:latin typeface="微软雅黑" panose="020B0503020204020204" pitchFamily="34" charset="-122"/>
                <a:ea typeface="微软雅黑" panose="020B0503020204020204" pitchFamily="34" charset="-122"/>
              </a:rPr>
              <a:t>维度（</a:t>
            </a:r>
            <a:r>
              <a:rPr lang="en-US" altLang="zh-CN" sz="2400" dirty="0">
                <a:solidFill>
                  <a:schemeClr val="accent4"/>
                </a:solidFill>
                <a:latin typeface="微软雅黑" panose="020B0503020204020204" pitchFamily="34" charset="-122"/>
                <a:ea typeface="微软雅黑" panose="020B0503020204020204" pitchFamily="34" charset="-122"/>
              </a:rPr>
              <a:t>dimensions</a:t>
            </a:r>
            <a:r>
              <a:rPr lang="zh-CN" altLang="en-US" sz="2400" dirty="0">
                <a:solidFill>
                  <a:schemeClr val="accent4"/>
                </a:solidFill>
                <a:latin typeface="微软雅黑" panose="020B0503020204020204" pitchFamily="34" charset="-122"/>
                <a:ea typeface="微软雅黑" panose="020B0503020204020204" pitchFamily="34" charset="-122"/>
              </a:rPr>
              <a:t>）称为</a:t>
            </a:r>
            <a:r>
              <a:rPr lang="zh-CN" altLang="en-US" sz="2400" dirty="0" smtClean="0">
                <a:solidFill>
                  <a:schemeClr val="accent4"/>
                </a:solidFill>
                <a:latin typeface="微软雅黑" panose="020B0503020204020204" pitchFamily="34" charset="-122"/>
                <a:ea typeface="微软雅黑" panose="020B0503020204020204" pitchFamily="34" charset="-122"/>
              </a:rPr>
              <a:t>轴。</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秩</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rank</a:t>
            </a:r>
            <a:r>
              <a:rPr lang="zh-CN" altLang="en-US" sz="2400" dirty="0">
                <a:solidFill>
                  <a:schemeClr val="accent4"/>
                </a:solidFill>
                <a:latin typeface="微软雅黑" panose="020B0503020204020204" pitchFamily="34" charset="-122"/>
                <a:ea typeface="微软雅黑" panose="020B0503020204020204" pitchFamily="34" charset="-122"/>
              </a:rPr>
              <a:t>）：数组的</a:t>
            </a:r>
            <a:r>
              <a:rPr lang="zh-CN" altLang="en-US" sz="2400" dirty="0" smtClean="0">
                <a:solidFill>
                  <a:schemeClr val="accent4"/>
                </a:solidFill>
                <a:latin typeface="微软雅黑" panose="020B0503020204020204" pitchFamily="34" charset="-122"/>
                <a:ea typeface="微软雅黑" panose="020B0503020204020204" pitchFamily="34" charset="-122"/>
              </a:rPr>
              <a:t>维数。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大小</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size</a:t>
            </a:r>
            <a:r>
              <a:rPr lang="zh-CN" altLang="en-US" sz="2400" dirty="0">
                <a:solidFill>
                  <a:schemeClr val="accent4"/>
                </a:solidFill>
                <a:latin typeface="微软雅黑" panose="020B0503020204020204" pitchFamily="34" charset="-122"/>
                <a:ea typeface="微软雅黑" panose="020B0503020204020204" pitchFamily="34" charset="-122"/>
              </a:rPr>
              <a:t>）：数组的元素个数。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形状</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a:solidFill>
                  <a:schemeClr val="accent4"/>
                </a:solidFill>
                <a:latin typeface="微软雅黑" panose="020B0503020204020204" pitchFamily="34" charset="-122"/>
                <a:ea typeface="微软雅黑" panose="020B0503020204020204" pitchFamily="34" charset="-122"/>
              </a:rPr>
              <a:t>shape</a:t>
            </a:r>
            <a:r>
              <a:rPr lang="zh-CN" altLang="en-US" sz="2400" dirty="0">
                <a:solidFill>
                  <a:schemeClr val="accent4"/>
                </a:solidFill>
                <a:latin typeface="微软雅黑" panose="020B0503020204020204" pitchFamily="34" charset="-122"/>
                <a:ea typeface="微软雅黑" panose="020B0503020204020204" pitchFamily="34" charset="-122"/>
              </a:rPr>
              <a:t>）：数组的形状。</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类型</a:t>
            </a:r>
            <a:r>
              <a:rPr lang="zh-CN" altLang="en-US" sz="2400" dirty="0">
                <a:solidFill>
                  <a:schemeClr val="accent4"/>
                </a:solidFill>
                <a:latin typeface="微软雅黑" panose="020B0503020204020204" pitchFamily="34" charset="-122"/>
                <a:ea typeface="微软雅黑" panose="020B0503020204020204" pitchFamily="34" charset="-122"/>
              </a:rPr>
              <a:t>（</a:t>
            </a:r>
            <a:r>
              <a:rPr lang="en-US" altLang="zh-CN" sz="2400" dirty="0" err="1">
                <a:solidFill>
                  <a:schemeClr val="accent4"/>
                </a:solidFill>
                <a:latin typeface="微软雅黑" panose="020B0503020204020204" pitchFamily="34" charset="-122"/>
                <a:ea typeface="微软雅黑" panose="020B0503020204020204" pitchFamily="34" charset="-122"/>
              </a:rPr>
              <a:t>dtype</a:t>
            </a:r>
            <a:r>
              <a:rPr lang="zh-CN" altLang="en-US" sz="2400" dirty="0">
                <a:solidFill>
                  <a:schemeClr val="accent4"/>
                </a:solidFill>
                <a:latin typeface="微软雅黑" panose="020B0503020204020204" pitchFamily="34" charset="-122"/>
                <a:ea typeface="微软雅黑" panose="020B0503020204020204" pitchFamily="34" charset="-122"/>
              </a:rPr>
              <a:t>）：数组中元素的类型。</a:t>
            </a:r>
            <a:endParaRPr lang="zh-CN" altLang="en-US" sz="2400" dirty="0">
              <a:solidFill>
                <a:schemeClr val="accent4"/>
              </a:solidFill>
              <a:latin typeface="微软雅黑" panose="020B0503020204020204" pitchFamily="34" charset="-122"/>
              <a:ea typeface="微软雅黑" panose="020B0503020204020204" pitchFamily="34" charset="-122"/>
            </a:endParaRPr>
          </a:p>
          <a:p>
            <a:pPr marL="685800" lvl="1" algn="just">
              <a:lnSpc>
                <a:spcPct val="150000"/>
              </a:lnSpc>
              <a:buFont typeface="Wingdings" panose="05000000000000000000" pitchFamily="2" charset="2"/>
              <a:buChar char="n"/>
            </a:pPr>
            <a:r>
              <a:rPr lang="zh-CN" altLang="en-US" sz="2400" dirty="0" smtClean="0">
                <a:solidFill>
                  <a:schemeClr val="accent4"/>
                </a:solidFill>
                <a:latin typeface="微软雅黑" panose="020B0503020204020204" pitchFamily="34" charset="-122"/>
                <a:ea typeface="微软雅黑" panose="020B0503020204020204" pitchFamily="34" charset="-122"/>
              </a:rPr>
              <a:t>元素</a:t>
            </a:r>
            <a:r>
              <a:rPr lang="zh-CN" altLang="en-US" sz="2400" dirty="0">
                <a:solidFill>
                  <a:schemeClr val="accent4"/>
                </a:solidFill>
                <a:latin typeface="微软雅黑" panose="020B0503020204020204" pitchFamily="34" charset="-122"/>
                <a:ea typeface="微软雅黑" panose="020B0503020204020204" pitchFamily="34" charset="-122"/>
              </a:rPr>
              <a:t>大小 （</a:t>
            </a:r>
            <a:r>
              <a:rPr lang="en-US" altLang="zh-CN" sz="2400" dirty="0" err="1">
                <a:solidFill>
                  <a:schemeClr val="accent4"/>
                </a:solidFill>
                <a:latin typeface="微软雅黑" panose="020B0503020204020204" pitchFamily="34" charset="-122"/>
                <a:ea typeface="微软雅黑" panose="020B0503020204020204" pitchFamily="34" charset="-122"/>
              </a:rPr>
              <a:t>itemsize</a:t>
            </a:r>
            <a:r>
              <a:rPr lang="zh-CN" altLang="en-US" sz="2400" dirty="0">
                <a:solidFill>
                  <a:schemeClr val="accent4"/>
                </a:solidFill>
                <a:latin typeface="微软雅黑" panose="020B0503020204020204" pitchFamily="34" charset="-122"/>
                <a:ea typeface="微软雅黑" panose="020B0503020204020204" pitchFamily="34" charset="-122"/>
              </a:rPr>
              <a:t>）：数组中元素占用的字节数。</a:t>
            </a:r>
            <a:endParaRPr lang="zh-CN" altLang="en-US" sz="2400" dirty="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zh-CN" sz="2800" dirty="0">
              <a:solidFill>
                <a:schemeClr val="accent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1000"/>
                                        <p:tgtEl>
                                          <p:spTgt spid="18">
                                            <p:txEl>
                                              <p:pRg st="1" end="1"/>
                                            </p:txEl>
                                          </p:spTgt>
                                        </p:tgtEl>
                                      </p:cBhvr>
                                    </p:animEffect>
                                    <p:anim calcmode="lin" valueType="num">
                                      <p:cBhvr>
                                        <p:cTn id="13"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Effect transition="in" filter="fade">
                                      <p:cBhvr>
                                        <p:cTn id="19" dur="1000"/>
                                        <p:tgtEl>
                                          <p:spTgt spid="18">
                                            <p:txEl>
                                              <p:pRg st="2" end="2"/>
                                            </p:txEl>
                                          </p:spTgt>
                                        </p:tgtEl>
                                      </p:cBhvr>
                                    </p:animEffect>
                                    <p:anim calcmode="lin" valueType="num">
                                      <p:cBhvr>
                                        <p:cTn id="20"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8">
                                            <p:txEl>
                                              <p:pRg st="3" end="3"/>
                                            </p:txEl>
                                          </p:spTgt>
                                        </p:tgtEl>
                                        <p:attrNameLst>
                                          <p:attrName>style.visibility</p:attrName>
                                        </p:attrNameLst>
                                      </p:cBhvr>
                                      <p:to>
                                        <p:strVal val="visible"/>
                                      </p:to>
                                    </p:set>
                                    <p:animEffect transition="in" filter="fade">
                                      <p:cBhvr>
                                        <p:cTn id="26" dur="1000"/>
                                        <p:tgtEl>
                                          <p:spTgt spid="18">
                                            <p:txEl>
                                              <p:pRg st="3" end="3"/>
                                            </p:txEl>
                                          </p:spTgt>
                                        </p:tgtEl>
                                      </p:cBhvr>
                                    </p:animEffect>
                                    <p:anim calcmode="lin" valueType="num">
                                      <p:cBhvr>
                                        <p:cTn id="27"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8">
                                            <p:txEl>
                                              <p:pRg st="4" end="4"/>
                                            </p:txEl>
                                          </p:spTgt>
                                        </p:tgtEl>
                                        <p:attrNameLst>
                                          <p:attrName>style.visibility</p:attrName>
                                        </p:attrNameLst>
                                      </p:cBhvr>
                                      <p:to>
                                        <p:strVal val="visible"/>
                                      </p:to>
                                    </p:set>
                                    <p:animEffect transition="in" filter="fade">
                                      <p:cBhvr>
                                        <p:cTn id="33" dur="1000"/>
                                        <p:tgtEl>
                                          <p:spTgt spid="18">
                                            <p:txEl>
                                              <p:pRg st="4" end="4"/>
                                            </p:txEl>
                                          </p:spTgt>
                                        </p:tgtEl>
                                      </p:cBhvr>
                                    </p:animEffect>
                                    <p:anim calcmode="lin" valueType="num">
                                      <p:cBhvr>
                                        <p:cTn id="34" dur="1000" fill="hold"/>
                                        <p:tgtEl>
                                          <p:spTgt spid="18">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zh-CN" altLang="en-US" sz="2400" b="1" spc="300" dirty="0" smtClean="0">
                  <a:solidFill>
                    <a:srgbClr val="1E6787"/>
                  </a:solidFill>
                  <a:latin typeface="微软雅黑" panose="020B0503020204020204" pitchFamily="34" charset="-122"/>
                  <a:ea typeface="微软雅黑" panose="020B0503020204020204" pitchFamily="34" charset="-122"/>
                </a:rPr>
                <a:t>核心</a:t>
              </a:r>
              <a:r>
                <a:rPr lang="zh-CN" altLang="en-US" sz="2400" b="1" spc="300" dirty="0">
                  <a:solidFill>
                    <a:srgbClr val="1E6787"/>
                  </a:solidFill>
                  <a:latin typeface="微软雅黑" panose="020B0503020204020204" pitchFamily="34" charset="-122"/>
                  <a:ea typeface="微软雅黑" panose="020B0503020204020204" pitchFamily="34" charset="-122"/>
                </a:rPr>
                <a:t>对象：</a:t>
              </a:r>
              <a:r>
                <a:rPr lang="en-US" altLang="zh-CN" sz="2400" b="1" spc="300" dirty="0">
                  <a:solidFill>
                    <a:srgbClr val="1E6787"/>
                  </a:solidFill>
                  <a:latin typeface="微软雅黑" panose="020B0503020204020204" pitchFamily="34" charset="-122"/>
                  <a:ea typeface="微软雅黑" panose="020B0503020204020204" pitchFamily="34" charset="-122"/>
                </a:rPr>
                <a:t>N</a:t>
              </a:r>
              <a:r>
                <a:rPr lang="zh-CN" altLang="en-US" sz="2400" b="1" spc="300" dirty="0">
                  <a:solidFill>
                    <a:srgbClr val="1E6787"/>
                  </a:solidFill>
                  <a:latin typeface="微软雅黑" panose="020B0503020204020204" pitchFamily="34" charset="-122"/>
                  <a:ea typeface="微软雅黑" panose="020B0503020204020204" pitchFamily="34" charset="-122"/>
                </a:rPr>
                <a:t>维数组（</a:t>
              </a:r>
              <a:r>
                <a:rPr lang="en-US" altLang="zh-CN" sz="2400" b="1" spc="300" dirty="0" err="1">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8" name="TextBox 2"/>
          <p:cNvSpPr txBox="1">
            <a:spLocks noChangeArrowheads="1"/>
          </p:cNvSpPr>
          <p:nvPr/>
        </p:nvSpPr>
        <p:spPr bwMode="auto">
          <a:xfrm>
            <a:off x="9976512" y="85005"/>
            <a:ext cx="8106771"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Wingdings" panose="05000000000000000000" pitchFamily="2" charset="2"/>
              <a:buChar char="l"/>
            </a:pPr>
            <a:endParaRPr lang="zh-CN" altLang="en-US"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zh-CN" sz="2800" dirty="0">
              <a:solidFill>
                <a:schemeClr val="accent4"/>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clrChange>
              <a:clrFrom>
                <a:srgbClr val="FFFFFF"/>
              </a:clrFrom>
              <a:clrTo>
                <a:srgbClr val="FFFFFF">
                  <a:alpha val="0"/>
                </a:srgbClr>
              </a:clrTo>
            </a:clrChange>
          </a:blip>
          <a:stretch>
            <a:fillRect/>
          </a:stretch>
        </p:blipFill>
        <p:spPr>
          <a:xfrm>
            <a:off x="9021170" y="897289"/>
            <a:ext cx="2487051" cy="1436478"/>
          </a:xfrm>
          <a:prstGeom prst="rect">
            <a:avLst/>
          </a:prstGeom>
        </p:spPr>
      </p:pic>
      <p:sp>
        <p:nvSpPr>
          <p:cNvPr id="10" name="内容占位符 1"/>
          <p:cNvSpPr txBox="1"/>
          <p:nvPr/>
        </p:nvSpPr>
        <p:spPr>
          <a:xfrm>
            <a:off x="1451479" y="1070613"/>
            <a:ext cx="7569691" cy="5570033"/>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a:t>
            </a:r>
            <a:r>
              <a:rPr lang="en-US" altLang="zh-CN" sz="2400" dirty="0" err="1"/>
              <a:t>bArray</a:t>
            </a:r>
            <a:r>
              <a:rPr lang="en-US" altLang="zh-CN" sz="2400" dirty="0"/>
              <a:t> = </a:t>
            </a:r>
            <a:r>
              <a:rPr lang="en-US" altLang="zh-CN" sz="2400" dirty="0" err="1"/>
              <a:t>np.array</a:t>
            </a:r>
            <a:r>
              <a:rPr lang="en-US" altLang="zh-CN" sz="2400" dirty="0"/>
              <a:t>([[1, 2, 3], [4, 5, 6]])  # </a:t>
            </a:r>
            <a:r>
              <a:rPr lang="zh-CN" altLang="zh-CN" sz="2400" dirty="0"/>
              <a:t>创建二维数组</a:t>
            </a:r>
            <a:endParaRPr lang="en-US" altLang="zh-CN" sz="2400" dirty="0"/>
          </a:p>
          <a:p>
            <a:pPr marL="0" indent="0">
              <a:buNone/>
            </a:pPr>
            <a:r>
              <a:rPr lang="en-US" altLang="zh-CN" sz="2400" dirty="0"/>
              <a:t>&gt;&gt;&gt; </a:t>
            </a:r>
            <a:r>
              <a:rPr lang="en-US" altLang="zh-CN" sz="2400" dirty="0" err="1"/>
              <a:t>bArray.ndim</a:t>
            </a:r>
            <a:endParaRPr lang="zh-CN" altLang="zh-CN" sz="2400" dirty="0"/>
          </a:p>
          <a:p>
            <a:pPr marL="0" indent="0">
              <a:buNone/>
            </a:pPr>
            <a:r>
              <a:rPr lang="en-US" altLang="zh-CN" sz="2400" dirty="0"/>
              <a:t>2</a:t>
            </a:r>
            <a:endParaRPr lang="zh-CN" altLang="zh-CN" sz="2400" dirty="0"/>
          </a:p>
          <a:p>
            <a:pPr marL="0" indent="0">
              <a:buNone/>
            </a:pPr>
            <a:r>
              <a:rPr lang="en-US" altLang="zh-CN" sz="2400" dirty="0"/>
              <a:t>&gt;&gt;&gt; </a:t>
            </a:r>
            <a:r>
              <a:rPr lang="en-US" altLang="zh-CN" sz="2400" dirty="0" err="1"/>
              <a:t>bArray.shape</a:t>
            </a:r>
            <a:endParaRPr lang="zh-CN" altLang="zh-CN" sz="2400" dirty="0"/>
          </a:p>
          <a:p>
            <a:pPr marL="0" indent="0">
              <a:buNone/>
            </a:pPr>
            <a:r>
              <a:rPr lang="en-US" altLang="zh-CN" sz="2400" dirty="0"/>
              <a:t>(2, 3)</a:t>
            </a:r>
            <a:endParaRPr lang="zh-CN" altLang="zh-CN" sz="2400" dirty="0"/>
          </a:p>
          <a:p>
            <a:pPr marL="0" indent="0">
              <a:buNone/>
            </a:pPr>
            <a:r>
              <a:rPr lang="en-US" altLang="zh-CN" sz="2400" dirty="0"/>
              <a:t>&gt;&gt;&gt; </a:t>
            </a:r>
            <a:r>
              <a:rPr lang="en-US" altLang="zh-CN" sz="2400" dirty="0" err="1"/>
              <a:t>bArray.size</a:t>
            </a:r>
            <a:endParaRPr lang="zh-CN" altLang="zh-CN" sz="2400" dirty="0"/>
          </a:p>
          <a:p>
            <a:pPr marL="0" indent="0">
              <a:buNone/>
            </a:pPr>
            <a:r>
              <a:rPr lang="en-US" altLang="zh-CN" sz="2400" dirty="0"/>
              <a:t>6</a:t>
            </a:r>
            <a:endParaRPr lang="zh-CN" altLang="zh-CN" sz="2400" dirty="0"/>
          </a:p>
          <a:p>
            <a:pPr marL="0" indent="0">
              <a:buNone/>
            </a:pPr>
            <a:r>
              <a:rPr lang="en-US" altLang="zh-CN" sz="2400" dirty="0"/>
              <a:t>&gt;&gt;&gt; </a:t>
            </a:r>
            <a:r>
              <a:rPr lang="en-US" altLang="zh-CN" sz="2400" dirty="0" err="1"/>
              <a:t>bArray.dtype</a:t>
            </a:r>
            <a:endParaRPr lang="zh-CN" altLang="zh-CN" sz="2400" dirty="0"/>
          </a:p>
          <a:p>
            <a:pPr marL="0" indent="0">
              <a:buNone/>
            </a:pPr>
            <a:r>
              <a:rPr lang="en-US" altLang="zh-CN" sz="2400" dirty="0" err="1"/>
              <a:t>dtype</a:t>
            </a:r>
            <a:r>
              <a:rPr lang="en-US" altLang="zh-CN" sz="2400" dirty="0"/>
              <a:t>('int32')</a:t>
            </a:r>
            <a:endParaRPr lang="zh-CN" altLang="zh-CN" sz="2400" dirty="0"/>
          </a:p>
          <a:p>
            <a:pPr marL="0" indent="0">
              <a:buNone/>
            </a:pPr>
            <a:r>
              <a:rPr lang="en-US" altLang="zh-CN" sz="2400" dirty="0"/>
              <a:t>&gt;&gt;&gt; </a:t>
            </a:r>
            <a:r>
              <a:rPr lang="en-US" altLang="zh-CN" sz="2400" dirty="0" err="1"/>
              <a:t>bArray.itemsize</a:t>
            </a:r>
            <a:endParaRPr lang="zh-CN" altLang="zh-CN" sz="2400" dirty="0"/>
          </a:p>
          <a:p>
            <a:pPr marL="0" indent="0">
              <a:buNone/>
            </a:pPr>
            <a:r>
              <a:rPr lang="en-US" altLang="zh-CN" sz="2400" dirty="0"/>
              <a:t>4</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 calcmode="lin" valueType="num">
                                      <p:cBhvr>
                                        <p:cTn id="70"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71"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72" dur="500"/>
                                        <p:tgtEl>
                                          <p:spTgt spid="10">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 calcmode="lin" valueType="num">
                                      <p:cBhvr>
                                        <p:cTn id="77"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78"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79" dur="500"/>
                                        <p:tgtEl>
                                          <p:spTgt spid="10">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0">
                                            <p:txEl>
                                              <p:pRg st="10" end="10"/>
                                            </p:txEl>
                                          </p:spTgt>
                                        </p:tgtEl>
                                        <p:attrNameLst>
                                          <p:attrName>style.visibility</p:attrName>
                                        </p:attrNameLst>
                                      </p:cBhvr>
                                      <p:to>
                                        <p:strVal val="visible"/>
                                      </p:to>
                                    </p:set>
                                    <p:anim calcmode="lin" valueType="num">
                                      <p:cBhvr>
                                        <p:cTn id="84" dur="5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85" dur="5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86"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23221"/>
            <a:chOff x="169526" y="203448"/>
            <a:chExt cx="7807482" cy="523221"/>
          </a:xfrm>
        </p:grpSpPr>
        <p:sp>
          <p:nvSpPr>
            <p:cNvPr id="4" name="TextBox 3"/>
            <p:cNvSpPr txBox="1"/>
            <p:nvPr/>
          </p:nvSpPr>
          <p:spPr>
            <a:xfrm>
              <a:off x="781173" y="203449"/>
              <a:ext cx="7195835" cy="523220"/>
            </a:xfrm>
            <a:prstGeom prst="rect">
              <a:avLst/>
            </a:prstGeom>
            <a:noFill/>
          </p:spPr>
          <p:txBody>
            <a:bodyPr wrap="square" rtlCol="0">
              <a:spAutoFit/>
            </a:bodyPr>
            <a:lstStyle/>
            <a:p>
              <a:r>
                <a:rPr lang="zh-CN" altLang="en-US" sz="2800" b="1" spc="300" dirty="0" smtClean="0">
                  <a:solidFill>
                    <a:srgbClr val="1E6787"/>
                  </a:solidFill>
                  <a:latin typeface="微软雅黑" panose="020B0503020204020204" pitchFamily="34" charset="-122"/>
                  <a:ea typeface="微软雅黑" panose="020B0503020204020204" pitchFamily="34" charset="-122"/>
                </a:rPr>
                <a:t>创建</a:t>
              </a:r>
              <a:r>
                <a:rPr lang="zh-CN" altLang="en-US" sz="2800" b="1" spc="300" dirty="0">
                  <a:solidFill>
                    <a:srgbClr val="1E6787"/>
                  </a:solidFill>
                  <a:latin typeface="微软雅黑" panose="020B0503020204020204" pitchFamily="34" charset="-122"/>
                  <a:ea typeface="微软雅黑" panose="020B0503020204020204" pitchFamily="34" charset="-122"/>
                </a:rPr>
                <a:t>数组的常用方法</a:t>
              </a:r>
              <a:endParaRPr lang="zh-CN" altLang="en-US" sz="28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9" name="表格 8"/>
          <p:cNvGraphicFramePr>
            <a:graphicFrameLocks noGrp="1"/>
          </p:cNvGraphicFramePr>
          <p:nvPr/>
        </p:nvGraphicFramePr>
        <p:xfrm>
          <a:off x="768102" y="1554155"/>
          <a:ext cx="10450358" cy="4754675"/>
        </p:xfrm>
        <a:graphic>
          <a:graphicData uri="http://schemas.openxmlformats.org/drawingml/2006/table">
            <a:tbl>
              <a:tblPr firstRow="1" bandRow="1">
                <a:tableStyleId>{8A107856-5554-42FB-B03E-39F5DBC370BA}</a:tableStyleId>
              </a:tblPr>
              <a:tblGrid>
                <a:gridCol w="4090501"/>
                <a:gridCol w="6359857"/>
              </a:tblGrid>
              <a:tr h="521519">
                <a:tc>
                  <a:txBody>
                    <a:bodyPr/>
                    <a:lstStyle/>
                    <a:p>
                      <a:pPr algn="ctr" fontAlgn="base">
                        <a:lnSpc>
                          <a:spcPct val="150000"/>
                        </a:lnSpc>
                        <a:spcAft>
                          <a:spcPts val="0"/>
                        </a:spcAft>
                      </a:pPr>
                      <a:r>
                        <a:rPr lang="zh-CN" sz="2200" kern="100" dirty="0">
                          <a:effectLst/>
                          <a:latin typeface="+mn-ea"/>
                          <a:ea typeface="+mn-ea"/>
                        </a:rPr>
                        <a:t>函数</a:t>
                      </a:r>
                      <a:endParaRPr lang="zh-CN" sz="2200" kern="100" dirty="0">
                        <a:effectLst/>
                        <a:latin typeface="+mn-ea"/>
                        <a:ea typeface="+mn-ea"/>
                        <a:cs typeface="Times New Roman" panose="02020603050405020304" pitchFamily="18" charset="0"/>
                      </a:endParaRPr>
                    </a:p>
                  </a:txBody>
                  <a:tcPr marL="118714" marR="118714" marT="0" marB="0"/>
                </a:tc>
                <a:tc>
                  <a:txBody>
                    <a:bodyPr/>
                    <a:lstStyle/>
                    <a:p>
                      <a:pPr algn="ctr" fontAlgn="base">
                        <a:lnSpc>
                          <a:spcPct val="150000"/>
                        </a:lnSpc>
                        <a:spcAft>
                          <a:spcPts val="0"/>
                        </a:spcAft>
                      </a:pPr>
                      <a:r>
                        <a:rPr lang="zh-CN" sz="2200" kern="100" dirty="0">
                          <a:effectLst/>
                          <a:latin typeface="+mn-ea"/>
                          <a:ea typeface="+mn-ea"/>
                        </a:rPr>
                        <a:t>描述</a:t>
                      </a:r>
                      <a:endParaRPr lang="zh-CN" sz="2200" kern="100" dirty="0">
                        <a:effectLst/>
                        <a:latin typeface="+mn-ea"/>
                        <a:ea typeface="+mn-ea"/>
                        <a:cs typeface="Times New Roman" panose="02020603050405020304" pitchFamily="18" charset="0"/>
                      </a:endParaRPr>
                    </a:p>
                  </a:txBody>
                  <a:tcPr marL="118714" marR="118714" marT="0" marB="0"/>
                </a:tc>
              </a:tr>
              <a:tr h="948216">
                <a:tc>
                  <a:txBody>
                    <a:bodyPr/>
                    <a:lstStyle/>
                    <a:p>
                      <a:pPr algn="ctr" fontAlgn="base">
                        <a:lnSpc>
                          <a:spcPct val="150000"/>
                        </a:lnSpc>
                        <a:spcAft>
                          <a:spcPts val="0"/>
                        </a:spcAft>
                      </a:pPr>
                      <a:r>
                        <a:rPr lang="en-US" sz="2000" kern="100" dirty="0" err="1">
                          <a:effectLst/>
                          <a:latin typeface="+mn-ea"/>
                          <a:ea typeface="+mn-ea"/>
                        </a:rPr>
                        <a:t>np.array</a:t>
                      </a:r>
                      <a:r>
                        <a:rPr lang="en-US" sz="2000" kern="100" dirty="0">
                          <a:effectLst/>
                          <a:latin typeface="+mn-ea"/>
                          <a:ea typeface="+mn-ea"/>
                        </a:rPr>
                        <a:t>([</a:t>
                      </a:r>
                      <a:r>
                        <a:rPr lang="en-US" sz="2000" kern="100" dirty="0" err="1">
                          <a:effectLst/>
                          <a:latin typeface="+mn-ea"/>
                          <a:ea typeface="+mn-ea"/>
                        </a:rPr>
                        <a:t>x,y,z</a:t>
                      </a:r>
                      <a:r>
                        <a:rPr lang="en-US" sz="2000" kern="100" dirty="0">
                          <a:effectLst/>
                          <a:latin typeface="+mn-ea"/>
                          <a:ea typeface="+mn-ea"/>
                        </a:rPr>
                        <a:t>], </a:t>
                      </a:r>
                      <a:r>
                        <a:rPr lang="en-US" sz="2000" kern="100" dirty="0" err="1">
                          <a:effectLst/>
                          <a:latin typeface="+mn-ea"/>
                          <a:ea typeface="+mn-ea"/>
                        </a:rPr>
                        <a:t>dtype</a:t>
                      </a:r>
                      <a:r>
                        <a:rPr lang="en-US" sz="2000" kern="100" dirty="0">
                          <a:effectLst/>
                          <a:latin typeface="+mn-ea"/>
                          <a:ea typeface="+mn-ea"/>
                        </a:rPr>
                        <a:t>=</a:t>
                      </a:r>
                      <a:r>
                        <a:rPr lang="en-US" sz="2000" kern="100" dirty="0" err="1">
                          <a:effectLst/>
                          <a:latin typeface="+mn-ea"/>
                          <a:ea typeface="+mn-ea"/>
                        </a:rPr>
                        <a:t>int</a:t>
                      </a:r>
                      <a:r>
                        <a:rPr lang="en-US" sz="2000" kern="100" dirty="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从</a:t>
                      </a:r>
                      <a:r>
                        <a:rPr lang="en-US" sz="2000" kern="100" dirty="0">
                          <a:effectLst/>
                          <a:latin typeface="+mn-ea"/>
                          <a:ea typeface="+mn-ea"/>
                        </a:rPr>
                        <a:t>Python</a:t>
                      </a:r>
                      <a:r>
                        <a:rPr lang="zh-CN" sz="2000" kern="100" dirty="0">
                          <a:effectLst/>
                          <a:latin typeface="+mn-ea"/>
                          <a:ea typeface="+mn-ea"/>
                        </a:rPr>
                        <a:t>列表和元组创造数</a:t>
                      </a:r>
                      <a:r>
                        <a:rPr lang="zh-CN" sz="2000" kern="100" dirty="0" smtClean="0">
                          <a:effectLst/>
                          <a:latin typeface="+mn-ea"/>
                          <a:ea typeface="+mn-ea"/>
                        </a:rPr>
                        <a:t>组</a:t>
                      </a:r>
                      <a:r>
                        <a:rPr lang="zh-CN" altLang="en-US" sz="2000" kern="100" dirty="0" smtClean="0">
                          <a:effectLst/>
                          <a:latin typeface="+mn-ea"/>
                          <a:ea typeface="+mn-ea"/>
                        </a:rPr>
                        <a:t>，</a:t>
                      </a:r>
                      <a:r>
                        <a:rPr lang="en-US" altLang="zh-CN" sz="2000" kern="100" dirty="0" err="1" smtClean="0">
                          <a:effectLst/>
                          <a:latin typeface="+mn-ea"/>
                          <a:ea typeface="+mn-ea"/>
                        </a:rPr>
                        <a:t>dtype</a:t>
                      </a:r>
                      <a:r>
                        <a:rPr lang="zh-CN" altLang="en-US" sz="2000" kern="100" dirty="0" smtClean="0">
                          <a:effectLst/>
                          <a:latin typeface="+mn-ea"/>
                          <a:ea typeface="+mn-ea"/>
                        </a:rPr>
                        <a:t>用来指定</a:t>
                      </a:r>
                      <a:r>
                        <a:rPr lang="zh-CN" altLang="zh-CN" sz="2000" kern="100" dirty="0" smtClean="0">
                          <a:effectLst/>
                          <a:latin typeface="+mn-ea"/>
                          <a:ea typeface="+mn-ea"/>
                        </a:rPr>
                        <a:t>数据类型</a:t>
                      </a:r>
                      <a:r>
                        <a:rPr lang="zh-CN" altLang="en-US" sz="2000" kern="100" dirty="0" smtClean="0">
                          <a:effectLst/>
                          <a:latin typeface="+mn-ea"/>
                          <a:ea typeface="+mn-ea"/>
                        </a:rPr>
                        <a:t>，默认为</a:t>
                      </a:r>
                      <a:r>
                        <a:rPr lang="en-US" altLang="zh-CN" sz="2000" kern="100" dirty="0" err="1" smtClean="0">
                          <a:effectLst/>
                          <a:latin typeface="+mn-ea"/>
                          <a:ea typeface="+mn-ea"/>
                        </a:rPr>
                        <a:t>int</a:t>
                      </a:r>
                      <a:r>
                        <a:rPr lang="zh-CN" altLang="en-US" sz="2000" kern="100" dirty="0" smtClean="0">
                          <a:effectLst/>
                          <a:latin typeface="+mn-ea"/>
                          <a:ea typeface="+mn-ea"/>
                        </a:rPr>
                        <a:t>型</a:t>
                      </a:r>
                      <a:endParaRPr lang="zh-CN" sz="2000" kern="100" dirty="0">
                        <a:effectLst/>
                        <a:latin typeface="+mn-ea"/>
                        <a:ea typeface="+mn-ea"/>
                        <a:cs typeface="Times New Roman" panose="02020603050405020304" pitchFamily="18" charset="0"/>
                      </a:endParaRPr>
                    </a:p>
                  </a:txBody>
                  <a:tcPr marL="118714" marR="118714" marT="0" marB="0"/>
                </a:tc>
              </a:tr>
              <a:tr h="474108">
                <a:tc>
                  <a:txBody>
                    <a:bodyPr/>
                    <a:lstStyle/>
                    <a:p>
                      <a:pPr algn="ctr" fontAlgn="base">
                        <a:lnSpc>
                          <a:spcPct val="150000"/>
                        </a:lnSpc>
                        <a:spcAft>
                          <a:spcPts val="0"/>
                        </a:spcAft>
                      </a:pPr>
                      <a:r>
                        <a:rPr lang="en-US" sz="2000" kern="100" dirty="0" err="1">
                          <a:effectLst/>
                          <a:latin typeface="+mn-ea"/>
                          <a:ea typeface="+mn-ea"/>
                        </a:rPr>
                        <a:t>np.arange</a:t>
                      </a:r>
                      <a:r>
                        <a:rPr lang="en-US" sz="2000" kern="100" dirty="0">
                          <a:effectLst/>
                          <a:latin typeface="+mn-ea"/>
                          <a:ea typeface="+mn-ea"/>
                        </a:rPr>
                        <a:t>(</a:t>
                      </a:r>
                      <a:r>
                        <a:rPr lang="en-US" sz="2000" kern="100" dirty="0" err="1">
                          <a:effectLst/>
                          <a:latin typeface="+mn-ea"/>
                          <a:ea typeface="+mn-ea"/>
                        </a:rPr>
                        <a:t>x,y,i</a:t>
                      </a:r>
                      <a:r>
                        <a:rPr lang="en-US" sz="2000" kern="100" dirty="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创建一个由</a:t>
                      </a:r>
                      <a:r>
                        <a:rPr lang="en-US" sz="2000" kern="100" dirty="0">
                          <a:effectLst/>
                          <a:latin typeface="+mn-ea"/>
                          <a:ea typeface="+mn-ea"/>
                        </a:rPr>
                        <a:t>x</a:t>
                      </a:r>
                      <a:r>
                        <a:rPr lang="zh-CN" sz="2000" kern="100" dirty="0">
                          <a:effectLst/>
                          <a:latin typeface="+mn-ea"/>
                          <a:ea typeface="+mn-ea"/>
                        </a:rPr>
                        <a:t>到</a:t>
                      </a:r>
                      <a:r>
                        <a:rPr lang="en-US" sz="2000" kern="100" dirty="0" smtClean="0">
                          <a:effectLst/>
                          <a:latin typeface="+mn-ea"/>
                          <a:ea typeface="+mn-ea"/>
                        </a:rPr>
                        <a:t>y</a:t>
                      </a:r>
                      <a:r>
                        <a:rPr lang="zh-CN" altLang="en-US" sz="2000" kern="100" dirty="0" smtClean="0">
                          <a:effectLst/>
                          <a:latin typeface="+mn-ea"/>
                          <a:ea typeface="+mn-ea"/>
                        </a:rPr>
                        <a:t>（不包含</a:t>
                      </a:r>
                      <a:r>
                        <a:rPr lang="en-US" altLang="zh-CN" sz="2000" kern="100" dirty="0" smtClean="0">
                          <a:effectLst/>
                          <a:latin typeface="+mn-ea"/>
                          <a:ea typeface="+mn-ea"/>
                        </a:rPr>
                        <a:t>y</a:t>
                      </a:r>
                      <a:r>
                        <a:rPr lang="zh-CN" altLang="en-US" sz="2000" kern="100" dirty="0" smtClean="0">
                          <a:effectLst/>
                          <a:latin typeface="+mn-ea"/>
                          <a:ea typeface="+mn-ea"/>
                        </a:rPr>
                        <a:t>）</a:t>
                      </a:r>
                      <a:r>
                        <a:rPr lang="zh-CN" sz="2000" kern="100" dirty="0" smtClean="0">
                          <a:effectLst/>
                          <a:latin typeface="+mn-ea"/>
                          <a:ea typeface="+mn-ea"/>
                        </a:rPr>
                        <a:t>，</a:t>
                      </a:r>
                      <a:r>
                        <a:rPr lang="zh-CN" sz="2000" kern="100" dirty="0">
                          <a:effectLst/>
                          <a:latin typeface="+mn-ea"/>
                          <a:ea typeface="+mn-ea"/>
                        </a:rPr>
                        <a:t>以</a:t>
                      </a:r>
                      <a:r>
                        <a:rPr lang="en-US" sz="2000" kern="100" dirty="0">
                          <a:effectLst/>
                          <a:latin typeface="+mn-ea"/>
                          <a:ea typeface="+mn-ea"/>
                        </a:rPr>
                        <a:t>i</a:t>
                      </a:r>
                      <a:r>
                        <a:rPr lang="zh-CN" sz="2000" kern="100" dirty="0">
                          <a:effectLst/>
                          <a:latin typeface="+mn-ea"/>
                          <a:ea typeface="+mn-ea"/>
                        </a:rPr>
                        <a:t>为步长的数组</a:t>
                      </a:r>
                      <a:endParaRPr lang="zh-CN" sz="2000" kern="100" dirty="0">
                        <a:effectLst/>
                        <a:latin typeface="+mn-ea"/>
                        <a:ea typeface="+mn-ea"/>
                        <a:cs typeface="Times New Roman" panose="02020603050405020304" pitchFamily="18" charset="0"/>
                      </a:endParaRPr>
                    </a:p>
                  </a:txBody>
                  <a:tcPr marL="118714" marR="118714" marT="0" marB="0"/>
                </a:tc>
              </a:tr>
              <a:tr h="474108">
                <a:tc>
                  <a:txBody>
                    <a:bodyPr/>
                    <a:lstStyle/>
                    <a:p>
                      <a:pPr algn="ctr" fontAlgn="base">
                        <a:lnSpc>
                          <a:spcPct val="150000"/>
                        </a:lnSpc>
                        <a:spcAft>
                          <a:spcPts val="0"/>
                        </a:spcAft>
                      </a:pPr>
                      <a:r>
                        <a:rPr lang="en-US" sz="2000" kern="100" dirty="0">
                          <a:effectLst/>
                          <a:latin typeface="+mn-ea"/>
                          <a:ea typeface="+mn-ea"/>
                        </a:rPr>
                        <a:t>np.linspace(x,y,n)</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创建一个由</a:t>
                      </a:r>
                      <a:r>
                        <a:rPr lang="en-US" sz="2000" kern="100" dirty="0">
                          <a:effectLst/>
                          <a:latin typeface="+mn-ea"/>
                          <a:ea typeface="+mn-ea"/>
                        </a:rPr>
                        <a:t>x</a:t>
                      </a:r>
                      <a:r>
                        <a:rPr lang="zh-CN" sz="2000" kern="100" dirty="0">
                          <a:effectLst/>
                          <a:latin typeface="+mn-ea"/>
                          <a:ea typeface="+mn-ea"/>
                        </a:rPr>
                        <a:t>到</a:t>
                      </a:r>
                      <a:r>
                        <a:rPr lang="en-US" sz="2000" kern="100" dirty="0">
                          <a:effectLst/>
                          <a:latin typeface="+mn-ea"/>
                          <a:ea typeface="+mn-ea"/>
                        </a:rPr>
                        <a:t>y</a:t>
                      </a:r>
                      <a:r>
                        <a:rPr lang="zh-CN" sz="2000" kern="100" dirty="0">
                          <a:effectLst/>
                          <a:latin typeface="+mn-ea"/>
                          <a:ea typeface="+mn-ea"/>
                        </a:rPr>
                        <a:t>，等分成</a:t>
                      </a:r>
                      <a:r>
                        <a:rPr lang="en-US" sz="2000" kern="100" dirty="0">
                          <a:effectLst/>
                          <a:latin typeface="+mn-ea"/>
                          <a:ea typeface="+mn-ea"/>
                        </a:rPr>
                        <a:t>n</a:t>
                      </a:r>
                      <a:r>
                        <a:rPr lang="zh-CN" sz="2000" kern="100" dirty="0">
                          <a:effectLst/>
                          <a:latin typeface="+mn-ea"/>
                          <a:ea typeface="+mn-ea"/>
                        </a:rPr>
                        <a:t>个元素的数组</a:t>
                      </a:r>
                      <a:endParaRPr lang="zh-CN" sz="2000" kern="100" dirty="0">
                        <a:effectLst/>
                        <a:latin typeface="+mn-ea"/>
                        <a:ea typeface="+mn-ea"/>
                        <a:cs typeface="Times New Roman" panose="02020603050405020304" pitchFamily="18" charset="0"/>
                      </a:endParaRPr>
                    </a:p>
                  </a:txBody>
                  <a:tcPr marL="118714" marR="118714" marT="0" marB="0"/>
                </a:tc>
              </a:tr>
              <a:tr h="474108">
                <a:tc>
                  <a:txBody>
                    <a:bodyPr/>
                    <a:lstStyle/>
                    <a:p>
                      <a:pPr algn="ctr" fontAlgn="base">
                        <a:lnSpc>
                          <a:spcPct val="150000"/>
                        </a:lnSpc>
                        <a:spcAft>
                          <a:spcPts val="0"/>
                        </a:spcAft>
                      </a:pPr>
                      <a:r>
                        <a:rPr lang="en-US" sz="2000" kern="100" dirty="0" err="1" smtClean="0">
                          <a:effectLst/>
                          <a:latin typeface="+mn-ea"/>
                          <a:ea typeface="+mn-ea"/>
                        </a:rPr>
                        <a:t>np.full</a:t>
                      </a:r>
                      <a:r>
                        <a:rPr lang="en-US" sz="2000" kern="100" dirty="0" smtClean="0">
                          <a:effectLst/>
                          <a:latin typeface="+mn-ea"/>
                          <a:ea typeface="+mn-ea"/>
                        </a:rPr>
                        <a:t>((</a:t>
                      </a:r>
                      <a:r>
                        <a:rPr lang="en-US" sz="2000" kern="100" dirty="0" err="1" smtClean="0">
                          <a:effectLst/>
                          <a:latin typeface="+mn-ea"/>
                          <a:ea typeface="+mn-ea"/>
                        </a:rPr>
                        <a:t>m,n</a:t>
                      </a:r>
                      <a:r>
                        <a:rPr lang="en-US" sz="2000" kern="100" dirty="0" smtClean="0">
                          <a:effectLst/>
                          <a:latin typeface="+mn-ea"/>
                          <a:ea typeface="+mn-ea"/>
                        </a:rPr>
                        <a:t>),</a:t>
                      </a:r>
                      <a:r>
                        <a:rPr lang="en-US" sz="2000" kern="100" dirty="0" err="1" smtClean="0">
                          <a:effectLst/>
                          <a:latin typeface="+mn-ea"/>
                          <a:ea typeface="+mn-ea"/>
                        </a:rPr>
                        <a:t>fillvalue</a:t>
                      </a:r>
                      <a:r>
                        <a:rPr lang="en-US" sz="2000" kern="100" dirty="0" smtClean="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a:t>
                      </a:r>
                      <a:r>
                        <a:rPr lang="en-US" sz="2000" kern="100" dirty="0">
                          <a:effectLst/>
                          <a:latin typeface="+mn-ea"/>
                          <a:ea typeface="+mn-ea"/>
                        </a:rPr>
                        <a:t>m</a:t>
                      </a:r>
                      <a:r>
                        <a:rPr lang="zh-CN" sz="2000" kern="100" dirty="0">
                          <a:effectLst/>
                          <a:latin typeface="+mn-ea"/>
                          <a:ea typeface="+mn-ea"/>
                        </a:rPr>
                        <a:t>行</a:t>
                      </a:r>
                      <a:r>
                        <a:rPr lang="en-US" sz="2000" kern="100" dirty="0">
                          <a:effectLst/>
                          <a:latin typeface="+mn-ea"/>
                          <a:ea typeface="+mn-ea"/>
                        </a:rPr>
                        <a:t>n</a:t>
                      </a:r>
                      <a:r>
                        <a:rPr lang="zh-CN" sz="2000" kern="100" dirty="0" smtClean="0">
                          <a:effectLst/>
                          <a:latin typeface="+mn-ea"/>
                          <a:ea typeface="+mn-ea"/>
                        </a:rPr>
                        <a:t>列</a:t>
                      </a:r>
                      <a:r>
                        <a:rPr lang="en-US" altLang="zh-CN" sz="2000" kern="100" dirty="0" smtClean="0">
                          <a:effectLst/>
                          <a:latin typeface="+mn-ea"/>
                          <a:ea typeface="+mn-ea"/>
                        </a:rPr>
                        <a:t>,</a:t>
                      </a:r>
                      <a:r>
                        <a:rPr lang="zh-CN" altLang="en-US" sz="2000" kern="100" dirty="0" smtClean="0">
                          <a:effectLst/>
                          <a:latin typeface="+mn-ea"/>
                          <a:ea typeface="+mn-ea"/>
                        </a:rPr>
                        <a:t>元素全为</a:t>
                      </a:r>
                      <a:r>
                        <a:rPr lang="en-US" altLang="zh-CN" sz="2000" kern="100" dirty="0" err="1" smtClean="0">
                          <a:effectLst/>
                          <a:latin typeface="+mn-ea"/>
                          <a:ea typeface="+mn-ea"/>
                        </a:rPr>
                        <a:t>fillvalue</a:t>
                      </a:r>
                      <a:r>
                        <a:rPr lang="zh-CN" altLang="en-US" sz="2000" kern="100" dirty="0" smtClean="0">
                          <a:effectLst/>
                          <a:latin typeface="+mn-ea"/>
                          <a:ea typeface="+mn-ea"/>
                        </a:rPr>
                        <a:t>的</a:t>
                      </a:r>
                      <a:r>
                        <a:rPr lang="zh-CN" sz="2000" kern="100" dirty="0" smtClean="0">
                          <a:effectLst/>
                          <a:latin typeface="+mn-ea"/>
                          <a:ea typeface="+mn-ea"/>
                        </a:rPr>
                        <a:t>数组</a:t>
                      </a:r>
                      <a:endParaRPr lang="zh-CN" sz="2000" kern="100" dirty="0">
                        <a:effectLst/>
                        <a:latin typeface="+mn-ea"/>
                        <a:ea typeface="+mn-ea"/>
                        <a:cs typeface="Times New Roman" panose="02020603050405020304" pitchFamily="18" charset="0"/>
                      </a:endParaRPr>
                    </a:p>
                  </a:txBody>
                  <a:tcPr marL="118714" marR="118714" marT="0" marB="0"/>
                </a:tc>
              </a:tr>
              <a:tr h="474108">
                <a:tc>
                  <a:txBody>
                    <a:bodyPr/>
                    <a:lstStyle/>
                    <a:p>
                      <a:pPr algn="ctr" fontAlgn="base">
                        <a:lnSpc>
                          <a:spcPct val="150000"/>
                        </a:lnSpc>
                        <a:spcAft>
                          <a:spcPts val="0"/>
                        </a:spcAft>
                      </a:pPr>
                      <a:r>
                        <a:rPr lang="en-US" sz="2000" kern="100" dirty="0" err="1">
                          <a:effectLst/>
                          <a:latin typeface="+mn-ea"/>
                          <a:ea typeface="+mn-ea"/>
                        </a:rPr>
                        <a:t>np.ones</a:t>
                      </a:r>
                      <a:r>
                        <a:rPr lang="en-US" sz="2000" kern="100" dirty="0">
                          <a:effectLst/>
                          <a:latin typeface="+mn-ea"/>
                          <a:ea typeface="+mn-ea"/>
                        </a:rPr>
                        <a:t>((</a:t>
                      </a:r>
                      <a:r>
                        <a:rPr lang="en-US" sz="2000" kern="100" dirty="0" err="1">
                          <a:effectLst/>
                          <a:latin typeface="+mn-ea"/>
                          <a:ea typeface="+mn-ea"/>
                        </a:rPr>
                        <a:t>m,n</a:t>
                      </a:r>
                      <a:r>
                        <a:rPr lang="en-US" sz="2000" kern="100" dirty="0">
                          <a:effectLst/>
                          <a:latin typeface="+mn-ea"/>
                          <a:ea typeface="+mn-ea"/>
                        </a:rPr>
                        <a:t>),</a:t>
                      </a:r>
                      <a:r>
                        <a:rPr lang="en-US" sz="2000" kern="100" dirty="0" err="1">
                          <a:effectLst/>
                          <a:latin typeface="+mn-ea"/>
                          <a:ea typeface="+mn-ea"/>
                        </a:rPr>
                        <a:t>dtype</a:t>
                      </a:r>
                      <a:r>
                        <a:rPr lang="en-US" sz="2000" kern="100" dirty="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a:t>
                      </a:r>
                      <a:r>
                        <a:rPr lang="en-US" sz="2000" kern="100" dirty="0">
                          <a:effectLst/>
                          <a:latin typeface="+mn-ea"/>
                          <a:ea typeface="+mn-ea"/>
                        </a:rPr>
                        <a:t>m</a:t>
                      </a:r>
                      <a:r>
                        <a:rPr lang="zh-CN" sz="2000" kern="100" dirty="0">
                          <a:effectLst/>
                          <a:latin typeface="+mn-ea"/>
                          <a:ea typeface="+mn-ea"/>
                        </a:rPr>
                        <a:t>行</a:t>
                      </a:r>
                      <a:r>
                        <a:rPr lang="en-US" sz="2000" kern="100" dirty="0">
                          <a:effectLst/>
                          <a:latin typeface="+mn-ea"/>
                          <a:ea typeface="+mn-ea"/>
                        </a:rPr>
                        <a:t>n</a:t>
                      </a:r>
                      <a:r>
                        <a:rPr lang="zh-CN" sz="2000" kern="100" dirty="0">
                          <a:effectLst/>
                          <a:latin typeface="+mn-ea"/>
                          <a:ea typeface="+mn-ea"/>
                        </a:rPr>
                        <a:t>列全</a:t>
                      </a:r>
                      <a:r>
                        <a:rPr lang="en-US" sz="2000" kern="100" dirty="0">
                          <a:effectLst/>
                          <a:latin typeface="+mn-ea"/>
                          <a:ea typeface="+mn-ea"/>
                        </a:rPr>
                        <a:t>1</a:t>
                      </a:r>
                      <a:r>
                        <a:rPr lang="zh-CN" sz="2000" kern="100" dirty="0">
                          <a:effectLst/>
                          <a:latin typeface="+mn-ea"/>
                          <a:ea typeface="+mn-ea"/>
                        </a:rPr>
                        <a:t>的数组，</a:t>
                      </a:r>
                      <a:r>
                        <a:rPr lang="en-US" sz="2000" kern="100" dirty="0" err="1">
                          <a:effectLst/>
                          <a:latin typeface="+mn-ea"/>
                          <a:ea typeface="+mn-ea"/>
                        </a:rPr>
                        <a:t>dtype</a:t>
                      </a:r>
                      <a:r>
                        <a:rPr lang="zh-CN" sz="2000" kern="100" dirty="0">
                          <a:effectLst/>
                          <a:latin typeface="+mn-ea"/>
                          <a:ea typeface="+mn-ea"/>
                        </a:rPr>
                        <a:t>是数据类型</a:t>
                      </a:r>
                      <a:endParaRPr lang="zh-CN" sz="2000" kern="100" dirty="0">
                        <a:effectLst/>
                        <a:latin typeface="+mn-ea"/>
                        <a:ea typeface="+mn-ea"/>
                        <a:cs typeface="Times New Roman" panose="02020603050405020304" pitchFamily="18" charset="0"/>
                      </a:endParaRPr>
                    </a:p>
                  </a:txBody>
                  <a:tcPr marL="118714" marR="118714" marT="0" marB="0"/>
                </a:tc>
              </a:tr>
              <a:tr h="474108">
                <a:tc>
                  <a:txBody>
                    <a:bodyPr/>
                    <a:lstStyle/>
                    <a:p>
                      <a:pPr algn="ctr" fontAlgn="base">
                        <a:lnSpc>
                          <a:spcPct val="150000"/>
                        </a:lnSpc>
                        <a:spcAft>
                          <a:spcPts val="0"/>
                        </a:spcAft>
                      </a:pPr>
                      <a:r>
                        <a:rPr lang="en-US" sz="2000" kern="100" dirty="0" err="1" smtClean="0">
                          <a:effectLst/>
                          <a:latin typeface="+mn-ea"/>
                          <a:ea typeface="+mn-ea"/>
                        </a:rPr>
                        <a:t>np.</a:t>
                      </a:r>
                      <a:r>
                        <a:rPr lang="en-US" altLang="zh-CN" sz="2000" kern="100" dirty="0" err="1" smtClean="0">
                          <a:effectLst/>
                          <a:latin typeface="+mn-ea"/>
                          <a:ea typeface="+mn-ea"/>
                        </a:rPr>
                        <a:t>zeros</a:t>
                      </a:r>
                      <a:r>
                        <a:rPr lang="en-US" sz="2000" kern="100" dirty="0" smtClean="0">
                          <a:effectLst/>
                          <a:latin typeface="+mn-ea"/>
                          <a:ea typeface="+mn-ea"/>
                        </a:rPr>
                        <a:t>((</a:t>
                      </a:r>
                      <a:r>
                        <a:rPr lang="en-US" sz="2000" kern="100" dirty="0" err="1">
                          <a:effectLst/>
                          <a:latin typeface="+mn-ea"/>
                          <a:ea typeface="+mn-ea"/>
                        </a:rPr>
                        <a:t>m,n</a:t>
                      </a:r>
                      <a:r>
                        <a:rPr lang="en-US" sz="2000" kern="100" dirty="0">
                          <a:effectLst/>
                          <a:latin typeface="+mn-ea"/>
                          <a:ea typeface="+mn-ea"/>
                        </a:rPr>
                        <a:t>),</a:t>
                      </a:r>
                      <a:r>
                        <a:rPr lang="en-US" sz="2000" kern="100" dirty="0" err="1">
                          <a:effectLst/>
                          <a:latin typeface="+mn-ea"/>
                          <a:ea typeface="+mn-ea"/>
                        </a:rPr>
                        <a:t>dtype</a:t>
                      </a:r>
                      <a:r>
                        <a:rPr lang="en-US" sz="2000" kern="100" dirty="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a:t>
                      </a:r>
                      <a:r>
                        <a:rPr lang="en-US" sz="2000" kern="100" dirty="0">
                          <a:effectLst/>
                          <a:latin typeface="+mn-ea"/>
                          <a:ea typeface="+mn-ea"/>
                        </a:rPr>
                        <a:t>m</a:t>
                      </a:r>
                      <a:r>
                        <a:rPr lang="zh-CN" sz="2000" kern="100" dirty="0">
                          <a:effectLst/>
                          <a:latin typeface="+mn-ea"/>
                          <a:ea typeface="+mn-ea"/>
                        </a:rPr>
                        <a:t>行</a:t>
                      </a:r>
                      <a:r>
                        <a:rPr lang="en-US" sz="2000" kern="100" dirty="0">
                          <a:effectLst/>
                          <a:latin typeface="+mn-ea"/>
                          <a:ea typeface="+mn-ea"/>
                        </a:rPr>
                        <a:t>n</a:t>
                      </a:r>
                      <a:r>
                        <a:rPr lang="zh-CN" sz="2000" kern="100" dirty="0">
                          <a:effectLst/>
                          <a:latin typeface="+mn-ea"/>
                          <a:ea typeface="+mn-ea"/>
                        </a:rPr>
                        <a:t>列全</a:t>
                      </a:r>
                      <a:r>
                        <a:rPr lang="en-US" sz="2000" kern="100" dirty="0">
                          <a:effectLst/>
                          <a:latin typeface="+mn-ea"/>
                          <a:ea typeface="+mn-ea"/>
                        </a:rPr>
                        <a:t>0</a:t>
                      </a:r>
                      <a:r>
                        <a:rPr lang="zh-CN" sz="2000" kern="100" dirty="0">
                          <a:effectLst/>
                          <a:latin typeface="+mn-ea"/>
                          <a:ea typeface="+mn-ea"/>
                        </a:rPr>
                        <a:t>的数组，</a:t>
                      </a:r>
                      <a:r>
                        <a:rPr lang="en-US" sz="2000" kern="100" dirty="0" err="1">
                          <a:effectLst/>
                          <a:latin typeface="+mn-ea"/>
                          <a:ea typeface="+mn-ea"/>
                        </a:rPr>
                        <a:t>dtype</a:t>
                      </a:r>
                      <a:r>
                        <a:rPr lang="zh-CN" sz="2000" kern="100" dirty="0">
                          <a:effectLst/>
                          <a:latin typeface="+mn-ea"/>
                          <a:ea typeface="+mn-ea"/>
                        </a:rPr>
                        <a:t>是数据类型</a:t>
                      </a:r>
                      <a:endParaRPr lang="zh-CN" sz="2000" kern="100" dirty="0">
                        <a:effectLst/>
                        <a:latin typeface="+mn-ea"/>
                        <a:ea typeface="+mn-ea"/>
                        <a:cs typeface="Times New Roman" panose="02020603050405020304" pitchFamily="18" charset="0"/>
                      </a:endParaRPr>
                    </a:p>
                  </a:txBody>
                  <a:tcPr marL="118714" marR="118714" marT="0" marB="0"/>
                </a:tc>
              </a:tr>
              <a:tr h="237054">
                <a:tc>
                  <a:txBody>
                    <a:bodyPr/>
                    <a:lstStyle/>
                    <a:p>
                      <a:pPr algn="ctr" fontAlgn="base">
                        <a:lnSpc>
                          <a:spcPct val="150000"/>
                        </a:lnSpc>
                        <a:spcAft>
                          <a:spcPts val="0"/>
                        </a:spcAft>
                      </a:pPr>
                      <a:r>
                        <a:rPr lang="en-US" altLang="zh-CN" sz="2000" kern="100" dirty="0" err="1" smtClean="0">
                          <a:effectLst/>
                          <a:latin typeface="+mn-ea"/>
                          <a:ea typeface="+mn-ea"/>
                          <a:cs typeface="Times New Roman" panose="02020603050405020304" pitchFamily="18" charset="0"/>
                        </a:rPr>
                        <a:t>np.eye</a:t>
                      </a:r>
                      <a:r>
                        <a:rPr lang="en-US" altLang="zh-CN" sz="2000" kern="100" dirty="0" smtClean="0">
                          <a:effectLst/>
                          <a:latin typeface="+mn-ea"/>
                          <a:ea typeface="+mn-ea"/>
                          <a:cs typeface="Times New Roman" panose="02020603050405020304" pitchFamily="18" charset="0"/>
                        </a:rPr>
                        <a:t>(n)</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altLang="en-US" sz="2000" kern="100" dirty="0" smtClean="0">
                          <a:effectLst/>
                          <a:latin typeface="+mn-ea"/>
                          <a:ea typeface="+mn-ea"/>
                          <a:cs typeface="Times New Roman" panose="02020603050405020304" pitchFamily="18" charset="0"/>
                        </a:rPr>
                        <a:t>创建一个</a:t>
                      </a:r>
                      <a:r>
                        <a:rPr lang="en-US" altLang="zh-CN" sz="2000" kern="100" dirty="0" smtClean="0">
                          <a:effectLst/>
                          <a:latin typeface="+mn-ea"/>
                          <a:ea typeface="+mn-ea"/>
                          <a:cs typeface="Times New Roman" panose="02020603050405020304" pitchFamily="18" charset="0"/>
                        </a:rPr>
                        <a:t>n</a:t>
                      </a:r>
                      <a:r>
                        <a:rPr lang="zh-CN" altLang="en-US" sz="2000" kern="100" dirty="0" smtClean="0">
                          <a:effectLst/>
                          <a:latin typeface="+mn-ea"/>
                          <a:ea typeface="+mn-ea"/>
                          <a:cs typeface="Times New Roman" panose="02020603050405020304" pitchFamily="18" charset="0"/>
                        </a:rPr>
                        <a:t>行</a:t>
                      </a:r>
                      <a:r>
                        <a:rPr lang="en-US" altLang="zh-CN" sz="2000" kern="100" dirty="0" smtClean="0">
                          <a:effectLst/>
                          <a:latin typeface="+mn-ea"/>
                          <a:ea typeface="+mn-ea"/>
                          <a:cs typeface="Times New Roman" panose="02020603050405020304" pitchFamily="18" charset="0"/>
                        </a:rPr>
                        <a:t>n</a:t>
                      </a:r>
                      <a:r>
                        <a:rPr lang="zh-CN" altLang="en-US" sz="2000" kern="100" dirty="0" smtClean="0">
                          <a:effectLst/>
                          <a:latin typeface="+mn-ea"/>
                          <a:ea typeface="+mn-ea"/>
                          <a:cs typeface="Times New Roman" panose="02020603050405020304" pitchFamily="18" charset="0"/>
                        </a:rPr>
                        <a:t>列，对角线为</a:t>
                      </a:r>
                      <a:r>
                        <a:rPr lang="en-US" altLang="zh-CN" sz="2000" kern="100" dirty="0" smtClean="0">
                          <a:effectLst/>
                          <a:latin typeface="+mn-ea"/>
                          <a:ea typeface="+mn-ea"/>
                          <a:cs typeface="Times New Roman" panose="02020603050405020304" pitchFamily="18" charset="0"/>
                        </a:rPr>
                        <a:t>1</a:t>
                      </a:r>
                      <a:r>
                        <a:rPr lang="zh-CN" altLang="en-US" sz="2000" kern="100" dirty="0" smtClean="0">
                          <a:effectLst/>
                          <a:latin typeface="+mn-ea"/>
                          <a:ea typeface="+mn-ea"/>
                          <a:cs typeface="Times New Roman" panose="02020603050405020304" pitchFamily="18" charset="0"/>
                        </a:rPr>
                        <a:t>，其余为</a:t>
                      </a:r>
                      <a:r>
                        <a:rPr lang="en-US" altLang="zh-CN" sz="2000" kern="100" dirty="0" smtClean="0">
                          <a:effectLst/>
                          <a:latin typeface="+mn-ea"/>
                          <a:ea typeface="+mn-ea"/>
                          <a:cs typeface="Times New Roman" panose="02020603050405020304" pitchFamily="18" charset="0"/>
                        </a:rPr>
                        <a:t>0</a:t>
                      </a:r>
                      <a:r>
                        <a:rPr lang="zh-CN" altLang="en-US" sz="2000" kern="100" dirty="0" smtClean="0">
                          <a:effectLst/>
                          <a:latin typeface="+mn-ea"/>
                          <a:ea typeface="+mn-ea"/>
                          <a:cs typeface="Times New Roman" panose="02020603050405020304" pitchFamily="18" charset="0"/>
                        </a:rPr>
                        <a:t>的数组</a:t>
                      </a:r>
                      <a:endParaRPr lang="zh-CN" sz="2000" kern="100" dirty="0">
                        <a:effectLst/>
                        <a:latin typeface="+mn-ea"/>
                        <a:ea typeface="+mn-ea"/>
                        <a:cs typeface="Times New Roman" panose="02020603050405020304" pitchFamily="18" charset="0"/>
                      </a:endParaRPr>
                    </a:p>
                  </a:txBody>
                  <a:tcPr marL="118714" marR="118714" marT="0" marB="0"/>
                </a:tc>
              </a:tr>
              <a:tr h="237054">
                <a:tc>
                  <a:txBody>
                    <a:bodyPr/>
                    <a:lstStyle/>
                    <a:p>
                      <a:pPr algn="ctr" fontAlgn="base">
                        <a:lnSpc>
                          <a:spcPct val="150000"/>
                        </a:lnSpc>
                        <a:spcAft>
                          <a:spcPts val="0"/>
                        </a:spcAft>
                      </a:pPr>
                      <a:r>
                        <a:rPr lang="en-US" sz="2000" kern="100" dirty="0" err="1">
                          <a:effectLst/>
                          <a:latin typeface="+mn-ea"/>
                          <a:ea typeface="+mn-ea"/>
                        </a:rPr>
                        <a:t>np.random.rand</a:t>
                      </a:r>
                      <a:r>
                        <a:rPr lang="en-US" sz="2000" kern="100" dirty="0">
                          <a:effectLst/>
                          <a:latin typeface="+mn-ea"/>
                          <a:ea typeface="+mn-ea"/>
                        </a:rPr>
                        <a:t>(</a:t>
                      </a:r>
                      <a:r>
                        <a:rPr lang="en-US" sz="2000" kern="100" dirty="0" err="1">
                          <a:effectLst/>
                          <a:latin typeface="+mn-ea"/>
                          <a:ea typeface="+mn-ea"/>
                        </a:rPr>
                        <a:t>m,n</a:t>
                      </a:r>
                      <a:r>
                        <a:rPr lang="en-US" sz="2000" kern="100" dirty="0">
                          <a:effectLst/>
                          <a:latin typeface="+mn-ea"/>
                          <a:ea typeface="+mn-ea"/>
                        </a:rPr>
                        <a:t>)</a:t>
                      </a:r>
                      <a:endParaRPr lang="zh-CN" sz="2000" kern="100" dirty="0">
                        <a:effectLst/>
                        <a:latin typeface="+mn-ea"/>
                        <a:ea typeface="+mn-ea"/>
                        <a:cs typeface="Times New Roman" panose="02020603050405020304" pitchFamily="18" charset="0"/>
                      </a:endParaRPr>
                    </a:p>
                  </a:txBody>
                  <a:tcPr marL="118714" marR="118714" marT="0" marB="0" anchor="ctr"/>
                </a:tc>
                <a:tc>
                  <a:txBody>
                    <a:bodyPr/>
                    <a:lstStyle/>
                    <a:p>
                      <a:pPr algn="just" fontAlgn="base">
                        <a:lnSpc>
                          <a:spcPct val="150000"/>
                        </a:lnSpc>
                        <a:spcAft>
                          <a:spcPts val="0"/>
                        </a:spcAft>
                      </a:pPr>
                      <a:r>
                        <a:rPr lang="zh-CN" sz="2000" kern="100" dirty="0">
                          <a:effectLst/>
                          <a:latin typeface="+mn-ea"/>
                          <a:ea typeface="+mn-ea"/>
                        </a:rPr>
                        <a:t>创建一个</a:t>
                      </a:r>
                      <a:r>
                        <a:rPr lang="en-US" sz="2000" kern="100" dirty="0">
                          <a:effectLst/>
                          <a:latin typeface="+mn-ea"/>
                          <a:ea typeface="+mn-ea"/>
                        </a:rPr>
                        <a:t>m</a:t>
                      </a:r>
                      <a:r>
                        <a:rPr lang="zh-CN" sz="2000" kern="100" dirty="0">
                          <a:effectLst/>
                          <a:latin typeface="+mn-ea"/>
                          <a:ea typeface="+mn-ea"/>
                        </a:rPr>
                        <a:t>行</a:t>
                      </a:r>
                      <a:r>
                        <a:rPr lang="en-US" sz="2000" kern="100" dirty="0">
                          <a:effectLst/>
                          <a:latin typeface="+mn-ea"/>
                          <a:ea typeface="+mn-ea"/>
                        </a:rPr>
                        <a:t>n</a:t>
                      </a:r>
                      <a:r>
                        <a:rPr lang="zh-CN" sz="2000" kern="100" dirty="0">
                          <a:effectLst/>
                          <a:latin typeface="+mn-ea"/>
                          <a:ea typeface="+mn-ea"/>
                        </a:rPr>
                        <a:t>列的随机数组</a:t>
                      </a:r>
                      <a:endParaRPr lang="zh-CN" sz="2000" kern="100" dirty="0">
                        <a:effectLst/>
                        <a:latin typeface="+mn-ea"/>
                        <a:ea typeface="+mn-ea"/>
                        <a:cs typeface="Times New Roman" panose="02020603050405020304" pitchFamily="18" charset="0"/>
                      </a:endParaRPr>
                    </a:p>
                  </a:txBody>
                  <a:tcPr marL="118714" marR="118714"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23221"/>
            <a:chOff x="169526" y="203448"/>
            <a:chExt cx="7807482" cy="523221"/>
          </a:xfrm>
        </p:grpSpPr>
        <p:sp>
          <p:nvSpPr>
            <p:cNvPr id="4" name="TextBox 3"/>
            <p:cNvSpPr txBox="1"/>
            <p:nvPr/>
          </p:nvSpPr>
          <p:spPr>
            <a:xfrm>
              <a:off x="781173" y="203449"/>
              <a:ext cx="7195835" cy="523220"/>
            </a:xfrm>
            <a:prstGeom prst="rect">
              <a:avLst/>
            </a:prstGeom>
            <a:noFill/>
          </p:spPr>
          <p:txBody>
            <a:bodyPr wrap="square" rtlCol="0">
              <a:spAutoFit/>
            </a:bodyPr>
            <a:lstStyle/>
            <a:p>
              <a:r>
                <a:rPr lang="zh-CN" altLang="en-US" sz="2800" b="1" spc="300" dirty="0" smtClean="0">
                  <a:solidFill>
                    <a:srgbClr val="1E6787"/>
                  </a:solidFill>
                  <a:latin typeface="微软雅黑" panose="020B0503020204020204" pitchFamily="34" charset="-122"/>
                  <a:ea typeface="微软雅黑" panose="020B0503020204020204" pitchFamily="34" charset="-122"/>
                </a:rPr>
                <a:t>创建</a:t>
              </a:r>
              <a:r>
                <a:rPr lang="zh-CN" altLang="en-US" sz="2800" b="1" spc="300" dirty="0">
                  <a:solidFill>
                    <a:srgbClr val="1E6787"/>
                  </a:solidFill>
                  <a:latin typeface="微软雅黑" panose="020B0503020204020204" pitchFamily="34" charset="-122"/>
                  <a:ea typeface="微软雅黑" panose="020B0503020204020204" pitchFamily="34" charset="-122"/>
                </a:rPr>
                <a:t>数组的常用方法</a:t>
              </a:r>
              <a:endParaRPr lang="zh-CN" altLang="en-US" sz="28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0" name="内容占位符 1"/>
          <p:cNvSpPr txBox="1"/>
          <p:nvPr/>
        </p:nvSpPr>
        <p:spPr>
          <a:xfrm>
            <a:off x="1451479" y="1070613"/>
            <a:ext cx="8283389" cy="5570033"/>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a:defRPr/>
            </a:pPr>
            <a:r>
              <a:rPr lang="en-US" altLang="zh-CN" sz="2400" dirty="0" smtClean="0"/>
              <a:t>&gt;&gt;&gt; </a:t>
            </a:r>
            <a:r>
              <a:rPr lang="en-US" altLang="zh-CN" sz="2400" dirty="0" err="1" smtClean="0"/>
              <a:t>np.</a:t>
            </a:r>
            <a:r>
              <a:rPr lang="en-US" altLang="zh-CN" sz="2400" dirty="0" err="1" smtClean="0">
                <a:solidFill>
                  <a:srgbClr val="C00000"/>
                </a:solidFill>
              </a:rPr>
              <a:t>ones</a:t>
            </a:r>
            <a:r>
              <a:rPr lang="en-US" altLang="zh-CN" sz="2400" dirty="0" smtClean="0"/>
              <a:t>((2, 3))</a:t>
            </a:r>
            <a:endParaRPr lang="en-US" altLang="zh-CN" sz="2400" dirty="0" smtClean="0"/>
          </a:p>
          <a:p>
            <a:pPr>
              <a:defRPr/>
            </a:pPr>
            <a:r>
              <a:rPr lang="en-US" altLang="zh-CN" sz="2400" dirty="0" smtClean="0">
                <a:solidFill>
                  <a:srgbClr val="0066FF"/>
                </a:solidFill>
              </a:rPr>
              <a:t>array([[ 1., 1., 1.],</a:t>
            </a:r>
            <a:br>
              <a:rPr lang="en-US" altLang="zh-CN" sz="2400" dirty="0" smtClean="0">
                <a:solidFill>
                  <a:srgbClr val="0066FF"/>
                </a:solidFill>
              </a:rPr>
            </a:br>
            <a:r>
              <a:rPr lang="en-US" altLang="zh-CN" sz="2400" dirty="0" smtClean="0">
                <a:solidFill>
                  <a:srgbClr val="0066FF"/>
                </a:solidFill>
              </a:rPr>
              <a:t>	     [ 1., 1., 1.]])</a:t>
            </a:r>
            <a:endParaRPr lang="en-US" altLang="zh-CN" sz="2400" dirty="0" smtClean="0">
              <a:solidFill>
                <a:srgbClr val="0066FF"/>
              </a:solidFill>
            </a:endParaRPr>
          </a:p>
          <a:p>
            <a:pPr>
              <a:defRPr/>
            </a:pPr>
            <a:r>
              <a:rPr lang="en-US" altLang="zh-CN" sz="2400" dirty="0" smtClean="0"/>
              <a:t>&gt;&gt;&gt; </a:t>
            </a:r>
            <a:r>
              <a:rPr lang="en-US" altLang="zh-CN" sz="2400" dirty="0" err="1" smtClean="0"/>
              <a:t>np.</a:t>
            </a:r>
            <a:r>
              <a:rPr lang="en-US" altLang="zh-CN" sz="2400" dirty="0" err="1" smtClean="0">
                <a:solidFill>
                  <a:srgbClr val="C00000"/>
                </a:solidFill>
              </a:rPr>
              <a:t>zeros</a:t>
            </a:r>
            <a:r>
              <a:rPr lang="en-US" altLang="zh-CN" sz="2400" dirty="0" smtClean="0"/>
              <a:t>((2, 2))</a:t>
            </a:r>
            <a:endParaRPr lang="en-US" altLang="zh-CN" sz="2400" dirty="0" smtClean="0"/>
          </a:p>
          <a:p>
            <a:pPr>
              <a:defRPr/>
            </a:pPr>
            <a:r>
              <a:rPr lang="en-US" altLang="zh-CN" sz="2400" dirty="0" smtClean="0">
                <a:solidFill>
                  <a:srgbClr val="0066FF"/>
                </a:solidFill>
              </a:rPr>
              <a:t>array([[ 0., 0.],</a:t>
            </a:r>
            <a:br>
              <a:rPr lang="en-US" altLang="zh-CN" sz="2400" dirty="0" smtClean="0">
                <a:solidFill>
                  <a:srgbClr val="0066FF"/>
                </a:solidFill>
              </a:rPr>
            </a:br>
            <a:r>
              <a:rPr lang="en-US" altLang="zh-CN" sz="2400" dirty="0" smtClean="0">
                <a:solidFill>
                  <a:srgbClr val="0066FF"/>
                </a:solidFill>
              </a:rPr>
              <a:t>	    [ 0., 0.]])</a:t>
            </a:r>
            <a:endParaRPr lang="en-US" altLang="zh-CN" sz="2400" dirty="0" smtClean="0">
              <a:solidFill>
                <a:srgbClr val="0066FF"/>
              </a:solidFill>
            </a:endParaRPr>
          </a:p>
          <a:p>
            <a:pPr>
              <a:defRPr/>
            </a:pPr>
            <a:r>
              <a:rPr lang="en-US" altLang="zh-CN" sz="2400" dirty="0" smtClean="0"/>
              <a:t>&gt;&gt;&gt; </a:t>
            </a:r>
            <a:r>
              <a:rPr lang="en-US" altLang="zh-CN" sz="2400" dirty="0" err="1" smtClean="0"/>
              <a:t>np.</a:t>
            </a:r>
            <a:r>
              <a:rPr lang="en-US" altLang="zh-CN" sz="2400" dirty="0" err="1" smtClean="0">
                <a:solidFill>
                  <a:srgbClr val="C00000"/>
                </a:solidFill>
              </a:rPr>
              <a:t>arange</a:t>
            </a:r>
            <a:r>
              <a:rPr lang="en-US" altLang="zh-CN" sz="2400" dirty="0" smtClean="0"/>
              <a:t>(1, 5, 0.5)</a:t>
            </a:r>
            <a:endParaRPr lang="en-US" altLang="zh-CN" sz="2400" dirty="0" smtClean="0"/>
          </a:p>
          <a:p>
            <a:pPr>
              <a:defRPr/>
            </a:pPr>
            <a:r>
              <a:rPr lang="en-US" altLang="zh-CN" sz="2400" dirty="0" smtClean="0">
                <a:solidFill>
                  <a:srgbClr val="0066FF"/>
                </a:solidFill>
              </a:rPr>
              <a:t>array([ 1. , 1.5, 2. , 2.5, 3. , 3.5, 4. , 4.5])</a:t>
            </a:r>
            <a:endParaRPr lang="en-US" altLang="zh-CN" sz="2400" dirty="0" smtClean="0">
              <a:solidFill>
                <a:srgbClr val="0066FF"/>
              </a:solidFill>
            </a:endParaRPr>
          </a:p>
          <a:p>
            <a:pPr>
              <a:defRPr/>
            </a:pPr>
            <a:r>
              <a:rPr lang="en-US" altLang="zh-CN" sz="2400" dirty="0" smtClean="0"/>
              <a:t>&gt;&gt;&gt; </a:t>
            </a:r>
            <a:r>
              <a:rPr lang="en-US" altLang="zh-CN" sz="2400" dirty="0" err="1" smtClean="0"/>
              <a:t>np.</a:t>
            </a:r>
            <a:r>
              <a:rPr lang="en-US" altLang="zh-CN" sz="2400" dirty="0" err="1" smtClean="0">
                <a:solidFill>
                  <a:srgbClr val="C00000"/>
                </a:solidFill>
              </a:rPr>
              <a:t>linspace</a:t>
            </a:r>
            <a:r>
              <a:rPr lang="en-US" altLang="zh-CN" sz="2400" dirty="0" smtClean="0"/>
              <a:t>(1, 2, 10, </a:t>
            </a:r>
            <a:r>
              <a:rPr lang="en-US" altLang="zh-CN" sz="2400" dirty="0" smtClean="0">
                <a:solidFill>
                  <a:srgbClr val="C00000"/>
                </a:solidFill>
              </a:rPr>
              <a:t>endpoint</a:t>
            </a:r>
            <a:r>
              <a:rPr lang="en-US" altLang="zh-CN" sz="2400" dirty="0" smtClean="0"/>
              <a:t> = False)</a:t>
            </a:r>
            <a:endParaRPr lang="en-US" altLang="zh-CN" sz="2400" dirty="0" smtClean="0"/>
          </a:p>
          <a:p>
            <a:pPr>
              <a:defRPr/>
            </a:pPr>
            <a:r>
              <a:rPr lang="en-US" altLang="zh-CN" sz="2400" dirty="0" smtClean="0">
                <a:solidFill>
                  <a:srgbClr val="0066FF"/>
                </a:solidFill>
              </a:rPr>
              <a:t>array([ 1. , 1.1, 1.2, 1.3, 1.4, 1.5, 1.6, 1.7, 1.8, 1.9])</a:t>
            </a:r>
            <a:endParaRPr lang="en-US" altLang="zh-CN" sz="2400" dirty="0" smtClean="0">
              <a:solidFill>
                <a:srgbClr val="0066FF"/>
              </a:solidFill>
            </a:endParaRPr>
          </a:p>
          <a:p>
            <a:pPr>
              <a:defRPr/>
            </a:pPr>
            <a:r>
              <a:rPr lang="en-US" altLang="zh-CN" sz="2400" dirty="0" smtClean="0"/>
              <a:t>&gt;&gt;&gt; </a:t>
            </a:r>
            <a:r>
              <a:rPr lang="en-US" altLang="zh-CN" sz="2400" dirty="0" err="1" smtClean="0"/>
              <a:t>np.</a:t>
            </a:r>
            <a:r>
              <a:rPr lang="en-US" altLang="zh-CN" sz="2400" dirty="0" err="1" smtClean="0">
                <a:solidFill>
                  <a:srgbClr val="C00000"/>
                </a:solidFill>
              </a:rPr>
              <a:t>eye</a:t>
            </a:r>
            <a:r>
              <a:rPr lang="en-US" altLang="zh-CN" sz="2400" dirty="0" smtClean="0"/>
              <a:t>(2)</a:t>
            </a:r>
            <a:endParaRPr lang="en-US" altLang="zh-CN" sz="2400" dirty="0" smtClean="0"/>
          </a:p>
          <a:p>
            <a:pPr>
              <a:defRPr/>
            </a:pPr>
            <a:r>
              <a:rPr lang="en-US" altLang="zh-CN" sz="2400" dirty="0" smtClean="0">
                <a:solidFill>
                  <a:srgbClr val="0066FF"/>
                </a:solidFill>
              </a:rPr>
              <a:t>array([[ 1.,  0.],</a:t>
            </a:r>
            <a:endParaRPr lang="en-US" altLang="zh-CN" sz="2400" dirty="0" smtClean="0">
              <a:solidFill>
                <a:srgbClr val="0066FF"/>
              </a:solidFill>
            </a:endParaRPr>
          </a:p>
          <a:p>
            <a:pPr>
              <a:defRPr/>
            </a:pPr>
            <a:r>
              <a:rPr lang="en-US" altLang="zh-CN" sz="2400" dirty="0" smtClean="0">
                <a:solidFill>
                  <a:srgbClr val="0066FF"/>
                </a:solidFill>
              </a:rPr>
              <a:t>           [ 0.,  1.]])</a:t>
            </a:r>
            <a:endParaRPr lang="en-US" altLang="zh-CN" sz="2400" dirty="0">
              <a:solidFill>
                <a:srgbClr val="0066FF"/>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 calcmode="lin" valueType="num">
                                      <p:cBhvr>
                                        <p:cTn id="70"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71"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72" dur="500"/>
                                        <p:tgtEl>
                                          <p:spTgt spid="10">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 calcmode="lin" valueType="num">
                                      <p:cBhvr>
                                        <p:cTn id="77"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78"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79" dur="500"/>
                                        <p:tgtEl>
                                          <p:spTgt spid="10">
                                            <p:txEl>
                                              <p:pRg st="9" end="9"/>
                                            </p:txEl>
                                          </p:spTgt>
                                        </p:tgtEl>
                                      </p:cBhvr>
                                    </p:animEffect>
                                  </p:childTnLst>
                                </p:cTn>
                              </p:par>
                              <p:par>
                                <p:cTn id="80" presetID="53" presetClass="entr" presetSubtype="16" fill="hold" nodeType="withEffect">
                                  <p:stCondLst>
                                    <p:cond delay="0"/>
                                  </p:stCondLst>
                                  <p:childTnLst>
                                    <p:set>
                                      <p:cBhvr>
                                        <p:cTn id="81" dur="1" fill="hold">
                                          <p:stCondLst>
                                            <p:cond delay="0"/>
                                          </p:stCondLst>
                                        </p:cTn>
                                        <p:tgtEl>
                                          <p:spTgt spid="10">
                                            <p:txEl>
                                              <p:pRg st="10" end="10"/>
                                            </p:txEl>
                                          </p:spTgt>
                                        </p:tgtEl>
                                        <p:attrNameLst>
                                          <p:attrName>style.visibility</p:attrName>
                                        </p:attrNameLst>
                                      </p:cBhvr>
                                      <p:to>
                                        <p:strVal val="visible"/>
                                      </p:to>
                                    </p:set>
                                    <p:anim calcmode="lin" valueType="num">
                                      <p:cBhvr>
                                        <p:cTn id="82" dur="5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83" dur="5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84"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的数据类型</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1">
            <a:clrChange>
              <a:clrFrom>
                <a:srgbClr val="FFFFFF"/>
              </a:clrFrom>
              <a:clrTo>
                <a:srgbClr val="FFFFFF">
                  <a:alpha val="0"/>
                </a:srgbClr>
              </a:clrTo>
            </a:clrChange>
          </a:blip>
          <a:stretch>
            <a:fillRect/>
          </a:stretch>
        </p:blipFill>
        <p:spPr>
          <a:xfrm>
            <a:off x="9630038" y="1593325"/>
            <a:ext cx="2392535" cy="1381887"/>
          </a:xfrm>
          <a:prstGeom prst="rect">
            <a:avLst/>
          </a:prstGeom>
        </p:spPr>
      </p:pic>
      <p:graphicFrame>
        <p:nvGraphicFramePr>
          <p:cNvPr id="2" name="表格 1"/>
          <p:cNvGraphicFramePr>
            <a:graphicFrameLocks noGrp="1"/>
          </p:cNvGraphicFramePr>
          <p:nvPr/>
        </p:nvGraphicFramePr>
        <p:xfrm>
          <a:off x="525609" y="834353"/>
          <a:ext cx="11496964" cy="5675634"/>
        </p:xfrm>
        <a:graphic>
          <a:graphicData uri="http://schemas.openxmlformats.org/drawingml/2006/table">
            <a:tbl>
              <a:tblPr firstRow="1" bandRow="1">
                <a:tableStyleId>{5C22544A-7EE6-4342-B048-85BDC9FD1C3A}</a:tableStyleId>
              </a:tblPr>
              <a:tblGrid>
                <a:gridCol w="2790797"/>
                <a:gridCol w="8706167"/>
              </a:tblGrid>
              <a:tr h="322857">
                <a:tc>
                  <a:txBody>
                    <a:bodyPr/>
                    <a:lstStyle/>
                    <a:p>
                      <a:pPr algn="ctr">
                        <a:spcAft>
                          <a:spcPts val="0"/>
                        </a:spcAft>
                      </a:pPr>
                      <a:r>
                        <a:rPr lang="zh-CN" sz="1800" kern="100">
                          <a:effectLst/>
                        </a:rPr>
                        <a:t>数据类型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1800" kern="100">
                          <a:effectLst/>
                        </a:rPr>
                        <a:t>描述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bool</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用一位存储的布尔类型（值为</a:t>
                      </a:r>
                      <a:r>
                        <a:rPr lang="en-US" sz="1800" kern="100">
                          <a:effectLst/>
                        </a:rPr>
                        <a:t>True</a:t>
                      </a:r>
                      <a:r>
                        <a:rPr lang="zh-CN" sz="1800" kern="100">
                          <a:effectLst/>
                        </a:rPr>
                        <a:t>或</a:t>
                      </a:r>
                      <a:r>
                        <a:rPr lang="en-US" sz="1800" kern="100">
                          <a:effectLst/>
                        </a:rPr>
                        <a:t>False</a:t>
                      </a:r>
                      <a:r>
                        <a:rPr lang="zh-CN" sz="1800" kern="100">
                          <a:effectLst/>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int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由所在平台决定其精度的整数（一般为</a:t>
                      </a:r>
                      <a:r>
                        <a:rPr lang="en-US" sz="1800" kern="100">
                          <a:effectLst/>
                        </a:rPr>
                        <a:t>int32</a:t>
                      </a:r>
                      <a:r>
                        <a:rPr lang="zh-CN" sz="1800" kern="100">
                          <a:effectLst/>
                        </a:rPr>
                        <a:t>或</a:t>
                      </a:r>
                      <a:r>
                        <a:rPr lang="en-US" sz="1800" kern="100">
                          <a:effectLst/>
                        </a:rPr>
                        <a:t>int64</a:t>
                      </a:r>
                      <a:r>
                        <a:rPr lang="zh-CN"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int8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整数，范围为</a:t>
                      </a:r>
                      <a:r>
                        <a:rPr lang="en-US" sz="1800" kern="100">
                          <a:effectLst/>
                        </a:rPr>
                        <a:t>128</a:t>
                      </a:r>
                      <a:r>
                        <a:rPr lang="zh-CN" sz="1800" kern="100">
                          <a:effectLst/>
                        </a:rPr>
                        <a:t>至</a:t>
                      </a:r>
                      <a:r>
                        <a:rPr lang="en-US" sz="1800" kern="100">
                          <a:effectLst/>
                        </a:rPr>
                        <a:t>127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int16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整数，范围为</a:t>
                      </a:r>
                      <a:r>
                        <a:rPr lang="en-US" sz="1800" kern="100">
                          <a:effectLst/>
                        </a:rPr>
                        <a:t>32768</a:t>
                      </a:r>
                      <a:r>
                        <a:rPr lang="zh-CN" sz="1800" kern="100">
                          <a:effectLst/>
                        </a:rPr>
                        <a:t>至</a:t>
                      </a:r>
                      <a:r>
                        <a:rPr lang="en-US" sz="1800" kern="100">
                          <a:effectLst/>
                        </a:rPr>
                        <a:t>32767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int32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整数，范围为</a:t>
                      </a:r>
                      <a:r>
                        <a:rPr lang="en-US" sz="1800" kern="100">
                          <a:effectLst/>
                        </a:rPr>
                        <a:t>2</a:t>
                      </a:r>
                      <a:r>
                        <a:rPr lang="en-US" sz="1800" kern="100" baseline="30000">
                          <a:effectLst/>
                        </a:rPr>
                        <a:t>31</a:t>
                      </a:r>
                      <a:r>
                        <a:rPr lang="en-US" sz="1800" kern="100">
                          <a:effectLst/>
                        </a:rPr>
                        <a:t> </a:t>
                      </a:r>
                      <a:r>
                        <a:rPr lang="zh-CN" sz="1800" kern="100">
                          <a:effectLst/>
                        </a:rPr>
                        <a:t>至</a:t>
                      </a:r>
                      <a:r>
                        <a:rPr lang="en-US" sz="1800" kern="100">
                          <a:effectLst/>
                        </a:rPr>
                        <a:t>2</a:t>
                      </a:r>
                      <a:r>
                        <a:rPr lang="en-US" sz="1800" kern="100" baseline="30000">
                          <a:effectLst/>
                        </a:rPr>
                        <a:t>31</a:t>
                      </a:r>
                      <a:r>
                        <a:rPr lang="en-US" sz="1800" kern="100">
                          <a:effectLst/>
                        </a:rPr>
                        <a:t>-1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int64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整数，范围为</a:t>
                      </a:r>
                      <a:r>
                        <a:rPr lang="en-US" sz="1800" kern="100">
                          <a:effectLst/>
                        </a:rPr>
                        <a:t>2</a:t>
                      </a:r>
                      <a:r>
                        <a:rPr lang="en-US" sz="1800" kern="100" baseline="30000">
                          <a:effectLst/>
                        </a:rPr>
                        <a:t>63</a:t>
                      </a:r>
                      <a:r>
                        <a:rPr lang="en-US" sz="1800" kern="100">
                          <a:effectLst/>
                        </a:rPr>
                        <a:t> </a:t>
                      </a:r>
                      <a:r>
                        <a:rPr lang="zh-CN" sz="1800" kern="100">
                          <a:effectLst/>
                        </a:rPr>
                        <a:t>至</a:t>
                      </a:r>
                      <a:r>
                        <a:rPr lang="en-US" sz="1800" kern="100">
                          <a:effectLst/>
                        </a:rPr>
                        <a:t>2</a:t>
                      </a:r>
                      <a:r>
                        <a:rPr lang="en-US" sz="1800" kern="100" baseline="30000">
                          <a:effectLst/>
                        </a:rPr>
                        <a:t>63</a:t>
                      </a:r>
                      <a:r>
                        <a:rPr lang="en-US" sz="1800" kern="100">
                          <a:effectLst/>
                        </a:rPr>
                        <a:t> -1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uint8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无符号整数，范围为</a:t>
                      </a:r>
                      <a:r>
                        <a:rPr lang="en-US" sz="1800" kern="100">
                          <a:effectLst/>
                        </a:rPr>
                        <a:t>0</a:t>
                      </a:r>
                      <a:r>
                        <a:rPr lang="zh-CN" sz="1800" kern="100">
                          <a:effectLst/>
                        </a:rPr>
                        <a:t>至</a:t>
                      </a:r>
                      <a:r>
                        <a:rPr lang="en-US" sz="1800" kern="100">
                          <a:effectLst/>
                        </a:rPr>
                        <a:t>255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uint16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无符号整数，范围为</a:t>
                      </a:r>
                      <a:r>
                        <a:rPr lang="en-US" sz="1800" kern="100">
                          <a:effectLst/>
                        </a:rPr>
                        <a:t>0</a:t>
                      </a:r>
                      <a:r>
                        <a:rPr lang="zh-CN" sz="1800" kern="100">
                          <a:effectLst/>
                        </a:rPr>
                        <a:t>至</a:t>
                      </a:r>
                      <a:r>
                        <a:rPr lang="en-US" sz="1800" kern="100">
                          <a:effectLst/>
                        </a:rPr>
                        <a:t>65536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uint32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无符号整数，范围为</a:t>
                      </a:r>
                      <a:r>
                        <a:rPr lang="en-US" sz="1800" kern="100">
                          <a:effectLst/>
                        </a:rPr>
                        <a:t>0</a:t>
                      </a:r>
                      <a:r>
                        <a:rPr lang="zh-CN" sz="1800" kern="100">
                          <a:effectLst/>
                        </a:rPr>
                        <a:t>至</a:t>
                      </a:r>
                      <a:r>
                        <a:rPr lang="en-US" sz="1800" kern="100">
                          <a:effectLst/>
                        </a:rPr>
                        <a:t>2</a:t>
                      </a:r>
                      <a:r>
                        <a:rPr lang="en-US" sz="1800" kern="100" baseline="30000">
                          <a:effectLst/>
                        </a:rPr>
                        <a:t>32</a:t>
                      </a:r>
                      <a:r>
                        <a:rPr lang="en-US" sz="1800" kern="100">
                          <a:effectLst/>
                        </a:rPr>
                        <a:t>-1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uint64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无符号整数，范围为</a:t>
                      </a:r>
                      <a:r>
                        <a:rPr lang="en-US" sz="1800" kern="100">
                          <a:effectLst/>
                        </a:rPr>
                        <a:t>0</a:t>
                      </a:r>
                      <a:r>
                        <a:rPr lang="zh-CN" sz="1800" kern="100">
                          <a:effectLst/>
                        </a:rPr>
                        <a:t>至</a:t>
                      </a:r>
                      <a:r>
                        <a:rPr lang="en-US" sz="1800" kern="100">
                          <a:effectLst/>
                        </a:rPr>
                        <a:t>2</a:t>
                      </a:r>
                      <a:r>
                        <a:rPr lang="en-US" sz="1800" kern="100" baseline="30000">
                          <a:effectLst/>
                        </a:rPr>
                        <a:t>64</a:t>
                      </a:r>
                      <a:r>
                        <a:rPr lang="en-US" sz="1800" kern="100">
                          <a:effectLst/>
                        </a:rPr>
                        <a:t> -1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92831">
                <a:tc>
                  <a:txBody>
                    <a:bodyPr/>
                    <a:lstStyle/>
                    <a:p>
                      <a:pPr indent="266700" algn="l">
                        <a:spcAft>
                          <a:spcPts val="0"/>
                        </a:spcAft>
                      </a:pPr>
                      <a:r>
                        <a:rPr lang="en-US" sz="1800" kern="100">
                          <a:effectLst/>
                        </a:rPr>
                        <a:t>float16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marL="307975" indent="-41275" algn="l">
                        <a:spcAft>
                          <a:spcPts val="0"/>
                        </a:spcAft>
                      </a:pPr>
                      <a:r>
                        <a:rPr lang="zh-CN" sz="1800" kern="100">
                          <a:effectLst/>
                        </a:rPr>
                        <a:t>半精度浮点数（</a:t>
                      </a:r>
                      <a:r>
                        <a:rPr lang="en-US" sz="1800" kern="100">
                          <a:effectLst/>
                        </a:rPr>
                        <a:t>16</a:t>
                      </a:r>
                      <a:r>
                        <a:rPr lang="zh-CN" sz="1800" kern="100">
                          <a:effectLst/>
                        </a:rPr>
                        <a:t>位）：其中用</a:t>
                      </a:r>
                      <a:r>
                        <a:rPr lang="en-US" sz="1800" kern="100">
                          <a:effectLst/>
                        </a:rPr>
                        <a:t>1</a:t>
                      </a:r>
                      <a:r>
                        <a:rPr lang="zh-CN" sz="1800" kern="100">
                          <a:effectLst/>
                        </a:rPr>
                        <a:t>位表示正负号，</a:t>
                      </a:r>
                      <a:r>
                        <a:rPr lang="en-US" sz="1800" kern="100">
                          <a:effectLst/>
                        </a:rPr>
                        <a:t>5</a:t>
                      </a:r>
                      <a:r>
                        <a:rPr lang="zh-CN" sz="1800" kern="100">
                          <a:effectLst/>
                        </a:rPr>
                        <a:t>位表示指数，</a:t>
                      </a:r>
                      <a:r>
                        <a:rPr lang="en-US" sz="1800" kern="100">
                          <a:effectLst/>
                        </a:rPr>
                        <a:t>10</a:t>
                      </a:r>
                      <a:r>
                        <a:rPr lang="zh-CN" sz="1800" kern="100">
                          <a:effectLst/>
                        </a:rPr>
                        <a:t>位表示尾数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92831">
                <a:tc>
                  <a:txBody>
                    <a:bodyPr/>
                    <a:lstStyle/>
                    <a:p>
                      <a:pPr indent="266700" algn="l">
                        <a:spcAft>
                          <a:spcPts val="0"/>
                        </a:spcAft>
                      </a:pPr>
                      <a:r>
                        <a:rPr lang="en-US" sz="1800" kern="100">
                          <a:effectLst/>
                        </a:rPr>
                        <a:t>float32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marL="307975" indent="-41275" algn="l">
                        <a:spcAft>
                          <a:spcPts val="0"/>
                        </a:spcAft>
                      </a:pPr>
                      <a:r>
                        <a:rPr lang="zh-CN" sz="1800" kern="100">
                          <a:effectLst/>
                        </a:rPr>
                        <a:t>单精度浮点数（</a:t>
                      </a:r>
                      <a:r>
                        <a:rPr lang="en-US" sz="1800" kern="100">
                          <a:effectLst/>
                        </a:rPr>
                        <a:t>32</a:t>
                      </a:r>
                      <a:r>
                        <a:rPr lang="zh-CN" sz="1800" kern="100">
                          <a:effectLst/>
                        </a:rPr>
                        <a:t>位）：其中用</a:t>
                      </a:r>
                      <a:r>
                        <a:rPr lang="en-US" sz="1800" kern="100">
                          <a:effectLst/>
                        </a:rPr>
                        <a:t>1</a:t>
                      </a:r>
                      <a:r>
                        <a:rPr lang="zh-CN" sz="1800" kern="100">
                          <a:effectLst/>
                        </a:rPr>
                        <a:t>位表示正负号，</a:t>
                      </a:r>
                      <a:r>
                        <a:rPr lang="en-US" sz="1800" kern="100">
                          <a:effectLst/>
                        </a:rPr>
                        <a:t>8</a:t>
                      </a:r>
                      <a:r>
                        <a:rPr lang="zh-CN" sz="1800" kern="100">
                          <a:effectLst/>
                        </a:rPr>
                        <a:t>位表示指数，</a:t>
                      </a:r>
                      <a:r>
                        <a:rPr lang="en-US" sz="1800" kern="100">
                          <a:effectLst/>
                        </a:rPr>
                        <a:t>23</a:t>
                      </a:r>
                      <a:r>
                        <a:rPr lang="zh-CN" sz="1800" kern="100">
                          <a:effectLst/>
                        </a:rPr>
                        <a:t>位表示尾数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92831">
                <a:tc>
                  <a:txBody>
                    <a:bodyPr/>
                    <a:lstStyle/>
                    <a:p>
                      <a:pPr indent="266700" algn="l">
                        <a:spcAft>
                          <a:spcPts val="0"/>
                        </a:spcAft>
                      </a:pPr>
                      <a:r>
                        <a:rPr lang="en-US" sz="1800" kern="100">
                          <a:effectLst/>
                        </a:rPr>
                        <a:t>float64</a:t>
                      </a:r>
                      <a:r>
                        <a:rPr lang="zh-CN" sz="1800" kern="100">
                          <a:effectLst/>
                        </a:rPr>
                        <a:t>或</a:t>
                      </a:r>
                      <a:r>
                        <a:rPr lang="en-US" sz="1800" kern="100">
                          <a:effectLst/>
                        </a:rPr>
                        <a:t>float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marL="307975" indent="-41275" algn="l">
                        <a:spcAft>
                          <a:spcPts val="0"/>
                        </a:spcAft>
                      </a:pPr>
                      <a:r>
                        <a:rPr lang="zh-CN" sz="1800" kern="100">
                          <a:effectLst/>
                        </a:rPr>
                        <a:t>双精度浮点数（</a:t>
                      </a:r>
                      <a:r>
                        <a:rPr lang="en-US" sz="1800" kern="100">
                          <a:effectLst/>
                        </a:rPr>
                        <a:t>64</a:t>
                      </a:r>
                      <a:r>
                        <a:rPr lang="zh-CN" sz="1800" kern="100">
                          <a:effectLst/>
                        </a:rPr>
                        <a:t>位）：其中用</a:t>
                      </a:r>
                      <a:r>
                        <a:rPr lang="en-US" sz="1800" kern="100">
                          <a:effectLst/>
                        </a:rPr>
                        <a:t>1</a:t>
                      </a:r>
                      <a:r>
                        <a:rPr lang="zh-CN" sz="1800" kern="100">
                          <a:effectLst/>
                        </a:rPr>
                        <a:t>位表示正负号，</a:t>
                      </a:r>
                      <a:r>
                        <a:rPr lang="en-US" sz="1800" kern="100">
                          <a:effectLst/>
                        </a:rPr>
                        <a:t>11</a:t>
                      </a:r>
                      <a:r>
                        <a:rPr lang="zh-CN" sz="1800" kern="100">
                          <a:effectLst/>
                        </a:rPr>
                        <a:t>位表示指数，</a:t>
                      </a:r>
                      <a:r>
                        <a:rPr lang="en-US" sz="1800" kern="100">
                          <a:effectLst/>
                        </a:rPr>
                        <a:t>52</a:t>
                      </a:r>
                      <a:r>
                        <a:rPr lang="zh-CN" sz="1800" kern="100">
                          <a:effectLst/>
                        </a:rPr>
                        <a:t>位表示尾数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complex64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a:effectLst/>
                        </a:rPr>
                        <a:t>复数，分别用两个</a:t>
                      </a:r>
                      <a:r>
                        <a:rPr lang="en-US" sz="1800" kern="100">
                          <a:effectLst/>
                        </a:rPr>
                        <a:t>32</a:t>
                      </a:r>
                      <a:r>
                        <a:rPr lang="zh-CN" sz="1800" kern="100">
                          <a:effectLst/>
                        </a:rPr>
                        <a:t>位浮点数表示实部和虚部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322857">
                <a:tc>
                  <a:txBody>
                    <a:bodyPr/>
                    <a:lstStyle/>
                    <a:p>
                      <a:pPr indent="266700" algn="l">
                        <a:spcAft>
                          <a:spcPts val="0"/>
                        </a:spcAft>
                      </a:pPr>
                      <a:r>
                        <a:rPr lang="en-US" sz="1800" kern="100">
                          <a:effectLst/>
                        </a:rPr>
                        <a:t>complex128</a:t>
                      </a:r>
                      <a:r>
                        <a:rPr lang="zh-CN" sz="1800" kern="100">
                          <a:effectLst/>
                        </a:rPr>
                        <a:t>或</a:t>
                      </a:r>
                      <a:r>
                        <a:rPr lang="en-US" sz="1800" kern="100">
                          <a:effectLst/>
                        </a:rPr>
                        <a:t>complex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1800" kern="100" dirty="0">
                          <a:effectLst/>
                        </a:rPr>
                        <a:t>复数，分别用两个</a:t>
                      </a:r>
                      <a:r>
                        <a:rPr lang="en-US" sz="1800" kern="100" dirty="0">
                          <a:effectLst/>
                        </a:rPr>
                        <a:t>64</a:t>
                      </a:r>
                      <a:r>
                        <a:rPr lang="zh-CN" sz="1800" kern="100" dirty="0">
                          <a:effectLst/>
                        </a:rPr>
                        <a:t>位浮点数表示实部和虚部</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计 算 机 基 础</a:t>
              </a:r>
              <a:r>
                <a:rPr lang="en-US" altLang="zh-CN" sz="2400" b="1" dirty="0">
                  <a:solidFill>
                    <a:srgbClr val="1E6787"/>
                  </a:solidFill>
                  <a:latin typeface="微软雅黑" panose="020B0503020204020204" pitchFamily="34" charset="-122"/>
                  <a:ea typeface="微软雅黑" panose="020B0503020204020204" pitchFamily="34" charset="-122"/>
                </a:rPr>
                <a:t>——</a:t>
              </a:r>
              <a:r>
                <a:rPr lang="zh-CN" altLang="en-US" sz="2000" b="1" dirty="0">
                  <a:solidFill>
                    <a:srgbClr val="1E6787"/>
                  </a:solidFill>
                  <a:latin typeface="微软雅黑" panose="020B0503020204020204" pitchFamily="34" charset="-122"/>
                  <a:ea typeface="微软雅黑" panose="020B0503020204020204" pitchFamily="34" charset="-122"/>
                </a:rPr>
                <a:t>软件和程序设计 </a:t>
              </a:r>
              <a:endParaRPr lang="zh-CN" altLang="en-US" sz="20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p:cNvSpPr txBox="1"/>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endParaRPr lang="en-US" altLang="zh-CN" sz="4400" dirty="0">
              <a:solidFill>
                <a:schemeClr val="tx1">
                  <a:lumMod val="65000"/>
                  <a:lumOff val="35000"/>
                </a:schemeClr>
              </a:solidFill>
              <a:latin typeface="+mj-lt"/>
            </a:endParaRPr>
          </a:p>
          <a:p>
            <a:pPr marL="0" indent="0" algn="r">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Steve Jobs</a:t>
            </a:r>
            <a:endParaRPr lang="en-US" altLang="zh-CN" sz="4400" dirty="0">
              <a:solidFill>
                <a:schemeClr val="tx1">
                  <a:lumMod val="65000"/>
                  <a:lumOff val="35000"/>
                </a:schemeClr>
              </a:solidFill>
              <a:latin typeface="+mj-lt"/>
            </a:endParaRPr>
          </a:p>
        </p:txBody>
      </p:sp>
      <p:pic>
        <p:nvPicPr>
          <p:cNvPr id="23" name="图片 22"/>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p:cNvSpPr txBox="1"/>
          <p:nvPr/>
        </p:nvSpPr>
        <p:spPr>
          <a:xfrm>
            <a:off x="2758231" y="2752857"/>
            <a:ext cx="7297190" cy="1015663"/>
          </a:xfrm>
          <a:prstGeom prst="rect">
            <a:avLst/>
          </a:prstGeom>
          <a:noFill/>
        </p:spPr>
        <p:txBody>
          <a:bodyPr wrap="none" rtlCol="0">
            <a:spAutoFit/>
          </a:bodyPr>
          <a:lstStyle/>
          <a:p>
            <a:r>
              <a:rPr lang="zh-CN" altLang="en-US" sz="6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数组</a:t>
            </a:r>
            <a:r>
              <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对象的常见操作</a:t>
            </a:r>
            <a:endPar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25" name="Group 5"/>
          <p:cNvGrpSpPr/>
          <p:nvPr/>
        </p:nvGrpSpPr>
        <p:grpSpPr>
          <a:xfrm>
            <a:off x="8825614" y="4241498"/>
            <a:ext cx="2169488" cy="2175406"/>
            <a:chOff x="5292553" y="3355717"/>
            <a:chExt cx="1711365" cy="2494000"/>
          </a:xfrm>
          <a:solidFill>
            <a:schemeClr val="bg1">
              <a:lumMod val="95000"/>
            </a:schemeClr>
          </a:solidFill>
        </p:grpSpPr>
        <p:sp>
          <p:nvSpPr>
            <p:cNvPr id="26"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9"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51"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1"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3"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4"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5"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6"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7"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8"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9"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0"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1"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2"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3"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4"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5"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6"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7"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8"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9"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0"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1"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2"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83" name="组合 82"/>
          <p:cNvGrpSpPr/>
          <p:nvPr/>
        </p:nvGrpSpPr>
        <p:grpSpPr>
          <a:xfrm>
            <a:off x="443983" y="1112313"/>
            <a:ext cx="1936868" cy="1936868"/>
            <a:chOff x="2572456" y="958222"/>
            <a:chExt cx="1936868" cy="1936868"/>
          </a:xfrm>
        </p:grpSpPr>
        <p:grpSp>
          <p:nvGrpSpPr>
            <p:cNvPr id="84" name="组合 83"/>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87" name="椭圆 86"/>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85" name="TextBox 1"/>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02</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p:cNvGrpSpPr/>
          <p:nvPr/>
        </p:nvGrpSpPr>
        <p:grpSpPr>
          <a:xfrm rot="5400000">
            <a:off x="7939470" y="-3214903"/>
            <a:ext cx="942183" cy="7462505"/>
            <a:chOff x="-11273" y="-594773"/>
            <a:chExt cx="719786" cy="7462505"/>
          </a:xfrm>
        </p:grpSpPr>
        <p:sp>
          <p:nvSpPr>
            <p:cNvPr id="89" name="等腰三角形 88"/>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44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zh-CN" altLang="en-US" sz="2400" b="1" spc="300" dirty="0">
                  <a:solidFill>
                    <a:srgbClr val="1E6787"/>
                  </a:solidFill>
                  <a:latin typeface="微软雅黑" panose="020B0503020204020204" pitchFamily="34" charset="-122"/>
                  <a:ea typeface="微软雅黑" panose="020B0503020204020204" pitchFamily="34" charset="-122"/>
                </a:rPr>
                <a:t>数组的</a:t>
              </a:r>
              <a:r>
                <a:rPr lang="zh-CN" altLang="en-US" sz="2400" b="1" spc="300" dirty="0" smtClean="0">
                  <a:solidFill>
                    <a:srgbClr val="1E6787"/>
                  </a:solidFill>
                  <a:latin typeface="微软雅黑" panose="020B0503020204020204" pitchFamily="34" charset="-122"/>
                  <a:ea typeface="微软雅黑" panose="020B0503020204020204" pitchFamily="34" charset="-122"/>
                </a:rPr>
                <a:t>基本运算：数组之间的运算</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8" name="TextBox 2"/>
          <p:cNvSpPr txBox="1">
            <a:spLocks noChangeArrowheads="1"/>
          </p:cNvSpPr>
          <p:nvPr/>
        </p:nvSpPr>
        <p:spPr bwMode="auto">
          <a:xfrm>
            <a:off x="9976512" y="85005"/>
            <a:ext cx="8106771"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Wingdings" panose="05000000000000000000" pitchFamily="2" charset="2"/>
              <a:buChar char="l"/>
            </a:pPr>
            <a:endParaRPr lang="zh-CN" altLang="en-US"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zh-CN" sz="2800" dirty="0">
              <a:solidFill>
                <a:schemeClr val="accent4"/>
              </a:solidFill>
              <a:latin typeface="微软雅黑" panose="020B0503020204020204" pitchFamily="34" charset="-122"/>
              <a:ea typeface="微软雅黑" panose="020B0503020204020204" pitchFamily="34" charset="-122"/>
            </a:endParaRPr>
          </a:p>
        </p:txBody>
      </p:sp>
      <p:sp>
        <p:nvSpPr>
          <p:cNvPr id="10" name="内容占位符 1"/>
          <p:cNvSpPr txBox="1"/>
          <p:nvPr/>
        </p:nvSpPr>
        <p:spPr>
          <a:xfrm>
            <a:off x="1874560" y="787212"/>
            <a:ext cx="7569691" cy="6060347"/>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import </a:t>
            </a:r>
            <a:r>
              <a:rPr lang="en-US" altLang="zh-CN" sz="2400" dirty="0" err="1"/>
              <a:t>numpy</a:t>
            </a:r>
            <a:r>
              <a:rPr lang="en-US" altLang="zh-CN" sz="2400" dirty="0"/>
              <a:t> as np</a:t>
            </a:r>
            <a:endParaRPr lang="zh-CN" altLang="zh-CN" sz="2400" dirty="0"/>
          </a:p>
          <a:p>
            <a:pPr marL="0" indent="0">
              <a:buNone/>
            </a:pPr>
            <a:r>
              <a:rPr lang="en-US" altLang="zh-CN" sz="2400" dirty="0"/>
              <a:t>&gt;&gt;&gt; Array1 = Array2 = </a:t>
            </a:r>
            <a:r>
              <a:rPr lang="en-US" altLang="zh-CN" sz="2400" dirty="0" err="1"/>
              <a:t>np.ones</a:t>
            </a:r>
            <a:r>
              <a:rPr lang="en-US" altLang="zh-CN" sz="2400" dirty="0"/>
              <a:t>((2,3),</a:t>
            </a:r>
            <a:r>
              <a:rPr lang="en-US" altLang="zh-CN" sz="2400" dirty="0" err="1"/>
              <a:t>dtype</a:t>
            </a:r>
            <a:r>
              <a:rPr lang="en-US" altLang="zh-CN" sz="2400" dirty="0"/>
              <a:t>=</a:t>
            </a:r>
            <a:r>
              <a:rPr lang="en-US" altLang="zh-CN" sz="2400" dirty="0" err="1"/>
              <a:t>int</a:t>
            </a:r>
            <a:r>
              <a:rPr lang="en-US" altLang="zh-CN" sz="2400" dirty="0"/>
              <a:t>)</a:t>
            </a:r>
            <a:endParaRPr lang="zh-CN" altLang="zh-CN" sz="2400" dirty="0"/>
          </a:p>
          <a:p>
            <a:pPr marL="0" indent="0">
              <a:buNone/>
            </a:pPr>
            <a:r>
              <a:rPr lang="en-US" altLang="zh-CN" sz="2400" dirty="0"/>
              <a:t>&gt;&gt;&gt; Array1 + Array2                  # </a:t>
            </a:r>
            <a:r>
              <a:rPr lang="zh-CN" altLang="zh-CN" sz="2400" dirty="0"/>
              <a:t>两个数组求和</a:t>
            </a:r>
            <a:endParaRPr lang="zh-CN" altLang="zh-CN" sz="2400" dirty="0"/>
          </a:p>
          <a:p>
            <a:pPr marL="0" indent="0">
              <a:buNone/>
            </a:pPr>
            <a:r>
              <a:rPr lang="en-US" altLang="zh-CN" sz="2400" dirty="0"/>
              <a:t>array([[2, 2, 2],</a:t>
            </a:r>
            <a:endParaRPr lang="zh-CN" altLang="zh-CN" sz="2400" dirty="0"/>
          </a:p>
          <a:p>
            <a:pPr marL="0" indent="0">
              <a:buNone/>
            </a:pPr>
            <a:r>
              <a:rPr lang="en-US" altLang="zh-CN" sz="2400" dirty="0"/>
              <a:t>       </a:t>
            </a:r>
            <a:r>
              <a:rPr lang="en-US" altLang="zh-CN" sz="2400" dirty="0" smtClean="0"/>
              <a:t>     </a:t>
            </a:r>
            <a:r>
              <a:rPr lang="en-US" altLang="zh-CN" sz="2400" dirty="0"/>
              <a:t>[2, 2, 2]])</a:t>
            </a:r>
            <a:endParaRPr lang="zh-CN" altLang="zh-CN" sz="2400" dirty="0"/>
          </a:p>
          <a:p>
            <a:pPr marL="0" indent="0">
              <a:buNone/>
            </a:pPr>
            <a:r>
              <a:rPr lang="en-US" altLang="zh-CN" sz="2400" dirty="0"/>
              <a:t>&gt;&gt;&gt; Array1 - rray2                   </a:t>
            </a:r>
            <a:r>
              <a:rPr lang="en-US" altLang="zh-CN" sz="2400" dirty="0" smtClean="0"/>
              <a:t> # </a:t>
            </a:r>
            <a:r>
              <a:rPr lang="zh-CN" altLang="zh-CN" sz="2400" dirty="0"/>
              <a:t>两个数组求差</a:t>
            </a:r>
            <a:endParaRPr lang="zh-CN" altLang="zh-CN" sz="2400" dirty="0"/>
          </a:p>
          <a:p>
            <a:pPr marL="0" indent="0">
              <a:buNone/>
            </a:pPr>
            <a:r>
              <a:rPr lang="en-US" altLang="zh-CN" sz="2400" dirty="0"/>
              <a:t>array([[0, 0, 0],</a:t>
            </a:r>
            <a:endParaRPr lang="zh-CN" altLang="zh-CN" sz="2400" dirty="0"/>
          </a:p>
          <a:p>
            <a:pPr marL="0" indent="0">
              <a:buNone/>
            </a:pPr>
            <a:r>
              <a:rPr lang="en-US" altLang="zh-CN" sz="2400" dirty="0"/>
              <a:t>       </a:t>
            </a:r>
            <a:r>
              <a:rPr lang="en-US" altLang="zh-CN" sz="2400" dirty="0" smtClean="0"/>
              <a:t>     </a:t>
            </a:r>
            <a:r>
              <a:rPr lang="en-US" altLang="zh-CN" sz="2400" dirty="0"/>
              <a:t>[0, 0, 0]])</a:t>
            </a:r>
            <a:endParaRPr lang="zh-CN" altLang="zh-CN" sz="2400" dirty="0"/>
          </a:p>
          <a:p>
            <a:pPr marL="0" indent="0">
              <a:buNone/>
            </a:pPr>
            <a:r>
              <a:rPr lang="en-US" altLang="zh-CN" sz="2400" dirty="0"/>
              <a:t>&gt;&gt;&gt; Array * Array2                   # </a:t>
            </a:r>
            <a:r>
              <a:rPr lang="zh-CN" altLang="zh-CN" sz="2400" dirty="0"/>
              <a:t>两个数组求积</a:t>
            </a:r>
            <a:endParaRPr lang="zh-CN" altLang="zh-CN" sz="2400" dirty="0"/>
          </a:p>
          <a:p>
            <a:pPr marL="0" indent="0">
              <a:buNone/>
            </a:pPr>
            <a:r>
              <a:rPr lang="en-US" altLang="zh-CN" sz="2400" dirty="0"/>
              <a:t>array([[1, 1, 1],</a:t>
            </a:r>
            <a:endParaRPr lang="zh-CN" altLang="zh-CN" sz="2400" dirty="0"/>
          </a:p>
          <a:p>
            <a:pPr marL="0" indent="0">
              <a:buNone/>
            </a:pPr>
            <a:r>
              <a:rPr lang="en-US" altLang="zh-CN" sz="2400" dirty="0"/>
              <a:t>     </a:t>
            </a:r>
            <a:r>
              <a:rPr lang="en-US" altLang="zh-CN" sz="2400" dirty="0" smtClean="0"/>
              <a:t>       </a:t>
            </a:r>
            <a:r>
              <a:rPr lang="en-US" altLang="zh-CN" sz="2400" dirty="0"/>
              <a:t>[1, 1, 1]])</a:t>
            </a:r>
            <a:endParaRPr lang="zh-CN" altLang="zh-CN" sz="2400" dirty="0"/>
          </a:p>
          <a:p>
            <a:pPr marL="0" indent="0">
              <a:buNone/>
            </a:pPr>
            <a:r>
              <a:rPr lang="en-US" altLang="zh-CN" sz="2400" dirty="0"/>
              <a:t>&gt;&gt;&gt; Array1/Array2                    # </a:t>
            </a:r>
            <a:r>
              <a:rPr lang="zh-CN" altLang="zh-CN" sz="2400" dirty="0"/>
              <a:t>两个数组求商</a:t>
            </a:r>
            <a:endParaRPr lang="zh-CN" altLang="zh-CN" sz="2400" dirty="0"/>
          </a:p>
          <a:p>
            <a:pPr marL="0" indent="0">
              <a:buNone/>
            </a:pPr>
            <a:r>
              <a:rPr lang="en-US" altLang="zh-CN" sz="2400" dirty="0"/>
              <a:t>array([[1., 1., 1.],</a:t>
            </a:r>
            <a:endParaRPr lang="zh-CN" altLang="zh-CN" sz="2400" dirty="0"/>
          </a:p>
          <a:p>
            <a:pPr marL="0" indent="0">
              <a:buNone/>
            </a:pPr>
            <a:r>
              <a:rPr lang="en-US" altLang="zh-CN" sz="2400" dirty="0"/>
              <a:t>      </a:t>
            </a:r>
            <a:r>
              <a:rPr lang="en-US" altLang="zh-CN" sz="2400" dirty="0" smtClean="0"/>
              <a:t>      </a:t>
            </a:r>
            <a:r>
              <a:rPr lang="en-US" altLang="zh-CN" sz="2400" dirty="0"/>
              <a:t>[1., 1., 1.]])</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0">
                                            <p:txEl>
                                              <p:pRg st="4" end="4"/>
                                            </p:txEl>
                                          </p:spTgt>
                                        </p:tgtEl>
                                        <p:attrNameLst>
                                          <p:attrName>style.visibility</p:attrName>
                                        </p:attrNameLst>
                                      </p:cBhvr>
                                      <p:to>
                                        <p:strVal val="visible"/>
                                      </p:to>
                                    </p:set>
                                    <p:anim calcmode="lin" valueType="num">
                                      <p:cBhvr>
                                        <p:cTn id="40"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10">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0">
                                            <p:txEl>
                                              <p:pRg st="5" end="5"/>
                                            </p:txEl>
                                          </p:spTgt>
                                        </p:tgtEl>
                                        <p:attrNameLst>
                                          <p:attrName>style.visibility</p:attrName>
                                        </p:attrNameLst>
                                      </p:cBhvr>
                                      <p:to>
                                        <p:strVal val="visible"/>
                                      </p:to>
                                    </p:set>
                                    <p:anim calcmode="lin" valueType="num">
                                      <p:cBhvr>
                                        <p:cTn id="47"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49" dur="500"/>
                                        <p:tgtEl>
                                          <p:spTgt spid="10">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0">
                                            <p:txEl>
                                              <p:pRg st="6" end="6"/>
                                            </p:txEl>
                                          </p:spTgt>
                                        </p:tgtEl>
                                        <p:attrNameLst>
                                          <p:attrName>style.visibility</p:attrName>
                                        </p:attrNameLst>
                                      </p:cBhvr>
                                      <p:to>
                                        <p:strVal val="visible"/>
                                      </p:to>
                                    </p:set>
                                    <p:anim calcmode="lin" valueType="num">
                                      <p:cBhvr>
                                        <p:cTn id="54"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5"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6" dur="500"/>
                                        <p:tgtEl>
                                          <p:spTgt spid="10">
                                            <p:txEl>
                                              <p:pRg st="6" end="6"/>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0">
                                            <p:txEl>
                                              <p:pRg st="7" end="7"/>
                                            </p:txEl>
                                          </p:spTgt>
                                        </p:tgtEl>
                                        <p:attrNameLst>
                                          <p:attrName>style.visibility</p:attrName>
                                        </p:attrNameLst>
                                      </p:cBhvr>
                                      <p:to>
                                        <p:strVal val="visible"/>
                                      </p:to>
                                    </p:set>
                                    <p:anim calcmode="lin" valueType="num">
                                      <p:cBhvr>
                                        <p:cTn id="59"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10">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0">
                                            <p:txEl>
                                              <p:pRg st="8" end="8"/>
                                            </p:txEl>
                                          </p:spTgt>
                                        </p:tgtEl>
                                        <p:attrNameLst>
                                          <p:attrName>style.visibility</p:attrName>
                                        </p:attrNameLst>
                                      </p:cBhvr>
                                      <p:to>
                                        <p:strVal val="visible"/>
                                      </p:to>
                                    </p:set>
                                    <p:anim calcmode="lin" valueType="num">
                                      <p:cBhvr>
                                        <p:cTn id="66"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10">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0">
                                            <p:txEl>
                                              <p:pRg st="9" end="9"/>
                                            </p:txEl>
                                          </p:spTgt>
                                        </p:tgtEl>
                                        <p:attrNameLst>
                                          <p:attrName>style.visibility</p:attrName>
                                        </p:attrNameLst>
                                      </p:cBhvr>
                                      <p:to>
                                        <p:strVal val="visible"/>
                                      </p:to>
                                    </p:set>
                                    <p:anim calcmode="lin" valueType="num">
                                      <p:cBhvr>
                                        <p:cTn id="73"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74"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75" dur="500"/>
                                        <p:tgtEl>
                                          <p:spTgt spid="10">
                                            <p:txEl>
                                              <p:pRg st="9" end="9"/>
                                            </p:txEl>
                                          </p:spTgt>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0">
                                            <p:txEl>
                                              <p:pRg st="10" end="10"/>
                                            </p:txEl>
                                          </p:spTgt>
                                        </p:tgtEl>
                                        <p:attrNameLst>
                                          <p:attrName>style.visibility</p:attrName>
                                        </p:attrNameLst>
                                      </p:cBhvr>
                                      <p:to>
                                        <p:strVal val="visible"/>
                                      </p:to>
                                    </p:set>
                                    <p:anim calcmode="lin" valueType="num">
                                      <p:cBhvr>
                                        <p:cTn id="78" dur="5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79" dur="5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80" dur="500"/>
                                        <p:tgtEl>
                                          <p:spTgt spid="10">
                                            <p:txEl>
                                              <p:pRg st="10" end="1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10">
                                            <p:txEl>
                                              <p:pRg st="11" end="11"/>
                                            </p:txEl>
                                          </p:spTgt>
                                        </p:tgtEl>
                                        <p:attrNameLst>
                                          <p:attrName>style.visibility</p:attrName>
                                        </p:attrNameLst>
                                      </p:cBhvr>
                                      <p:to>
                                        <p:strVal val="visible"/>
                                      </p:to>
                                    </p:set>
                                    <p:anim calcmode="lin" valueType="num">
                                      <p:cBhvr>
                                        <p:cTn id="85" dur="500" fill="hold"/>
                                        <p:tgtEl>
                                          <p:spTgt spid="10">
                                            <p:txEl>
                                              <p:pRg st="11" end="11"/>
                                            </p:txEl>
                                          </p:spTgt>
                                        </p:tgtEl>
                                        <p:attrNameLst>
                                          <p:attrName>ppt_w</p:attrName>
                                        </p:attrNameLst>
                                      </p:cBhvr>
                                      <p:tavLst>
                                        <p:tav tm="0">
                                          <p:val>
                                            <p:fltVal val="0"/>
                                          </p:val>
                                        </p:tav>
                                        <p:tav tm="100000">
                                          <p:val>
                                            <p:strVal val="#ppt_w"/>
                                          </p:val>
                                        </p:tav>
                                      </p:tavLst>
                                    </p:anim>
                                    <p:anim calcmode="lin" valueType="num">
                                      <p:cBhvr>
                                        <p:cTn id="86" dur="500" fill="hold"/>
                                        <p:tgtEl>
                                          <p:spTgt spid="10">
                                            <p:txEl>
                                              <p:pRg st="11" end="11"/>
                                            </p:txEl>
                                          </p:spTgt>
                                        </p:tgtEl>
                                        <p:attrNameLst>
                                          <p:attrName>ppt_h</p:attrName>
                                        </p:attrNameLst>
                                      </p:cBhvr>
                                      <p:tavLst>
                                        <p:tav tm="0">
                                          <p:val>
                                            <p:fltVal val="0"/>
                                          </p:val>
                                        </p:tav>
                                        <p:tav tm="100000">
                                          <p:val>
                                            <p:strVal val="#ppt_h"/>
                                          </p:val>
                                        </p:tav>
                                      </p:tavLst>
                                    </p:anim>
                                    <p:animEffect transition="in" filter="fade">
                                      <p:cBhvr>
                                        <p:cTn id="87" dur="500"/>
                                        <p:tgtEl>
                                          <p:spTgt spid="10">
                                            <p:txEl>
                                              <p:pRg st="11" end="1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10">
                                            <p:txEl>
                                              <p:pRg st="12" end="12"/>
                                            </p:txEl>
                                          </p:spTgt>
                                        </p:tgtEl>
                                        <p:attrNameLst>
                                          <p:attrName>style.visibility</p:attrName>
                                        </p:attrNameLst>
                                      </p:cBhvr>
                                      <p:to>
                                        <p:strVal val="visible"/>
                                      </p:to>
                                    </p:set>
                                    <p:anim calcmode="lin" valueType="num">
                                      <p:cBhvr>
                                        <p:cTn id="92" dur="500" fill="hold"/>
                                        <p:tgtEl>
                                          <p:spTgt spid="10">
                                            <p:txEl>
                                              <p:pRg st="12" end="12"/>
                                            </p:txEl>
                                          </p:spTgt>
                                        </p:tgtEl>
                                        <p:attrNameLst>
                                          <p:attrName>ppt_w</p:attrName>
                                        </p:attrNameLst>
                                      </p:cBhvr>
                                      <p:tavLst>
                                        <p:tav tm="0">
                                          <p:val>
                                            <p:fltVal val="0"/>
                                          </p:val>
                                        </p:tav>
                                        <p:tav tm="100000">
                                          <p:val>
                                            <p:strVal val="#ppt_w"/>
                                          </p:val>
                                        </p:tav>
                                      </p:tavLst>
                                    </p:anim>
                                    <p:anim calcmode="lin" valueType="num">
                                      <p:cBhvr>
                                        <p:cTn id="93" dur="500" fill="hold"/>
                                        <p:tgtEl>
                                          <p:spTgt spid="10">
                                            <p:txEl>
                                              <p:pRg st="12" end="12"/>
                                            </p:txEl>
                                          </p:spTgt>
                                        </p:tgtEl>
                                        <p:attrNameLst>
                                          <p:attrName>ppt_h</p:attrName>
                                        </p:attrNameLst>
                                      </p:cBhvr>
                                      <p:tavLst>
                                        <p:tav tm="0">
                                          <p:val>
                                            <p:fltVal val="0"/>
                                          </p:val>
                                        </p:tav>
                                        <p:tav tm="100000">
                                          <p:val>
                                            <p:strVal val="#ppt_h"/>
                                          </p:val>
                                        </p:tav>
                                      </p:tavLst>
                                    </p:anim>
                                    <p:animEffect transition="in" filter="fade">
                                      <p:cBhvr>
                                        <p:cTn id="94" dur="500"/>
                                        <p:tgtEl>
                                          <p:spTgt spid="10">
                                            <p:txEl>
                                              <p:pRg st="12" end="12"/>
                                            </p:txEl>
                                          </p:spTgt>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10">
                                            <p:txEl>
                                              <p:pRg st="13" end="13"/>
                                            </p:txEl>
                                          </p:spTgt>
                                        </p:tgtEl>
                                        <p:attrNameLst>
                                          <p:attrName>style.visibility</p:attrName>
                                        </p:attrNameLst>
                                      </p:cBhvr>
                                      <p:to>
                                        <p:strVal val="visible"/>
                                      </p:to>
                                    </p:set>
                                    <p:anim calcmode="lin" valueType="num">
                                      <p:cBhvr>
                                        <p:cTn id="97" dur="500" fill="hold"/>
                                        <p:tgtEl>
                                          <p:spTgt spid="10">
                                            <p:txEl>
                                              <p:pRg st="13" end="13"/>
                                            </p:txEl>
                                          </p:spTgt>
                                        </p:tgtEl>
                                        <p:attrNameLst>
                                          <p:attrName>ppt_w</p:attrName>
                                        </p:attrNameLst>
                                      </p:cBhvr>
                                      <p:tavLst>
                                        <p:tav tm="0">
                                          <p:val>
                                            <p:fltVal val="0"/>
                                          </p:val>
                                        </p:tav>
                                        <p:tav tm="100000">
                                          <p:val>
                                            <p:strVal val="#ppt_w"/>
                                          </p:val>
                                        </p:tav>
                                      </p:tavLst>
                                    </p:anim>
                                    <p:anim calcmode="lin" valueType="num">
                                      <p:cBhvr>
                                        <p:cTn id="98" dur="500" fill="hold"/>
                                        <p:tgtEl>
                                          <p:spTgt spid="10">
                                            <p:txEl>
                                              <p:pRg st="13" end="13"/>
                                            </p:txEl>
                                          </p:spTgt>
                                        </p:tgtEl>
                                        <p:attrNameLst>
                                          <p:attrName>ppt_h</p:attrName>
                                        </p:attrNameLst>
                                      </p:cBhvr>
                                      <p:tavLst>
                                        <p:tav tm="0">
                                          <p:val>
                                            <p:fltVal val="0"/>
                                          </p:val>
                                        </p:tav>
                                        <p:tav tm="100000">
                                          <p:val>
                                            <p:strVal val="#ppt_h"/>
                                          </p:val>
                                        </p:tav>
                                      </p:tavLst>
                                    </p:anim>
                                    <p:animEffect transition="in" filter="fade">
                                      <p:cBhvr>
                                        <p:cTn id="99" dur="500"/>
                                        <p:tgtEl>
                                          <p:spTgt spid="10">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219564"/>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zh-CN" altLang="en-US" sz="2400" b="1" spc="300" dirty="0">
                  <a:solidFill>
                    <a:srgbClr val="1E6787"/>
                  </a:solidFill>
                  <a:latin typeface="微软雅黑" panose="020B0503020204020204" pitchFamily="34" charset="-122"/>
                  <a:ea typeface="微软雅黑" panose="020B0503020204020204" pitchFamily="34" charset="-122"/>
                </a:rPr>
                <a:t>数组的</a:t>
              </a:r>
              <a:r>
                <a:rPr lang="zh-CN" altLang="en-US" sz="2400" b="1" spc="300" dirty="0" smtClean="0">
                  <a:solidFill>
                    <a:srgbClr val="1E6787"/>
                  </a:solidFill>
                  <a:latin typeface="微软雅黑" panose="020B0503020204020204" pitchFamily="34" charset="-122"/>
                  <a:ea typeface="微软雅黑" panose="020B0503020204020204" pitchFamily="34" charset="-122"/>
                </a:rPr>
                <a:t>基本运算：数组和普通值之间的运算</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0" name="内容占位符 1"/>
          <p:cNvSpPr txBox="1"/>
          <p:nvPr/>
        </p:nvSpPr>
        <p:spPr>
          <a:xfrm>
            <a:off x="1410657" y="1325651"/>
            <a:ext cx="4335171" cy="2843092"/>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Array3 + 1</a:t>
            </a:r>
            <a:endParaRPr lang="zh-CN" altLang="zh-CN" sz="2400" dirty="0"/>
          </a:p>
          <a:p>
            <a:pPr marL="0" indent="0">
              <a:buNone/>
            </a:pPr>
            <a:r>
              <a:rPr lang="en-US" altLang="zh-CN" sz="2400" dirty="0"/>
              <a:t>array([[2, 2, 2],</a:t>
            </a:r>
            <a:endParaRPr lang="zh-CN" altLang="zh-CN" sz="2400" dirty="0"/>
          </a:p>
          <a:p>
            <a:pPr marL="0" indent="0">
              <a:buNone/>
            </a:pPr>
            <a:r>
              <a:rPr lang="en-US" altLang="zh-CN" sz="2400" dirty="0"/>
              <a:t>     </a:t>
            </a:r>
            <a:r>
              <a:rPr lang="en-US" altLang="zh-CN" sz="2400" dirty="0" smtClean="0"/>
              <a:t>       </a:t>
            </a:r>
            <a:r>
              <a:rPr lang="en-US" altLang="zh-CN" sz="2400" dirty="0"/>
              <a:t>[2, 2, 2]])</a:t>
            </a:r>
            <a:endParaRPr lang="zh-CN" altLang="zh-CN" sz="2400" dirty="0"/>
          </a:p>
          <a:p>
            <a:pPr marL="0" indent="0">
              <a:buNone/>
            </a:pPr>
            <a:r>
              <a:rPr lang="en-US" altLang="zh-CN" sz="2400" dirty="0"/>
              <a:t>&gt;&gt;&gt; Array3 * 5</a:t>
            </a:r>
            <a:endParaRPr lang="zh-CN" altLang="zh-CN" sz="2400" dirty="0"/>
          </a:p>
          <a:p>
            <a:pPr marL="0" indent="0">
              <a:buNone/>
            </a:pPr>
            <a:r>
              <a:rPr lang="en-US" altLang="zh-CN" sz="2400" dirty="0"/>
              <a:t>array([[5, 5, 5],</a:t>
            </a:r>
            <a:endParaRPr lang="zh-CN" altLang="zh-CN" sz="2400" dirty="0"/>
          </a:p>
          <a:p>
            <a:pPr marL="0" indent="0">
              <a:buNone/>
            </a:pPr>
            <a:r>
              <a:rPr lang="en-US" altLang="zh-CN" sz="2400" dirty="0"/>
              <a:t>       </a:t>
            </a:r>
            <a:r>
              <a:rPr lang="en-US" altLang="zh-CN" sz="2400" dirty="0" smtClean="0"/>
              <a:t>     </a:t>
            </a:r>
            <a:r>
              <a:rPr lang="en-US" altLang="zh-CN" sz="2400" dirty="0"/>
              <a:t>[5, 5, 5]])</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0">
                                            <p:txEl>
                                              <p:pRg st="2" end="2"/>
                                            </p:txEl>
                                          </p:spTgt>
                                        </p:tgtEl>
                                        <p:attrNameLst>
                                          <p:attrName>style.visibility</p:attrName>
                                        </p:attrNameLst>
                                      </p:cBhvr>
                                      <p:to>
                                        <p:strVal val="visible"/>
                                      </p:to>
                                    </p:set>
                                    <p:anim calcmode="lin" valueType="num">
                                      <p:cBhvr>
                                        <p:cTn id="26"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10">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anim calcmode="lin" valueType="num">
                                      <p:cBhvr>
                                        <p:cTn id="33"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10">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0">
                                            <p:txEl>
                                              <p:pRg st="4" end="4"/>
                                            </p:txEl>
                                          </p:spTgt>
                                        </p:tgtEl>
                                        <p:attrNameLst>
                                          <p:attrName>style.visibility</p:attrName>
                                        </p:attrNameLst>
                                      </p:cBhvr>
                                      <p:to>
                                        <p:strVal val="visible"/>
                                      </p:to>
                                    </p:set>
                                    <p:anim calcmode="lin" valueType="num">
                                      <p:cBhvr>
                                        <p:cTn id="40"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10">
                                            <p:txEl>
                                              <p:pRg st="4" end="4"/>
                                            </p:txEl>
                                          </p:spTgt>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0">
                                            <p:txEl>
                                              <p:pRg st="5" end="5"/>
                                            </p:txEl>
                                          </p:spTgt>
                                        </p:tgtEl>
                                        <p:attrNameLst>
                                          <p:attrName>style.visibility</p:attrName>
                                        </p:attrNameLst>
                                      </p:cBhvr>
                                      <p:to>
                                        <p:strVal val="visible"/>
                                      </p:to>
                                    </p:set>
                                    <p:anim calcmode="lin" valueType="num">
                                      <p:cBhvr>
                                        <p:cTn id="45"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的基本索引和切片</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10" name="内容占位符 1"/>
          <p:cNvSpPr txBox="1"/>
          <p:nvPr/>
        </p:nvSpPr>
        <p:spPr>
          <a:xfrm>
            <a:off x="941697" y="762096"/>
            <a:ext cx="10760945" cy="6150496"/>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room = </a:t>
            </a:r>
            <a:r>
              <a:rPr lang="en-US" altLang="zh-CN" sz="2400" dirty="0" err="1"/>
              <a:t>np.array</a:t>
            </a:r>
            <a:r>
              <a:rPr lang="en-US" altLang="zh-CN" sz="2400" dirty="0"/>
              <a:t>([[[ 0, 1, 2, 3],  </a:t>
            </a:r>
            <a:endParaRPr lang="zh-CN" altLang="zh-CN" sz="2400" dirty="0"/>
          </a:p>
          <a:p>
            <a:pPr marL="0" indent="0">
              <a:buNone/>
            </a:pPr>
            <a:r>
              <a:rPr lang="en-US" altLang="zh-CN" sz="2400" dirty="0"/>
              <a:t>                        </a:t>
            </a:r>
            <a:r>
              <a:rPr lang="en-US" altLang="zh-CN" sz="2400" dirty="0" smtClean="0"/>
              <a:t>                 [ </a:t>
            </a:r>
            <a:r>
              <a:rPr lang="en-US" altLang="zh-CN" sz="2400" dirty="0"/>
              <a:t>4, 5, 6, 7], </a:t>
            </a:r>
            <a:endParaRPr lang="zh-CN" altLang="zh-CN" sz="2400" dirty="0"/>
          </a:p>
          <a:p>
            <a:pPr marL="0" indent="0">
              <a:buNone/>
            </a:pPr>
            <a:r>
              <a:rPr lang="en-US" altLang="zh-CN" sz="2400" dirty="0"/>
              <a:t>                       </a:t>
            </a:r>
            <a:r>
              <a:rPr lang="en-US" altLang="zh-CN" sz="2400" dirty="0" smtClean="0"/>
              <a:t>                  </a:t>
            </a:r>
            <a:r>
              <a:rPr lang="en-US" altLang="zh-CN" sz="2400" dirty="0"/>
              <a:t>[ 8, 9,10,11]], </a:t>
            </a:r>
            <a:endParaRPr lang="zh-CN" altLang="zh-CN" sz="2400" dirty="0"/>
          </a:p>
          <a:p>
            <a:pPr marL="0" indent="0">
              <a:buNone/>
            </a:pPr>
            <a:r>
              <a:rPr lang="en-US" altLang="zh-CN" sz="2400" dirty="0"/>
              <a:t>                      </a:t>
            </a:r>
            <a:r>
              <a:rPr lang="en-US" altLang="zh-CN" sz="2400" dirty="0" smtClean="0"/>
              <a:t>                 </a:t>
            </a:r>
            <a:r>
              <a:rPr lang="en-US" altLang="zh-CN" sz="2400" dirty="0"/>
              <a:t>[[12, 13, 14, 15], </a:t>
            </a:r>
            <a:endParaRPr lang="zh-CN" altLang="zh-CN" sz="2400" dirty="0"/>
          </a:p>
          <a:p>
            <a:pPr marL="0" indent="0">
              <a:buNone/>
            </a:pPr>
            <a:r>
              <a:rPr lang="en-US" altLang="zh-CN" sz="2400" dirty="0"/>
              <a:t>                      </a:t>
            </a:r>
            <a:r>
              <a:rPr lang="en-US" altLang="zh-CN" sz="2400" dirty="0" smtClean="0"/>
              <a:t>                   </a:t>
            </a:r>
            <a:r>
              <a:rPr lang="en-US" altLang="zh-CN" sz="2400" dirty="0"/>
              <a:t>[16, 17, 18, 19], </a:t>
            </a:r>
            <a:endParaRPr lang="zh-CN" altLang="zh-CN" sz="2400" dirty="0"/>
          </a:p>
          <a:p>
            <a:pPr marL="0" indent="0">
              <a:buNone/>
            </a:pPr>
            <a:r>
              <a:rPr lang="en-US" altLang="zh-CN" sz="2400" dirty="0"/>
              <a:t>                       </a:t>
            </a:r>
            <a:r>
              <a:rPr lang="en-US" altLang="zh-CN" sz="2400" dirty="0" smtClean="0"/>
              <a:t>                  </a:t>
            </a:r>
            <a:r>
              <a:rPr lang="en-US" altLang="zh-CN" sz="2400" dirty="0"/>
              <a:t>[20, 21, 22, 23]]])</a:t>
            </a:r>
            <a:endParaRPr lang="zh-CN" altLang="zh-CN" sz="2400" dirty="0"/>
          </a:p>
          <a:p>
            <a:pPr marL="0" indent="0">
              <a:buNone/>
            </a:pPr>
            <a:r>
              <a:rPr lang="en-US" altLang="zh-CN" sz="2400" dirty="0" smtClean="0"/>
              <a:t>&gt;&gt;&gt; </a:t>
            </a:r>
            <a:r>
              <a:rPr lang="en-US" altLang="zh-CN" sz="2400" dirty="0"/>
              <a:t>room[0,0,0]       # </a:t>
            </a:r>
            <a:r>
              <a:rPr lang="zh-CN" altLang="zh-CN" sz="2400" dirty="0"/>
              <a:t>输出</a:t>
            </a:r>
            <a:r>
              <a:rPr lang="en-US" altLang="zh-CN" sz="2400" dirty="0"/>
              <a:t>0</a:t>
            </a:r>
            <a:r>
              <a:rPr lang="zh-CN" altLang="zh-CN" sz="2400" dirty="0"/>
              <a:t>层楼、</a:t>
            </a:r>
            <a:r>
              <a:rPr lang="en-US" altLang="zh-CN" sz="2400" dirty="0"/>
              <a:t>0</a:t>
            </a:r>
            <a:r>
              <a:rPr lang="zh-CN" altLang="zh-CN" sz="2400" dirty="0"/>
              <a:t>行、</a:t>
            </a:r>
            <a:r>
              <a:rPr lang="en-US" altLang="zh-CN" sz="2400" dirty="0"/>
              <a:t>0</a:t>
            </a:r>
            <a:r>
              <a:rPr lang="zh-CN" altLang="zh-CN" sz="2400" dirty="0"/>
              <a:t>列房间的内容，也可写成</a:t>
            </a:r>
            <a:r>
              <a:rPr lang="en-US" altLang="zh-CN" sz="2400" dirty="0"/>
              <a:t>room[0][0][0]</a:t>
            </a:r>
            <a:endParaRPr lang="zh-CN" altLang="zh-CN" sz="2400" dirty="0"/>
          </a:p>
          <a:p>
            <a:pPr marL="0" indent="0">
              <a:buNone/>
            </a:pPr>
            <a:r>
              <a:rPr lang="en-US" altLang="zh-CN" sz="2400" dirty="0"/>
              <a:t>0 </a:t>
            </a:r>
            <a:endParaRPr lang="en-US" altLang="zh-CN" sz="2400" dirty="0" smtClean="0"/>
          </a:p>
          <a:p>
            <a:pPr marL="0" indent="0">
              <a:buNone/>
            </a:pPr>
            <a:r>
              <a:rPr lang="en-US" altLang="zh-CN" sz="2400" dirty="0"/>
              <a:t>&gt;&gt;&gt; room[:,0,0]</a:t>
            </a:r>
            <a:endParaRPr lang="zh-CN" altLang="zh-CN" sz="2400" dirty="0"/>
          </a:p>
          <a:p>
            <a:pPr marL="0" indent="0">
              <a:buNone/>
            </a:pPr>
            <a:r>
              <a:rPr lang="en-US" altLang="zh-CN" sz="2400" dirty="0"/>
              <a:t>array([ 0, 12</a:t>
            </a:r>
            <a:r>
              <a:rPr lang="en-US" altLang="zh-CN" sz="2400" dirty="0" smtClean="0"/>
              <a:t>])</a:t>
            </a:r>
            <a:endParaRPr lang="en-US" altLang="zh-CN" sz="2400" dirty="0" smtClean="0"/>
          </a:p>
          <a:p>
            <a:pPr marL="0" indent="0">
              <a:buNone/>
            </a:pPr>
            <a:r>
              <a:rPr lang="zh-CN" altLang="zh-CN" sz="2400" dirty="0" smtClean="0"/>
              <a:t> </a:t>
            </a:r>
            <a:r>
              <a:rPr lang="en-US" altLang="zh-CN" sz="2400" dirty="0" smtClean="0"/>
              <a:t>&gt;&gt;&gt; room[0,:,:]                 # </a:t>
            </a:r>
            <a:r>
              <a:rPr lang="zh-CN" altLang="zh-CN" sz="2400" dirty="0" smtClean="0"/>
              <a:t>或者使用</a:t>
            </a:r>
            <a:r>
              <a:rPr lang="en-US" altLang="zh-CN" sz="2400" dirty="0" smtClean="0"/>
              <a:t>room[0]</a:t>
            </a:r>
            <a:endParaRPr lang="zh-CN" altLang="zh-CN" sz="2400" dirty="0" smtClean="0"/>
          </a:p>
          <a:p>
            <a:pPr marL="0" indent="0">
              <a:buNone/>
            </a:pPr>
            <a:r>
              <a:rPr lang="en-US" altLang="zh-CN" sz="2400" dirty="0" smtClean="0"/>
              <a:t>array</a:t>
            </a:r>
            <a:r>
              <a:rPr lang="en-US" altLang="zh-CN" sz="2400" dirty="0"/>
              <a:t>([[ 0,  1,  2,  3],</a:t>
            </a:r>
            <a:endParaRPr lang="zh-CN" altLang="zh-CN" sz="2400" dirty="0"/>
          </a:p>
          <a:p>
            <a:pPr marL="0" indent="0">
              <a:buNone/>
            </a:pPr>
            <a:r>
              <a:rPr lang="en-US" altLang="zh-CN" sz="2400" dirty="0"/>
              <a:t>       </a:t>
            </a:r>
            <a:r>
              <a:rPr lang="en-US" altLang="zh-CN" sz="2400" dirty="0" smtClean="0"/>
              <a:t>     </a:t>
            </a:r>
            <a:r>
              <a:rPr lang="en-US" altLang="zh-CN" sz="2400" dirty="0"/>
              <a:t>[ 4,  5,  6,  7],</a:t>
            </a:r>
            <a:endParaRPr lang="zh-CN" altLang="zh-CN" sz="2400" dirty="0"/>
          </a:p>
          <a:p>
            <a:pPr marL="0" indent="0">
              <a:buNone/>
            </a:pPr>
            <a:r>
              <a:rPr lang="en-US" altLang="zh-CN" sz="2400" dirty="0"/>
              <a:t>       </a:t>
            </a:r>
            <a:r>
              <a:rPr lang="en-US" altLang="zh-CN" sz="2400" dirty="0" smtClean="0"/>
              <a:t>     </a:t>
            </a:r>
            <a:r>
              <a:rPr lang="en-US" altLang="zh-CN" sz="2400" dirty="0"/>
              <a:t>[ 8,  9, 10, 11]])       </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Effect transition="in" filter="fade">
                                      <p:cBhvr>
                                        <p:cTn id="19" dur="1000"/>
                                        <p:tgtEl>
                                          <p:spTgt spid="10">
                                            <p:txEl>
                                              <p:pRg st="1" end="1"/>
                                            </p:txEl>
                                          </p:spTgt>
                                        </p:tgtEl>
                                      </p:cBhvr>
                                    </p:animEffect>
                                    <p:anim calcmode="lin" valueType="num">
                                      <p:cBhvr>
                                        <p:cTn id="20"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Effect transition="in" filter="fade">
                                      <p:cBhvr>
                                        <p:cTn id="24" dur="1000"/>
                                        <p:tgtEl>
                                          <p:spTgt spid="10">
                                            <p:txEl>
                                              <p:pRg st="2" end="2"/>
                                            </p:txEl>
                                          </p:spTgt>
                                        </p:tgtEl>
                                      </p:cBhvr>
                                    </p:animEffect>
                                    <p:anim calcmode="lin" valueType="num">
                                      <p:cBhvr>
                                        <p:cTn id="2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Effect transition="in" filter="fade">
                                      <p:cBhvr>
                                        <p:cTn id="29" dur="1000"/>
                                        <p:tgtEl>
                                          <p:spTgt spid="10">
                                            <p:txEl>
                                              <p:pRg st="3" end="3"/>
                                            </p:txEl>
                                          </p:spTgt>
                                        </p:tgtEl>
                                      </p:cBhvr>
                                    </p:animEffect>
                                    <p:anim calcmode="lin" valueType="num">
                                      <p:cBhvr>
                                        <p:cTn id="3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xEl>
                                              <p:pRg st="4" end="4"/>
                                            </p:txEl>
                                          </p:spTgt>
                                        </p:tgtEl>
                                        <p:attrNameLst>
                                          <p:attrName>style.visibility</p:attrName>
                                        </p:attrNameLst>
                                      </p:cBhvr>
                                      <p:to>
                                        <p:strVal val="visible"/>
                                      </p:to>
                                    </p:set>
                                    <p:animEffect transition="in" filter="fade">
                                      <p:cBhvr>
                                        <p:cTn id="34" dur="1000"/>
                                        <p:tgtEl>
                                          <p:spTgt spid="10">
                                            <p:txEl>
                                              <p:pRg st="4" end="4"/>
                                            </p:txEl>
                                          </p:spTgt>
                                        </p:tgtEl>
                                      </p:cBhvr>
                                    </p:animEffect>
                                    <p:anim calcmode="lin" valueType="num">
                                      <p:cBhvr>
                                        <p:cTn id="35"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10">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xEl>
                                              <p:pRg st="5" end="5"/>
                                            </p:txEl>
                                          </p:spTgt>
                                        </p:tgtEl>
                                        <p:attrNameLst>
                                          <p:attrName>style.visibility</p:attrName>
                                        </p:attrNameLst>
                                      </p:cBhvr>
                                      <p:to>
                                        <p:strVal val="visible"/>
                                      </p:to>
                                    </p:set>
                                    <p:animEffect transition="in" filter="fade">
                                      <p:cBhvr>
                                        <p:cTn id="39" dur="1000"/>
                                        <p:tgtEl>
                                          <p:spTgt spid="10">
                                            <p:txEl>
                                              <p:pRg st="5" end="5"/>
                                            </p:txEl>
                                          </p:spTgt>
                                        </p:tgtEl>
                                      </p:cBhvr>
                                    </p:animEffect>
                                    <p:anim calcmode="lin" valueType="num">
                                      <p:cBhvr>
                                        <p:cTn id="4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0">
                                            <p:txEl>
                                              <p:pRg st="6" end="6"/>
                                            </p:txEl>
                                          </p:spTgt>
                                        </p:tgtEl>
                                        <p:attrNameLst>
                                          <p:attrName>style.visibility</p:attrName>
                                        </p:attrNameLst>
                                      </p:cBhvr>
                                      <p:to>
                                        <p:strVal val="visible"/>
                                      </p:to>
                                    </p:set>
                                    <p:anim calcmode="lin" valueType="num">
                                      <p:cBhvr>
                                        <p:cTn id="4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4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48" dur="500"/>
                                        <p:tgtEl>
                                          <p:spTgt spid="10">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10">
                                            <p:txEl>
                                              <p:pRg st="7" end="7"/>
                                            </p:txEl>
                                          </p:spTgt>
                                        </p:tgtEl>
                                        <p:attrNameLst>
                                          <p:attrName>style.visibility</p:attrName>
                                        </p:attrNameLst>
                                      </p:cBhvr>
                                      <p:to>
                                        <p:strVal val="visible"/>
                                      </p:to>
                                    </p:set>
                                    <p:anim calcmode="lin" valueType="num">
                                      <p:cBhvr>
                                        <p:cTn id="5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5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55" dur="500"/>
                                        <p:tgtEl>
                                          <p:spTgt spid="10">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0">
                                            <p:txEl>
                                              <p:pRg st="8" end="8"/>
                                            </p:txEl>
                                          </p:spTgt>
                                        </p:tgtEl>
                                        <p:attrNameLst>
                                          <p:attrName>style.visibility</p:attrName>
                                        </p:attrNameLst>
                                      </p:cBhvr>
                                      <p:to>
                                        <p:strVal val="visible"/>
                                      </p:to>
                                    </p:set>
                                    <p:anim calcmode="lin" valueType="num">
                                      <p:cBhvr>
                                        <p:cTn id="60"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61"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62" dur="500"/>
                                        <p:tgtEl>
                                          <p:spTgt spid="10">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10">
                                            <p:txEl>
                                              <p:pRg st="9" end="9"/>
                                            </p:txEl>
                                          </p:spTgt>
                                        </p:tgtEl>
                                        <p:attrNameLst>
                                          <p:attrName>style.visibility</p:attrName>
                                        </p:attrNameLst>
                                      </p:cBhvr>
                                      <p:to>
                                        <p:strVal val="visible"/>
                                      </p:to>
                                    </p:set>
                                    <p:anim calcmode="lin" valueType="num">
                                      <p:cBhvr>
                                        <p:cTn id="67"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68"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69" dur="500"/>
                                        <p:tgtEl>
                                          <p:spTgt spid="10">
                                            <p:txEl>
                                              <p:pRg st="9" end="9"/>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10">
                                            <p:txEl>
                                              <p:pRg st="10" end="10"/>
                                            </p:txEl>
                                          </p:spTgt>
                                        </p:tgtEl>
                                        <p:attrNameLst>
                                          <p:attrName>style.visibility</p:attrName>
                                        </p:attrNameLst>
                                      </p:cBhvr>
                                      <p:to>
                                        <p:strVal val="visible"/>
                                      </p:to>
                                    </p:set>
                                    <p:anim calcmode="lin" valueType="num">
                                      <p:cBhvr>
                                        <p:cTn id="74" dur="5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75" dur="5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76" dur="500"/>
                                        <p:tgtEl>
                                          <p:spTgt spid="10">
                                            <p:txEl>
                                              <p:pRg st="10" end="1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0">
                                            <p:txEl>
                                              <p:pRg st="11" end="11"/>
                                            </p:txEl>
                                          </p:spTgt>
                                        </p:tgtEl>
                                        <p:attrNameLst>
                                          <p:attrName>style.visibility</p:attrName>
                                        </p:attrNameLst>
                                      </p:cBhvr>
                                      <p:to>
                                        <p:strVal val="visible"/>
                                      </p:to>
                                    </p:set>
                                    <p:animEffect transition="in" filter="fade">
                                      <p:cBhvr>
                                        <p:cTn id="81" dur="1000"/>
                                        <p:tgtEl>
                                          <p:spTgt spid="10">
                                            <p:txEl>
                                              <p:pRg st="11" end="11"/>
                                            </p:txEl>
                                          </p:spTgt>
                                        </p:tgtEl>
                                      </p:cBhvr>
                                    </p:animEffect>
                                    <p:anim calcmode="lin" valueType="num">
                                      <p:cBhvr>
                                        <p:cTn id="82"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83" dur="1000" fill="hold"/>
                                        <p:tgtEl>
                                          <p:spTgt spid="10">
                                            <p:txEl>
                                              <p:pRg st="11" end="11"/>
                                            </p:txEl>
                                          </p:spTgt>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0">
                                            <p:txEl>
                                              <p:pRg st="12" end="12"/>
                                            </p:txEl>
                                          </p:spTgt>
                                        </p:tgtEl>
                                        <p:attrNameLst>
                                          <p:attrName>style.visibility</p:attrName>
                                        </p:attrNameLst>
                                      </p:cBhvr>
                                      <p:to>
                                        <p:strVal val="visible"/>
                                      </p:to>
                                    </p:set>
                                    <p:animEffect transition="in" filter="fade">
                                      <p:cBhvr>
                                        <p:cTn id="86" dur="1000"/>
                                        <p:tgtEl>
                                          <p:spTgt spid="10">
                                            <p:txEl>
                                              <p:pRg st="12" end="12"/>
                                            </p:txEl>
                                          </p:spTgt>
                                        </p:tgtEl>
                                      </p:cBhvr>
                                    </p:animEffect>
                                    <p:anim calcmode="lin" valueType="num">
                                      <p:cBhvr>
                                        <p:cTn id="87" dur="1000" fill="hold"/>
                                        <p:tgtEl>
                                          <p:spTgt spid="10">
                                            <p:txEl>
                                              <p:pRg st="12" end="12"/>
                                            </p:txEl>
                                          </p:spTgt>
                                        </p:tgtEl>
                                        <p:attrNameLst>
                                          <p:attrName>ppt_x</p:attrName>
                                        </p:attrNameLst>
                                      </p:cBhvr>
                                      <p:tavLst>
                                        <p:tav tm="0">
                                          <p:val>
                                            <p:strVal val="#ppt_x"/>
                                          </p:val>
                                        </p:tav>
                                        <p:tav tm="100000">
                                          <p:val>
                                            <p:strVal val="#ppt_x"/>
                                          </p:val>
                                        </p:tav>
                                      </p:tavLst>
                                    </p:anim>
                                    <p:anim calcmode="lin" valueType="num">
                                      <p:cBhvr>
                                        <p:cTn id="88" dur="1000" fill="hold"/>
                                        <p:tgtEl>
                                          <p:spTgt spid="10">
                                            <p:txEl>
                                              <p:pRg st="12" end="12"/>
                                            </p:txEl>
                                          </p:spTgt>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0">
                                            <p:txEl>
                                              <p:pRg st="13" end="13"/>
                                            </p:txEl>
                                          </p:spTgt>
                                        </p:tgtEl>
                                        <p:attrNameLst>
                                          <p:attrName>style.visibility</p:attrName>
                                        </p:attrNameLst>
                                      </p:cBhvr>
                                      <p:to>
                                        <p:strVal val="visible"/>
                                      </p:to>
                                    </p:set>
                                    <p:animEffect transition="in" filter="fade">
                                      <p:cBhvr>
                                        <p:cTn id="91" dur="1000"/>
                                        <p:tgtEl>
                                          <p:spTgt spid="10">
                                            <p:txEl>
                                              <p:pRg st="13" end="13"/>
                                            </p:txEl>
                                          </p:spTgt>
                                        </p:tgtEl>
                                      </p:cBhvr>
                                    </p:animEffect>
                                    <p:anim calcmode="lin" valueType="num">
                                      <p:cBhvr>
                                        <p:cTn id="92" dur="1000" fill="hold"/>
                                        <p:tgtEl>
                                          <p:spTgt spid="10">
                                            <p:txEl>
                                              <p:pRg st="13" end="13"/>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的形态变换操作</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7" name="图片 6"/>
          <p:cNvPicPr>
            <a:picLocks noChangeAspect="1"/>
          </p:cNvPicPr>
          <p:nvPr/>
        </p:nvPicPr>
        <p:blipFill>
          <a:blip r:embed="rId1"/>
          <a:stretch>
            <a:fillRect/>
          </a:stretch>
        </p:blipFill>
        <p:spPr>
          <a:xfrm>
            <a:off x="894774" y="1028407"/>
            <a:ext cx="8836079" cy="54958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的形态变换操作</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5" name="图片 4"/>
          <p:cNvPicPr>
            <a:picLocks noChangeAspect="1"/>
          </p:cNvPicPr>
          <p:nvPr/>
        </p:nvPicPr>
        <p:blipFill>
          <a:blip r:embed="rId1"/>
          <a:stretch>
            <a:fillRect/>
          </a:stretch>
        </p:blipFill>
        <p:spPr>
          <a:xfrm>
            <a:off x="864397" y="1187350"/>
            <a:ext cx="10740152" cy="37258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的形态变换操作</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stretch>
            <a:fillRect/>
          </a:stretch>
        </p:blipFill>
        <p:spPr>
          <a:xfrm>
            <a:off x="768102" y="1153584"/>
            <a:ext cx="9993010" cy="445564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的形态变换操作</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667723" y="1147948"/>
            <a:ext cx="10799928" cy="48989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常用的统计方法</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2" name="表格 1"/>
          <p:cNvGraphicFramePr>
            <a:graphicFrameLocks noGrp="1"/>
          </p:cNvGraphicFramePr>
          <p:nvPr/>
        </p:nvGraphicFramePr>
        <p:xfrm>
          <a:off x="525607" y="1365949"/>
          <a:ext cx="10979455" cy="4884730"/>
        </p:xfrm>
        <a:graphic>
          <a:graphicData uri="http://schemas.openxmlformats.org/drawingml/2006/table">
            <a:tbl>
              <a:tblPr firstRow="1" bandRow="1">
                <a:tableStyleId>{5C22544A-7EE6-4342-B048-85BDC9FD1C3A}</a:tableStyleId>
              </a:tblPr>
              <a:tblGrid>
                <a:gridCol w="2340423"/>
                <a:gridCol w="8639032"/>
              </a:tblGrid>
              <a:tr h="488473">
                <a:tc>
                  <a:txBody>
                    <a:bodyPr/>
                    <a:lstStyle/>
                    <a:p>
                      <a:pPr algn="ctr">
                        <a:spcAft>
                          <a:spcPts val="0"/>
                        </a:spcAft>
                      </a:pPr>
                      <a:r>
                        <a:rPr lang="zh-CN" sz="2400" kern="100" dirty="0">
                          <a:effectLst/>
                        </a:rPr>
                        <a:t>函数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400" kern="100">
                          <a:effectLst/>
                        </a:rPr>
                        <a:t>描述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sum()</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按指定轴返回数组元素的和</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mean</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按指定轴返回数组元素的均值</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max</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按指定轴返回数组元素的最大值</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min</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按指定轴返回数组元素的最小值</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std</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按指定轴返回数组元素的标准差</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argmin</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按指定轴返回数组中最小元素的对应索引构成的数组</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argmax</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按指定轴返回数组中最大元素的对应索引构成的数组</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cumsum</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a:effectLst/>
                        </a:rPr>
                        <a:t>按指定轴返回数组元素的累积的和</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88473">
                <a:tc>
                  <a:txBody>
                    <a:bodyPr/>
                    <a:lstStyle/>
                    <a:p>
                      <a:pPr indent="266700" algn="l">
                        <a:spcAft>
                          <a:spcPts val="0"/>
                        </a:spcAft>
                      </a:pPr>
                      <a:r>
                        <a:rPr lang="en-US" sz="2400" kern="100">
                          <a:effectLst/>
                        </a:rPr>
                        <a:t>cumprod</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2400" kern="100" dirty="0">
                          <a:effectLst/>
                        </a:rPr>
                        <a:t>按指定轴返回数组元素的累积的积 </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7704438" cy="504056"/>
            <a:chOff x="169526" y="203448"/>
            <a:chExt cx="7807482" cy="504056"/>
          </a:xfrm>
        </p:grpSpPr>
        <p:sp>
          <p:nvSpPr>
            <p:cNvPr id="4" name="TextBox 3"/>
            <p:cNvSpPr txBox="1"/>
            <p:nvPr/>
          </p:nvSpPr>
          <p:spPr>
            <a:xfrm>
              <a:off x="781173" y="203449"/>
              <a:ext cx="7195835" cy="461665"/>
            </a:xfrm>
            <a:prstGeom prst="rect">
              <a:avLst/>
            </a:prstGeom>
            <a:noFill/>
          </p:spPr>
          <p:txBody>
            <a:bodyPr wrap="square" rtlCol="0">
              <a:spAutoFit/>
            </a:bodyPr>
            <a:lstStyle/>
            <a:p>
              <a:r>
                <a:rPr lang="en-US" altLang="zh-CN" sz="2400" b="1" spc="300" dirty="0" err="1" smtClean="0">
                  <a:solidFill>
                    <a:srgbClr val="1E6787"/>
                  </a:solidFill>
                  <a:latin typeface="微软雅黑" panose="020B0503020204020204" pitchFamily="34" charset="-122"/>
                  <a:ea typeface="微软雅黑" panose="020B0503020204020204" pitchFamily="34" charset="-122"/>
                </a:rPr>
                <a:t>ndarray</a:t>
              </a:r>
              <a:r>
                <a:rPr lang="zh-CN" altLang="en-US" sz="2400" b="1" spc="300" dirty="0">
                  <a:solidFill>
                    <a:srgbClr val="1E6787"/>
                  </a:solidFill>
                  <a:latin typeface="微软雅黑" panose="020B0503020204020204" pitchFamily="34" charset="-122"/>
                  <a:ea typeface="微软雅黑" panose="020B0503020204020204" pitchFamily="34" charset="-122"/>
                </a:rPr>
                <a:t>常用的统计方法</a:t>
              </a:r>
              <a:endParaRPr lang="zh-CN" altLang="en-US" sz="24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768101" y="959529"/>
            <a:ext cx="9235707" cy="580494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计 算 机 基 础</a:t>
              </a:r>
              <a:r>
                <a:rPr lang="en-US" altLang="zh-CN" sz="2400" b="1" dirty="0">
                  <a:solidFill>
                    <a:srgbClr val="1E6787"/>
                  </a:solidFill>
                  <a:latin typeface="微软雅黑" panose="020B0503020204020204" pitchFamily="34" charset="-122"/>
                  <a:ea typeface="微软雅黑" panose="020B0503020204020204" pitchFamily="34" charset="-122"/>
                </a:rPr>
                <a:t>——</a:t>
              </a:r>
              <a:r>
                <a:rPr lang="zh-CN" altLang="en-US" sz="2000" b="1" dirty="0">
                  <a:solidFill>
                    <a:srgbClr val="1E6787"/>
                  </a:solidFill>
                  <a:latin typeface="微软雅黑" panose="020B0503020204020204" pitchFamily="34" charset="-122"/>
                  <a:ea typeface="微软雅黑" panose="020B0503020204020204" pitchFamily="34" charset="-122"/>
                </a:rPr>
                <a:t>软件和程序设计 </a:t>
              </a:r>
              <a:endParaRPr lang="zh-CN" altLang="en-US" sz="20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p:cNvSpPr txBox="1"/>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endParaRPr lang="en-US" altLang="zh-CN" sz="4400" dirty="0">
              <a:solidFill>
                <a:schemeClr val="tx1">
                  <a:lumMod val="65000"/>
                  <a:lumOff val="35000"/>
                </a:schemeClr>
              </a:solidFill>
              <a:latin typeface="+mj-lt"/>
            </a:endParaRPr>
          </a:p>
          <a:p>
            <a:pPr marL="0" indent="0" algn="r">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Steve Jobs</a:t>
            </a:r>
            <a:endParaRPr lang="en-US" altLang="zh-CN" sz="4400" dirty="0">
              <a:solidFill>
                <a:schemeClr val="tx1">
                  <a:lumMod val="65000"/>
                  <a:lumOff val="35000"/>
                </a:schemeClr>
              </a:solidFill>
              <a:latin typeface="+mj-lt"/>
            </a:endParaRPr>
          </a:p>
        </p:txBody>
      </p:sp>
      <p:pic>
        <p:nvPicPr>
          <p:cNvPr id="23" name="图片 22"/>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p:cNvSpPr txBox="1"/>
          <p:nvPr/>
        </p:nvSpPr>
        <p:spPr>
          <a:xfrm>
            <a:off x="2758231" y="2752857"/>
            <a:ext cx="6285695" cy="1015663"/>
          </a:xfrm>
          <a:prstGeom prst="rect">
            <a:avLst/>
          </a:prstGeom>
          <a:noFill/>
        </p:spPr>
        <p:txBody>
          <a:bodyPr wrap="none" rtlCol="0">
            <a:spAutoFit/>
          </a:bodyPr>
          <a:lstStyle/>
          <a:p>
            <a:r>
              <a:rPr lang="en-US" altLang="zh-CN" sz="6000" b="1" dirty="0" err="1"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Numpy</a:t>
            </a:r>
            <a:r>
              <a:rPr lang="zh-CN" altLang="en-US" sz="6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的专门应用</a:t>
            </a:r>
            <a:endPar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25" name="Group 5"/>
          <p:cNvGrpSpPr/>
          <p:nvPr/>
        </p:nvGrpSpPr>
        <p:grpSpPr>
          <a:xfrm>
            <a:off x="8825614" y="4241498"/>
            <a:ext cx="2169488" cy="2175406"/>
            <a:chOff x="5292553" y="3355717"/>
            <a:chExt cx="1711365" cy="2494000"/>
          </a:xfrm>
          <a:solidFill>
            <a:schemeClr val="bg1">
              <a:lumMod val="95000"/>
            </a:schemeClr>
          </a:solidFill>
        </p:grpSpPr>
        <p:sp>
          <p:nvSpPr>
            <p:cNvPr id="26"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9"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51"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1"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3"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4"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5"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6"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7"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8"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9"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0"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1"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2"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3"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4"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5"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6"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7"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8"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9"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0"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1"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2"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83" name="组合 82"/>
          <p:cNvGrpSpPr/>
          <p:nvPr/>
        </p:nvGrpSpPr>
        <p:grpSpPr>
          <a:xfrm>
            <a:off x="443983" y="1112313"/>
            <a:ext cx="1936868" cy="1936868"/>
            <a:chOff x="2572456" y="958222"/>
            <a:chExt cx="1936868" cy="1936868"/>
          </a:xfrm>
        </p:grpSpPr>
        <p:grpSp>
          <p:nvGrpSpPr>
            <p:cNvPr id="84" name="组合 83"/>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87" name="椭圆 86"/>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85" name="TextBox 1"/>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03</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p:cNvGrpSpPr/>
          <p:nvPr/>
        </p:nvGrpSpPr>
        <p:grpSpPr>
          <a:xfrm rot="5400000">
            <a:off x="7939470" y="-3214903"/>
            <a:ext cx="942183" cy="7462505"/>
            <a:chOff x="-11273" y="-594773"/>
            <a:chExt cx="719786" cy="7462505"/>
          </a:xfrm>
        </p:grpSpPr>
        <p:sp>
          <p:nvSpPr>
            <p:cNvPr id="89" name="等腰三角形 88"/>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519"/>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6782863" cy="646331"/>
            <a:chOff x="169526" y="143033"/>
            <a:chExt cx="6782863" cy="646331"/>
          </a:xfrm>
        </p:grpSpPr>
        <p:sp>
          <p:nvSpPr>
            <p:cNvPr id="4" name="TextBox 3"/>
            <p:cNvSpPr txBox="1"/>
            <p:nvPr/>
          </p:nvSpPr>
          <p:spPr>
            <a:xfrm>
              <a:off x="897234" y="143033"/>
              <a:ext cx="6055155"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2" name="TextBox 2"/>
          <p:cNvSpPr txBox="1">
            <a:spLocks noChangeArrowheads="1"/>
          </p:cNvSpPr>
          <p:nvPr/>
        </p:nvSpPr>
        <p:spPr bwMode="auto">
          <a:xfrm>
            <a:off x="776097" y="1538734"/>
            <a:ext cx="953138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Arial" panose="020B0604020202020204" pitchFamily="34" charset="0"/>
              <a:buChar char="•"/>
            </a:pPr>
            <a:r>
              <a:rPr lang="zh-CN" altLang="en-US" sz="2800" dirty="0" smtClean="0">
                <a:solidFill>
                  <a:schemeClr val="accent4"/>
                </a:solidFill>
                <a:latin typeface="微软雅黑" panose="020B0503020204020204" pitchFamily="34" charset="-122"/>
                <a:ea typeface="微软雅黑" panose="020B0503020204020204" pitchFamily="34" charset="-122"/>
              </a:rPr>
              <a:t>传统</a:t>
            </a:r>
            <a:r>
              <a:rPr lang="zh-CN" altLang="en-US" sz="2800" dirty="0">
                <a:solidFill>
                  <a:schemeClr val="accent4"/>
                </a:solidFill>
                <a:latin typeface="微软雅黑" panose="020B0503020204020204" pitchFamily="34" charset="-122"/>
                <a:ea typeface="微软雅黑" panose="020B0503020204020204" pitchFamily="34" charset="-122"/>
              </a:rPr>
              <a:t>的科学计算主要基于矩阵进行</a:t>
            </a:r>
            <a:r>
              <a:rPr lang="zh-CN" altLang="en-US" sz="2800" dirty="0" smtClean="0">
                <a:solidFill>
                  <a:schemeClr val="accent4"/>
                </a:solidFill>
                <a:latin typeface="微软雅黑" panose="020B0503020204020204" pitchFamily="34" charset="-122"/>
                <a:ea typeface="微软雅黑" panose="020B0503020204020204" pitchFamily="34" charset="-122"/>
              </a:rPr>
              <a:t>计算。</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zh-CN" altLang="en-US" sz="2800" dirty="0" smtClean="0">
                <a:solidFill>
                  <a:schemeClr val="accent4"/>
                </a:solidFill>
                <a:latin typeface="微软雅黑" panose="020B0503020204020204" pitchFamily="34" charset="-122"/>
                <a:ea typeface="微软雅黑" panose="020B0503020204020204" pitchFamily="34" charset="-122"/>
              </a:rPr>
              <a:t>矩阵是线性代数</a:t>
            </a:r>
            <a:r>
              <a:rPr lang="zh-CN" altLang="en-US" sz="2800" dirty="0">
                <a:solidFill>
                  <a:schemeClr val="accent4"/>
                </a:solidFill>
                <a:latin typeface="微软雅黑" panose="020B0503020204020204" pitchFamily="34" charset="-122"/>
                <a:ea typeface="微软雅黑" panose="020B0503020204020204" pitchFamily="34" charset="-122"/>
              </a:rPr>
              <a:t>中的一个重要概念，矩阵也有维度</a:t>
            </a:r>
            <a:r>
              <a:rPr lang="zh-CN" altLang="en-US" sz="2800" dirty="0" smtClean="0">
                <a:solidFill>
                  <a:schemeClr val="accent4"/>
                </a:solidFill>
                <a:latin typeface="微软雅黑" panose="020B0503020204020204" pitchFamily="34" charset="-122"/>
                <a:ea typeface="微软雅黑" panose="020B0503020204020204" pitchFamily="34" charset="-122"/>
              </a:rPr>
              <a:t>概念。</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en-US" altLang="zh-CN" sz="2800" dirty="0" err="1" smtClean="0">
                <a:solidFill>
                  <a:schemeClr val="accent4"/>
                </a:solidFill>
                <a:latin typeface="微软雅黑" panose="020B0503020204020204" pitchFamily="34" charset="-122"/>
                <a:ea typeface="微软雅黑" panose="020B0503020204020204" pitchFamily="34" charset="-122"/>
              </a:rPr>
              <a:t>Numpy</a:t>
            </a:r>
            <a:r>
              <a:rPr lang="zh-CN" altLang="en-US" sz="2800" dirty="0">
                <a:solidFill>
                  <a:schemeClr val="accent4"/>
                </a:solidFill>
                <a:latin typeface="微软雅黑" panose="020B0503020204020204" pitchFamily="34" charset="-122"/>
                <a:ea typeface="微软雅黑" panose="020B0503020204020204" pitchFamily="34" charset="-122"/>
              </a:rPr>
              <a:t>中</a:t>
            </a:r>
            <a:r>
              <a:rPr lang="zh-CN" altLang="en-US" sz="2800" dirty="0" smtClean="0">
                <a:solidFill>
                  <a:schemeClr val="accent4"/>
                </a:solidFill>
                <a:latin typeface="微软雅黑" panose="020B0503020204020204" pitchFamily="34" charset="-122"/>
                <a:ea typeface="微软雅黑" panose="020B0503020204020204" pitchFamily="34" charset="-122"/>
              </a:rPr>
              <a:t>的</a:t>
            </a:r>
            <a:r>
              <a:rPr lang="en-US" altLang="zh-CN" sz="2800" dirty="0" err="1" smtClean="0">
                <a:solidFill>
                  <a:schemeClr val="accent4"/>
                </a:solidFill>
                <a:latin typeface="微软雅黑" panose="020B0503020204020204" pitchFamily="34" charset="-122"/>
                <a:ea typeface="微软雅黑" panose="020B0503020204020204" pitchFamily="34" charset="-122"/>
              </a:rPr>
              <a:t>ndarray</a:t>
            </a:r>
            <a:r>
              <a:rPr lang="zh-CN" altLang="en-US" sz="2800" dirty="0">
                <a:solidFill>
                  <a:schemeClr val="accent4"/>
                </a:solidFill>
                <a:latin typeface="微软雅黑" panose="020B0503020204020204" pitchFamily="34" charset="-122"/>
                <a:ea typeface="微软雅黑" panose="020B0503020204020204" pitchFamily="34" charset="-122"/>
              </a:rPr>
              <a:t>（</a:t>
            </a:r>
            <a:r>
              <a:rPr lang="en-US" altLang="zh-CN" sz="2800" dirty="0">
                <a:solidFill>
                  <a:schemeClr val="accent4"/>
                </a:solidFill>
                <a:latin typeface="微软雅黑" panose="020B0503020204020204" pitchFamily="34" charset="-122"/>
                <a:ea typeface="微软雅黑" panose="020B0503020204020204" pitchFamily="34" charset="-122"/>
              </a:rPr>
              <a:t>N</a:t>
            </a:r>
            <a:r>
              <a:rPr lang="zh-CN" altLang="en-US" sz="2800" dirty="0">
                <a:solidFill>
                  <a:schemeClr val="accent4"/>
                </a:solidFill>
                <a:latin typeface="微软雅黑" panose="020B0503020204020204" pitchFamily="34" charset="-122"/>
                <a:ea typeface="微软雅黑" panose="020B0503020204020204" pitchFamily="34" charset="-122"/>
              </a:rPr>
              <a:t>维数组）可以完美的表示矩阵</a:t>
            </a:r>
            <a:r>
              <a:rPr lang="zh-CN" altLang="en-US" sz="2800" dirty="0" smtClean="0">
                <a:solidFill>
                  <a:schemeClr val="accent4"/>
                </a:solidFill>
                <a:latin typeface="微软雅黑" panose="020B0503020204020204" pitchFamily="34" charset="-122"/>
                <a:ea typeface="微软雅黑" panose="020B0503020204020204" pitchFamily="34" charset="-122"/>
              </a:rPr>
              <a:t>。</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en-US" altLang="zh-CN" sz="2800" dirty="0" err="1" smtClean="0">
                <a:solidFill>
                  <a:schemeClr val="accent4"/>
                </a:solidFill>
                <a:latin typeface="微软雅黑" panose="020B0503020204020204" pitchFamily="34" charset="-122"/>
                <a:ea typeface="微软雅黑" panose="020B0503020204020204" pitchFamily="34" charset="-122"/>
              </a:rPr>
              <a:t>NumPy</a:t>
            </a:r>
            <a:r>
              <a:rPr lang="zh-CN" altLang="en-US" sz="2800" dirty="0" smtClean="0">
                <a:solidFill>
                  <a:schemeClr val="accent4"/>
                </a:solidFill>
                <a:latin typeface="微软雅黑" panose="020B0503020204020204" pitchFamily="34" charset="-122"/>
                <a:ea typeface="微软雅黑" panose="020B0503020204020204" pitchFamily="34" charset="-122"/>
              </a:rPr>
              <a:t>中的模块</a:t>
            </a:r>
            <a:r>
              <a:rPr lang="en-US" altLang="zh-CN" sz="2800" dirty="0" err="1">
                <a:solidFill>
                  <a:schemeClr val="accent4"/>
                </a:solidFill>
                <a:latin typeface="微软雅黑" panose="020B0503020204020204" pitchFamily="34" charset="-122"/>
                <a:ea typeface="微软雅黑" panose="020B0503020204020204" pitchFamily="34" charset="-122"/>
              </a:rPr>
              <a:t>linalg</a:t>
            </a:r>
            <a:r>
              <a:rPr lang="zh-CN" altLang="en-US" sz="2800" dirty="0">
                <a:solidFill>
                  <a:schemeClr val="accent4"/>
                </a:solidFill>
                <a:latin typeface="微软雅黑" panose="020B0503020204020204" pitchFamily="34" charset="-122"/>
                <a:ea typeface="微软雅黑" panose="020B0503020204020204" pitchFamily="34" charset="-122"/>
              </a:rPr>
              <a:t>，是专门用于线性代数</a:t>
            </a:r>
            <a:r>
              <a:rPr lang="zh-CN" altLang="en-US" sz="2800" dirty="0" smtClean="0">
                <a:solidFill>
                  <a:schemeClr val="accent4"/>
                </a:solidFill>
                <a:latin typeface="微软雅黑" panose="020B0503020204020204" pitchFamily="34" charset="-122"/>
                <a:ea typeface="微软雅黑" panose="020B0503020204020204" pitchFamily="34" charset="-122"/>
              </a:rPr>
              <a:t>运算。</a:t>
            </a:r>
            <a:endParaRPr lang="zh-CN" altLang="zh-CN" sz="2800" dirty="0" smtClean="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a:t>
              </a:r>
              <a:r>
                <a:rPr lang="zh-CN" altLang="en-US" sz="3600" b="1" spc="300" dirty="0" smtClean="0">
                  <a:solidFill>
                    <a:srgbClr val="1E6787"/>
                  </a:solidFill>
                  <a:latin typeface="微软雅黑" panose="020B0503020204020204" pitchFamily="34" charset="-122"/>
                  <a:ea typeface="微软雅黑" panose="020B0503020204020204" pitchFamily="34" charset="-122"/>
                </a:rPr>
                <a:t>应用：</a:t>
              </a:r>
              <a:r>
                <a:rPr lang="en-US" altLang="zh-CN" sz="3600" b="1" spc="300" dirty="0" err="1">
                  <a:solidFill>
                    <a:srgbClr val="1E6787"/>
                  </a:solidFill>
                  <a:latin typeface="微软雅黑" panose="020B0503020204020204" pitchFamily="34" charset="-122"/>
                  <a:ea typeface="微软雅黑" panose="020B0503020204020204" pitchFamily="34" charset="-122"/>
                </a:rPr>
                <a:t>linalg</a:t>
              </a:r>
              <a:r>
                <a:rPr lang="zh-CN" altLang="en-US" sz="3600" b="1" spc="300" dirty="0">
                  <a:solidFill>
                    <a:srgbClr val="1E6787"/>
                  </a:solidFill>
                  <a:latin typeface="微软雅黑" panose="020B0503020204020204" pitchFamily="34" charset="-122"/>
                  <a:ea typeface="微软雅黑" panose="020B0503020204020204" pitchFamily="34" charset="-122"/>
                </a:rPr>
                <a:t>常用函数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2" name="表格 1"/>
          <p:cNvGraphicFramePr>
            <a:graphicFrameLocks noGrp="1"/>
          </p:cNvGraphicFramePr>
          <p:nvPr/>
        </p:nvGraphicFramePr>
        <p:xfrm>
          <a:off x="898026" y="1513610"/>
          <a:ext cx="10552445" cy="5132848"/>
        </p:xfrm>
        <a:graphic>
          <a:graphicData uri="http://schemas.openxmlformats.org/drawingml/2006/table">
            <a:tbl>
              <a:tblPr firstRow="1" bandRow="1">
                <a:tableStyleId>{5C22544A-7EE6-4342-B048-85BDC9FD1C3A}</a:tableStyleId>
              </a:tblPr>
              <a:tblGrid>
                <a:gridCol w="3457589"/>
                <a:gridCol w="7094856"/>
              </a:tblGrid>
              <a:tr h="641606">
                <a:tc>
                  <a:txBody>
                    <a:bodyPr/>
                    <a:lstStyle/>
                    <a:p>
                      <a:pPr algn="ctr">
                        <a:spcAft>
                          <a:spcPts val="0"/>
                        </a:spcAft>
                      </a:pPr>
                      <a:r>
                        <a:rPr lang="zh-CN" sz="3200" kern="100">
                          <a:effectLst/>
                        </a:rPr>
                        <a:t>函数</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3200" kern="100">
                          <a:effectLst/>
                        </a:rPr>
                        <a:t>描述</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linalg.det</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计算行列式</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linalg.inv</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计算逆矩阵</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linalg.solve</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多元一次方程组求根</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linalg.eig</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返回由特征值和特征向量构成的元组</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linalg.eigvals</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计算特征值</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linalg.svd</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a:effectLst/>
                        </a:rPr>
                        <a:t>矩阵的奇异值分解</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41606">
                <a:tc>
                  <a:txBody>
                    <a:bodyPr/>
                    <a:lstStyle/>
                    <a:p>
                      <a:pPr indent="266700" algn="l">
                        <a:spcAft>
                          <a:spcPts val="0"/>
                        </a:spcAft>
                      </a:pPr>
                      <a:r>
                        <a:rPr lang="en-US" sz="3200" kern="100">
                          <a:effectLst/>
                        </a:rPr>
                        <a:t>linalg.pinv</a:t>
                      </a:r>
                      <a:r>
                        <a:rPr lang="zh-CN" sz="3200" kern="100">
                          <a:effectLst/>
                        </a:rPr>
                        <a:t>（）</a:t>
                      </a:r>
                      <a:endParaRPr lang="zh-CN" sz="32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6700" algn="l">
                        <a:spcAft>
                          <a:spcPts val="0"/>
                        </a:spcAft>
                      </a:pPr>
                      <a:r>
                        <a:rPr lang="zh-CN" sz="3200" kern="100" dirty="0">
                          <a:effectLst/>
                        </a:rPr>
                        <a:t>广义逆矩阵</a:t>
                      </a:r>
                      <a:endParaRPr lang="zh-CN" sz="3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a:t>
              </a:r>
              <a:r>
                <a:rPr lang="zh-CN" altLang="en-US" sz="3600" b="1" spc="300" dirty="0" smtClean="0">
                  <a:solidFill>
                    <a:srgbClr val="1E6787"/>
                  </a:solidFill>
                  <a:latin typeface="微软雅黑" panose="020B0503020204020204" pitchFamily="34" charset="-122"/>
                  <a:ea typeface="微软雅黑" panose="020B0503020204020204" pitchFamily="34" charset="-122"/>
                </a:rPr>
                <a:t>应用：</a:t>
              </a:r>
              <a:r>
                <a:rPr lang="en-US" altLang="zh-CN" sz="3600" b="1" spc="300" dirty="0" err="1">
                  <a:solidFill>
                    <a:srgbClr val="1E6787"/>
                  </a:solidFill>
                  <a:latin typeface="微软雅黑" panose="020B0503020204020204" pitchFamily="34" charset="-122"/>
                  <a:ea typeface="微软雅黑" panose="020B0503020204020204" pitchFamily="34" charset="-122"/>
                </a:rPr>
                <a:t>linalg</a:t>
              </a:r>
              <a:r>
                <a:rPr lang="zh-CN" altLang="en-US" sz="3600" b="1" spc="300" dirty="0">
                  <a:solidFill>
                    <a:srgbClr val="1E6787"/>
                  </a:solidFill>
                  <a:latin typeface="微软雅黑" panose="020B0503020204020204" pitchFamily="34" charset="-122"/>
                  <a:ea typeface="微软雅黑" panose="020B0503020204020204" pitchFamily="34" charset="-122"/>
                </a:rPr>
                <a:t>常用函数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9" name="内容占位符 1"/>
          <p:cNvSpPr txBox="1"/>
          <p:nvPr/>
        </p:nvSpPr>
        <p:spPr>
          <a:xfrm>
            <a:off x="674377" y="789364"/>
            <a:ext cx="10230184" cy="5857096"/>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import </a:t>
            </a:r>
            <a:r>
              <a:rPr lang="en-US" altLang="zh-CN" sz="2400" dirty="0" err="1"/>
              <a:t>numpy</a:t>
            </a:r>
            <a:r>
              <a:rPr lang="en-US" altLang="zh-CN" sz="2400" dirty="0"/>
              <a:t> as np</a:t>
            </a:r>
            <a:endParaRPr lang="zh-CN" altLang="zh-CN" sz="2400" dirty="0"/>
          </a:p>
          <a:p>
            <a:pPr marL="0" indent="0">
              <a:buNone/>
            </a:pPr>
            <a:r>
              <a:rPr lang="en-US" altLang="zh-CN" sz="2400" dirty="0"/>
              <a:t>&gt;&gt;&gt; Array1 = </a:t>
            </a:r>
            <a:r>
              <a:rPr lang="en-US" altLang="zh-CN" sz="2400" dirty="0" err="1"/>
              <a:t>np.arange</a:t>
            </a:r>
            <a:r>
              <a:rPr lang="en-US" altLang="zh-CN" sz="2400" dirty="0"/>
              <a:t>(6).reshape((2,3))</a:t>
            </a:r>
            <a:endParaRPr lang="zh-CN" altLang="zh-CN" sz="2400" dirty="0"/>
          </a:p>
          <a:p>
            <a:pPr marL="0" indent="0">
              <a:buNone/>
            </a:pPr>
            <a:r>
              <a:rPr lang="en-US" altLang="zh-CN" sz="2400" dirty="0"/>
              <a:t>&gt;&gt;&gt; Array1</a:t>
            </a:r>
            <a:endParaRPr lang="zh-CN" altLang="zh-CN" sz="2400" dirty="0"/>
          </a:p>
          <a:p>
            <a:pPr marL="0" indent="0">
              <a:buNone/>
            </a:pPr>
            <a:r>
              <a:rPr lang="en-US" altLang="zh-CN" sz="2400" dirty="0"/>
              <a:t>array([[0, 1, 2],</a:t>
            </a:r>
            <a:endParaRPr lang="zh-CN" altLang="zh-CN" sz="2400" dirty="0"/>
          </a:p>
          <a:p>
            <a:pPr marL="0" indent="0">
              <a:buNone/>
            </a:pPr>
            <a:r>
              <a:rPr lang="en-US" altLang="zh-CN" sz="2400" dirty="0"/>
              <a:t>        </a:t>
            </a:r>
            <a:r>
              <a:rPr lang="en-US" altLang="zh-CN" sz="2400" dirty="0" smtClean="0"/>
              <a:t>    [</a:t>
            </a:r>
            <a:r>
              <a:rPr lang="en-US" altLang="zh-CN" sz="2400" dirty="0"/>
              <a:t>3, 4, 5]])</a:t>
            </a:r>
            <a:endParaRPr lang="zh-CN" altLang="zh-CN" sz="2400" dirty="0"/>
          </a:p>
          <a:p>
            <a:pPr marL="0" indent="0">
              <a:buNone/>
            </a:pPr>
            <a:r>
              <a:rPr lang="en-US" altLang="zh-CN" sz="2400" dirty="0"/>
              <a:t>&gt;&gt;&gt; Array2 = </a:t>
            </a:r>
            <a:r>
              <a:rPr lang="en-US" altLang="zh-CN" sz="2400" dirty="0" err="1"/>
              <a:t>np.arange</a:t>
            </a:r>
            <a:r>
              <a:rPr lang="en-US" altLang="zh-CN" sz="2400" dirty="0"/>
              <a:t>(6).reshape((3,2))</a:t>
            </a:r>
            <a:endParaRPr lang="zh-CN" altLang="zh-CN" sz="2400" dirty="0"/>
          </a:p>
          <a:p>
            <a:pPr marL="0" indent="0">
              <a:buNone/>
            </a:pPr>
            <a:r>
              <a:rPr lang="en-US" altLang="zh-CN" sz="2400" dirty="0"/>
              <a:t>&gt;&gt;&gt; Array2</a:t>
            </a:r>
            <a:endParaRPr lang="zh-CN" altLang="zh-CN" sz="2400" dirty="0"/>
          </a:p>
          <a:p>
            <a:pPr marL="0" indent="0">
              <a:buNone/>
            </a:pPr>
            <a:r>
              <a:rPr lang="en-US" altLang="zh-CN" sz="2400" dirty="0"/>
              <a:t>array([[0, 1],</a:t>
            </a:r>
            <a:endParaRPr lang="zh-CN" altLang="zh-CN" sz="2400" dirty="0"/>
          </a:p>
          <a:p>
            <a:pPr marL="0" indent="0">
              <a:buNone/>
            </a:pPr>
            <a:r>
              <a:rPr lang="en-US" altLang="zh-CN" sz="2400" dirty="0"/>
              <a:t>     </a:t>
            </a:r>
            <a:r>
              <a:rPr lang="en-US" altLang="zh-CN" sz="2400" dirty="0" smtClean="0"/>
              <a:t>       </a:t>
            </a:r>
            <a:r>
              <a:rPr lang="en-US" altLang="zh-CN" sz="2400" dirty="0"/>
              <a:t>[2, 3],</a:t>
            </a:r>
            <a:endParaRPr lang="zh-CN" altLang="zh-CN" sz="2400" dirty="0"/>
          </a:p>
          <a:p>
            <a:pPr marL="0" indent="0">
              <a:buNone/>
            </a:pPr>
            <a:r>
              <a:rPr lang="en-US" altLang="zh-CN" sz="2400" dirty="0"/>
              <a:t>       </a:t>
            </a:r>
            <a:r>
              <a:rPr lang="en-US" altLang="zh-CN" sz="2400" dirty="0" smtClean="0"/>
              <a:t>     </a:t>
            </a:r>
            <a:r>
              <a:rPr lang="en-US" altLang="zh-CN" sz="2400" dirty="0"/>
              <a:t>[4, 5]])</a:t>
            </a:r>
            <a:endParaRPr lang="zh-CN" altLang="zh-CN" sz="2400" dirty="0"/>
          </a:p>
          <a:p>
            <a:pPr marL="0" indent="0">
              <a:buNone/>
            </a:pPr>
            <a:r>
              <a:rPr lang="en-US" altLang="zh-CN" sz="2400" dirty="0"/>
              <a:t>&gt;&gt;&gt; Array1.dot(Array2) </a:t>
            </a:r>
            <a:r>
              <a:rPr lang="en-US" altLang="zh-CN" sz="2400" dirty="0" smtClean="0"/>
              <a:t>        </a:t>
            </a:r>
            <a:r>
              <a:rPr lang="en-US" altLang="zh-CN" sz="2400" dirty="0"/>
              <a:t># </a:t>
            </a:r>
            <a:r>
              <a:rPr lang="zh-CN" altLang="zh-CN" sz="2400" dirty="0"/>
              <a:t>矩阵內积</a:t>
            </a:r>
            <a:endParaRPr lang="zh-CN" altLang="zh-CN" sz="2400" dirty="0"/>
          </a:p>
          <a:p>
            <a:pPr marL="0" indent="0">
              <a:buNone/>
            </a:pPr>
            <a:r>
              <a:rPr lang="en-US" altLang="zh-CN" sz="2400" dirty="0"/>
              <a:t>array([[10, 13],</a:t>
            </a:r>
            <a:endParaRPr lang="zh-CN" altLang="zh-CN" sz="2400" dirty="0"/>
          </a:p>
          <a:p>
            <a:pPr marL="0" indent="0">
              <a:buNone/>
            </a:pPr>
            <a:r>
              <a:rPr lang="en-US" altLang="zh-CN" sz="2400" dirty="0"/>
              <a:t>        </a:t>
            </a:r>
            <a:r>
              <a:rPr lang="en-US" altLang="zh-CN" sz="2400" dirty="0" smtClean="0"/>
              <a:t>    [</a:t>
            </a:r>
            <a:r>
              <a:rPr lang="en-US" altLang="zh-CN" sz="2400" dirty="0"/>
              <a:t>28, 40]])</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500" fill="hold"/>
                                        <p:tgtEl>
                                          <p:spTgt spid="9">
                                            <p:bg/>
                                          </p:spTgt>
                                        </p:tgtEl>
                                        <p:attrNameLst>
                                          <p:attrName>ppt_w</p:attrName>
                                        </p:attrNameLst>
                                      </p:cBhvr>
                                      <p:tavLst>
                                        <p:tav tm="0">
                                          <p:val>
                                            <p:fltVal val="0"/>
                                          </p:val>
                                        </p:tav>
                                        <p:tav tm="100000">
                                          <p:val>
                                            <p:strVal val="#ppt_w"/>
                                          </p:val>
                                        </p:tav>
                                      </p:tavLst>
                                    </p:anim>
                                    <p:anim calcmode="lin" valueType="num">
                                      <p:cBhvr>
                                        <p:cTn id="8" dur="500" fill="hold"/>
                                        <p:tgtEl>
                                          <p:spTgt spid="9">
                                            <p:bg/>
                                          </p:spTgt>
                                        </p:tgtEl>
                                        <p:attrNameLst>
                                          <p:attrName>ppt_h</p:attrName>
                                        </p:attrNameLst>
                                      </p:cBhvr>
                                      <p:tavLst>
                                        <p:tav tm="0">
                                          <p:val>
                                            <p:fltVal val="0"/>
                                          </p:val>
                                        </p:tav>
                                        <p:tav tm="100000">
                                          <p:val>
                                            <p:strVal val="#ppt_h"/>
                                          </p:val>
                                        </p:tav>
                                      </p:tavLst>
                                    </p:anim>
                                    <p:animEffect transition="in" filter="fade">
                                      <p:cBhvr>
                                        <p:cTn id="9" dur="500"/>
                                        <p:tgtEl>
                                          <p:spTgt spid="9">
                                            <p:bg/>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1000"/>
                                        <p:tgtEl>
                                          <p:spTgt spid="9">
                                            <p:txEl>
                                              <p:pRg st="3" end="3"/>
                                            </p:txEl>
                                          </p:spTgt>
                                        </p:tgtEl>
                                      </p:cBhvr>
                                    </p:animEffect>
                                    <p:anim calcmode="lin" valueType="num">
                                      <p:cBhvr>
                                        <p:cTn id="36"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Effect transition="in" filter="fade">
                                      <p:cBhvr>
                                        <p:cTn id="42" dur="1000"/>
                                        <p:tgtEl>
                                          <p:spTgt spid="9">
                                            <p:txEl>
                                              <p:pRg st="4" end="4"/>
                                            </p:txEl>
                                          </p:spTgt>
                                        </p:tgtEl>
                                      </p:cBhvr>
                                    </p:animEffect>
                                    <p:anim calcmode="lin" valueType="num">
                                      <p:cBhvr>
                                        <p:cTn id="4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Effect transition="in" filter="fade">
                                      <p:cBhvr>
                                        <p:cTn id="49" dur="1000"/>
                                        <p:tgtEl>
                                          <p:spTgt spid="9">
                                            <p:txEl>
                                              <p:pRg st="5" end="5"/>
                                            </p:txEl>
                                          </p:spTgt>
                                        </p:tgtEl>
                                      </p:cBhvr>
                                    </p:animEffect>
                                    <p:anim calcmode="lin" valueType="num">
                                      <p:cBhvr>
                                        <p:cTn id="5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xEl>
                                              <p:pRg st="6" end="6"/>
                                            </p:txEl>
                                          </p:spTgt>
                                        </p:tgtEl>
                                        <p:attrNameLst>
                                          <p:attrName>style.visibility</p:attrName>
                                        </p:attrNameLst>
                                      </p:cBhvr>
                                      <p:to>
                                        <p:strVal val="visible"/>
                                      </p:to>
                                    </p:set>
                                    <p:animEffect transition="in" filter="fade">
                                      <p:cBhvr>
                                        <p:cTn id="56" dur="1000"/>
                                        <p:tgtEl>
                                          <p:spTgt spid="9">
                                            <p:txEl>
                                              <p:pRg st="6" end="6"/>
                                            </p:txEl>
                                          </p:spTgt>
                                        </p:tgtEl>
                                      </p:cBhvr>
                                    </p:animEffect>
                                    <p:anim calcmode="lin" valueType="num">
                                      <p:cBhvr>
                                        <p:cTn id="5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9">
                                            <p:txEl>
                                              <p:pRg st="7" end="7"/>
                                            </p:txEl>
                                          </p:spTgt>
                                        </p:tgtEl>
                                        <p:attrNameLst>
                                          <p:attrName>style.visibility</p:attrName>
                                        </p:attrNameLst>
                                      </p:cBhvr>
                                      <p:to>
                                        <p:strVal val="visible"/>
                                      </p:to>
                                    </p:set>
                                    <p:animEffect transition="in" filter="fade">
                                      <p:cBhvr>
                                        <p:cTn id="63" dur="1000"/>
                                        <p:tgtEl>
                                          <p:spTgt spid="9">
                                            <p:txEl>
                                              <p:pRg st="7" end="7"/>
                                            </p:txEl>
                                          </p:spTgt>
                                        </p:tgtEl>
                                      </p:cBhvr>
                                    </p:animEffect>
                                    <p:anim calcmode="lin" valueType="num">
                                      <p:cBhvr>
                                        <p:cTn id="64"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9">
                                            <p:txEl>
                                              <p:pRg st="8" end="8"/>
                                            </p:txEl>
                                          </p:spTgt>
                                        </p:tgtEl>
                                        <p:attrNameLst>
                                          <p:attrName>style.visibility</p:attrName>
                                        </p:attrNameLst>
                                      </p:cBhvr>
                                      <p:to>
                                        <p:strVal val="visible"/>
                                      </p:to>
                                    </p:set>
                                    <p:animEffect transition="in" filter="fade">
                                      <p:cBhvr>
                                        <p:cTn id="70" dur="1000"/>
                                        <p:tgtEl>
                                          <p:spTgt spid="9">
                                            <p:txEl>
                                              <p:pRg st="8" end="8"/>
                                            </p:txEl>
                                          </p:spTgt>
                                        </p:tgtEl>
                                      </p:cBhvr>
                                    </p:animEffect>
                                    <p:anim calcmode="lin" valueType="num">
                                      <p:cBhvr>
                                        <p:cTn id="71"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9">
                                            <p:txEl>
                                              <p:pRg st="9" end="9"/>
                                            </p:txEl>
                                          </p:spTgt>
                                        </p:tgtEl>
                                        <p:attrNameLst>
                                          <p:attrName>style.visibility</p:attrName>
                                        </p:attrNameLst>
                                      </p:cBhvr>
                                      <p:to>
                                        <p:strVal val="visible"/>
                                      </p:to>
                                    </p:set>
                                    <p:animEffect transition="in" filter="fade">
                                      <p:cBhvr>
                                        <p:cTn id="77" dur="1000"/>
                                        <p:tgtEl>
                                          <p:spTgt spid="9">
                                            <p:txEl>
                                              <p:pRg st="9" end="9"/>
                                            </p:txEl>
                                          </p:spTgt>
                                        </p:tgtEl>
                                      </p:cBhvr>
                                    </p:animEffect>
                                    <p:anim calcmode="lin" valueType="num">
                                      <p:cBhvr>
                                        <p:cTn id="78"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9">
                                            <p:txEl>
                                              <p:pRg st="10" end="10"/>
                                            </p:txEl>
                                          </p:spTgt>
                                        </p:tgtEl>
                                        <p:attrNameLst>
                                          <p:attrName>style.visibility</p:attrName>
                                        </p:attrNameLst>
                                      </p:cBhvr>
                                      <p:to>
                                        <p:strVal val="visible"/>
                                      </p:to>
                                    </p:set>
                                    <p:animEffect transition="in" filter="fade">
                                      <p:cBhvr>
                                        <p:cTn id="84" dur="1000"/>
                                        <p:tgtEl>
                                          <p:spTgt spid="9">
                                            <p:txEl>
                                              <p:pRg st="10" end="10"/>
                                            </p:txEl>
                                          </p:spTgt>
                                        </p:tgtEl>
                                      </p:cBhvr>
                                    </p:animEffect>
                                    <p:anim calcmode="lin" valueType="num">
                                      <p:cBhvr>
                                        <p:cTn id="85"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9">
                                            <p:txEl>
                                              <p:pRg st="11" end="11"/>
                                            </p:txEl>
                                          </p:spTgt>
                                        </p:tgtEl>
                                        <p:attrNameLst>
                                          <p:attrName>style.visibility</p:attrName>
                                        </p:attrNameLst>
                                      </p:cBhvr>
                                      <p:to>
                                        <p:strVal val="visible"/>
                                      </p:to>
                                    </p:set>
                                    <p:animEffect transition="in" filter="fade">
                                      <p:cBhvr>
                                        <p:cTn id="91" dur="1000"/>
                                        <p:tgtEl>
                                          <p:spTgt spid="9">
                                            <p:txEl>
                                              <p:pRg st="11" end="11"/>
                                            </p:txEl>
                                          </p:spTgt>
                                        </p:tgtEl>
                                      </p:cBhvr>
                                    </p:animEffect>
                                    <p:anim calcmode="lin" valueType="num">
                                      <p:cBhvr>
                                        <p:cTn id="92" dur="10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9">
                                            <p:txEl>
                                              <p:pRg st="12" end="12"/>
                                            </p:txEl>
                                          </p:spTgt>
                                        </p:tgtEl>
                                        <p:attrNameLst>
                                          <p:attrName>style.visibility</p:attrName>
                                        </p:attrNameLst>
                                      </p:cBhvr>
                                      <p:to>
                                        <p:strVal val="visible"/>
                                      </p:to>
                                    </p:set>
                                    <p:animEffect transition="in" filter="fade">
                                      <p:cBhvr>
                                        <p:cTn id="98" dur="1000"/>
                                        <p:tgtEl>
                                          <p:spTgt spid="9">
                                            <p:txEl>
                                              <p:pRg st="12" end="12"/>
                                            </p:txEl>
                                          </p:spTgt>
                                        </p:tgtEl>
                                      </p:cBhvr>
                                    </p:animEffect>
                                    <p:anim calcmode="lin" valueType="num">
                                      <p:cBhvr>
                                        <p:cTn id="99" dur="1000" fill="hold"/>
                                        <p:tgtEl>
                                          <p:spTgt spid="9">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9">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a:t>
              </a:r>
              <a:r>
                <a:rPr lang="zh-CN" altLang="en-US" sz="3600" b="1" spc="300" dirty="0" smtClean="0">
                  <a:solidFill>
                    <a:srgbClr val="1E6787"/>
                  </a:solidFill>
                  <a:latin typeface="微软雅黑" panose="020B0503020204020204" pitchFamily="34" charset="-122"/>
                  <a:ea typeface="微软雅黑" panose="020B0503020204020204" pitchFamily="34" charset="-122"/>
                </a:rPr>
                <a:t>应用：</a:t>
              </a:r>
              <a:r>
                <a:rPr lang="en-US" altLang="zh-CN" sz="3600" b="1" spc="300" dirty="0" err="1">
                  <a:solidFill>
                    <a:srgbClr val="1E6787"/>
                  </a:solidFill>
                  <a:latin typeface="微软雅黑" panose="020B0503020204020204" pitchFamily="34" charset="-122"/>
                  <a:ea typeface="微软雅黑" panose="020B0503020204020204" pitchFamily="34" charset="-122"/>
                </a:rPr>
                <a:t>linalg</a:t>
              </a:r>
              <a:r>
                <a:rPr lang="zh-CN" altLang="en-US" sz="3600" b="1" spc="300" dirty="0">
                  <a:solidFill>
                    <a:srgbClr val="1E6787"/>
                  </a:solidFill>
                  <a:latin typeface="微软雅黑" panose="020B0503020204020204" pitchFamily="34" charset="-122"/>
                  <a:ea typeface="微软雅黑" panose="020B0503020204020204" pitchFamily="34" charset="-122"/>
                </a:rPr>
                <a:t>常用函数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9" name="内容占位符 1"/>
          <p:cNvSpPr txBox="1"/>
          <p:nvPr/>
        </p:nvSpPr>
        <p:spPr>
          <a:xfrm>
            <a:off x="674377" y="843956"/>
            <a:ext cx="10735151" cy="5857096"/>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000" dirty="0"/>
              <a:t>&gt;&gt;&gt; Array3 = </a:t>
            </a:r>
            <a:r>
              <a:rPr lang="en-US" altLang="zh-CN" sz="2000" dirty="0" err="1"/>
              <a:t>np.arange</a:t>
            </a:r>
            <a:r>
              <a:rPr lang="en-US" altLang="zh-CN" sz="2000" dirty="0"/>
              <a:t>(4).reshape((2,2))</a:t>
            </a:r>
            <a:endParaRPr lang="zh-CN" altLang="zh-CN" sz="2000" dirty="0"/>
          </a:p>
          <a:p>
            <a:pPr marL="0" indent="0">
              <a:buNone/>
            </a:pPr>
            <a:r>
              <a:rPr lang="en-US" altLang="zh-CN" sz="2000" dirty="0"/>
              <a:t>&gt;&gt;&gt; Array3</a:t>
            </a:r>
            <a:endParaRPr lang="zh-CN" altLang="zh-CN" sz="2000" dirty="0"/>
          </a:p>
          <a:p>
            <a:pPr marL="0" indent="0">
              <a:buNone/>
            </a:pPr>
            <a:r>
              <a:rPr lang="en-US" altLang="zh-CN" sz="2000" dirty="0"/>
              <a:t>array([[0, 1],</a:t>
            </a:r>
            <a:endParaRPr lang="zh-CN" altLang="zh-CN" sz="2000" dirty="0"/>
          </a:p>
          <a:p>
            <a:pPr marL="0" indent="0">
              <a:buNone/>
            </a:pPr>
            <a:r>
              <a:rPr lang="en-US" altLang="zh-CN" sz="2000" dirty="0"/>
              <a:t>        [2, 3]])</a:t>
            </a:r>
            <a:endParaRPr lang="zh-CN" altLang="zh-CN" sz="2000" dirty="0"/>
          </a:p>
          <a:p>
            <a:pPr marL="0" indent="0">
              <a:buNone/>
            </a:pPr>
            <a:r>
              <a:rPr lang="en-US" altLang="zh-CN" sz="2000" dirty="0"/>
              <a:t>&gt;&gt;&gt; detArray3 = </a:t>
            </a:r>
            <a:r>
              <a:rPr lang="en-US" altLang="zh-CN" sz="2000" dirty="0" err="1"/>
              <a:t>np.linalg.det</a:t>
            </a:r>
            <a:r>
              <a:rPr lang="en-US" altLang="zh-CN" sz="2000" dirty="0"/>
              <a:t>(Array3)    # </a:t>
            </a:r>
            <a:r>
              <a:rPr lang="zh-CN" altLang="zh-CN" sz="2000" dirty="0"/>
              <a:t>计算</a:t>
            </a:r>
            <a:r>
              <a:rPr lang="en-US" altLang="zh-CN" sz="2000" dirty="0"/>
              <a:t>Array3</a:t>
            </a:r>
            <a:r>
              <a:rPr lang="zh-CN" altLang="zh-CN" sz="2000" dirty="0"/>
              <a:t>的行列式</a:t>
            </a:r>
            <a:endParaRPr lang="zh-CN" altLang="zh-CN" sz="2000" dirty="0"/>
          </a:p>
          <a:p>
            <a:pPr marL="0" indent="0">
              <a:buNone/>
            </a:pPr>
            <a:r>
              <a:rPr lang="en-US" altLang="zh-CN" sz="2000" dirty="0"/>
              <a:t>&gt;&gt;&gt; detArray3</a:t>
            </a:r>
            <a:endParaRPr lang="zh-CN" altLang="zh-CN" sz="2000" dirty="0"/>
          </a:p>
          <a:p>
            <a:pPr marL="0" indent="0">
              <a:buNone/>
            </a:pPr>
            <a:r>
              <a:rPr lang="en-US" altLang="zh-CN" sz="2000" dirty="0"/>
              <a:t>-2.0</a:t>
            </a:r>
            <a:endParaRPr lang="zh-CN" altLang="zh-CN" sz="2000" dirty="0"/>
          </a:p>
          <a:p>
            <a:pPr marL="0" indent="0">
              <a:buNone/>
            </a:pPr>
            <a:r>
              <a:rPr lang="en-US" altLang="zh-CN" sz="2000" dirty="0"/>
              <a:t>&gt;&gt;&gt; invArray3 = </a:t>
            </a:r>
            <a:r>
              <a:rPr lang="en-US" altLang="zh-CN" sz="2000" dirty="0" err="1"/>
              <a:t>np.linalg.inv</a:t>
            </a:r>
            <a:r>
              <a:rPr lang="en-US" altLang="zh-CN" sz="2000" dirty="0"/>
              <a:t>(Array3)    # </a:t>
            </a:r>
            <a:r>
              <a:rPr lang="zh-CN" altLang="zh-CN" sz="2000" dirty="0"/>
              <a:t>计算</a:t>
            </a:r>
            <a:r>
              <a:rPr lang="en-US" altLang="zh-CN" sz="2000" dirty="0"/>
              <a:t>Array3</a:t>
            </a:r>
            <a:r>
              <a:rPr lang="zh-CN" altLang="zh-CN" sz="2000" dirty="0"/>
              <a:t>的逆矩阵</a:t>
            </a:r>
            <a:endParaRPr lang="zh-CN" altLang="zh-CN" sz="2000" dirty="0"/>
          </a:p>
          <a:p>
            <a:pPr marL="0" indent="0">
              <a:buNone/>
            </a:pPr>
            <a:r>
              <a:rPr lang="en-US" altLang="zh-CN" sz="2000" dirty="0"/>
              <a:t>&gt;&gt;&gt; invArray3</a:t>
            </a:r>
            <a:endParaRPr lang="zh-CN" altLang="zh-CN" sz="2000" dirty="0"/>
          </a:p>
          <a:p>
            <a:pPr marL="0" indent="0">
              <a:buNone/>
            </a:pPr>
            <a:r>
              <a:rPr lang="en-US" altLang="zh-CN" sz="2000" dirty="0"/>
              <a:t>array([[-1.5,  0.5],</a:t>
            </a:r>
            <a:endParaRPr lang="zh-CN" altLang="zh-CN" sz="2000" dirty="0"/>
          </a:p>
          <a:p>
            <a:pPr marL="0" indent="0">
              <a:buNone/>
            </a:pPr>
            <a:r>
              <a:rPr lang="en-US" altLang="zh-CN" sz="2000" dirty="0"/>
              <a:t>      </a:t>
            </a:r>
            <a:r>
              <a:rPr lang="en-US" altLang="zh-CN" sz="2000" dirty="0" smtClean="0"/>
              <a:t>      </a:t>
            </a:r>
            <a:r>
              <a:rPr lang="en-US" altLang="zh-CN" sz="2000" dirty="0"/>
              <a:t>[ 1. ,  0. ]])</a:t>
            </a:r>
            <a:endParaRPr lang="zh-CN" altLang="zh-CN" sz="2000" dirty="0"/>
          </a:p>
          <a:p>
            <a:pPr marL="0" indent="0">
              <a:buNone/>
            </a:pPr>
            <a:r>
              <a:rPr lang="en-US" altLang="zh-CN" sz="2000" dirty="0"/>
              <a:t>&gt;&gt;&gt; </a:t>
            </a:r>
            <a:r>
              <a:rPr lang="en-US" altLang="zh-CN" sz="2000" dirty="0" err="1"/>
              <a:t>eyeArray</a:t>
            </a:r>
            <a:r>
              <a:rPr lang="en-US" altLang="zh-CN" sz="2000" dirty="0"/>
              <a:t>=Array3.dot(invArray3)     # </a:t>
            </a:r>
            <a:r>
              <a:rPr lang="zh-CN" altLang="zh-CN" sz="2000" dirty="0"/>
              <a:t>互逆矩阵进行內积运算，验证结果</a:t>
            </a:r>
            <a:endParaRPr lang="zh-CN" altLang="zh-CN" sz="2000" dirty="0"/>
          </a:p>
          <a:p>
            <a:pPr marL="0" indent="0">
              <a:buNone/>
            </a:pPr>
            <a:r>
              <a:rPr lang="en-US" altLang="zh-CN" sz="2000" dirty="0"/>
              <a:t>&gt;&gt;&gt; </a:t>
            </a:r>
            <a:r>
              <a:rPr lang="en-US" altLang="zh-CN" sz="2000" dirty="0" err="1"/>
              <a:t>eyeArray</a:t>
            </a:r>
            <a:endParaRPr lang="zh-CN" altLang="zh-CN" sz="2000" dirty="0"/>
          </a:p>
          <a:p>
            <a:pPr marL="0" indent="0">
              <a:buNone/>
            </a:pPr>
            <a:r>
              <a:rPr lang="en-US" altLang="zh-CN" sz="2000" dirty="0"/>
              <a:t>array([[1., 0.],</a:t>
            </a:r>
            <a:endParaRPr lang="zh-CN" altLang="zh-CN" sz="2000" dirty="0"/>
          </a:p>
          <a:p>
            <a:pPr marL="0" indent="0">
              <a:buNone/>
            </a:pPr>
            <a:r>
              <a:rPr lang="en-US" altLang="zh-CN" sz="2000" dirty="0"/>
              <a:t>   </a:t>
            </a:r>
            <a:r>
              <a:rPr lang="en-US" altLang="zh-CN" sz="2000" dirty="0" smtClean="0"/>
              <a:t>         </a:t>
            </a:r>
            <a:r>
              <a:rPr lang="en-US" altLang="zh-CN" sz="2000" dirty="0"/>
              <a:t>[0., 1.]])</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500" fill="hold"/>
                                        <p:tgtEl>
                                          <p:spTgt spid="9">
                                            <p:bg/>
                                          </p:spTgt>
                                        </p:tgtEl>
                                        <p:attrNameLst>
                                          <p:attrName>ppt_w</p:attrName>
                                        </p:attrNameLst>
                                      </p:cBhvr>
                                      <p:tavLst>
                                        <p:tav tm="0">
                                          <p:val>
                                            <p:fltVal val="0"/>
                                          </p:val>
                                        </p:tav>
                                        <p:tav tm="100000">
                                          <p:val>
                                            <p:strVal val="#ppt_w"/>
                                          </p:val>
                                        </p:tav>
                                      </p:tavLst>
                                    </p:anim>
                                    <p:anim calcmode="lin" valueType="num">
                                      <p:cBhvr>
                                        <p:cTn id="8" dur="500" fill="hold"/>
                                        <p:tgtEl>
                                          <p:spTgt spid="9">
                                            <p:bg/>
                                          </p:spTgt>
                                        </p:tgtEl>
                                        <p:attrNameLst>
                                          <p:attrName>ppt_h</p:attrName>
                                        </p:attrNameLst>
                                      </p:cBhvr>
                                      <p:tavLst>
                                        <p:tav tm="0">
                                          <p:val>
                                            <p:fltVal val="0"/>
                                          </p:val>
                                        </p:tav>
                                        <p:tav tm="100000">
                                          <p:val>
                                            <p:strVal val="#ppt_h"/>
                                          </p:val>
                                        </p:tav>
                                      </p:tavLst>
                                    </p:anim>
                                    <p:animEffect transition="in" filter="fade">
                                      <p:cBhvr>
                                        <p:cTn id="9" dur="500"/>
                                        <p:tgtEl>
                                          <p:spTgt spid="9">
                                            <p:bg/>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1000"/>
                                        <p:tgtEl>
                                          <p:spTgt spid="9">
                                            <p:txEl>
                                              <p:pRg st="3" end="3"/>
                                            </p:txEl>
                                          </p:spTgt>
                                        </p:tgtEl>
                                      </p:cBhvr>
                                    </p:animEffect>
                                    <p:anim calcmode="lin" valueType="num">
                                      <p:cBhvr>
                                        <p:cTn id="36"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Effect transition="in" filter="fade">
                                      <p:cBhvr>
                                        <p:cTn id="42" dur="1000"/>
                                        <p:tgtEl>
                                          <p:spTgt spid="9">
                                            <p:txEl>
                                              <p:pRg st="4" end="4"/>
                                            </p:txEl>
                                          </p:spTgt>
                                        </p:tgtEl>
                                      </p:cBhvr>
                                    </p:animEffect>
                                    <p:anim calcmode="lin" valueType="num">
                                      <p:cBhvr>
                                        <p:cTn id="4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Effect transition="in" filter="fade">
                                      <p:cBhvr>
                                        <p:cTn id="49" dur="1000"/>
                                        <p:tgtEl>
                                          <p:spTgt spid="9">
                                            <p:txEl>
                                              <p:pRg st="5" end="5"/>
                                            </p:txEl>
                                          </p:spTgt>
                                        </p:tgtEl>
                                      </p:cBhvr>
                                    </p:animEffect>
                                    <p:anim calcmode="lin" valueType="num">
                                      <p:cBhvr>
                                        <p:cTn id="5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xEl>
                                              <p:pRg st="6" end="6"/>
                                            </p:txEl>
                                          </p:spTgt>
                                        </p:tgtEl>
                                        <p:attrNameLst>
                                          <p:attrName>style.visibility</p:attrName>
                                        </p:attrNameLst>
                                      </p:cBhvr>
                                      <p:to>
                                        <p:strVal val="visible"/>
                                      </p:to>
                                    </p:set>
                                    <p:animEffect transition="in" filter="fade">
                                      <p:cBhvr>
                                        <p:cTn id="56" dur="1000"/>
                                        <p:tgtEl>
                                          <p:spTgt spid="9">
                                            <p:txEl>
                                              <p:pRg st="6" end="6"/>
                                            </p:txEl>
                                          </p:spTgt>
                                        </p:tgtEl>
                                      </p:cBhvr>
                                    </p:animEffect>
                                    <p:anim calcmode="lin" valueType="num">
                                      <p:cBhvr>
                                        <p:cTn id="5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9">
                                            <p:txEl>
                                              <p:pRg st="7" end="7"/>
                                            </p:txEl>
                                          </p:spTgt>
                                        </p:tgtEl>
                                        <p:attrNameLst>
                                          <p:attrName>style.visibility</p:attrName>
                                        </p:attrNameLst>
                                      </p:cBhvr>
                                      <p:to>
                                        <p:strVal val="visible"/>
                                      </p:to>
                                    </p:set>
                                    <p:animEffect transition="in" filter="fade">
                                      <p:cBhvr>
                                        <p:cTn id="63" dur="1000"/>
                                        <p:tgtEl>
                                          <p:spTgt spid="9">
                                            <p:txEl>
                                              <p:pRg st="7" end="7"/>
                                            </p:txEl>
                                          </p:spTgt>
                                        </p:tgtEl>
                                      </p:cBhvr>
                                    </p:animEffect>
                                    <p:anim calcmode="lin" valueType="num">
                                      <p:cBhvr>
                                        <p:cTn id="64"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9">
                                            <p:txEl>
                                              <p:pRg st="8" end="8"/>
                                            </p:txEl>
                                          </p:spTgt>
                                        </p:tgtEl>
                                        <p:attrNameLst>
                                          <p:attrName>style.visibility</p:attrName>
                                        </p:attrNameLst>
                                      </p:cBhvr>
                                      <p:to>
                                        <p:strVal val="visible"/>
                                      </p:to>
                                    </p:set>
                                    <p:animEffect transition="in" filter="fade">
                                      <p:cBhvr>
                                        <p:cTn id="70" dur="1000"/>
                                        <p:tgtEl>
                                          <p:spTgt spid="9">
                                            <p:txEl>
                                              <p:pRg st="8" end="8"/>
                                            </p:txEl>
                                          </p:spTgt>
                                        </p:tgtEl>
                                      </p:cBhvr>
                                    </p:animEffect>
                                    <p:anim calcmode="lin" valueType="num">
                                      <p:cBhvr>
                                        <p:cTn id="71"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9">
                                            <p:txEl>
                                              <p:pRg st="9" end="9"/>
                                            </p:txEl>
                                          </p:spTgt>
                                        </p:tgtEl>
                                        <p:attrNameLst>
                                          <p:attrName>style.visibility</p:attrName>
                                        </p:attrNameLst>
                                      </p:cBhvr>
                                      <p:to>
                                        <p:strVal val="visible"/>
                                      </p:to>
                                    </p:set>
                                    <p:animEffect transition="in" filter="fade">
                                      <p:cBhvr>
                                        <p:cTn id="77" dur="1000"/>
                                        <p:tgtEl>
                                          <p:spTgt spid="9">
                                            <p:txEl>
                                              <p:pRg st="9" end="9"/>
                                            </p:txEl>
                                          </p:spTgt>
                                        </p:tgtEl>
                                      </p:cBhvr>
                                    </p:animEffect>
                                    <p:anim calcmode="lin" valueType="num">
                                      <p:cBhvr>
                                        <p:cTn id="78"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9">
                                            <p:txEl>
                                              <p:pRg st="10" end="10"/>
                                            </p:txEl>
                                          </p:spTgt>
                                        </p:tgtEl>
                                        <p:attrNameLst>
                                          <p:attrName>style.visibility</p:attrName>
                                        </p:attrNameLst>
                                      </p:cBhvr>
                                      <p:to>
                                        <p:strVal val="visible"/>
                                      </p:to>
                                    </p:set>
                                    <p:animEffect transition="in" filter="fade">
                                      <p:cBhvr>
                                        <p:cTn id="84" dur="1000"/>
                                        <p:tgtEl>
                                          <p:spTgt spid="9">
                                            <p:txEl>
                                              <p:pRg st="10" end="10"/>
                                            </p:txEl>
                                          </p:spTgt>
                                        </p:tgtEl>
                                      </p:cBhvr>
                                    </p:animEffect>
                                    <p:anim calcmode="lin" valueType="num">
                                      <p:cBhvr>
                                        <p:cTn id="85"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9">
                                            <p:txEl>
                                              <p:pRg st="11" end="11"/>
                                            </p:txEl>
                                          </p:spTgt>
                                        </p:tgtEl>
                                        <p:attrNameLst>
                                          <p:attrName>style.visibility</p:attrName>
                                        </p:attrNameLst>
                                      </p:cBhvr>
                                      <p:to>
                                        <p:strVal val="visible"/>
                                      </p:to>
                                    </p:set>
                                    <p:animEffect transition="in" filter="fade">
                                      <p:cBhvr>
                                        <p:cTn id="91" dur="1000"/>
                                        <p:tgtEl>
                                          <p:spTgt spid="9">
                                            <p:txEl>
                                              <p:pRg st="11" end="11"/>
                                            </p:txEl>
                                          </p:spTgt>
                                        </p:tgtEl>
                                      </p:cBhvr>
                                    </p:animEffect>
                                    <p:anim calcmode="lin" valueType="num">
                                      <p:cBhvr>
                                        <p:cTn id="92" dur="10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9">
                                            <p:txEl>
                                              <p:pRg st="12" end="12"/>
                                            </p:txEl>
                                          </p:spTgt>
                                        </p:tgtEl>
                                        <p:attrNameLst>
                                          <p:attrName>style.visibility</p:attrName>
                                        </p:attrNameLst>
                                      </p:cBhvr>
                                      <p:to>
                                        <p:strVal val="visible"/>
                                      </p:to>
                                    </p:set>
                                    <p:animEffect transition="in" filter="fade">
                                      <p:cBhvr>
                                        <p:cTn id="98" dur="1000"/>
                                        <p:tgtEl>
                                          <p:spTgt spid="9">
                                            <p:txEl>
                                              <p:pRg st="12" end="12"/>
                                            </p:txEl>
                                          </p:spTgt>
                                        </p:tgtEl>
                                      </p:cBhvr>
                                    </p:animEffect>
                                    <p:anim calcmode="lin" valueType="num">
                                      <p:cBhvr>
                                        <p:cTn id="99" dur="1000" fill="hold"/>
                                        <p:tgtEl>
                                          <p:spTgt spid="9">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9">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9">
                                            <p:txEl>
                                              <p:pRg st="13" end="13"/>
                                            </p:txEl>
                                          </p:spTgt>
                                        </p:tgtEl>
                                        <p:attrNameLst>
                                          <p:attrName>style.visibility</p:attrName>
                                        </p:attrNameLst>
                                      </p:cBhvr>
                                      <p:to>
                                        <p:strVal val="visible"/>
                                      </p:to>
                                    </p:set>
                                    <p:animEffect transition="in" filter="fade">
                                      <p:cBhvr>
                                        <p:cTn id="105" dur="1000"/>
                                        <p:tgtEl>
                                          <p:spTgt spid="9">
                                            <p:txEl>
                                              <p:pRg st="13" end="13"/>
                                            </p:txEl>
                                          </p:spTgt>
                                        </p:tgtEl>
                                      </p:cBhvr>
                                    </p:animEffect>
                                    <p:anim calcmode="lin" valueType="num">
                                      <p:cBhvr>
                                        <p:cTn id="106" dur="1000" fill="hold"/>
                                        <p:tgtEl>
                                          <p:spTgt spid="9">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9">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9">
                                            <p:txEl>
                                              <p:pRg st="14" end="14"/>
                                            </p:txEl>
                                          </p:spTgt>
                                        </p:tgtEl>
                                        <p:attrNameLst>
                                          <p:attrName>style.visibility</p:attrName>
                                        </p:attrNameLst>
                                      </p:cBhvr>
                                      <p:to>
                                        <p:strVal val="visible"/>
                                      </p:to>
                                    </p:set>
                                    <p:animEffect transition="in" filter="fade">
                                      <p:cBhvr>
                                        <p:cTn id="112" dur="1000"/>
                                        <p:tgtEl>
                                          <p:spTgt spid="9">
                                            <p:txEl>
                                              <p:pRg st="14" end="14"/>
                                            </p:txEl>
                                          </p:spTgt>
                                        </p:tgtEl>
                                      </p:cBhvr>
                                    </p:animEffect>
                                    <p:anim calcmode="lin" valueType="num">
                                      <p:cBhvr>
                                        <p:cTn id="113" dur="1000" fill="hold"/>
                                        <p:tgtEl>
                                          <p:spTgt spid="9">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a:t>
              </a:r>
              <a:r>
                <a:rPr lang="zh-CN" altLang="en-US" sz="3600" b="1" spc="300" dirty="0" smtClean="0">
                  <a:solidFill>
                    <a:srgbClr val="1E6787"/>
                  </a:solidFill>
                  <a:latin typeface="微软雅黑" panose="020B0503020204020204" pitchFamily="34" charset="-122"/>
                  <a:ea typeface="微软雅黑" panose="020B0503020204020204" pitchFamily="34" charset="-122"/>
                </a:rPr>
                <a:t>应用：</a:t>
              </a:r>
              <a:r>
                <a:rPr lang="en-US" altLang="zh-CN" sz="3600" b="1" spc="300" dirty="0" err="1">
                  <a:solidFill>
                    <a:srgbClr val="1E6787"/>
                  </a:solidFill>
                  <a:latin typeface="微软雅黑" panose="020B0503020204020204" pitchFamily="34" charset="-122"/>
                  <a:ea typeface="微软雅黑" panose="020B0503020204020204" pitchFamily="34" charset="-122"/>
                </a:rPr>
                <a:t>linalg</a:t>
              </a:r>
              <a:r>
                <a:rPr lang="zh-CN" altLang="en-US" sz="3600" b="1" spc="300" dirty="0">
                  <a:solidFill>
                    <a:srgbClr val="1E6787"/>
                  </a:solidFill>
                  <a:latin typeface="微软雅黑" panose="020B0503020204020204" pitchFamily="34" charset="-122"/>
                  <a:ea typeface="微软雅黑" panose="020B0503020204020204" pitchFamily="34" charset="-122"/>
                </a:rPr>
                <a:t>常用函数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stretch>
            <a:fillRect/>
          </a:stretch>
        </p:blipFill>
        <p:spPr>
          <a:xfrm>
            <a:off x="674376" y="947932"/>
            <a:ext cx="10830675" cy="2027280"/>
          </a:xfrm>
          <a:prstGeom prst="rect">
            <a:avLst/>
          </a:prstGeom>
        </p:spPr>
      </p:pic>
      <p:pic>
        <p:nvPicPr>
          <p:cNvPr id="3" name="图片 2"/>
          <p:cNvPicPr>
            <a:picLocks noChangeAspect="1"/>
          </p:cNvPicPr>
          <p:nvPr/>
        </p:nvPicPr>
        <p:blipFill>
          <a:blip r:embed="rId2"/>
          <a:stretch>
            <a:fillRect/>
          </a:stretch>
        </p:blipFill>
        <p:spPr>
          <a:xfrm>
            <a:off x="674376" y="3788872"/>
            <a:ext cx="10830675" cy="2137445"/>
          </a:xfrm>
          <a:prstGeom prst="rect">
            <a:avLst/>
          </a:prstGeom>
        </p:spPr>
      </p:pic>
      <p:sp>
        <p:nvSpPr>
          <p:cNvPr id="5" name="下箭头 4"/>
          <p:cNvSpPr/>
          <p:nvPr/>
        </p:nvSpPr>
        <p:spPr>
          <a:xfrm>
            <a:off x="5650173" y="2975212"/>
            <a:ext cx="682388" cy="81366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线性代数</a:t>
              </a:r>
              <a:r>
                <a:rPr lang="zh-CN" altLang="en-US" sz="3600" b="1" spc="300" dirty="0">
                  <a:solidFill>
                    <a:srgbClr val="1E6787"/>
                  </a:solidFill>
                  <a:latin typeface="微软雅黑" panose="020B0503020204020204" pitchFamily="34" charset="-122"/>
                  <a:ea typeface="微软雅黑" panose="020B0503020204020204" pitchFamily="34" charset="-122"/>
                </a:rPr>
                <a:t>的</a:t>
              </a:r>
              <a:r>
                <a:rPr lang="zh-CN" altLang="en-US" sz="3600" b="1" spc="300" dirty="0" smtClean="0">
                  <a:solidFill>
                    <a:srgbClr val="1E6787"/>
                  </a:solidFill>
                  <a:latin typeface="微软雅黑" panose="020B0503020204020204" pitchFamily="34" charset="-122"/>
                  <a:ea typeface="微软雅黑" panose="020B0503020204020204" pitchFamily="34" charset="-122"/>
                </a:rPr>
                <a:t>应用：</a:t>
              </a:r>
              <a:r>
                <a:rPr lang="en-US" altLang="zh-CN" sz="3600" b="1" spc="300" dirty="0" err="1">
                  <a:solidFill>
                    <a:srgbClr val="1E6787"/>
                  </a:solidFill>
                  <a:latin typeface="微软雅黑" panose="020B0503020204020204" pitchFamily="34" charset="-122"/>
                  <a:ea typeface="微软雅黑" panose="020B0503020204020204" pitchFamily="34" charset="-122"/>
                </a:rPr>
                <a:t>linalg</a:t>
              </a:r>
              <a:r>
                <a:rPr lang="zh-CN" altLang="en-US" sz="3600" b="1" spc="300" dirty="0">
                  <a:solidFill>
                    <a:srgbClr val="1E6787"/>
                  </a:solidFill>
                  <a:latin typeface="微软雅黑" panose="020B0503020204020204" pitchFamily="34" charset="-122"/>
                  <a:ea typeface="微软雅黑" panose="020B0503020204020204" pitchFamily="34" charset="-122"/>
                </a:rPr>
                <a:t>常用函数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7" name="图片 6"/>
          <p:cNvPicPr>
            <a:picLocks noChangeAspect="1"/>
          </p:cNvPicPr>
          <p:nvPr/>
        </p:nvPicPr>
        <p:blipFill>
          <a:blip r:embed="rId1"/>
          <a:stretch>
            <a:fillRect/>
          </a:stretch>
        </p:blipFill>
        <p:spPr>
          <a:xfrm>
            <a:off x="898028" y="4575709"/>
            <a:ext cx="9651690" cy="2166960"/>
          </a:xfrm>
          <a:prstGeom prst="rect">
            <a:avLst/>
          </a:prstGeom>
        </p:spPr>
      </p:pic>
      <p:pic>
        <p:nvPicPr>
          <p:cNvPr id="8" name="图片 7"/>
          <p:cNvPicPr>
            <a:picLocks noChangeAspect="1"/>
          </p:cNvPicPr>
          <p:nvPr/>
        </p:nvPicPr>
        <p:blipFill>
          <a:blip r:embed="rId2"/>
          <a:stretch>
            <a:fillRect/>
          </a:stretch>
        </p:blipFill>
        <p:spPr>
          <a:xfrm>
            <a:off x="974217" y="1041985"/>
            <a:ext cx="9575501" cy="285891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2" name="表格 1"/>
          <p:cNvGraphicFramePr>
            <a:graphicFrameLocks noGrp="1"/>
          </p:cNvGraphicFramePr>
          <p:nvPr/>
        </p:nvGraphicFramePr>
        <p:xfrm>
          <a:off x="898028" y="1320522"/>
          <a:ext cx="10825399" cy="5002393"/>
        </p:xfrm>
        <a:graphic>
          <a:graphicData uri="http://schemas.openxmlformats.org/drawingml/2006/table">
            <a:tbl>
              <a:tblPr firstRow="1" bandRow="1">
                <a:tableStyleId>{5C22544A-7EE6-4342-B048-85BDC9FD1C3A}</a:tableStyleId>
              </a:tblPr>
              <a:tblGrid>
                <a:gridCol w="2426564"/>
                <a:gridCol w="8398835"/>
              </a:tblGrid>
              <a:tr h="434936">
                <a:tc>
                  <a:txBody>
                    <a:bodyPr/>
                    <a:lstStyle/>
                    <a:p>
                      <a:pPr algn="ctr">
                        <a:spcAft>
                          <a:spcPts val="0"/>
                        </a:spcAft>
                      </a:pPr>
                      <a:r>
                        <a:rPr lang="zh-CN" sz="2000" kern="100">
                          <a:effectLst/>
                        </a:rPr>
                        <a:t>函数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000" kern="100">
                          <a:effectLst/>
                        </a:rPr>
                        <a:t>描述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poly1d</a:t>
                      </a:r>
                      <a:r>
                        <a:rPr lang="zh-CN" sz="2000" kern="100">
                          <a:effectLst/>
                        </a:rPr>
                        <a:t>（</a:t>
                      </a:r>
                      <a:r>
                        <a:rPr lang="en-US" sz="2000" kern="100">
                          <a:effectLst/>
                        </a:rPr>
                        <a:t>A</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利用系数数组</a:t>
                      </a:r>
                      <a:r>
                        <a:rPr lang="en-US" sz="2000" kern="100">
                          <a:effectLst/>
                        </a:rPr>
                        <a:t>A</a:t>
                      </a:r>
                      <a:r>
                        <a:rPr lang="zh-CN" sz="2000" kern="100">
                          <a:effectLst/>
                        </a:rPr>
                        <a:t>生成多项式</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polyval</a:t>
                      </a:r>
                      <a:r>
                        <a:rPr lang="zh-CN" sz="2000" kern="100">
                          <a:effectLst/>
                        </a:rPr>
                        <a:t>（</a:t>
                      </a:r>
                      <a:r>
                        <a:rPr lang="en-US" sz="2000" kern="100">
                          <a:effectLst/>
                        </a:rPr>
                        <a:t>p,k</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dirty="0">
                          <a:effectLst/>
                        </a:rPr>
                        <a:t>求多项式</a:t>
                      </a:r>
                      <a:r>
                        <a:rPr lang="en-US" sz="2000" kern="100" dirty="0">
                          <a:effectLst/>
                        </a:rPr>
                        <a:t>p</a:t>
                      </a:r>
                      <a:r>
                        <a:rPr lang="zh-CN" sz="2000" kern="100" dirty="0">
                          <a:effectLst/>
                        </a:rPr>
                        <a:t>，在</a:t>
                      </a:r>
                      <a:r>
                        <a:rPr lang="en-US" sz="2000" kern="100" dirty="0">
                          <a:effectLst/>
                        </a:rPr>
                        <a:t>x=k</a:t>
                      </a:r>
                      <a:r>
                        <a:rPr lang="zh-CN" sz="2000" kern="100" dirty="0">
                          <a:effectLst/>
                        </a:rPr>
                        <a:t>时的值</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ployder</a:t>
                      </a:r>
                      <a:r>
                        <a:rPr lang="zh-CN" sz="2000" kern="100">
                          <a:effectLst/>
                        </a:rPr>
                        <a:t>（</a:t>
                      </a:r>
                      <a:r>
                        <a:rPr lang="en-US" sz="2000" kern="100">
                          <a:effectLst/>
                        </a:rPr>
                        <a:t>p,m=1</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求多项式</a:t>
                      </a:r>
                      <a:r>
                        <a:rPr lang="en-US" sz="2000" kern="100">
                          <a:effectLst/>
                        </a:rPr>
                        <a:t>p</a:t>
                      </a:r>
                      <a:r>
                        <a:rPr lang="zh-CN" sz="2000" kern="100">
                          <a:effectLst/>
                        </a:rPr>
                        <a:t>的</a:t>
                      </a:r>
                      <a:r>
                        <a:rPr lang="en-US" sz="2000" kern="100">
                          <a:effectLst/>
                        </a:rPr>
                        <a:t>m</a:t>
                      </a:r>
                      <a:r>
                        <a:rPr lang="zh-CN" sz="2000" kern="100">
                          <a:effectLst/>
                        </a:rPr>
                        <a:t>阶导数，</a:t>
                      </a:r>
                      <a:r>
                        <a:rPr lang="en-US" sz="2000" kern="100">
                          <a:effectLst/>
                        </a:rPr>
                        <a:t>m</a:t>
                      </a:r>
                      <a:r>
                        <a:rPr lang="zh-CN" sz="2000" kern="100">
                          <a:effectLst/>
                        </a:rPr>
                        <a:t>默认值为</a:t>
                      </a: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polyint</a:t>
                      </a:r>
                      <a:r>
                        <a:rPr lang="zh-CN" sz="2000" kern="100">
                          <a:effectLst/>
                        </a:rPr>
                        <a:t>（</a:t>
                      </a:r>
                      <a:r>
                        <a:rPr lang="en-US" sz="2000" kern="100">
                          <a:effectLst/>
                        </a:rPr>
                        <a:t>p,m=1</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求多项式</a:t>
                      </a:r>
                      <a:r>
                        <a:rPr lang="en-US" sz="2000" kern="100">
                          <a:effectLst/>
                        </a:rPr>
                        <a:t>p</a:t>
                      </a:r>
                      <a:r>
                        <a:rPr lang="zh-CN" sz="2000" kern="100">
                          <a:effectLst/>
                        </a:rPr>
                        <a:t>的</a:t>
                      </a:r>
                      <a:r>
                        <a:rPr lang="en-US" sz="2000" kern="100">
                          <a:effectLst/>
                        </a:rPr>
                        <a:t>m</a:t>
                      </a:r>
                      <a:r>
                        <a:rPr lang="zh-CN" sz="2000" kern="100">
                          <a:effectLst/>
                        </a:rPr>
                        <a:t>重积分，</a:t>
                      </a:r>
                      <a:r>
                        <a:rPr lang="en-US" sz="2000" kern="100">
                          <a:effectLst/>
                        </a:rPr>
                        <a:t>m</a:t>
                      </a:r>
                      <a:r>
                        <a:rPr lang="zh-CN" sz="2000" kern="100">
                          <a:effectLst/>
                        </a:rPr>
                        <a:t>默认值为</a:t>
                      </a: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polyadd</a:t>
                      </a:r>
                      <a:r>
                        <a:rPr lang="zh-CN" sz="2000" kern="100">
                          <a:effectLst/>
                        </a:rPr>
                        <a:t>（</a:t>
                      </a:r>
                      <a:r>
                        <a:rPr lang="en-US" sz="2000" kern="100">
                          <a:effectLst/>
                        </a:rPr>
                        <a:t>p1,p2</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多项式求和</a:t>
                      </a:r>
                      <a:r>
                        <a:rPr lang="en-US" sz="2000" kern="100">
                          <a:effectLst/>
                        </a:rPr>
                        <a:t>,</a:t>
                      </a:r>
                      <a:r>
                        <a:rPr lang="zh-CN" sz="2000" kern="100">
                          <a:effectLst/>
                        </a:rPr>
                        <a:t>等价于</a:t>
                      </a:r>
                      <a:r>
                        <a:rPr lang="en-US" sz="2000" kern="100">
                          <a:effectLst/>
                        </a:rPr>
                        <a:t>p1+p2</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34936">
                <a:tc>
                  <a:txBody>
                    <a:bodyPr/>
                    <a:lstStyle/>
                    <a:p>
                      <a:pPr algn="l">
                        <a:spcAft>
                          <a:spcPts val="0"/>
                        </a:spcAft>
                      </a:pPr>
                      <a:r>
                        <a:rPr lang="en-US" sz="2000" kern="100">
                          <a:effectLst/>
                        </a:rPr>
                        <a:t>polysub</a:t>
                      </a:r>
                      <a:r>
                        <a:rPr lang="zh-CN" sz="2000" kern="100">
                          <a:effectLst/>
                        </a:rPr>
                        <a:t>（</a:t>
                      </a:r>
                      <a:r>
                        <a:rPr lang="en-US" sz="2000" kern="100">
                          <a:effectLst/>
                        </a:rPr>
                        <a:t>p1,p2</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dirty="0">
                          <a:effectLst/>
                        </a:rPr>
                        <a:t>多项式求差</a:t>
                      </a:r>
                      <a:r>
                        <a:rPr lang="en-US" sz="2000" kern="100" dirty="0">
                          <a:effectLst/>
                        </a:rPr>
                        <a:t>p1-p2</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30007">
                <a:tc>
                  <a:txBody>
                    <a:bodyPr/>
                    <a:lstStyle/>
                    <a:p>
                      <a:pPr algn="l">
                        <a:spcAft>
                          <a:spcPts val="0"/>
                        </a:spcAft>
                      </a:pPr>
                      <a:r>
                        <a:rPr lang="en-US" sz="2000" kern="100">
                          <a:effectLst/>
                        </a:rPr>
                        <a:t>polymul</a:t>
                      </a:r>
                      <a:r>
                        <a:rPr lang="zh-CN" sz="2000" kern="100">
                          <a:effectLst/>
                        </a:rPr>
                        <a:t>（</a:t>
                      </a:r>
                      <a:r>
                        <a:rPr lang="en-US" sz="2000" kern="100">
                          <a:effectLst/>
                        </a:rPr>
                        <a:t>p1,p2</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多项式求积</a:t>
                      </a:r>
                      <a:r>
                        <a:rPr lang="en-US" sz="2000" kern="100">
                          <a:effectLst/>
                        </a:rPr>
                        <a:t>p1*p2</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63917">
                <a:tc>
                  <a:txBody>
                    <a:bodyPr/>
                    <a:lstStyle/>
                    <a:p>
                      <a:pPr algn="l">
                        <a:spcAft>
                          <a:spcPts val="0"/>
                        </a:spcAft>
                      </a:pPr>
                      <a:r>
                        <a:rPr lang="en-US" sz="2000" kern="100">
                          <a:effectLst/>
                        </a:rPr>
                        <a:t>polydiv</a:t>
                      </a:r>
                      <a:r>
                        <a:rPr lang="zh-CN" sz="2000" kern="100">
                          <a:effectLst/>
                        </a:rPr>
                        <a:t>（</a:t>
                      </a:r>
                      <a:r>
                        <a:rPr lang="en-US" sz="2000" kern="100">
                          <a:effectLst/>
                        </a:rPr>
                        <a:t>p1,p2</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a:effectLst/>
                        </a:rPr>
                        <a:t>多项式求商</a:t>
                      </a:r>
                      <a:r>
                        <a:rPr lang="en-US" sz="2000" kern="100">
                          <a:effectLst/>
                        </a:rPr>
                        <a:t>p1/p2,</a:t>
                      </a:r>
                      <a:r>
                        <a:rPr lang="zh-CN" sz="2000" kern="100">
                          <a:effectLst/>
                        </a:rPr>
                        <a:t>结果为商和余数构成的元组，商和余数都用多项式表示</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63917">
                <a:tc>
                  <a:txBody>
                    <a:bodyPr/>
                    <a:lstStyle/>
                    <a:p>
                      <a:pPr algn="l">
                        <a:spcAft>
                          <a:spcPts val="0"/>
                        </a:spcAft>
                      </a:pPr>
                      <a:r>
                        <a:rPr lang="en-US" sz="2000" kern="100">
                          <a:effectLst/>
                        </a:rPr>
                        <a:t>polyfit</a:t>
                      </a:r>
                      <a:r>
                        <a:rPr lang="zh-CN" sz="2000" kern="100">
                          <a:effectLst/>
                        </a:rPr>
                        <a:t>（</a:t>
                      </a:r>
                      <a:r>
                        <a:rPr lang="en-US" sz="2000" kern="100">
                          <a:effectLst/>
                        </a:rPr>
                        <a:t>x,y,k</a:t>
                      </a: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000" kern="100" dirty="0">
                          <a:effectLst/>
                        </a:rPr>
                        <a:t>多项式拟合</a:t>
                      </a:r>
                      <a:r>
                        <a:rPr lang="en-US" sz="2000" kern="100" dirty="0">
                          <a:effectLst/>
                        </a:rPr>
                        <a:t>,</a:t>
                      </a:r>
                      <a:r>
                        <a:rPr lang="en-US" sz="2000" kern="100" dirty="0" err="1">
                          <a:effectLst/>
                        </a:rPr>
                        <a:t>x,y</a:t>
                      </a:r>
                      <a:r>
                        <a:rPr lang="zh-CN" sz="2000" kern="100" dirty="0">
                          <a:effectLst/>
                        </a:rPr>
                        <a:t>分别为要拟合的两组数据，</a:t>
                      </a:r>
                      <a:r>
                        <a:rPr lang="en-US" sz="2000" kern="100" dirty="0">
                          <a:effectLst/>
                        </a:rPr>
                        <a:t>k</a:t>
                      </a:r>
                      <a:r>
                        <a:rPr lang="zh-CN" sz="2000" kern="100" dirty="0">
                          <a:effectLst/>
                        </a:rPr>
                        <a:t>为拟合多项式中最高次幂</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776097" y="929478"/>
            <a:ext cx="10011821" cy="59285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776097" y="929478"/>
            <a:ext cx="10011821" cy="59285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5" name="图片 4"/>
          <p:cNvPicPr>
            <a:picLocks noChangeAspect="1"/>
          </p:cNvPicPr>
          <p:nvPr/>
        </p:nvPicPr>
        <p:blipFill>
          <a:blip r:embed="rId1"/>
          <a:stretch>
            <a:fillRect/>
          </a:stretch>
        </p:blipFill>
        <p:spPr>
          <a:xfrm>
            <a:off x="776096" y="1353834"/>
            <a:ext cx="10599175" cy="35047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898028" y="1353835"/>
            <a:ext cx="9505184" cy="5433733"/>
            <a:chOff x="898028" y="1353835"/>
            <a:chExt cx="9505184" cy="5433733"/>
          </a:xfrm>
        </p:grpSpPr>
        <p:pic>
          <p:nvPicPr>
            <p:cNvPr id="2" name="图片 1"/>
            <p:cNvPicPr>
              <a:picLocks noChangeAspect="1"/>
            </p:cNvPicPr>
            <p:nvPr/>
          </p:nvPicPr>
          <p:blipFill>
            <a:blip r:embed="rId1"/>
            <a:stretch>
              <a:fillRect/>
            </a:stretch>
          </p:blipFill>
          <p:spPr>
            <a:xfrm>
              <a:off x="898028" y="1353835"/>
              <a:ext cx="9505184" cy="3764075"/>
            </a:xfrm>
            <a:prstGeom prst="rect">
              <a:avLst/>
            </a:prstGeom>
          </p:spPr>
        </p:pic>
        <p:pic>
          <p:nvPicPr>
            <p:cNvPr id="5" name="图片 4"/>
            <p:cNvPicPr>
              <a:picLocks noChangeAspect="1"/>
            </p:cNvPicPr>
            <p:nvPr/>
          </p:nvPicPr>
          <p:blipFill>
            <a:blip r:embed="rId2"/>
            <a:stretch>
              <a:fillRect/>
            </a:stretch>
          </p:blipFill>
          <p:spPr>
            <a:xfrm>
              <a:off x="898029" y="5190729"/>
              <a:ext cx="8245972" cy="1596839"/>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多项式的应用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898028" y="902046"/>
            <a:ext cx="9555082" cy="57307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计 算 机 基 础</a:t>
              </a:r>
              <a:r>
                <a:rPr lang="en-US" altLang="zh-CN" sz="2400" b="1" dirty="0">
                  <a:solidFill>
                    <a:srgbClr val="1E6787"/>
                  </a:solidFill>
                  <a:latin typeface="微软雅黑" panose="020B0503020204020204" pitchFamily="34" charset="-122"/>
                  <a:ea typeface="微软雅黑" panose="020B0503020204020204" pitchFamily="34" charset="-122"/>
                </a:rPr>
                <a:t>——</a:t>
              </a:r>
              <a:r>
                <a:rPr lang="zh-CN" altLang="en-US" sz="2000" b="1" dirty="0">
                  <a:solidFill>
                    <a:srgbClr val="1E6787"/>
                  </a:solidFill>
                  <a:latin typeface="微软雅黑" panose="020B0503020204020204" pitchFamily="34" charset="-122"/>
                  <a:ea typeface="微软雅黑" panose="020B0503020204020204" pitchFamily="34" charset="-122"/>
                </a:rPr>
                <a:t>软件和程序设计 </a:t>
              </a:r>
              <a:endParaRPr lang="zh-CN" altLang="en-US" sz="20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p:cNvSpPr txBox="1"/>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endParaRPr lang="en-US" altLang="zh-CN" sz="4400" dirty="0">
              <a:solidFill>
                <a:schemeClr val="tx1">
                  <a:lumMod val="65000"/>
                  <a:lumOff val="35000"/>
                </a:schemeClr>
              </a:solidFill>
              <a:latin typeface="+mj-lt"/>
            </a:endParaRPr>
          </a:p>
          <a:p>
            <a:pPr marL="0" indent="0" algn="r">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Steve Jobs</a:t>
            </a:r>
            <a:endParaRPr lang="en-US" altLang="zh-CN" sz="4400" dirty="0">
              <a:solidFill>
                <a:schemeClr val="tx1">
                  <a:lumMod val="65000"/>
                  <a:lumOff val="35000"/>
                </a:schemeClr>
              </a:solidFill>
              <a:latin typeface="+mj-lt"/>
            </a:endParaRPr>
          </a:p>
        </p:txBody>
      </p:sp>
      <p:pic>
        <p:nvPicPr>
          <p:cNvPr id="23" name="图片 22"/>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p:cNvSpPr txBox="1"/>
          <p:nvPr/>
        </p:nvSpPr>
        <p:spPr>
          <a:xfrm>
            <a:off x="2758231" y="2752857"/>
            <a:ext cx="7297190" cy="1015663"/>
          </a:xfrm>
          <a:prstGeom prst="rect">
            <a:avLst/>
          </a:prstGeom>
          <a:noFill/>
        </p:spPr>
        <p:txBody>
          <a:bodyPr wrap="none" rtlCol="0">
            <a:spAutoFit/>
          </a:bodyPr>
          <a:lstStyle/>
          <a:p>
            <a:r>
              <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数组的文件</a:t>
            </a:r>
            <a:r>
              <a:rPr lang="zh-CN" altLang="en-US" sz="6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输入输出</a:t>
            </a:r>
            <a:endPar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25" name="Group 5"/>
          <p:cNvGrpSpPr/>
          <p:nvPr/>
        </p:nvGrpSpPr>
        <p:grpSpPr>
          <a:xfrm>
            <a:off x="8825614" y="4241498"/>
            <a:ext cx="2169488" cy="2175406"/>
            <a:chOff x="5292553" y="3355717"/>
            <a:chExt cx="1711365" cy="2494000"/>
          </a:xfrm>
          <a:solidFill>
            <a:schemeClr val="bg1">
              <a:lumMod val="95000"/>
            </a:schemeClr>
          </a:solidFill>
        </p:grpSpPr>
        <p:sp>
          <p:nvSpPr>
            <p:cNvPr id="26"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9"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51"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1"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3"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4"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5"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6"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7"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8"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9"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0"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1"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2"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3"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4"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5"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6"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7"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8"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9"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0"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1"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2"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83" name="组合 82"/>
          <p:cNvGrpSpPr/>
          <p:nvPr/>
        </p:nvGrpSpPr>
        <p:grpSpPr>
          <a:xfrm>
            <a:off x="443983" y="1112313"/>
            <a:ext cx="1936868" cy="1936868"/>
            <a:chOff x="2572456" y="958222"/>
            <a:chExt cx="1936868" cy="1936868"/>
          </a:xfrm>
        </p:grpSpPr>
        <p:grpSp>
          <p:nvGrpSpPr>
            <p:cNvPr id="84" name="组合 83"/>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87" name="椭圆 86"/>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85" name="TextBox 1"/>
            <p:cNvSpPr txBox="1"/>
            <p:nvPr/>
          </p:nvSpPr>
          <p:spPr>
            <a:xfrm>
              <a:off x="2815371" y="1264937"/>
              <a:ext cx="1451038" cy="1323439"/>
            </a:xfrm>
            <a:prstGeom prst="rect">
              <a:avLst/>
            </a:prstGeom>
            <a:noFill/>
          </p:spPr>
          <p:txBody>
            <a:bodyPr wrap="none" rtlCol="0">
              <a:spAutoFit/>
            </a:bodyPr>
            <a:lstStyle/>
            <a:p>
              <a:r>
                <a:rPr lang="en-US" altLang="zh-CN"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04</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p:cNvGrpSpPr/>
          <p:nvPr/>
        </p:nvGrpSpPr>
        <p:grpSpPr>
          <a:xfrm rot="5400000">
            <a:off x="7939470" y="-3214903"/>
            <a:ext cx="942183" cy="7462505"/>
            <a:chOff x="-11273" y="-594773"/>
            <a:chExt cx="719786" cy="7462505"/>
          </a:xfrm>
        </p:grpSpPr>
        <p:sp>
          <p:nvSpPr>
            <p:cNvPr id="89" name="等腰三角形 88"/>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44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Numpy</a:t>
              </a:r>
              <a:r>
                <a:rPr lang="zh-CN" altLang="en-US" sz="3600" b="1" spc="300" dirty="0" smtClean="0">
                  <a:solidFill>
                    <a:srgbClr val="1E6787"/>
                  </a:solidFill>
                  <a:latin typeface="微软雅黑" panose="020B0503020204020204" pitchFamily="34" charset="-122"/>
                  <a:ea typeface="微软雅黑" panose="020B0503020204020204" pitchFamily="34" charset="-122"/>
                </a:rPr>
                <a:t>中常用的文件读写函数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graphicFrame>
        <p:nvGraphicFramePr>
          <p:cNvPr id="2" name="表格 1"/>
          <p:cNvGraphicFramePr>
            <a:graphicFrameLocks noGrp="1"/>
          </p:cNvGraphicFramePr>
          <p:nvPr/>
        </p:nvGraphicFramePr>
        <p:xfrm>
          <a:off x="776097" y="1087055"/>
          <a:ext cx="10442363" cy="5467129"/>
        </p:xfrm>
        <a:graphic>
          <a:graphicData uri="http://schemas.openxmlformats.org/drawingml/2006/table">
            <a:tbl>
              <a:tblPr firstRow="1" bandRow="1">
                <a:tableStyleId>{5C22544A-7EE6-4342-B048-85BDC9FD1C3A}</a:tableStyleId>
              </a:tblPr>
              <a:tblGrid>
                <a:gridCol w="3133323"/>
                <a:gridCol w="7309040"/>
              </a:tblGrid>
              <a:tr h="724141">
                <a:tc>
                  <a:txBody>
                    <a:bodyPr/>
                    <a:lstStyle/>
                    <a:p>
                      <a:pPr algn="ctr">
                        <a:spcAft>
                          <a:spcPts val="0"/>
                        </a:spcAft>
                      </a:pPr>
                      <a:r>
                        <a:rPr lang="zh-CN" sz="2400" kern="100">
                          <a:effectLst/>
                        </a:rPr>
                        <a:t>函数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400" kern="100">
                          <a:effectLst/>
                        </a:rPr>
                        <a:t>描述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724141">
                <a:tc>
                  <a:txBody>
                    <a:bodyPr/>
                    <a:lstStyle/>
                    <a:p>
                      <a:pPr algn="l">
                        <a:spcAft>
                          <a:spcPts val="0"/>
                        </a:spcAft>
                      </a:pPr>
                      <a:r>
                        <a:rPr lang="en-US" sz="2400" kern="100">
                          <a:effectLst/>
                        </a:rPr>
                        <a:t>numpy.savetxt</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a:effectLst/>
                        </a:rPr>
                        <a:t>把一个一维或者二维</a:t>
                      </a:r>
                      <a:r>
                        <a:rPr lang="en-US" sz="2400" kern="100">
                          <a:effectLst/>
                        </a:rPr>
                        <a:t>ndarray</a:t>
                      </a:r>
                      <a:r>
                        <a:rPr lang="zh-CN" sz="2400" kern="100">
                          <a:effectLst/>
                        </a:rPr>
                        <a:t>数组写入一个指定的文本文件</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724141">
                <a:tc>
                  <a:txBody>
                    <a:bodyPr/>
                    <a:lstStyle/>
                    <a:p>
                      <a:pPr algn="l">
                        <a:spcAft>
                          <a:spcPts val="0"/>
                        </a:spcAft>
                      </a:pPr>
                      <a:r>
                        <a:rPr lang="en-US" sz="2400" kern="100">
                          <a:effectLst/>
                        </a:rPr>
                        <a:t>numpy.loadtxt</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a:effectLst/>
                        </a:rPr>
                        <a:t>从指定的文本文件中读取数据，并返回一个数组 </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724141">
                <a:tc>
                  <a:txBody>
                    <a:bodyPr/>
                    <a:lstStyle/>
                    <a:p>
                      <a:pPr algn="l">
                        <a:spcAft>
                          <a:spcPts val="0"/>
                        </a:spcAft>
                      </a:pPr>
                      <a:r>
                        <a:rPr lang="en-US" sz="2400" kern="100">
                          <a:effectLst/>
                        </a:rPr>
                        <a:t>numpy.ndarray.tofile</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a:effectLst/>
                        </a:rPr>
                        <a:t>把数组写入指定文件</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724141">
                <a:tc>
                  <a:txBody>
                    <a:bodyPr/>
                    <a:lstStyle/>
                    <a:p>
                      <a:pPr algn="l">
                        <a:spcAft>
                          <a:spcPts val="0"/>
                        </a:spcAft>
                      </a:pPr>
                      <a:r>
                        <a:rPr lang="en-US" sz="2400" kern="100">
                          <a:effectLst/>
                        </a:rPr>
                        <a:t>numpy.fromfile</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a:effectLst/>
                        </a:rPr>
                        <a:t>从指定文件读取数据，返回一个一维数组</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724141">
                <a:tc>
                  <a:txBody>
                    <a:bodyPr/>
                    <a:lstStyle/>
                    <a:p>
                      <a:pPr algn="l">
                        <a:spcAft>
                          <a:spcPts val="0"/>
                        </a:spcAft>
                      </a:pPr>
                      <a:r>
                        <a:rPr lang="en-US" sz="2400" kern="100">
                          <a:effectLst/>
                        </a:rPr>
                        <a:t>numpy.save</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a:effectLst/>
                        </a:rPr>
                        <a:t>把数组以二进制格式写入一个扩展名为</a:t>
                      </a:r>
                      <a:r>
                        <a:rPr lang="en-US" sz="2400" kern="100">
                          <a:effectLst/>
                        </a:rPr>
                        <a:t>.npy</a:t>
                      </a:r>
                      <a:r>
                        <a:rPr lang="zh-CN" sz="2400" kern="100">
                          <a:effectLst/>
                        </a:rPr>
                        <a:t>的文件</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1105379">
                <a:tc>
                  <a:txBody>
                    <a:bodyPr/>
                    <a:lstStyle/>
                    <a:p>
                      <a:pPr algn="l">
                        <a:spcAft>
                          <a:spcPts val="0"/>
                        </a:spcAft>
                      </a:pPr>
                      <a:r>
                        <a:rPr lang="en-US" sz="2400" kern="100">
                          <a:effectLst/>
                        </a:rPr>
                        <a:t>numpy.load</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8735" algn="l">
                        <a:spcAft>
                          <a:spcPts val="0"/>
                        </a:spcAft>
                      </a:pPr>
                      <a:r>
                        <a:rPr lang="zh-CN" sz="2400" kern="100" dirty="0">
                          <a:effectLst/>
                        </a:rPr>
                        <a:t>从扩展名为</a:t>
                      </a:r>
                      <a:r>
                        <a:rPr lang="en-US" sz="2400" kern="100" dirty="0">
                          <a:effectLst/>
                        </a:rPr>
                        <a:t>.</a:t>
                      </a:r>
                      <a:r>
                        <a:rPr lang="en-US" sz="2400" kern="100" dirty="0" err="1">
                          <a:effectLst/>
                        </a:rPr>
                        <a:t>npy</a:t>
                      </a:r>
                      <a:r>
                        <a:rPr lang="zh-CN" sz="2400" kern="100" dirty="0">
                          <a:effectLst/>
                        </a:rPr>
                        <a:t>的文件中读取数据，并返回一个原始形状的数组</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Numpy</a:t>
              </a:r>
              <a:r>
                <a:rPr lang="zh-CN" altLang="en-US" sz="3600" b="1" spc="300" dirty="0" smtClean="0">
                  <a:solidFill>
                    <a:srgbClr val="1E6787"/>
                  </a:solidFill>
                  <a:latin typeface="微软雅黑" panose="020B0503020204020204" pitchFamily="34" charset="-122"/>
                  <a:ea typeface="微软雅黑" panose="020B0503020204020204" pitchFamily="34" charset="-122"/>
                </a:rPr>
                <a:t>中常用的文件读写函数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1"/>
          <a:stretch>
            <a:fillRect/>
          </a:stretch>
        </p:blipFill>
        <p:spPr>
          <a:xfrm>
            <a:off x="898028" y="1000451"/>
            <a:ext cx="8013960" cy="2507680"/>
          </a:xfrm>
          <a:prstGeom prst="rect">
            <a:avLst/>
          </a:prstGeom>
        </p:spPr>
      </p:pic>
      <p:sp>
        <p:nvSpPr>
          <p:cNvPr id="10" name="内容占位符 1"/>
          <p:cNvSpPr txBox="1"/>
          <p:nvPr/>
        </p:nvSpPr>
        <p:spPr>
          <a:xfrm>
            <a:off x="898028" y="3719218"/>
            <a:ext cx="8013960" cy="1985546"/>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400" dirty="0"/>
              <a:t>&gt;&gt;&gt; import </a:t>
            </a:r>
            <a:r>
              <a:rPr lang="en-US" altLang="zh-CN" sz="2400" dirty="0" err="1"/>
              <a:t>numpy</a:t>
            </a:r>
            <a:r>
              <a:rPr lang="en-US" altLang="zh-CN" sz="2400" dirty="0"/>
              <a:t> as np</a:t>
            </a:r>
            <a:endParaRPr lang="zh-CN" altLang="zh-CN" sz="2400" dirty="0"/>
          </a:p>
          <a:p>
            <a:pPr marL="0" indent="0">
              <a:buNone/>
            </a:pPr>
            <a:r>
              <a:rPr lang="en-US" altLang="zh-CN" sz="2400" dirty="0"/>
              <a:t>&gt;&gt;&gt; data=</a:t>
            </a:r>
            <a:r>
              <a:rPr lang="en-US" altLang="zh-CN" sz="2400" dirty="0" err="1"/>
              <a:t>np.arange</a:t>
            </a:r>
            <a:r>
              <a:rPr lang="en-US" altLang="zh-CN" sz="2400" dirty="0"/>
              <a:t>(50).reshape(5,10)</a:t>
            </a:r>
            <a:endParaRPr lang="zh-CN" altLang="zh-CN" sz="2400" dirty="0"/>
          </a:p>
          <a:p>
            <a:pPr marL="0" indent="0">
              <a:buNone/>
            </a:pPr>
            <a:r>
              <a:rPr lang="en-US" altLang="zh-CN" sz="2400" dirty="0"/>
              <a:t>&gt;&gt;&gt; </a:t>
            </a:r>
            <a:r>
              <a:rPr lang="en-US" altLang="zh-CN" sz="2400" dirty="0" err="1"/>
              <a:t>np.savetxt</a:t>
            </a:r>
            <a:r>
              <a:rPr lang="en-US" altLang="zh-CN" sz="2400" dirty="0"/>
              <a:t>('data_txt.txt',</a:t>
            </a:r>
            <a:r>
              <a:rPr lang="en-US" altLang="zh-CN" sz="2400" dirty="0" err="1"/>
              <a:t>data,fmt</a:t>
            </a:r>
            <a:r>
              <a:rPr lang="en-US" altLang="zh-CN" sz="2400" dirty="0"/>
              <a:t>='%d')</a:t>
            </a:r>
            <a:endParaRPr lang="zh-CN" altLang="zh-CN" sz="2400" dirty="0"/>
          </a:p>
          <a:p>
            <a:pPr marL="0" indent="0">
              <a:buNone/>
            </a:pPr>
            <a:r>
              <a:rPr lang="en-US" altLang="zh-CN" sz="2400" dirty="0"/>
              <a:t>&gt;&gt;&gt; </a:t>
            </a:r>
            <a:r>
              <a:rPr lang="en-US" altLang="zh-CN" sz="2400" dirty="0" err="1"/>
              <a:t>np.savetxt</a:t>
            </a:r>
            <a:r>
              <a:rPr lang="en-US" altLang="zh-CN" sz="2400" dirty="0"/>
              <a:t>('d:\\data_csv.csv',</a:t>
            </a:r>
            <a:r>
              <a:rPr lang="en-US" altLang="zh-CN" sz="2400" dirty="0" err="1"/>
              <a:t>data,fmt</a:t>
            </a:r>
            <a:r>
              <a:rPr lang="en-US" altLang="zh-CN" sz="2400" dirty="0"/>
              <a:t>='%</a:t>
            </a:r>
            <a:r>
              <a:rPr lang="en-US" altLang="zh-CN" sz="2400" dirty="0" err="1"/>
              <a:t>d',delimiter</a:t>
            </a:r>
            <a:r>
              <a:rPr lang="en-US" altLang="zh-CN" sz="2400" dirty="0"/>
              <a:t>=',')</a:t>
            </a:r>
            <a:endParaRPr lang="zh-CN" altLang="zh-CN" sz="2400" dirty="0"/>
          </a:p>
        </p:txBody>
      </p:sp>
      <p:pic>
        <p:nvPicPr>
          <p:cNvPr id="11" name="图片 10"/>
          <p:cNvPicPr/>
          <p:nvPr/>
        </p:nvPicPr>
        <p:blipFill>
          <a:blip r:embed="rId2"/>
          <a:stretch>
            <a:fillRect/>
          </a:stretch>
        </p:blipFill>
        <p:spPr>
          <a:xfrm>
            <a:off x="9099550" y="1000451"/>
            <a:ext cx="3092450" cy="2018665"/>
          </a:xfrm>
          <a:prstGeom prst="rect">
            <a:avLst/>
          </a:prstGeom>
        </p:spPr>
      </p:pic>
      <p:pic>
        <p:nvPicPr>
          <p:cNvPr id="12" name="图片 11"/>
          <p:cNvPicPr/>
          <p:nvPr/>
        </p:nvPicPr>
        <p:blipFill>
          <a:blip r:embed="rId3"/>
          <a:stretch>
            <a:fillRect/>
          </a:stretch>
        </p:blipFill>
        <p:spPr>
          <a:xfrm>
            <a:off x="9099550" y="3780714"/>
            <a:ext cx="2997835" cy="1924050"/>
          </a:xfrm>
          <a:prstGeom prst="rect">
            <a:avLst/>
          </a:prstGeom>
        </p:spPr>
      </p:pic>
      <p:sp>
        <p:nvSpPr>
          <p:cNvPr id="5" name="矩形 4"/>
          <p:cNvSpPr/>
          <p:nvPr/>
        </p:nvSpPr>
        <p:spPr>
          <a:xfrm>
            <a:off x="2906973" y="4711991"/>
            <a:ext cx="1555845" cy="2967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906973" y="5117911"/>
            <a:ext cx="2129051" cy="3821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 calcmode="lin" valueType="num">
                                      <p:cBhvr>
                                        <p:cTn id="42"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44" dur="500"/>
                                        <p:tgtEl>
                                          <p:spTgt spid="10">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barn(inVertical)">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barn(inVertical)">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uiExpand="1" build="p"/>
      <p:bldP spid="5" grpId="0"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9151101" cy="646331"/>
            <a:chOff x="169526" y="143033"/>
            <a:chExt cx="9151101" cy="646331"/>
          </a:xfrm>
        </p:grpSpPr>
        <p:sp>
          <p:nvSpPr>
            <p:cNvPr id="4" name="TextBox 3"/>
            <p:cNvSpPr txBox="1"/>
            <p:nvPr/>
          </p:nvSpPr>
          <p:spPr>
            <a:xfrm>
              <a:off x="897234" y="143033"/>
              <a:ext cx="8423393"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Numpy</a:t>
              </a:r>
              <a:r>
                <a:rPr lang="zh-CN" altLang="en-US" sz="3600" b="1" spc="300" dirty="0" smtClean="0">
                  <a:solidFill>
                    <a:srgbClr val="1E6787"/>
                  </a:solidFill>
                  <a:latin typeface="微软雅黑" panose="020B0503020204020204" pitchFamily="34" charset="-122"/>
                  <a:ea typeface="微软雅黑" panose="020B0503020204020204" pitchFamily="34" charset="-122"/>
                </a:rPr>
                <a:t>中常用的文件读写函数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stretch>
            <a:fillRect/>
          </a:stretch>
        </p:blipFill>
        <p:spPr>
          <a:xfrm>
            <a:off x="776097" y="816687"/>
            <a:ext cx="8091128" cy="1967483"/>
          </a:xfrm>
          <a:prstGeom prst="rect">
            <a:avLst/>
          </a:prstGeom>
        </p:spPr>
      </p:pic>
      <p:pic>
        <p:nvPicPr>
          <p:cNvPr id="7" name="图片 6"/>
          <p:cNvPicPr>
            <a:picLocks noChangeAspect="1"/>
          </p:cNvPicPr>
          <p:nvPr/>
        </p:nvPicPr>
        <p:blipFill>
          <a:blip r:embed="rId2"/>
          <a:stretch>
            <a:fillRect/>
          </a:stretch>
        </p:blipFill>
        <p:spPr>
          <a:xfrm>
            <a:off x="776097" y="2893352"/>
            <a:ext cx="8095238" cy="39646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计 算 机 基 础</a:t>
              </a:r>
              <a:r>
                <a:rPr lang="en-US" altLang="zh-CN" sz="2400" b="1" dirty="0">
                  <a:solidFill>
                    <a:srgbClr val="1E6787"/>
                  </a:solidFill>
                  <a:latin typeface="微软雅黑" panose="020B0503020204020204" pitchFamily="34" charset="-122"/>
                  <a:ea typeface="微软雅黑" panose="020B0503020204020204" pitchFamily="34" charset="-122"/>
                </a:rPr>
                <a:t>——</a:t>
              </a:r>
              <a:r>
                <a:rPr lang="zh-CN" altLang="en-US" sz="2000" b="1" dirty="0">
                  <a:solidFill>
                    <a:srgbClr val="1E6787"/>
                  </a:solidFill>
                  <a:latin typeface="微软雅黑" panose="020B0503020204020204" pitchFamily="34" charset="-122"/>
                  <a:ea typeface="微软雅黑" panose="020B0503020204020204" pitchFamily="34" charset="-122"/>
                </a:rPr>
                <a:t>软件和程序设计 </a:t>
              </a:r>
              <a:endParaRPr lang="zh-CN" altLang="en-US" sz="20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p:cNvSpPr txBox="1"/>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endParaRPr lang="en-US" altLang="zh-CN" sz="4400" dirty="0">
              <a:solidFill>
                <a:schemeClr val="tx1">
                  <a:lumMod val="65000"/>
                  <a:lumOff val="35000"/>
                </a:schemeClr>
              </a:solidFill>
              <a:latin typeface="+mj-lt"/>
            </a:endParaRPr>
          </a:p>
          <a:p>
            <a:pPr marL="0" indent="0" algn="r">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Steve Jobs</a:t>
            </a:r>
            <a:endParaRPr lang="en-US" altLang="zh-CN" sz="4400" dirty="0">
              <a:solidFill>
                <a:schemeClr val="tx1">
                  <a:lumMod val="65000"/>
                  <a:lumOff val="35000"/>
                </a:schemeClr>
              </a:solidFill>
              <a:latin typeface="+mj-lt"/>
            </a:endParaRPr>
          </a:p>
        </p:txBody>
      </p:sp>
      <p:pic>
        <p:nvPicPr>
          <p:cNvPr id="23" name="图片 22"/>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p:cNvSpPr txBox="1"/>
          <p:nvPr/>
        </p:nvSpPr>
        <p:spPr>
          <a:xfrm>
            <a:off x="2758231" y="2752857"/>
            <a:ext cx="7095212" cy="1107996"/>
          </a:xfrm>
          <a:prstGeom prst="rect">
            <a:avLst/>
          </a:prstGeom>
          <a:noFill/>
        </p:spPr>
        <p:txBody>
          <a:bodyPr wrap="none" rtlCol="0">
            <a:spAutoFit/>
          </a:bodyPr>
          <a:lstStyle/>
          <a:p>
            <a:r>
              <a:rPr lang="en-US" altLang="zh-CN" sz="6600" b="1" dirty="0" err="1"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Matplotlib</a:t>
            </a:r>
            <a:r>
              <a:rPr lang="zh-CN" altLang="en-US" sz="66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库的使用</a:t>
            </a:r>
            <a:endParaRPr lang="zh-CN" altLang="en-US" sz="66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25" name="Group 5"/>
          <p:cNvGrpSpPr/>
          <p:nvPr/>
        </p:nvGrpSpPr>
        <p:grpSpPr>
          <a:xfrm>
            <a:off x="8825614" y="4241498"/>
            <a:ext cx="2169488" cy="2175406"/>
            <a:chOff x="5292553" y="3355717"/>
            <a:chExt cx="1711365" cy="2494000"/>
          </a:xfrm>
          <a:solidFill>
            <a:schemeClr val="bg1">
              <a:lumMod val="95000"/>
            </a:schemeClr>
          </a:solidFill>
        </p:grpSpPr>
        <p:sp>
          <p:nvSpPr>
            <p:cNvPr id="26"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9"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51"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1"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3"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4"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5"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6"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7"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8"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9"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0"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1"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2"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3"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4"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5"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6"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7"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8"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9"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0"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1"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2"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83" name="组合 82"/>
          <p:cNvGrpSpPr/>
          <p:nvPr/>
        </p:nvGrpSpPr>
        <p:grpSpPr>
          <a:xfrm>
            <a:off x="443983" y="1112313"/>
            <a:ext cx="1936868" cy="1936868"/>
            <a:chOff x="2572456" y="958222"/>
            <a:chExt cx="1936868" cy="1936868"/>
          </a:xfrm>
        </p:grpSpPr>
        <p:grpSp>
          <p:nvGrpSpPr>
            <p:cNvPr id="84" name="组合 83"/>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87" name="椭圆 86"/>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85" name="TextBox 1"/>
            <p:cNvSpPr txBox="1"/>
            <p:nvPr/>
          </p:nvSpPr>
          <p:spPr>
            <a:xfrm>
              <a:off x="2815371" y="1264937"/>
              <a:ext cx="1295547" cy="1323439"/>
            </a:xfrm>
            <a:prstGeom prst="rect">
              <a:avLst/>
            </a:prstGeom>
            <a:noFill/>
          </p:spPr>
          <p:txBody>
            <a:bodyPr wrap="none" rtlCol="0">
              <a:spAutoFit/>
            </a:bodyPr>
            <a:lstStyle/>
            <a:p>
              <a:r>
                <a:rPr lang="en-US" altLang="zh-CN" sz="8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05</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p:cNvGrpSpPr/>
          <p:nvPr/>
        </p:nvGrpSpPr>
        <p:grpSpPr>
          <a:xfrm rot="5400000">
            <a:off x="7939470" y="-3214903"/>
            <a:ext cx="942183" cy="7462505"/>
            <a:chOff x="-11273" y="-594773"/>
            <a:chExt cx="719786" cy="7462505"/>
          </a:xfrm>
        </p:grpSpPr>
        <p:sp>
          <p:nvSpPr>
            <p:cNvPr id="89" name="等腰三角形 88"/>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84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Matplotlib</a:t>
              </a:r>
              <a:r>
                <a:rPr lang="zh-CN" altLang="en-US" sz="3600" b="1" spc="300" dirty="0" smtClean="0">
                  <a:solidFill>
                    <a:srgbClr val="1E6787"/>
                  </a:solidFill>
                  <a:latin typeface="微软雅黑" panose="020B0503020204020204" pitchFamily="34" charset="-122"/>
                  <a:ea typeface="微软雅黑" panose="020B0503020204020204" pitchFamily="34" charset="-122"/>
                </a:rPr>
                <a:t>库简介</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sp>
        <p:nvSpPr>
          <p:cNvPr id="22" name="TextBox 2"/>
          <p:cNvSpPr txBox="1">
            <a:spLocks noChangeArrowheads="1"/>
          </p:cNvSpPr>
          <p:nvPr/>
        </p:nvSpPr>
        <p:spPr bwMode="auto">
          <a:xfrm>
            <a:off x="877725" y="1088358"/>
            <a:ext cx="953138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50000"/>
              </a:lnSpc>
              <a:buFont typeface="Arial" panose="020B0604020202020204" pitchFamily="34" charset="0"/>
              <a:buChar char="•"/>
            </a:pPr>
            <a:r>
              <a:rPr lang="en-US" altLang="zh-CN" sz="2800" dirty="0" err="1" smtClean="0">
                <a:solidFill>
                  <a:schemeClr val="accent4"/>
                </a:solidFill>
                <a:latin typeface="微软雅黑" panose="020B0503020204020204" pitchFamily="34" charset="-122"/>
                <a:ea typeface="微软雅黑" panose="020B0503020204020204" pitchFamily="34" charset="-122"/>
              </a:rPr>
              <a:t>Matplotlib</a:t>
            </a:r>
            <a:r>
              <a:rPr lang="zh-CN" altLang="en-US" sz="2800" dirty="0">
                <a:solidFill>
                  <a:schemeClr val="accent4"/>
                </a:solidFill>
                <a:latin typeface="微软雅黑" panose="020B0503020204020204" pitchFamily="34" charset="-122"/>
                <a:ea typeface="微软雅黑" panose="020B0503020204020204" pitchFamily="34" charset="-122"/>
              </a:rPr>
              <a:t>库是一个</a:t>
            </a:r>
            <a:r>
              <a:rPr lang="zh-CN" altLang="en-US" sz="2800" dirty="0" smtClean="0">
                <a:solidFill>
                  <a:schemeClr val="accent4"/>
                </a:solidFill>
                <a:latin typeface="微软雅黑" panose="020B0503020204020204" pitchFamily="34" charset="-122"/>
                <a:ea typeface="微软雅黑" panose="020B0503020204020204" pitchFamily="34" charset="-122"/>
              </a:rPr>
              <a:t>非常强大的二</a:t>
            </a:r>
            <a:r>
              <a:rPr lang="zh-CN" altLang="en-US" sz="2800" dirty="0">
                <a:solidFill>
                  <a:schemeClr val="accent4"/>
                </a:solidFill>
                <a:latin typeface="微软雅黑" panose="020B0503020204020204" pitchFamily="34" charset="-122"/>
                <a:ea typeface="微软雅黑" panose="020B0503020204020204" pitchFamily="34" charset="-122"/>
              </a:rPr>
              <a:t>维绘图库</a:t>
            </a:r>
            <a:endParaRPr lang="en-US" altLang="zh-CN" sz="2800" dirty="0">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en-US" altLang="zh-CN" sz="2800" dirty="0" err="1">
                <a:solidFill>
                  <a:schemeClr val="accent4"/>
                </a:solidFill>
                <a:latin typeface="微软雅黑" panose="020B0503020204020204" pitchFamily="34" charset="-122"/>
                <a:ea typeface="微软雅黑" panose="020B0503020204020204" pitchFamily="34" charset="-122"/>
              </a:rPr>
              <a:t>Matplotlib</a:t>
            </a:r>
            <a:r>
              <a:rPr lang="zh-CN" altLang="en-US" sz="2800" dirty="0">
                <a:solidFill>
                  <a:schemeClr val="accent4"/>
                </a:solidFill>
                <a:latin typeface="微软雅黑" panose="020B0503020204020204" pitchFamily="34" charset="-122"/>
                <a:ea typeface="微软雅黑" panose="020B0503020204020204" pitchFamily="34" charset="-122"/>
              </a:rPr>
              <a:t>库与</a:t>
            </a:r>
            <a:r>
              <a:rPr lang="en-US" altLang="zh-CN" sz="2800" dirty="0" err="1">
                <a:solidFill>
                  <a:schemeClr val="accent4"/>
                </a:solidFill>
                <a:latin typeface="微软雅黑" panose="020B0503020204020204" pitchFamily="34" charset="-122"/>
                <a:ea typeface="微软雅黑" panose="020B0503020204020204" pitchFamily="34" charset="-122"/>
              </a:rPr>
              <a:t>NumPy</a:t>
            </a:r>
            <a:r>
              <a:rPr lang="zh-CN" altLang="en-US" sz="2800" dirty="0">
                <a:solidFill>
                  <a:schemeClr val="accent4"/>
                </a:solidFill>
                <a:latin typeface="微软雅黑" panose="020B0503020204020204" pitchFamily="34" charset="-122"/>
                <a:ea typeface="微软雅黑" panose="020B0503020204020204" pitchFamily="34" charset="-122"/>
              </a:rPr>
              <a:t>库都是科学计算生态系统</a:t>
            </a:r>
            <a:r>
              <a:rPr lang="en-US" altLang="zh-CN" sz="2800" dirty="0" err="1">
                <a:solidFill>
                  <a:schemeClr val="accent4"/>
                </a:solidFill>
                <a:latin typeface="微软雅黑" panose="020B0503020204020204" pitchFamily="34" charset="-122"/>
                <a:ea typeface="微软雅黑" panose="020B0503020204020204" pitchFamily="34" charset="-122"/>
              </a:rPr>
              <a:t>SciPy</a:t>
            </a:r>
            <a:r>
              <a:rPr lang="zh-CN" altLang="en-US" sz="2800" dirty="0">
                <a:solidFill>
                  <a:schemeClr val="accent4"/>
                </a:solidFill>
                <a:latin typeface="微软雅黑" panose="020B0503020204020204" pitchFamily="34" charset="-122"/>
                <a:ea typeface="微软雅黑" panose="020B0503020204020204" pitchFamily="34" charset="-122"/>
              </a:rPr>
              <a:t>中的一个</a:t>
            </a:r>
            <a:r>
              <a:rPr lang="zh-CN" altLang="en-US" sz="2800" dirty="0" smtClean="0">
                <a:solidFill>
                  <a:schemeClr val="accent4"/>
                </a:solidFill>
                <a:latin typeface="微软雅黑" panose="020B0503020204020204" pitchFamily="34" charset="-122"/>
                <a:ea typeface="微软雅黑" panose="020B0503020204020204" pitchFamily="34" charset="-122"/>
              </a:rPr>
              <a:t>组成部分，两个库无缝连接。</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r>
              <a:rPr lang="en-US" altLang="zh-CN" sz="2800" dirty="0" err="1">
                <a:solidFill>
                  <a:schemeClr val="accent4"/>
                </a:solidFill>
                <a:latin typeface="微软雅黑" panose="020B0503020204020204" pitchFamily="34" charset="-122"/>
                <a:ea typeface="微软雅黑" panose="020B0503020204020204" pitchFamily="34" charset="-122"/>
              </a:rPr>
              <a:t>Matplotlib</a:t>
            </a:r>
            <a:r>
              <a:rPr lang="zh-CN" altLang="en-US" sz="2800" dirty="0">
                <a:solidFill>
                  <a:schemeClr val="accent4"/>
                </a:solidFill>
                <a:latin typeface="微软雅黑" panose="020B0503020204020204" pitchFamily="34" charset="-122"/>
                <a:ea typeface="微软雅黑" panose="020B0503020204020204" pitchFamily="34" charset="-122"/>
              </a:rPr>
              <a:t>提供了两个便捷的绘图子</a:t>
            </a:r>
            <a:r>
              <a:rPr lang="zh-CN" altLang="en-US" sz="2800" dirty="0" smtClean="0">
                <a:solidFill>
                  <a:schemeClr val="accent4"/>
                </a:solidFill>
                <a:latin typeface="微软雅黑" panose="020B0503020204020204" pitchFamily="34" charset="-122"/>
                <a:ea typeface="微软雅黑" panose="020B0503020204020204" pitchFamily="34" charset="-122"/>
              </a:rPr>
              <a:t>模块：</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marL="1371600" lvl="2" indent="-457200" algn="just">
              <a:lnSpc>
                <a:spcPct val="150000"/>
              </a:lnSpc>
              <a:buFont typeface="Wingdings" panose="05000000000000000000" pitchFamily="2" charset="2"/>
              <a:buChar char="u"/>
            </a:pPr>
            <a:r>
              <a:rPr lang="en-US" altLang="zh-CN" sz="2800" dirty="0" err="1">
                <a:solidFill>
                  <a:schemeClr val="accent4"/>
                </a:solidFill>
                <a:latin typeface="微软雅黑" panose="020B0503020204020204" pitchFamily="34" charset="-122"/>
                <a:ea typeface="微软雅黑" panose="020B0503020204020204" pitchFamily="34" charset="-122"/>
              </a:rPr>
              <a:t>pyplot</a:t>
            </a:r>
            <a:r>
              <a:rPr lang="zh-CN" altLang="en-US" sz="2800" dirty="0" smtClean="0">
                <a:solidFill>
                  <a:schemeClr val="accent4"/>
                </a:solidFill>
                <a:latin typeface="微软雅黑" panose="020B0503020204020204" pitchFamily="34" charset="-122"/>
                <a:ea typeface="微软雅黑" panose="020B0503020204020204" pitchFamily="34" charset="-122"/>
              </a:rPr>
              <a:t>：</a:t>
            </a:r>
            <a:r>
              <a:rPr lang="zh-CN" altLang="en-US" sz="2800" dirty="0" smtClean="0"/>
              <a:t>通过简单的退户函数实现不同的绘图功能</a:t>
            </a:r>
            <a:endParaRPr lang="en-US" altLang="zh-CN" sz="2800" dirty="0" smtClean="0">
              <a:solidFill>
                <a:schemeClr val="accent4"/>
              </a:solidFill>
              <a:latin typeface="微软雅黑" panose="020B0503020204020204" pitchFamily="34" charset="-122"/>
              <a:ea typeface="微软雅黑" panose="020B0503020204020204" pitchFamily="34" charset="-122"/>
            </a:endParaRPr>
          </a:p>
          <a:p>
            <a:pPr marL="1371600" lvl="2" indent="-457200" algn="just">
              <a:lnSpc>
                <a:spcPct val="150000"/>
              </a:lnSpc>
              <a:buFont typeface="Wingdings" panose="05000000000000000000" pitchFamily="2" charset="2"/>
              <a:buChar char="u"/>
            </a:pPr>
            <a:r>
              <a:rPr lang="en-US" altLang="zh-CN" sz="2800" dirty="0" err="1" smtClean="0">
                <a:solidFill>
                  <a:schemeClr val="accent4"/>
                </a:solidFill>
                <a:latin typeface="微软雅黑" panose="020B0503020204020204" pitchFamily="34" charset="-122"/>
                <a:ea typeface="微软雅黑" panose="020B0503020204020204" pitchFamily="34" charset="-122"/>
              </a:rPr>
              <a:t>pylab</a:t>
            </a:r>
            <a:r>
              <a:rPr lang="zh-CN" altLang="en-US" sz="2800" dirty="0" smtClean="0">
                <a:solidFill>
                  <a:schemeClr val="accent4"/>
                </a:solidFill>
                <a:latin typeface="微软雅黑" panose="020B0503020204020204" pitchFamily="34" charset="-122"/>
                <a:ea typeface="微软雅黑" panose="020B0503020204020204" pitchFamily="34" charset="-122"/>
              </a:rPr>
              <a:t>： </a:t>
            </a:r>
            <a:r>
              <a:rPr lang="zh-CN" altLang="en-US" sz="2800" dirty="0" smtClean="0"/>
              <a:t>使用方法与</a:t>
            </a:r>
            <a:r>
              <a:rPr lang="en-US" altLang="zh-CN" sz="2800" dirty="0" err="1" smtClean="0"/>
              <a:t>pyplot</a:t>
            </a:r>
            <a:r>
              <a:rPr lang="zh-CN" altLang="en-US" sz="2800" dirty="0" smtClean="0"/>
              <a:t>模块类似</a:t>
            </a:r>
            <a:r>
              <a:rPr lang="en-US" altLang="zh-CN" sz="2800" dirty="0" smtClean="0">
                <a:solidFill>
                  <a:schemeClr val="accent4"/>
                </a:solidFill>
                <a:latin typeface="微软雅黑" panose="020B0503020204020204" pitchFamily="34" charset="-122"/>
                <a:ea typeface="微软雅黑" panose="020B0503020204020204" pitchFamily="34" charset="-122"/>
              </a:rPr>
              <a:t>   </a:t>
            </a:r>
            <a:endParaRPr lang="zh-CN" altLang="zh-CN" sz="2800" dirty="0" smtClean="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a:t>
              </a:r>
              <a:r>
                <a:rPr lang="zh-CN" altLang="en-US" sz="3600" b="1" spc="300" dirty="0">
                  <a:solidFill>
                    <a:srgbClr val="1E6787"/>
                  </a:solidFill>
                  <a:latin typeface="微软雅黑" panose="020B0503020204020204" pitchFamily="34" charset="-122"/>
                  <a:ea typeface="微软雅黑" panose="020B0503020204020204" pitchFamily="34" charset="-122"/>
                </a:rPr>
                <a:t>绘图元素基本解析</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pic>
        <p:nvPicPr>
          <p:cNvPr id="5" name="图片 4"/>
          <p:cNvPicPr>
            <a:picLocks noChangeAspect="1"/>
          </p:cNvPicPr>
          <p:nvPr/>
        </p:nvPicPr>
        <p:blipFill>
          <a:blip r:embed="rId2"/>
          <a:stretch>
            <a:fillRect/>
          </a:stretch>
        </p:blipFill>
        <p:spPr>
          <a:xfrm>
            <a:off x="898028" y="998217"/>
            <a:ext cx="9255905" cy="56532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a:t>
              </a:r>
              <a:r>
                <a:rPr lang="zh-CN" altLang="en-US" sz="3600" b="1" spc="300" dirty="0">
                  <a:solidFill>
                    <a:srgbClr val="1E6787"/>
                  </a:solidFill>
                  <a:latin typeface="微软雅黑" panose="020B0503020204020204" pitchFamily="34" charset="-122"/>
                  <a:ea typeface="微软雅黑" panose="020B0503020204020204" pitchFamily="34" charset="-122"/>
                </a:rPr>
                <a:t>绘图元素基本解析</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pic>
        <p:nvPicPr>
          <p:cNvPr id="8" name="图片 7"/>
          <p:cNvPicPr/>
          <p:nvPr/>
        </p:nvPicPr>
        <p:blipFill>
          <a:blip r:embed="rId2"/>
          <a:stretch>
            <a:fillRect/>
          </a:stretch>
        </p:blipFill>
        <p:spPr>
          <a:xfrm>
            <a:off x="5045173" y="964651"/>
            <a:ext cx="6623663" cy="5490740"/>
          </a:xfrm>
          <a:prstGeom prst="rect">
            <a:avLst/>
          </a:prstGeom>
        </p:spPr>
      </p:pic>
      <p:sp>
        <p:nvSpPr>
          <p:cNvPr id="3" name="矩形 2"/>
          <p:cNvSpPr/>
          <p:nvPr/>
        </p:nvSpPr>
        <p:spPr>
          <a:xfrm>
            <a:off x="5117910" y="6005015"/>
            <a:ext cx="2442950" cy="409433"/>
          </a:xfrm>
          <a:prstGeom prst="rect">
            <a:avLst/>
          </a:prstGeom>
          <a:noFill/>
          <a:ln>
            <a:solidFill>
              <a:srgbClr val="FFC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281684" y="1433015"/>
            <a:ext cx="6059606" cy="4531057"/>
          </a:xfrm>
          <a:prstGeom prst="rect">
            <a:avLst/>
          </a:prstGeom>
          <a:noFill/>
          <a:ln>
            <a:solidFill>
              <a:srgbClr val="FFC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线形标注 1(带边框和强调线) 5"/>
          <p:cNvSpPr/>
          <p:nvPr/>
        </p:nvSpPr>
        <p:spPr>
          <a:xfrm>
            <a:off x="898029" y="4885900"/>
            <a:ext cx="2503250" cy="709683"/>
          </a:xfrm>
          <a:prstGeom prst="accentBorderCallout1">
            <a:avLst>
              <a:gd name="adj1" fmla="val 62981"/>
              <a:gd name="adj2" fmla="val 106159"/>
              <a:gd name="adj3" fmla="val 181732"/>
              <a:gd name="adj4" fmla="val 167209"/>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dirty="0">
                <a:solidFill>
                  <a:srgbClr val="FF0000"/>
                </a:solidFill>
              </a:rPr>
              <a:t>窗口功能区</a:t>
            </a:r>
            <a:endParaRPr lang="zh-CN" altLang="en-US" sz="2400" dirty="0">
              <a:solidFill>
                <a:srgbClr val="FF0000"/>
              </a:solidFill>
            </a:endParaRPr>
          </a:p>
        </p:txBody>
      </p:sp>
      <p:sp>
        <p:nvSpPr>
          <p:cNvPr id="12" name="线形标注 1(带边框和强调线) 11"/>
          <p:cNvSpPr/>
          <p:nvPr/>
        </p:nvSpPr>
        <p:spPr>
          <a:xfrm>
            <a:off x="924257" y="2203011"/>
            <a:ext cx="2503250" cy="709683"/>
          </a:xfrm>
          <a:prstGeom prst="accentBorderCallout1">
            <a:avLst>
              <a:gd name="adj1" fmla="val 62981"/>
              <a:gd name="adj2" fmla="val 106159"/>
              <a:gd name="adj3" fmla="val 74040"/>
              <a:gd name="adj4" fmla="val 173751"/>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dirty="0">
                <a:solidFill>
                  <a:srgbClr val="FF0000"/>
                </a:solidFill>
              </a:rPr>
              <a:t>图形显示区</a:t>
            </a:r>
            <a:endParaRPr lang="zh-CN" altLang="en-US" sz="24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6"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8" name="TextBox 2"/>
          <p:cNvSpPr txBox="1">
            <a:spLocks noChangeArrowheads="1"/>
          </p:cNvSpPr>
          <p:nvPr/>
        </p:nvSpPr>
        <p:spPr bwMode="auto">
          <a:xfrm>
            <a:off x="477672" y="1088358"/>
            <a:ext cx="117143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Aft>
                <a:spcPts val="0"/>
              </a:spcAft>
            </a:pPr>
            <a:r>
              <a:rPr lang="en-US" altLang="zh-CN" sz="2800" kern="100" dirty="0">
                <a:solidFill>
                  <a:schemeClr val="accent4"/>
                </a:solidFill>
                <a:latin typeface="Calibri" panose="020F0502020204030204" pitchFamily="34" charset="0"/>
                <a:cs typeface="Times New Roman" panose="02020603050405020304" pitchFamily="18" charset="0"/>
              </a:rPr>
              <a:t>plot</a:t>
            </a:r>
            <a:r>
              <a:rPr lang="zh-CN" altLang="zh-CN" sz="2800" kern="100" dirty="0">
                <a:solidFill>
                  <a:schemeClr val="accent4"/>
                </a:solidFill>
                <a:latin typeface="Calibri" panose="020F0502020204030204" pitchFamily="34" charset="0"/>
                <a:cs typeface="Times New Roman" panose="02020603050405020304" pitchFamily="18" charset="0"/>
              </a:rPr>
              <a:t>（）</a:t>
            </a:r>
            <a:r>
              <a:rPr lang="zh-CN" altLang="zh-CN" sz="2800" kern="100" dirty="0" smtClean="0">
                <a:solidFill>
                  <a:schemeClr val="accent4"/>
                </a:solidFill>
                <a:latin typeface="Calibri" panose="020F0502020204030204" pitchFamily="34" charset="0"/>
                <a:cs typeface="Times New Roman" panose="02020603050405020304" pitchFamily="18" charset="0"/>
              </a:rPr>
              <a:t>函数</a:t>
            </a:r>
            <a:r>
              <a:rPr lang="zh-CN" altLang="en-US" sz="2800" kern="100" dirty="0" smtClean="0">
                <a:solidFill>
                  <a:schemeClr val="accent4"/>
                </a:solidFill>
                <a:latin typeface="Calibri" panose="020F0502020204030204" pitchFamily="34" charset="0"/>
                <a:cs typeface="Times New Roman" panose="02020603050405020304" pitchFamily="18" charset="0"/>
              </a:rPr>
              <a:t>是</a:t>
            </a:r>
            <a:r>
              <a:rPr lang="en-US" altLang="zh-CN" sz="2800" kern="100" dirty="0" err="1" smtClean="0">
                <a:solidFill>
                  <a:schemeClr val="accent4"/>
                </a:solidFill>
                <a:latin typeface="Calibri" panose="020F0502020204030204" pitchFamily="34" charset="0"/>
                <a:cs typeface="Times New Roman" panose="02020603050405020304" pitchFamily="18" charset="0"/>
              </a:rPr>
              <a:t>pyplot</a:t>
            </a:r>
            <a:r>
              <a:rPr lang="zh-CN" altLang="zh-CN" sz="2800" kern="100" dirty="0">
                <a:solidFill>
                  <a:schemeClr val="accent4"/>
                </a:solidFill>
                <a:latin typeface="Calibri" panose="020F0502020204030204" pitchFamily="34" charset="0"/>
                <a:cs typeface="Times New Roman" panose="02020603050405020304" pitchFamily="18" charset="0"/>
              </a:rPr>
              <a:t>模块中最基本的一个绘图</a:t>
            </a:r>
            <a:r>
              <a:rPr lang="zh-CN" altLang="zh-CN" sz="2800" kern="100" dirty="0" smtClean="0">
                <a:solidFill>
                  <a:schemeClr val="accent4"/>
                </a:solidFill>
                <a:latin typeface="Calibri" panose="020F0502020204030204" pitchFamily="34" charset="0"/>
                <a:cs typeface="Times New Roman" panose="02020603050405020304" pitchFamily="18" charset="0"/>
              </a:rPr>
              <a:t>函数，</a:t>
            </a:r>
            <a:r>
              <a:rPr lang="zh-CN" altLang="zh-CN" sz="2800" kern="100" dirty="0">
                <a:solidFill>
                  <a:schemeClr val="accent4"/>
                </a:solidFill>
                <a:latin typeface="Calibri" panose="020F0502020204030204" pitchFamily="34" charset="0"/>
                <a:cs typeface="Times New Roman" panose="02020603050405020304" pitchFamily="18" charset="0"/>
              </a:rPr>
              <a:t>其基本格式如下</a:t>
            </a:r>
            <a:r>
              <a:rPr lang="zh-CN" altLang="zh-CN" sz="2800" kern="100" dirty="0" smtClean="0">
                <a:solidFill>
                  <a:schemeClr val="accent4"/>
                </a:solidFill>
                <a:latin typeface="Calibri" panose="020F0502020204030204" pitchFamily="34" charset="0"/>
                <a:cs typeface="Times New Roman" panose="02020603050405020304" pitchFamily="18" charset="0"/>
              </a:rPr>
              <a:t>：</a:t>
            </a:r>
            <a:endParaRPr lang="zh-CN" altLang="zh-CN" sz="2800" kern="100" dirty="0">
              <a:solidFill>
                <a:schemeClr val="accent4"/>
              </a:solidFill>
              <a:latin typeface="Calibri" panose="020F0502020204030204" pitchFamily="34" charset="0"/>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647079" y="1611578"/>
            <a:ext cx="10657803" cy="2400864"/>
          </a:xfrm>
          <a:prstGeom prst="rect">
            <a:avLst/>
          </a:prstGeom>
        </p:spPr>
      </p:pic>
      <p:sp>
        <p:nvSpPr>
          <p:cNvPr id="10" name="内容占位符 1"/>
          <p:cNvSpPr txBox="1"/>
          <p:nvPr/>
        </p:nvSpPr>
        <p:spPr>
          <a:xfrm>
            <a:off x="674376" y="4196890"/>
            <a:ext cx="6558937" cy="2414270"/>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&gt;&gt;&gt; import </a:t>
            </a:r>
            <a:r>
              <a:rPr lang="en-US" altLang="zh-CN" dirty="0" err="1"/>
              <a:t>matplotlib.pyplot</a:t>
            </a:r>
            <a:r>
              <a:rPr lang="en-US" altLang="zh-CN" dirty="0"/>
              <a:t> as </a:t>
            </a:r>
            <a:r>
              <a:rPr lang="en-US" altLang="zh-CN" dirty="0" err="1"/>
              <a:t>plt</a:t>
            </a:r>
            <a:endParaRPr lang="zh-CN" altLang="zh-CN" dirty="0"/>
          </a:p>
          <a:p>
            <a:pPr marL="0" indent="0">
              <a:buNone/>
            </a:pPr>
            <a:r>
              <a:rPr lang="en-US" altLang="zh-CN" dirty="0"/>
              <a:t>&gt;&gt;&gt; </a:t>
            </a:r>
            <a:r>
              <a:rPr lang="en-US" altLang="zh-CN" dirty="0" err="1"/>
              <a:t>plt.plot</a:t>
            </a:r>
            <a:r>
              <a:rPr lang="en-US" altLang="zh-CN" dirty="0"/>
              <a:t>([1,2,3])         # </a:t>
            </a:r>
            <a:r>
              <a:rPr lang="zh-CN" altLang="zh-CN" dirty="0"/>
              <a:t>绘制</a:t>
            </a:r>
            <a:r>
              <a:rPr lang="zh-CN" altLang="zh-CN" dirty="0" smtClean="0"/>
              <a:t>图形</a:t>
            </a:r>
            <a:r>
              <a:rPr lang="en-US" altLang="zh-CN" dirty="0" smtClean="0"/>
              <a:t>                 </a:t>
            </a:r>
            <a:endParaRPr lang="zh-CN" altLang="zh-CN" dirty="0"/>
          </a:p>
          <a:p>
            <a:pPr marL="0" indent="0">
              <a:buNone/>
            </a:pPr>
            <a:r>
              <a:rPr lang="en-US" altLang="zh-CN" dirty="0" smtClean="0"/>
              <a:t>&gt;&gt;&gt; </a:t>
            </a:r>
            <a:r>
              <a:rPr lang="en-US" altLang="zh-CN" dirty="0" err="1"/>
              <a:t>plt.show</a:t>
            </a:r>
            <a:r>
              <a:rPr lang="en-US" altLang="zh-CN" dirty="0"/>
              <a:t>() </a:t>
            </a:r>
            <a:endParaRPr lang="zh-CN" altLang="zh-CN" dirty="0"/>
          </a:p>
        </p:txBody>
      </p:sp>
      <p:pic>
        <p:nvPicPr>
          <p:cNvPr id="11" name="图片 10"/>
          <p:cNvPicPr/>
          <p:nvPr/>
        </p:nvPicPr>
        <p:blipFill>
          <a:blip r:embed="rId3">
            <a:extLst>
              <a:ext uri="{28A0092B-C50C-407E-A947-70E740481C1C}">
                <a14:useLocalDpi xmlns:a14="http://schemas.microsoft.com/office/drawing/2010/main" val="0"/>
              </a:ext>
            </a:extLst>
          </a:blip>
          <a:stretch>
            <a:fillRect/>
          </a:stretch>
        </p:blipFill>
        <p:spPr>
          <a:xfrm>
            <a:off x="8079475" y="4196890"/>
            <a:ext cx="3219450" cy="24142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8" name="TextBox 2"/>
          <p:cNvSpPr txBox="1">
            <a:spLocks noChangeArrowheads="1"/>
          </p:cNvSpPr>
          <p:nvPr/>
        </p:nvSpPr>
        <p:spPr bwMode="auto">
          <a:xfrm>
            <a:off x="477672" y="1088358"/>
            <a:ext cx="1171432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Aft>
                <a:spcPts val="0"/>
              </a:spcAft>
            </a:pPr>
            <a:r>
              <a:rPr lang="en-US" altLang="zh-CN" sz="2800" kern="100" dirty="0" smtClean="0">
                <a:solidFill>
                  <a:schemeClr val="accent4"/>
                </a:solidFill>
                <a:latin typeface="Calibri" panose="020F0502020204030204" pitchFamily="34" charset="0"/>
                <a:cs typeface="Times New Roman" panose="02020603050405020304" pitchFamily="18" charset="0"/>
              </a:rPr>
              <a:t>plot</a:t>
            </a:r>
            <a:r>
              <a:rPr lang="zh-CN" altLang="en-US" sz="2800" kern="100" dirty="0">
                <a:solidFill>
                  <a:schemeClr val="accent4"/>
                </a:solidFill>
                <a:latin typeface="Calibri" panose="020F0502020204030204" pitchFamily="34" charset="0"/>
                <a:cs typeface="Times New Roman" panose="02020603050405020304" pitchFamily="18" charset="0"/>
              </a:rPr>
              <a:t>（）函数默认情况下绘制出的图形是连续的，不过我们也可以通过增加线型的格式字符串来控制点线的颜色、风格来绘制各式各样的图形。</a:t>
            </a:r>
            <a:endParaRPr lang="zh-CN" altLang="zh-CN" sz="2800" kern="100" dirty="0">
              <a:solidFill>
                <a:schemeClr val="accent4"/>
              </a:solidFill>
              <a:latin typeface="Calibri" panose="020F0502020204030204" pitchFamily="34" charset="0"/>
              <a:cs typeface="Times New Roman" panose="02020603050405020304" pitchFamily="18" charset="0"/>
            </a:endParaRPr>
          </a:p>
        </p:txBody>
      </p:sp>
      <p:sp>
        <p:nvSpPr>
          <p:cNvPr id="10" name="内容占位符 1"/>
          <p:cNvSpPr txBox="1"/>
          <p:nvPr/>
        </p:nvSpPr>
        <p:spPr>
          <a:xfrm>
            <a:off x="477672" y="2552131"/>
            <a:ext cx="6558937" cy="3485823"/>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&gt;&gt;&gt; import </a:t>
            </a:r>
            <a:r>
              <a:rPr lang="en-US" altLang="zh-CN" dirty="0" err="1"/>
              <a:t>matplotlib.pyplot</a:t>
            </a:r>
            <a:r>
              <a:rPr lang="en-US" altLang="zh-CN" dirty="0"/>
              <a:t> as </a:t>
            </a:r>
            <a:r>
              <a:rPr lang="en-US" altLang="zh-CN" dirty="0" err="1"/>
              <a:t>plt</a:t>
            </a:r>
            <a:endParaRPr lang="zh-CN" altLang="zh-CN" dirty="0"/>
          </a:p>
          <a:p>
            <a:pPr marL="0" indent="0">
              <a:buNone/>
            </a:pPr>
            <a:r>
              <a:rPr lang="en-US" altLang="zh-CN" dirty="0"/>
              <a:t>&gt;&gt;&gt; import </a:t>
            </a:r>
            <a:r>
              <a:rPr lang="en-US" altLang="zh-CN" dirty="0" err="1"/>
              <a:t>numpy</a:t>
            </a:r>
            <a:r>
              <a:rPr lang="en-US" altLang="zh-CN" dirty="0"/>
              <a:t> as np</a:t>
            </a:r>
            <a:endParaRPr lang="zh-CN" altLang="zh-CN" dirty="0"/>
          </a:p>
          <a:p>
            <a:pPr marL="0" indent="0">
              <a:buNone/>
            </a:pPr>
            <a:r>
              <a:rPr lang="en-US" altLang="zh-CN" dirty="0"/>
              <a:t>&gt;&gt;&gt; x = </a:t>
            </a:r>
            <a:r>
              <a:rPr lang="en-US" altLang="zh-CN" dirty="0" err="1"/>
              <a:t>np.arange</a:t>
            </a:r>
            <a:r>
              <a:rPr lang="en-US" altLang="zh-CN" dirty="0"/>
              <a:t>(10)</a:t>
            </a:r>
            <a:endParaRPr lang="zh-CN" altLang="zh-CN" dirty="0"/>
          </a:p>
          <a:p>
            <a:pPr marL="0" indent="0">
              <a:buNone/>
            </a:pPr>
            <a:r>
              <a:rPr lang="en-US" altLang="zh-CN" dirty="0"/>
              <a:t>&gt;&gt;&gt; </a:t>
            </a:r>
            <a:r>
              <a:rPr lang="en-US" altLang="zh-CN" dirty="0" err="1"/>
              <a:t>plt.plot</a:t>
            </a:r>
            <a:r>
              <a:rPr lang="en-US" altLang="zh-CN" dirty="0"/>
              <a:t>(</a:t>
            </a:r>
            <a:r>
              <a:rPr lang="en-US" altLang="zh-CN" dirty="0" err="1"/>
              <a:t>x,</a:t>
            </a:r>
            <a:r>
              <a:rPr lang="en-US" altLang="zh-CN" sz="4400" dirty="0" err="1">
                <a:effectLst>
                  <a:outerShdw blurRad="38100" dist="38100" dir="2700000" algn="tl">
                    <a:srgbClr val="000000">
                      <a:alpha val="43137"/>
                    </a:srgbClr>
                  </a:outerShdw>
                </a:effectLst>
              </a:rPr>
              <a:t>"r</a:t>
            </a:r>
            <a:r>
              <a:rPr lang="en-US" altLang="zh-CN" sz="4400" dirty="0" smtClean="0">
                <a:effectLst>
                  <a:outerShdw blurRad="38100" dist="38100" dir="2700000" algn="tl">
                    <a:srgbClr val="000000">
                      <a:alpha val="43137"/>
                    </a:srgbClr>
                  </a:outerShdw>
                </a:effectLst>
              </a:rPr>
              <a:t>*:"</a:t>
            </a:r>
            <a:r>
              <a:rPr lang="en-US" altLang="zh-CN" dirty="0" smtClean="0"/>
              <a:t>)</a:t>
            </a:r>
            <a:endParaRPr lang="en-US" altLang="zh-CN" dirty="0" smtClean="0"/>
          </a:p>
          <a:p>
            <a:pPr marL="0" indent="0">
              <a:buNone/>
            </a:pPr>
            <a:r>
              <a:rPr lang="zh-CN" altLang="zh-CN" dirty="0" smtClean="0"/>
              <a:t> </a:t>
            </a:r>
            <a:r>
              <a:rPr lang="en-US" altLang="zh-CN" dirty="0" smtClean="0"/>
              <a:t>&gt;&gt;&gt; </a:t>
            </a:r>
            <a:r>
              <a:rPr lang="en-US" altLang="zh-CN" dirty="0" err="1"/>
              <a:t>plt.show</a:t>
            </a:r>
            <a:r>
              <a:rPr lang="en-US" altLang="zh-CN" dirty="0"/>
              <a:t>()</a:t>
            </a:r>
            <a:endParaRPr lang="zh-CN" altLang="zh-CN" dirty="0"/>
          </a:p>
        </p:txBody>
      </p:sp>
      <p:pic>
        <p:nvPicPr>
          <p:cNvPr id="12" name="图片 11"/>
          <p:cNvPicPr/>
          <p:nvPr/>
        </p:nvPicPr>
        <p:blipFill>
          <a:blip r:embed="rId2">
            <a:extLst>
              <a:ext uri="{28A0092B-C50C-407E-A947-70E740481C1C}">
                <a14:useLocalDpi xmlns:a14="http://schemas.microsoft.com/office/drawing/2010/main" val="0"/>
              </a:ext>
            </a:extLst>
          </a:blip>
          <a:stretch>
            <a:fillRect/>
          </a:stretch>
        </p:blipFill>
        <p:spPr>
          <a:xfrm>
            <a:off x="7393580" y="2552131"/>
            <a:ext cx="4479972" cy="34858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graphicFrame>
        <p:nvGraphicFramePr>
          <p:cNvPr id="3" name="表格 2"/>
          <p:cNvGraphicFramePr>
            <a:graphicFrameLocks noGrp="1"/>
          </p:cNvGraphicFramePr>
          <p:nvPr/>
        </p:nvGraphicFramePr>
        <p:xfrm>
          <a:off x="490946" y="1379595"/>
          <a:ext cx="2047538" cy="5348746"/>
        </p:xfrm>
        <a:graphic>
          <a:graphicData uri="http://schemas.openxmlformats.org/drawingml/2006/table">
            <a:tbl>
              <a:tblPr firstRow="1" bandRow="1">
                <a:tableStyleId>{5C22544A-7EE6-4342-B048-85BDC9FD1C3A}</a:tableStyleId>
              </a:tblPr>
              <a:tblGrid>
                <a:gridCol w="660280"/>
                <a:gridCol w="1387258"/>
              </a:tblGrid>
              <a:tr h="593424">
                <a:tc>
                  <a:txBody>
                    <a:bodyPr/>
                    <a:lstStyle/>
                    <a:p>
                      <a:pPr algn="ctr">
                        <a:spcAft>
                          <a:spcPts val="0"/>
                        </a:spcAft>
                      </a:pPr>
                      <a:r>
                        <a:rPr lang="zh-CN" sz="2000" kern="100">
                          <a:effectLst/>
                        </a:rPr>
                        <a:t>字符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000" kern="100">
                          <a:effectLst/>
                        </a:rPr>
                        <a:t>描述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r</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红色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g</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绿色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b</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蓝色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y</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黄色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k</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黑色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w</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白色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593424">
                <a:tc>
                  <a:txBody>
                    <a:bodyPr/>
                    <a:lstStyle/>
                    <a:p>
                      <a:pPr algn="ctr">
                        <a:spcAft>
                          <a:spcPts val="0"/>
                        </a:spcAft>
                      </a:pPr>
                      <a:r>
                        <a:rPr lang="en-US" sz="2000" kern="100">
                          <a:effectLst/>
                        </a:rPr>
                        <a:t>c</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蓝绿色</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601354">
                <a:tc>
                  <a:txBody>
                    <a:bodyPr/>
                    <a:lstStyle/>
                    <a:p>
                      <a:pPr algn="ctr">
                        <a:spcAft>
                          <a:spcPts val="0"/>
                        </a:spcAft>
                      </a:pPr>
                      <a:r>
                        <a:rPr lang="en-US" sz="2000" kern="100" dirty="0">
                          <a:effectLst/>
                        </a:rPr>
                        <a:t>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品红色</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graphicFrame>
        <p:nvGraphicFramePr>
          <p:cNvPr id="5" name="表格 4"/>
          <p:cNvGraphicFramePr>
            <a:graphicFrameLocks noGrp="1"/>
          </p:cNvGraphicFramePr>
          <p:nvPr/>
        </p:nvGraphicFramePr>
        <p:xfrm>
          <a:off x="2866030" y="1378425"/>
          <a:ext cx="6141493" cy="5254385"/>
        </p:xfrm>
        <a:graphic>
          <a:graphicData uri="http://schemas.openxmlformats.org/drawingml/2006/table">
            <a:tbl>
              <a:tblPr firstRow="1" bandRow="1">
                <a:tableStyleId>{5C22544A-7EE6-4342-B048-85BDC9FD1C3A}</a:tableStyleId>
              </a:tblPr>
              <a:tblGrid>
                <a:gridCol w="850912"/>
                <a:gridCol w="2222074"/>
                <a:gridCol w="952424"/>
                <a:gridCol w="2116083"/>
              </a:tblGrid>
              <a:tr h="573205">
                <a:tc>
                  <a:txBody>
                    <a:bodyPr/>
                    <a:lstStyle/>
                    <a:p>
                      <a:pPr algn="ctr">
                        <a:spcAft>
                          <a:spcPts val="0"/>
                        </a:spcAft>
                      </a:pPr>
                      <a:r>
                        <a:rPr lang="zh-CN" sz="2000" kern="100" dirty="0">
                          <a:effectLst/>
                        </a:rPr>
                        <a:t>符号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000" kern="100">
                          <a:effectLst/>
                        </a:rPr>
                        <a:t>描述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2000" kern="100">
                          <a:effectLst/>
                        </a:rPr>
                        <a:t>符号</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267970" algn="ctr">
                        <a:spcAft>
                          <a:spcPts val="0"/>
                        </a:spcAft>
                      </a:pPr>
                      <a:r>
                        <a:rPr lang="zh-CN" sz="2000" kern="100">
                          <a:effectLst/>
                        </a:rPr>
                        <a:t>描述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2000" kern="100" dirty="0">
                          <a:effectLst/>
                        </a:rPr>
                        <a:t>极小的实心点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en-US" sz="2000" kern="100">
                          <a:effectLst/>
                        </a:rPr>
                        <a:t>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a:effectLst/>
                        </a:rPr>
                        <a:t>正方形</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2000" kern="100" dirty="0">
                          <a:effectLst/>
                        </a:rPr>
                        <a:t>小的实心点</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en-US" sz="2000" kern="100" dirty="0">
                          <a:effectLst/>
                        </a:rPr>
                        <a:t>p</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a:effectLst/>
                        </a:rPr>
                        <a:t>正五边形</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o</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大的实心点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en-US" sz="2000" kern="100" dirty="0">
                          <a:effectLst/>
                        </a:rPr>
                        <a:t>h</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dirty="0">
                          <a:effectLst/>
                        </a:rPr>
                        <a:t>垂直正六边形</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v</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倒三角</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en-US" sz="2000" kern="100">
                          <a:effectLst/>
                        </a:rPr>
                        <a:t>H</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dirty="0">
                          <a:effectLst/>
                        </a:rPr>
                        <a:t>水平正六边形</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上三角</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dirty="0">
                          <a:effectLst/>
                        </a:rPr>
                        <a:t>十字</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&gt;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右三角</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en-US" sz="2000" kern="100">
                          <a:effectLst/>
                        </a:rPr>
                        <a:t>x</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dirty="0">
                          <a:effectLst/>
                        </a:rPr>
                        <a:t>叉号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r h="668740">
                <a:tc>
                  <a:txBody>
                    <a:bodyPr/>
                    <a:lstStyle/>
                    <a:p>
                      <a:pPr algn="ctr">
                        <a:spcAft>
                          <a:spcPts val="0"/>
                        </a:spcAft>
                      </a:pPr>
                      <a:r>
                        <a:rPr lang="en-US" sz="2000" kern="100">
                          <a:effectLst/>
                        </a:rPr>
                        <a:t>&lt;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a:effectLst/>
                        </a:rPr>
                        <a:t>左三角</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en-US" sz="2000" kern="100">
                          <a:effectLst/>
                        </a:rPr>
                        <a:t>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c>
                  <a:txBody>
                    <a:bodyPr/>
                    <a:lstStyle/>
                    <a:p>
                      <a:pPr indent="37465" algn="ctr">
                        <a:spcAft>
                          <a:spcPts val="0"/>
                        </a:spcAft>
                      </a:pPr>
                      <a:r>
                        <a:rPr lang="zh-CN" sz="2000" kern="100" dirty="0">
                          <a:effectLst/>
                        </a:rPr>
                        <a:t>菱形</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tc>
              </a:tr>
            </a:tbl>
          </a:graphicData>
        </a:graphic>
      </p:graphicFrame>
      <p:graphicFrame>
        <p:nvGraphicFramePr>
          <p:cNvPr id="6" name="表格 5"/>
          <p:cNvGraphicFramePr>
            <a:graphicFrameLocks noGrp="1"/>
          </p:cNvGraphicFramePr>
          <p:nvPr/>
        </p:nvGraphicFramePr>
        <p:xfrm>
          <a:off x="9354053" y="1405719"/>
          <a:ext cx="2724216" cy="5213443"/>
        </p:xfrm>
        <a:graphic>
          <a:graphicData uri="http://schemas.openxmlformats.org/drawingml/2006/table">
            <a:tbl>
              <a:tblPr firstRow="1" bandRow="1">
                <a:tableStyleId>{5C22544A-7EE6-4342-B048-85BDC9FD1C3A}</a:tableStyleId>
              </a:tblPr>
              <a:tblGrid>
                <a:gridCol w="909063"/>
                <a:gridCol w="1815153"/>
              </a:tblGrid>
              <a:tr h="529243">
                <a:tc>
                  <a:txBody>
                    <a:bodyPr/>
                    <a:lstStyle/>
                    <a:p>
                      <a:pPr algn="ctr">
                        <a:spcAft>
                          <a:spcPts val="0"/>
                        </a:spcAft>
                      </a:pPr>
                      <a:r>
                        <a:rPr lang="zh-CN" sz="2000" kern="100" dirty="0">
                          <a:effectLst/>
                        </a:rPr>
                        <a:t>符号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000" kern="100" dirty="0">
                          <a:effectLst/>
                        </a:rPr>
                        <a:t>描述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936840">
                <a:tc>
                  <a:txBody>
                    <a:bodyPr/>
                    <a:lstStyle/>
                    <a:p>
                      <a:pPr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实线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936840">
                <a:tc>
                  <a:txBody>
                    <a:bodyPr/>
                    <a:lstStyle/>
                    <a:p>
                      <a:pPr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破折线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936840">
                <a:tc>
                  <a:txBody>
                    <a:bodyPr/>
                    <a:lstStyle/>
                    <a:p>
                      <a:pPr algn="ctr">
                        <a:spcAft>
                          <a:spcPts val="0"/>
                        </a:spcAft>
                      </a:pPr>
                      <a:r>
                        <a:rPr lang="zh-CN"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虚线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936840">
                <a:tc>
                  <a:txBody>
                    <a:bodyPr/>
                    <a:lstStyle/>
                    <a:p>
                      <a:pPr algn="ctr">
                        <a:spcAft>
                          <a:spcPts val="0"/>
                        </a:spcAft>
                      </a:pPr>
                      <a:r>
                        <a:rPr lang="en-US" sz="2000" kern="100">
                          <a:effectLst/>
                        </a:rPr>
                        <a: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点横线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936840">
                <a:tc>
                  <a:txBody>
                    <a:bodyPr/>
                    <a:lstStyle/>
                    <a:p>
                      <a:pPr algn="ctr">
                        <a:spcAft>
                          <a:spcPts val="0"/>
                        </a:spcAft>
                      </a:pPr>
                      <a:r>
                        <a:rPr lang="en-US" sz="2000" kern="100">
                          <a:effectLst/>
                        </a:rPr>
                        <a:t>None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ctr">
                        <a:spcAft>
                          <a:spcPts val="0"/>
                        </a:spcAft>
                      </a:pPr>
                      <a:r>
                        <a:rPr lang="zh-CN" sz="2000" kern="100" dirty="0">
                          <a:effectLst/>
                        </a:rPr>
                        <a:t>没有线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
        <p:nvSpPr>
          <p:cNvPr id="7" name="文本框 6"/>
          <p:cNvSpPr txBox="1"/>
          <p:nvPr/>
        </p:nvSpPr>
        <p:spPr>
          <a:xfrm>
            <a:off x="838152" y="982639"/>
            <a:ext cx="1154421" cy="369332"/>
          </a:xfrm>
          <a:prstGeom prst="rect">
            <a:avLst/>
          </a:prstGeom>
          <a:noFill/>
          <a:ln>
            <a:noFill/>
            <a:prstDash val="dash"/>
          </a:ln>
        </p:spPr>
        <p:txBody>
          <a:bodyPr wrap="square" rtlCol="0">
            <a:spAutoFit/>
          </a:bodyPr>
          <a:lstStyle/>
          <a:p>
            <a:r>
              <a:rPr lang="zh-CN" altLang="en-US" dirty="0" smtClean="0"/>
              <a:t>颜色字符</a:t>
            </a:r>
            <a:endParaRPr lang="zh-CN" altLang="en-US" dirty="0"/>
          </a:p>
        </p:txBody>
      </p:sp>
      <p:sp>
        <p:nvSpPr>
          <p:cNvPr id="14" name="文本框 13"/>
          <p:cNvSpPr txBox="1"/>
          <p:nvPr/>
        </p:nvSpPr>
        <p:spPr>
          <a:xfrm>
            <a:off x="5109899" y="982639"/>
            <a:ext cx="1481969" cy="369332"/>
          </a:xfrm>
          <a:prstGeom prst="rect">
            <a:avLst/>
          </a:prstGeom>
          <a:noFill/>
          <a:ln>
            <a:noFill/>
            <a:prstDash val="dash"/>
          </a:ln>
        </p:spPr>
        <p:txBody>
          <a:bodyPr wrap="square" rtlCol="0">
            <a:spAutoFit/>
          </a:bodyPr>
          <a:lstStyle>
            <a:defPPr>
              <a:defRPr lang="zh-CN"/>
            </a:defPPr>
          </a:lstStyle>
          <a:p>
            <a:r>
              <a:rPr lang="zh-CN" altLang="en-US" dirty="0"/>
              <a:t>点风格字符</a:t>
            </a:r>
            <a:endParaRPr lang="zh-CN" altLang="en-US" dirty="0"/>
          </a:p>
        </p:txBody>
      </p:sp>
      <p:sp>
        <p:nvSpPr>
          <p:cNvPr id="16" name="文本框 15"/>
          <p:cNvSpPr txBox="1"/>
          <p:nvPr/>
        </p:nvSpPr>
        <p:spPr>
          <a:xfrm>
            <a:off x="10044752" y="982639"/>
            <a:ext cx="1546204" cy="369332"/>
          </a:xfrm>
          <a:prstGeom prst="rect">
            <a:avLst/>
          </a:prstGeom>
          <a:noFill/>
          <a:ln>
            <a:noFill/>
            <a:prstDash val="dash"/>
          </a:ln>
        </p:spPr>
        <p:txBody>
          <a:bodyPr wrap="square" rtlCol="0">
            <a:spAutoFit/>
          </a:bodyPr>
          <a:lstStyle>
            <a:defPPr>
              <a:defRPr lang="zh-CN"/>
            </a:defPPr>
          </a:lstStyle>
          <a:p>
            <a:r>
              <a:rPr lang="zh-CN" altLang="en-US" dirty="0"/>
              <a:t>线风格字符</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8" name="TextBox 2"/>
          <p:cNvSpPr txBox="1">
            <a:spLocks noChangeArrowheads="1"/>
          </p:cNvSpPr>
          <p:nvPr/>
        </p:nvSpPr>
        <p:spPr bwMode="auto">
          <a:xfrm>
            <a:off x="477672" y="1088358"/>
            <a:ext cx="117143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Aft>
                <a:spcPts val="0"/>
              </a:spcAft>
            </a:pPr>
            <a:r>
              <a:rPr lang="en-US" altLang="zh-CN" sz="2800" kern="100" dirty="0" smtClean="0">
                <a:solidFill>
                  <a:schemeClr val="accent4"/>
                </a:solidFill>
                <a:latin typeface="Calibri" panose="020F0502020204030204" pitchFamily="34" charset="0"/>
                <a:cs typeface="Times New Roman" panose="02020603050405020304" pitchFamily="18" charset="0"/>
              </a:rPr>
              <a:t>plot</a:t>
            </a:r>
            <a:r>
              <a:rPr lang="zh-CN" altLang="en-US" sz="2800" kern="100" dirty="0">
                <a:solidFill>
                  <a:schemeClr val="accent4"/>
                </a:solidFill>
                <a:latin typeface="Calibri" panose="020F0502020204030204" pitchFamily="34" charset="0"/>
                <a:cs typeface="Times New Roman" panose="02020603050405020304" pitchFamily="18" charset="0"/>
              </a:rPr>
              <a:t>（）</a:t>
            </a:r>
            <a:r>
              <a:rPr lang="zh-CN" altLang="en-US" sz="2800" kern="100" dirty="0" smtClean="0">
                <a:solidFill>
                  <a:schemeClr val="accent4"/>
                </a:solidFill>
                <a:latin typeface="Calibri" panose="020F0502020204030204" pitchFamily="34" charset="0"/>
                <a:cs typeface="Times New Roman" panose="02020603050405020304" pitchFamily="18" charset="0"/>
              </a:rPr>
              <a:t>函数一次绘制多个不同风格的图形。</a:t>
            </a:r>
            <a:endParaRPr lang="zh-CN" altLang="zh-CN" sz="2800" kern="100" dirty="0">
              <a:solidFill>
                <a:schemeClr val="accent4"/>
              </a:solidFill>
              <a:latin typeface="Calibri" panose="020F0502020204030204" pitchFamily="34" charset="0"/>
              <a:cs typeface="Times New Roman" panose="02020603050405020304" pitchFamily="18" charset="0"/>
            </a:endParaRPr>
          </a:p>
        </p:txBody>
      </p:sp>
      <p:sp>
        <p:nvSpPr>
          <p:cNvPr id="10" name="内容占位符 1"/>
          <p:cNvSpPr txBox="1"/>
          <p:nvPr/>
        </p:nvSpPr>
        <p:spPr>
          <a:xfrm>
            <a:off x="477672" y="1746913"/>
            <a:ext cx="6558937" cy="4735774"/>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&gt;&gt;&gt; import </a:t>
            </a:r>
            <a:r>
              <a:rPr lang="en-US" altLang="zh-CN" dirty="0" err="1"/>
              <a:t>matplotlib.pyplot</a:t>
            </a:r>
            <a:r>
              <a:rPr lang="en-US" altLang="zh-CN" dirty="0"/>
              <a:t> as </a:t>
            </a:r>
            <a:r>
              <a:rPr lang="en-US" altLang="zh-CN" dirty="0" err="1"/>
              <a:t>plt</a:t>
            </a:r>
            <a:endParaRPr lang="zh-CN" altLang="zh-CN" dirty="0"/>
          </a:p>
          <a:p>
            <a:pPr marL="0" indent="0">
              <a:buNone/>
            </a:pPr>
            <a:r>
              <a:rPr lang="en-US" altLang="zh-CN" dirty="0"/>
              <a:t>&gt;&gt;&gt; import </a:t>
            </a:r>
            <a:r>
              <a:rPr lang="en-US" altLang="zh-CN" dirty="0" err="1"/>
              <a:t>numpy</a:t>
            </a:r>
            <a:r>
              <a:rPr lang="en-US" altLang="zh-CN" dirty="0"/>
              <a:t> as np</a:t>
            </a:r>
            <a:endParaRPr lang="zh-CN" altLang="zh-CN" dirty="0"/>
          </a:p>
          <a:p>
            <a:pPr marL="0" indent="0">
              <a:buNone/>
            </a:pPr>
            <a:r>
              <a:rPr lang="en-US" altLang="zh-CN" dirty="0"/>
              <a:t>&gt;&gt;&gt; x = </a:t>
            </a:r>
            <a:r>
              <a:rPr lang="en-US" altLang="zh-CN" dirty="0" err="1"/>
              <a:t>np.arange</a:t>
            </a:r>
            <a:r>
              <a:rPr lang="en-US" altLang="zh-CN" dirty="0"/>
              <a:t>(10)</a:t>
            </a:r>
            <a:endParaRPr lang="zh-CN" altLang="zh-CN" dirty="0"/>
          </a:p>
          <a:p>
            <a:pPr marL="0" indent="0">
              <a:buNone/>
            </a:pPr>
            <a:r>
              <a:rPr lang="en-US" altLang="zh-CN" dirty="0"/>
              <a:t>&gt;&gt;&gt; y1 = x</a:t>
            </a:r>
            <a:endParaRPr lang="zh-CN" altLang="zh-CN" dirty="0"/>
          </a:p>
          <a:p>
            <a:pPr marL="0" indent="0">
              <a:buNone/>
            </a:pPr>
            <a:r>
              <a:rPr lang="en-US" altLang="zh-CN" dirty="0"/>
              <a:t>&gt;&gt;&gt; y2 = 2*x</a:t>
            </a:r>
            <a:endParaRPr lang="zh-CN" altLang="zh-CN" dirty="0"/>
          </a:p>
          <a:p>
            <a:pPr marL="0" indent="0">
              <a:buNone/>
            </a:pPr>
            <a:r>
              <a:rPr lang="en-US" altLang="zh-CN" dirty="0"/>
              <a:t>&gt;&gt;&gt; y3 = </a:t>
            </a:r>
            <a:r>
              <a:rPr lang="en-US" altLang="zh-CN" dirty="0" smtClean="0"/>
              <a:t>3*x</a:t>
            </a:r>
            <a:endParaRPr lang="en-US" altLang="zh-CN" dirty="0" smtClean="0"/>
          </a:p>
          <a:p>
            <a:pPr marL="0" indent="0">
              <a:buNone/>
            </a:pPr>
            <a:r>
              <a:rPr lang="en-US" altLang="zh-CN" sz="2800" dirty="0" smtClean="0"/>
              <a:t>&gt;&gt;&gt; </a:t>
            </a:r>
            <a:r>
              <a:rPr lang="en-US" altLang="zh-CN" sz="2800" dirty="0" err="1"/>
              <a:t>plt.plot</a:t>
            </a:r>
            <a:r>
              <a:rPr lang="en-US" altLang="zh-CN" sz="2800" dirty="0"/>
              <a:t>(x,y1,"ro--",x,y2,"gv:",x,y3,"bs-") </a:t>
            </a:r>
            <a:endParaRPr lang="zh-CN" altLang="zh-CN" sz="2800" dirty="0"/>
          </a:p>
        </p:txBody>
      </p:sp>
      <p:pic>
        <p:nvPicPr>
          <p:cNvPr id="11" name="图片 10"/>
          <p:cNvPicPr/>
          <p:nvPr/>
        </p:nvPicPr>
        <p:blipFill>
          <a:blip r:embed="rId2">
            <a:extLst>
              <a:ext uri="{28A0092B-C50C-407E-A947-70E740481C1C}">
                <a14:useLocalDpi xmlns:a14="http://schemas.microsoft.com/office/drawing/2010/main" val="0"/>
              </a:ext>
            </a:extLst>
          </a:blip>
          <a:stretch>
            <a:fillRect/>
          </a:stretch>
        </p:blipFill>
        <p:spPr>
          <a:xfrm>
            <a:off x="7173580" y="1746913"/>
            <a:ext cx="4672677" cy="47357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10120091" cy="646331"/>
            <a:chOff x="169526" y="143033"/>
            <a:chExt cx="10120091" cy="646331"/>
          </a:xfrm>
        </p:grpSpPr>
        <p:sp>
          <p:nvSpPr>
            <p:cNvPr id="4" name="TextBox 3"/>
            <p:cNvSpPr txBox="1"/>
            <p:nvPr/>
          </p:nvSpPr>
          <p:spPr>
            <a:xfrm>
              <a:off x="897234" y="143033"/>
              <a:ext cx="9392383"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a:t>
              </a:r>
              <a:r>
                <a:rPr lang="zh-CN" altLang="en-US" sz="3600" b="1" spc="300" dirty="0">
                  <a:solidFill>
                    <a:srgbClr val="1E6787"/>
                  </a:solidFill>
                  <a:latin typeface="微软雅黑" panose="020B0503020204020204" pitchFamily="34" charset="-122"/>
                  <a:ea typeface="微软雅黑" panose="020B0503020204020204" pitchFamily="34" charset="-122"/>
                </a:rPr>
                <a:t>库坐标轴及标签等其他属性设置</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graphicFrame>
        <p:nvGraphicFramePr>
          <p:cNvPr id="12" name="表格 11"/>
          <p:cNvGraphicFramePr>
            <a:graphicFrameLocks noGrp="1"/>
          </p:cNvGraphicFramePr>
          <p:nvPr/>
        </p:nvGraphicFramePr>
        <p:xfrm>
          <a:off x="952617" y="1146412"/>
          <a:ext cx="9337794" cy="5459102"/>
        </p:xfrm>
        <a:graphic>
          <a:graphicData uri="http://schemas.openxmlformats.org/drawingml/2006/table">
            <a:tbl>
              <a:tblPr firstRow="1" bandRow="1">
                <a:tableStyleId>{8A107856-5554-42FB-B03E-39F5DBC370BA}</a:tableStyleId>
              </a:tblPr>
              <a:tblGrid>
                <a:gridCol w="4042463"/>
                <a:gridCol w="5295331"/>
              </a:tblGrid>
              <a:tr h="496282">
                <a:tc>
                  <a:txBody>
                    <a:bodyPr/>
                    <a:lstStyle/>
                    <a:p>
                      <a:pPr algn="ctr" fontAlgn="base">
                        <a:lnSpc>
                          <a:spcPct val="150000"/>
                        </a:lnSpc>
                        <a:spcAft>
                          <a:spcPts val="0"/>
                        </a:spcAft>
                      </a:pPr>
                      <a:r>
                        <a:rPr lang="zh-CN" sz="2400" kern="0" dirty="0">
                          <a:effectLst/>
                          <a:latin typeface="+mn-ea"/>
                          <a:ea typeface="+mn-ea"/>
                        </a:rPr>
                        <a:t>函数</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ctr" fontAlgn="base">
                        <a:lnSpc>
                          <a:spcPct val="150000"/>
                        </a:lnSpc>
                        <a:spcAft>
                          <a:spcPts val="0"/>
                        </a:spcAft>
                      </a:pPr>
                      <a:r>
                        <a:rPr lang="zh-CN" sz="2400" kern="0" dirty="0">
                          <a:effectLst/>
                          <a:latin typeface="+mn-ea"/>
                          <a:ea typeface="+mn-ea"/>
                        </a:rPr>
                        <a:t>描述</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a:effectLst/>
                          <a:latin typeface="+mn-ea"/>
                          <a:ea typeface="+mn-ea"/>
                        </a:rPr>
                        <a:t>plt.axis</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sz="2400" kern="0" dirty="0">
                          <a:effectLst/>
                          <a:latin typeface="+mn-ea"/>
                          <a:ea typeface="+mn-ea"/>
                        </a:rPr>
                        <a:t>获</a:t>
                      </a:r>
                      <a:r>
                        <a:rPr lang="zh-CN" sz="2400" kern="0" dirty="0" smtClean="0">
                          <a:effectLst/>
                          <a:latin typeface="+mn-ea"/>
                          <a:ea typeface="+mn-ea"/>
                        </a:rPr>
                        <a:t>取</a:t>
                      </a:r>
                      <a:r>
                        <a:rPr lang="zh-CN" altLang="en-US" sz="2400" kern="0" dirty="0" smtClean="0">
                          <a:effectLst/>
                          <a:latin typeface="+mn-ea"/>
                          <a:ea typeface="+mn-ea"/>
                        </a:rPr>
                        <a:t>或者</a:t>
                      </a:r>
                      <a:r>
                        <a:rPr lang="zh-CN" sz="2400" kern="0" dirty="0" smtClean="0">
                          <a:effectLst/>
                          <a:latin typeface="+mn-ea"/>
                          <a:ea typeface="+mn-ea"/>
                        </a:rPr>
                        <a:t>设</a:t>
                      </a:r>
                      <a:r>
                        <a:rPr lang="zh-CN" sz="2400" kern="0" dirty="0">
                          <a:effectLst/>
                          <a:latin typeface="+mn-ea"/>
                          <a:ea typeface="+mn-ea"/>
                        </a:rPr>
                        <a:t>置轴属性</a:t>
                      </a:r>
                      <a:r>
                        <a:rPr lang="zh-CN" sz="2400" kern="0" dirty="0" smtClean="0">
                          <a:effectLst/>
                          <a:latin typeface="+mn-ea"/>
                          <a:ea typeface="+mn-ea"/>
                        </a:rPr>
                        <a:t>的方</a:t>
                      </a:r>
                      <a:r>
                        <a:rPr lang="zh-CN" sz="2400" kern="0" dirty="0">
                          <a:effectLst/>
                          <a:latin typeface="+mn-ea"/>
                          <a:ea typeface="+mn-ea"/>
                        </a:rPr>
                        <a:t>法</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a:effectLst/>
                          <a:latin typeface="+mn-ea"/>
                          <a:ea typeface="+mn-ea"/>
                        </a:rPr>
                        <a:t>plt.xlim</a:t>
                      </a:r>
                      <a:r>
                        <a:rPr lang="en-US" sz="2400" kern="0" dirty="0">
                          <a:effectLst/>
                          <a:latin typeface="+mn-ea"/>
                          <a:ea typeface="+mn-ea"/>
                        </a:rPr>
                        <a:t>(</a:t>
                      </a:r>
                      <a:r>
                        <a:rPr lang="en-US" sz="2400" kern="0" dirty="0" err="1">
                          <a:effectLst/>
                          <a:latin typeface="+mn-ea"/>
                          <a:ea typeface="+mn-ea"/>
                        </a:rPr>
                        <a:t>xmin</a:t>
                      </a:r>
                      <a:r>
                        <a:rPr lang="en-US" sz="2400" kern="0" dirty="0">
                          <a:effectLst/>
                          <a:latin typeface="+mn-ea"/>
                          <a:ea typeface="+mn-ea"/>
                        </a:rPr>
                        <a:t>, </a:t>
                      </a:r>
                      <a:r>
                        <a:rPr lang="en-US" sz="2400" kern="0" dirty="0" err="1">
                          <a:effectLst/>
                          <a:latin typeface="+mn-ea"/>
                          <a:ea typeface="+mn-ea"/>
                        </a:rPr>
                        <a:t>xmax</a:t>
                      </a:r>
                      <a:r>
                        <a:rPr lang="en-US" sz="2400" kern="0" dirty="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sz="2400" kern="0">
                          <a:effectLst/>
                          <a:latin typeface="+mn-ea"/>
                          <a:ea typeface="+mn-ea"/>
                        </a:rPr>
                        <a:t>设置当前</a:t>
                      </a:r>
                      <a:r>
                        <a:rPr lang="en-US" sz="2400" kern="0">
                          <a:effectLst/>
                          <a:latin typeface="+mn-ea"/>
                          <a:ea typeface="+mn-ea"/>
                        </a:rPr>
                        <a:t>x</a:t>
                      </a:r>
                      <a:r>
                        <a:rPr lang="zh-CN" sz="2400" kern="0">
                          <a:effectLst/>
                          <a:latin typeface="+mn-ea"/>
                          <a:ea typeface="+mn-ea"/>
                        </a:rPr>
                        <a:t>轴取值范围</a:t>
                      </a:r>
                      <a:endParaRPr lang="zh-CN" sz="3200" kern="10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a:effectLst/>
                          <a:latin typeface="+mn-ea"/>
                          <a:ea typeface="+mn-ea"/>
                        </a:rPr>
                        <a:t>plt.ylim</a:t>
                      </a:r>
                      <a:r>
                        <a:rPr lang="en-US" sz="2400" kern="0" dirty="0">
                          <a:effectLst/>
                          <a:latin typeface="+mn-ea"/>
                          <a:ea typeface="+mn-ea"/>
                        </a:rPr>
                        <a:t>(</a:t>
                      </a:r>
                      <a:r>
                        <a:rPr lang="en-US" sz="2400" kern="0" dirty="0" err="1">
                          <a:effectLst/>
                          <a:latin typeface="+mn-ea"/>
                          <a:ea typeface="+mn-ea"/>
                        </a:rPr>
                        <a:t>ymin,ymax</a:t>
                      </a:r>
                      <a:r>
                        <a:rPr lang="en-US" sz="2400" kern="0" dirty="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sz="2400" kern="0" dirty="0">
                          <a:effectLst/>
                          <a:latin typeface="+mn-ea"/>
                          <a:ea typeface="+mn-ea"/>
                        </a:rPr>
                        <a:t>设置当前</a:t>
                      </a:r>
                      <a:r>
                        <a:rPr lang="en-US" sz="2400" kern="0" dirty="0">
                          <a:effectLst/>
                          <a:latin typeface="+mn-ea"/>
                          <a:ea typeface="+mn-ea"/>
                        </a:rPr>
                        <a:t>y</a:t>
                      </a:r>
                      <a:r>
                        <a:rPr lang="zh-CN" sz="2400" kern="0" dirty="0">
                          <a:effectLst/>
                          <a:latin typeface="+mn-ea"/>
                          <a:ea typeface="+mn-ea"/>
                        </a:rPr>
                        <a:t>轴取值范围</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plt.x</a:t>
                      </a:r>
                      <a:r>
                        <a:rPr lang="en-US" altLang="zh-CN" sz="2400" kern="0" dirty="0" err="1" smtClean="0">
                          <a:effectLst/>
                          <a:latin typeface="+mn-ea"/>
                          <a:ea typeface="+mn-ea"/>
                        </a:rPr>
                        <a:t>ticks</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sz="2400" kern="0" dirty="0">
                          <a:effectLst/>
                          <a:latin typeface="+mn-ea"/>
                          <a:ea typeface="+mn-ea"/>
                        </a:rPr>
                        <a:t>设置</a:t>
                      </a:r>
                      <a:r>
                        <a:rPr lang="en-US" sz="2400" kern="0" dirty="0">
                          <a:effectLst/>
                          <a:latin typeface="+mn-ea"/>
                          <a:ea typeface="+mn-ea"/>
                        </a:rPr>
                        <a:t>x</a:t>
                      </a:r>
                      <a:r>
                        <a:rPr lang="zh-CN" sz="2400" kern="0" dirty="0">
                          <a:effectLst/>
                          <a:latin typeface="+mn-ea"/>
                          <a:ea typeface="+mn-ea"/>
                        </a:rPr>
                        <a:t>轴缩放</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plt.y</a:t>
                      </a:r>
                      <a:r>
                        <a:rPr lang="en-US" altLang="zh-CN" sz="2400" kern="0" dirty="0" err="1" smtClean="0">
                          <a:effectLst/>
                          <a:latin typeface="+mn-ea"/>
                          <a:ea typeface="+mn-ea"/>
                        </a:rPr>
                        <a:t>ticks</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sz="2400" kern="0">
                          <a:effectLst/>
                          <a:latin typeface="+mn-ea"/>
                          <a:ea typeface="+mn-ea"/>
                        </a:rPr>
                        <a:t>设置</a:t>
                      </a:r>
                      <a:r>
                        <a:rPr lang="en-US" sz="2400" kern="0">
                          <a:effectLst/>
                          <a:latin typeface="+mn-ea"/>
                          <a:ea typeface="+mn-ea"/>
                        </a:rPr>
                        <a:t>y</a:t>
                      </a:r>
                      <a:r>
                        <a:rPr lang="zh-CN" sz="2400" kern="0">
                          <a:effectLst/>
                          <a:latin typeface="+mn-ea"/>
                          <a:ea typeface="+mn-ea"/>
                        </a:rPr>
                        <a:t>轴缩放</a:t>
                      </a:r>
                      <a:endParaRPr lang="zh-CN" sz="3200" kern="10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a:t>
                      </a:r>
                      <a:r>
                        <a:rPr lang="en-US" altLang="zh-CN" sz="2400" kern="0" dirty="0" err="1" smtClean="0">
                          <a:effectLst/>
                          <a:latin typeface="+mn-ea"/>
                          <a:ea typeface="+mn-ea"/>
                        </a:rPr>
                        <a:t>xlabel</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altLang="en-US" sz="2400" kern="0" dirty="0" smtClean="0">
                          <a:effectLst/>
                          <a:latin typeface="+mn-ea"/>
                          <a:ea typeface="+mn-ea"/>
                        </a:rPr>
                        <a:t>设置</a:t>
                      </a:r>
                      <a:r>
                        <a:rPr lang="en-US" altLang="zh-CN" sz="2400" kern="0" dirty="0" smtClean="0">
                          <a:effectLst/>
                          <a:latin typeface="+mn-ea"/>
                          <a:ea typeface="+mn-ea"/>
                        </a:rPr>
                        <a:t>x</a:t>
                      </a:r>
                      <a:r>
                        <a:rPr lang="zh-CN" altLang="en-US" sz="2400" kern="0" dirty="0" smtClean="0">
                          <a:effectLst/>
                          <a:latin typeface="+mn-ea"/>
                          <a:ea typeface="+mn-ea"/>
                        </a:rPr>
                        <a:t>轴的标签</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a:t>
                      </a:r>
                      <a:r>
                        <a:rPr lang="en-US" altLang="zh-CN" sz="2400" kern="0" dirty="0" err="1" smtClean="0">
                          <a:effectLst/>
                          <a:latin typeface="+mn-ea"/>
                          <a:ea typeface="+mn-ea"/>
                        </a:rPr>
                        <a:t>ylabel</a:t>
                      </a:r>
                      <a:r>
                        <a:rPr lang="en-US" sz="2400" kern="0" dirty="0" smtClean="0">
                          <a:effectLst/>
                          <a:latin typeface="+mn-ea"/>
                          <a:ea typeface="+mn-ea"/>
                        </a:rPr>
                        <a:t> ()</a:t>
                      </a:r>
                      <a:endParaRPr lang="zh-CN" sz="3200" kern="100" dirty="0">
                        <a:effectLst/>
                        <a:latin typeface="+mn-ea"/>
                        <a:ea typeface="+mn-ea"/>
                        <a:cs typeface="Times New Roman" panose="02020603050405020304" pitchFamily="18" charset="0"/>
                      </a:endParaRPr>
                    </a:p>
                  </a:txBody>
                  <a:tcPr marL="68584" marR="68584" marT="0" marB="0"/>
                </a:tc>
                <a:tc>
                  <a:txBody>
                    <a:bodyPr/>
                    <a:lstStyle/>
                    <a:p>
                      <a:pPr marL="0" marR="0" indent="0" algn="just" defTabSz="914400" rtl="0" eaLnBrk="1" fontAlgn="base" latinLnBrk="0" hangingPunct="1">
                        <a:lnSpc>
                          <a:spcPct val="150000"/>
                        </a:lnSpc>
                        <a:spcBef>
                          <a:spcPts val="0"/>
                        </a:spcBef>
                        <a:spcAft>
                          <a:spcPts val="0"/>
                        </a:spcAft>
                        <a:buClrTx/>
                        <a:buSzTx/>
                        <a:buFontTx/>
                        <a:buNone/>
                        <a:defRPr/>
                      </a:pPr>
                      <a:r>
                        <a:rPr lang="zh-CN" altLang="en-US" sz="2400" kern="0" dirty="0" smtClean="0">
                          <a:effectLst/>
                          <a:latin typeface="+mn-ea"/>
                          <a:ea typeface="+mn-ea"/>
                        </a:rPr>
                        <a:t>设置</a:t>
                      </a:r>
                      <a:r>
                        <a:rPr lang="en-US" altLang="zh-CN" sz="2400" kern="0" dirty="0" smtClean="0">
                          <a:effectLst/>
                          <a:latin typeface="+mn-ea"/>
                          <a:ea typeface="+mn-ea"/>
                        </a:rPr>
                        <a:t>y</a:t>
                      </a:r>
                      <a:r>
                        <a:rPr lang="zh-CN" altLang="en-US" sz="2400" kern="0" dirty="0" smtClean="0">
                          <a:effectLst/>
                          <a:latin typeface="+mn-ea"/>
                          <a:ea typeface="+mn-ea"/>
                        </a:rPr>
                        <a:t>轴的标签</a:t>
                      </a:r>
                      <a:endParaRPr 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a:t>
                      </a:r>
                      <a:r>
                        <a:rPr lang="en-US" altLang="zh-CN" sz="2400" kern="0" dirty="0" err="1" smtClean="0">
                          <a:effectLst/>
                          <a:latin typeface="+mn-ea"/>
                          <a:ea typeface="+mn-ea"/>
                        </a:rPr>
                        <a:t>legend</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altLang="en-US" sz="2400" kern="0" dirty="0" smtClean="0">
                          <a:effectLst/>
                          <a:latin typeface="+mn-ea"/>
                          <a:ea typeface="+mn-ea"/>
                        </a:rPr>
                        <a:t>设置当前图例</a:t>
                      </a:r>
                      <a:endParaRPr lang="zh-CN" altLang="zh-CN" sz="3200" kern="100" dirty="0">
                        <a:effectLst/>
                        <a:latin typeface="+mn-ea"/>
                        <a:ea typeface="+mn-ea"/>
                        <a:cs typeface="Times New Roman" panose="02020603050405020304" pitchFamily="18" charset="0"/>
                      </a:endParaRPr>
                    </a:p>
                  </a:txBody>
                  <a:tcPr marL="68584" marR="68584" marT="0" marB="0"/>
                </a:tc>
              </a:tr>
              <a:tr h="496282">
                <a:tc>
                  <a:txBody>
                    <a:bodyPr/>
                    <a:lstStyle/>
                    <a:p>
                      <a:pPr algn="l" fontAlgn="base">
                        <a:lnSpc>
                          <a:spcPct val="150000"/>
                        </a:lnSpc>
                        <a:spcAft>
                          <a:spcPts val="0"/>
                        </a:spcAft>
                      </a:pPr>
                      <a:r>
                        <a:rPr lang="en-US" sz="2400" kern="0" dirty="0" err="1">
                          <a:effectLst/>
                          <a:latin typeface="+mn-ea"/>
                          <a:ea typeface="+mn-ea"/>
                        </a:rPr>
                        <a:t>plt.text</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marL="0" algn="just" defTabSz="914400" rtl="0" eaLnBrk="1" fontAlgn="base" latinLnBrk="0" hangingPunct="1">
                        <a:lnSpc>
                          <a:spcPct val="150000"/>
                        </a:lnSpc>
                        <a:spcAft>
                          <a:spcPts val="0"/>
                        </a:spcAft>
                      </a:pPr>
                      <a:r>
                        <a:rPr lang="zh-CN" altLang="zh-CN" sz="2400" kern="0" dirty="0" smtClean="0">
                          <a:solidFill>
                            <a:schemeClr val="dk1"/>
                          </a:solidFill>
                          <a:effectLst/>
                          <a:latin typeface="+mn-ea"/>
                          <a:ea typeface="+mn-ea"/>
                          <a:cs typeface="+mn-cs"/>
                        </a:rPr>
                        <a:t>为图形添加文字注释</a:t>
                      </a:r>
                      <a:endParaRPr lang="zh-CN" sz="2400" kern="0" dirty="0">
                        <a:solidFill>
                          <a:schemeClr val="dk1"/>
                        </a:solidFill>
                        <a:effectLst/>
                        <a:latin typeface="+mn-ea"/>
                        <a:ea typeface="+mn-ea"/>
                        <a:cs typeface="+mn-cs"/>
                      </a:endParaRPr>
                    </a:p>
                  </a:txBody>
                  <a:tcPr marL="68584" marR="68584" marT="0" marB="0"/>
                </a:tc>
              </a:tr>
              <a:tr h="496282">
                <a:tc>
                  <a:txBody>
                    <a:bodyPr/>
                    <a:lstStyle/>
                    <a:p>
                      <a:pPr algn="l" fontAlgn="base">
                        <a:lnSpc>
                          <a:spcPct val="150000"/>
                        </a:lnSpc>
                        <a:spcAft>
                          <a:spcPts val="0"/>
                        </a:spcAft>
                      </a:pPr>
                      <a:r>
                        <a:rPr lang="en-US" sz="2400" kern="0" dirty="0" err="1" smtClean="0">
                          <a:effectLst/>
                          <a:latin typeface="+mn-ea"/>
                          <a:ea typeface="+mn-ea"/>
                        </a:rPr>
                        <a:t>plt.</a:t>
                      </a:r>
                      <a:r>
                        <a:rPr lang="en-US" altLang="zh-CN" sz="2400" kern="0" dirty="0" err="1" smtClean="0">
                          <a:effectLst/>
                          <a:latin typeface="+mn-ea"/>
                          <a:ea typeface="+mn-ea"/>
                        </a:rPr>
                        <a:t>title</a:t>
                      </a:r>
                      <a:r>
                        <a:rPr lang="en-US" sz="2400" kern="0" dirty="0" smtClean="0">
                          <a:effectLst/>
                          <a:latin typeface="+mn-ea"/>
                          <a:ea typeface="+mn-ea"/>
                        </a:rPr>
                        <a:t>()</a:t>
                      </a:r>
                      <a:endParaRPr lang="zh-CN" sz="3200" kern="100" dirty="0">
                        <a:effectLst/>
                        <a:latin typeface="+mn-ea"/>
                        <a:ea typeface="+mn-ea"/>
                        <a:cs typeface="Times New Roman" panose="02020603050405020304" pitchFamily="18" charset="0"/>
                      </a:endParaRPr>
                    </a:p>
                  </a:txBody>
                  <a:tcPr marL="68584" marR="68584" marT="0" marB="0"/>
                </a:tc>
                <a:tc>
                  <a:txBody>
                    <a:bodyPr/>
                    <a:lstStyle/>
                    <a:p>
                      <a:pPr algn="just" fontAlgn="base">
                        <a:lnSpc>
                          <a:spcPct val="150000"/>
                        </a:lnSpc>
                        <a:spcAft>
                          <a:spcPts val="0"/>
                        </a:spcAft>
                      </a:pPr>
                      <a:r>
                        <a:rPr lang="zh-CN" altLang="en-US" sz="2400" kern="0" dirty="0" smtClean="0">
                          <a:effectLst/>
                          <a:latin typeface="+mn-ea"/>
                          <a:ea typeface="+mn-ea"/>
                        </a:rPr>
                        <a:t>为坐标系添加标题</a:t>
                      </a:r>
                      <a:endParaRPr lang="zh-CN" sz="3200" kern="100" dirty="0">
                        <a:effectLst/>
                        <a:latin typeface="+mn-ea"/>
                        <a:ea typeface="+mn-ea"/>
                        <a:cs typeface="Times New Roman" panose="02020603050405020304" pitchFamily="18" charset="0"/>
                      </a:endParaRPr>
                    </a:p>
                  </a:txBody>
                  <a:tcPr marL="68584" marR="68584"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10" name="内容占位符 1"/>
          <p:cNvSpPr txBox="1"/>
          <p:nvPr/>
        </p:nvSpPr>
        <p:spPr>
          <a:xfrm>
            <a:off x="477671" y="735026"/>
            <a:ext cx="8488907" cy="6122974"/>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000" dirty="0"/>
              <a:t>import </a:t>
            </a:r>
            <a:r>
              <a:rPr lang="en-US" altLang="zh-CN" sz="2000" dirty="0" err="1"/>
              <a:t>matplotlib.pyplot</a:t>
            </a:r>
            <a:r>
              <a:rPr lang="en-US" altLang="zh-CN" sz="2000" dirty="0"/>
              <a:t> as </a:t>
            </a:r>
            <a:r>
              <a:rPr lang="en-US" altLang="zh-CN" sz="2000" dirty="0" err="1"/>
              <a:t>plt</a:t>
            </a:r>
            <a:endParaRPr lang="en-US" altLang="zh-CN" sz="2000" dirty="0"/>
          </a:p>
          <a:p>
            <a:pPr marL="0" indent="0">
              <a:buNone/>
            </a:pPr>
            <a:r>
              <a:rPr lang="en-US" altLang="zh-CN" sz="2000" dirty="0" smtClean="0"/>
              <a:t>import </a:t>
            </a:r>
            <a:r>
              <a:rPr lang="en-US" altLang="zh-CN" sz="2000" dirty="0" err="1"/>
              <a:t>numpy</a:t>
            </a:r>
            <a:r>
              <a:rPr lang="en-US" altLang="zh-CN" sz="2000" dirty="0"/>
              <a:t> as np</a:t>
            </a:r>
            <a:endParaRPr lang="en-US" altLang="zh-CN" sz="2000" dirty="0"/>
          </a:p>
          <a:p>
            <a:pPr marL="0" indent="0">
              <a:buNone/>
            </a:pPr>
            <a:r>
              <a:rPr lang="en-US" altLang="zh-CN" sz="2000" dirty="0" smtClean="0"/>
              <a:t>x=</a:t>
            </a:r>
            <a:r>
              <a:rPr lang="en-US" altLang="zh-CN" sz="2000" dirty="0" err="1" smtClean="0"/>
              <a:t>np.arange</a:t>
            </a:r>
            <a:r>
              <a:rPr lang="en-US" altLang="zh-CN" sz="2000" dirty="0" smtClean="0"/>
              <a:t>(10</a:t>
            </a:r>
            <a:r>
              <a:rPr lang="en-US" altLang="zh-CN" sz="2000" dirty="0"/>
              <a:t>)</a:t>
            </a:r>
            <a:endParaRPr lang="en-US" altLang="zh-CN" sz="2000" dirty="0"/>
          </a:p>
          <a:p>
            <a:pPr marL="0" indent="0">
              <a:buNone/>
            </a:pPr>
            <a:r>
              <a:rPr lang="en-US" altLang="zh-CN" sz="2000" dirty="0" smtClean="0"/>
              <a:t>y1=x ; y2=2*x; y3=3*x</a:t>
            </a:r>
            <a:endParaRPr lang="en-US" altLang="zh-CN" sz="2000" dirty="0"/>
          </a:p>
          <a:p>
            <a:pPr marL="0" indent="0">
              <a:buNone/>
            </a:pPr>
            <a:r>
              <a:rPr lang="en-US" altLang="zh-CN" sz="2000" dirty="0" err="1"/>
              <a:t>plt.plot</a:t>
            </a:r>
            <a:r>
              <a:rPr lang="en-US" altLang="zh-CN" sz="2000" dirty="0"/>
              <a:t>(x,y1,"ro--",x,y2,"gv:",x,y3,"bs-")</a:t>
            </a:r>
            <a:endParaRPr lang="en-US" altLang="zh-CN" sz="2000" dirty="0"/>
          </a:p>
          <a:p>
            <a:pPr marL="0" indent="0">
              <a:buNone/>
            </a:pPr>
            <a:r>
              <a:rPr lang="en-US" altLang="zh-CN" sz="2000" dirty="0" err="1"/>
              <a:t>plt.axis</a:t>
            </a:r>
            <a:r>
              <a:rPr lang="en-US" altLang="zh-CN" sz="2000" dirty="0" smtClean="0"/>
              <a:t>(‘scaled')    </a:t>
            </a:r>
            <a:r>
              <a:rPr lang="en-US" altLang="zh-CN" sz="2000" dirty="0"/>
              <a:t># </a:t>
            </a:r>
            <a:r>
              <a:rPr lang="zh-CN" altLang="en-US" sz="2000" dirty="0"/>
              <a:t>设置</a:t>
            </a:r>
            <a:r>
              <a:rPr lang="en-US" altLang="zh-CN" sz="2000" dirty="0"/>
              <a:t>x</a:t>
            </a:r>
            <a:r>
              <a:rPr lang="zh-CN" altLang="en-US" sz="2000" dirty="0"/>
              <a:t>轴</a:t>
            </a:r>
            <a:r>
              <a:rPr lang="en-US" altLang="zh-CN" sz="2000" dirty="0"/>
              <a:t>y</a:t>
            </a:r>
            <a:r>
              <a:rPr lang="zh-CN" altLang="en-US" sz="2000" dirty="0"/>
              <a:t>轴按实际比例显示</a:t>
            </a:r>
            <a:endParaRPr lang="zh-CN" altLang="en-US" sz="2000" dirty="0"/>
          </a:p>
          <a:p>
            <a:pPr marL="0" indent="0">
              <a:buNone/>
            </a:pPr>
            <a:r>
              <a:rPr lang="en-US" altLang="zh-CN" sz="2000" dirty="0" err="1"/>
              <a:t>plt.xlim</a:t>
            </a:r>
            <a:r>
              <a:rPr lang="en-US" altLang="zh-CN" sz="2000" dirty="0"/>
              <a:t>(0,10)        # </a:t>
            </a:r>
            <a:r>
              <a:rPr lang="zh-CN" altLang="en-US" sz="2000" dirty="0"/>
              <a:t>设置</a:t>
            </a:r>
            <a:r>
              <a:rPr lang="en-US" altLang="zh-CN" sz="2000" dirty="0"/>
              <a:t>x</a:t>
            </a:r>
            <a:r>
              <a:rPr lang="zh-CN" altLang="en-US" sz="2000" dirty="0"/>
              <a:t>轴的区间</a:t>
            </a:r>
            <a:endParaRPr lang="zh-CN" altLang="en-US" sz="2000" dirty="0"/>
          </a:p>
          <a:p>
            <a:pPr marL="0" indent="0">
              <a:buNone/>
            </a:pPr>
            <a:r>
              <a:rPr lang="en-US" altLang="zh-CN" sz="2000" dirty="0" err="1"/>
              <a:t>plt.ylim</a:t>
            </a:r>
            <a:r>
              <a:rPr lang="en-US" altLang="zh-CN" sz="2000" dirty="0"/>
              <a:t>(0,30)        # </a:t>
            </a:r>
            <a:r>
              <a:rPr lang="zh-CN" altLang="en-US" sz="2000" dirty="0"/>
              <a:t>设置</a:t>
            </a:r>
            <a:r>
              <a:rPr lang="en-US" altLang="zh-CN" sz="2000" dirty="0"/>
              <a:t>y</a:t>
            </a:r>
            <a:r>
              <a:rPr lang="zh-CN" altLang="en-US" sz="2000" dirty="0"/>
              <a:t>轴的区间</a:t>
            </a:r>
            <a:endParaRPr lang="zh-CN" altLang="en-US" sz="2000" dirty="0"/>
          </a:p>
          <a:p>
            <a:pPr marL="0" indent="0">
              <a:buNone/>
            </a:pPr>
            <a:r>
              <a:rPr lang="en-US" altLang="zh-CN" sz="2000" dirty="0" err="1" smtClean="0"/>
              <a:t>plt.xticks</a:t>
            </a:r>
            <a:r>
              <a:rPr lang="en-US" altLang="zh-CN" sz="2000" dirty="0"/>
              <a:t>([0,1,2,3,4,5,6,7,8,9,10])</a:t>
            </a:r>
            <a:endParaRPr lang="en-US" altLang="zh-CN" sz="2000" dirty="0"/>
          </a:p>
          <a:p>
            <a:pPr marL="0" indent="0">
              <a:buNone/>
            </a:pPr>
            <a:r>
              <a:rPr lang="en-US" altLang="zh-CN" sz="2000" dirty="0" err="1"/>
              <a:t>plt.yticks</a:t>
            </a:r>
            <a:r>
              <a:rPr lang="en-US" altLang="zh-CN" sz="2000" dirty="0"/>
              <a:t>([5,10,15,20,25,30],['</a:t>
            </a:r>
            <a:r>
              <a:rPr lang="en-US" altLang="zh-CN" sz="2000" dirty="0" err="1"/>
              <a:t>a','b','c','d','e','f</a:t>
            </a:r>
            <a:r>
              <a:rPr lang="en-US" altLang="zh-CN" sz="2000" dirty="0"/>
              <a:t>']) # 'a'</a:t>
            </a:r>
            <a:r>
              <a:rPr lang="zh-CN" altLang="en-US" sz="2000" dirty="0"/>
              <a:t>与</a:t>
            </a:r>
            <a:r>
              <a:rPr lang="en-US" altLang="zh-CN" sz="2000" dirty="0"/>
              <a:t>5</a:t>
            </a:r>
            <a:r>
              <a:rPr lang="zh-CN" altLang="en-US" sz="2000" dirty="0"/>
              <a:t>对应，</a:t>
            </a:r>
            <a:r>
              <a:rPr lang="en-US" altLang="zh-CN" sz="2000" dirty="0"/>
              <a:t>'b'</a:t>
            </a:r>
            <a:r>
              <a:rPr lang="zh-CN" altLang="en-US" sz="2000" dirty="0"/>
              <a:t>与</a:t>
            </a:r>
            <a:r>
              <a:rPr lang="en-US" altLang="zh-CN" sz="2000" dirty="0"/>
              <a:t>[10]</a:t>
            </a:r>
            <a:r>
              <a:rPr lang="zh-CN" altLang="en-US" sz="2000" dirty="0"/>
              <a:t>对应</a:t>
            </a:r>
            <a:endParaRPr lang="zh-CN" altLang="en-US" sz="2000" dirty="0"/>
          </a:p>
          <a:p>
            <a:pPr marL="0" indent="0">
              <a:buNone/>
            </a:pPr>
            <a:r>
              <a:rPr lang="en-US" altLang="zh-CN" sz="2000" dirty="0" err="1"/>
              <a:t>y_ticks,labels</a:t>
            </a:r>
            <a:r>
              <a:rPr lang="en-US" altLang="zh-CN" sz="2000" dirty="0"/>
              <a:t>=</a:t>
            </a:r>
            <a:r>
              <a:rPr lang="en-US" altLang="zh-CN" sz="2000" dirty="0" err="1"/>
              <a:t>plt.yticks</a:t>
            </a:r>
            <a:r>
              <a:rPr lang="en-US" altLang="zh-CN" sz="2000" dirty="0"/>
              <a:t>()     # </a:t>
            </a:r>
            <a:r>
              <a:rPr lang="zh-CN" altLang="en-US" sz="2000" dirty="0"/>
              <a:t>返回</a:t>
            </a:r>
            <a:r>
              <a:rPr lang="en-US" altLang="zh-CN" sz="2000" dirty="0"/>
              <a:t>y</a:t>
            </a:r>
            <a:r>
              <a:rPr lang="zh-CN" altLang="en-US" sz="2000" dirty="0"/>
              <a:t>轴的标签刻度值和对应标签</a:t>
            </a:r>
            <a:endParaRPr lang="zh-CN" altLang="en-US" sz="2000" dirty="0"/>
          </a:p>
          <a:p>
            <a:pPr marL="0" indent="0">
              <a:buNone/>
            </a:pPr>
            <a:r>
              <a:rPr lang="en-US" altLang="zh-CN" sz="2000" dirty="0" err="1" smtClean="0"/>
              <a:t>plt.xlabel</a:t>
            </a:r>
            <a:r>
              <a:rPr lang="en-US" altLang="zh-CN" sz="2000" dirty="0"/>
              <a:t>("x-axis")    # </a:t>
            </a:r>
            <a:r>
              <a:rPr lang="zh-CN" altLang="en-US" sz="2000" dirty="0"/>
              <a:t>设置</a:t>
            </a:r>
            <a:r>
              <a:rPr lang="en-US" altLang="zh-CN" sz="2000" dirty="0"/>
              <a:t>x</a:t>
            </a:r>
            <a:r>
              <a:rPr lang="zh-CN" altLang="en-US" sz="2000" dirty="0"/>
              <a:t>轴标签</a:t>
            </a:r>
            <a:endParaRPr lang="zh-CN" altLang="en-US" sz="2000" dirty="0"/>
          </a:p>
          <a:p>
            <a:pPr marL="0" indent="0">
              <a:buNone/>
            </a:pPr>
            <a:r>
              <a:rPr lang="en-US" altLang="zh-CN" sz="2000" dirty="0" err="1"/>
              <a:t>plt.ylabel</a:t>
            </a:r>
            <a:r>
              <a:rPr lang="en-US" altLang="zh-CN" sz="2000" dirty="0"/>
              <a:t>("y-axis")    # </a:t>
            </a:r>
            <a:r>
              <a:rPr lang="zh-CN" altLang="en-US" sz="2000" dirty="0"/>
              <a:t>设置</a:t>
            </a:r>
            <a:r>
              <a:rPr lang="en-US" altLang="zh-CN" sz="2000" dirty="0"/>
              <a:t>y</a:t>
            </a:r>
            <a:r>
              <a:rPr lang="zh-CN" altLang="en-US" sz="2000" dirty="0"/>
              <a:t>轴标签         </a:t>
            </a:r>
            <a:endParaRPr lang="zh-CN" altLang="en-US" sz="2000" dirty="0"/>
          </a:p>
          <a:p>
            <a:pPr marL="0" indent="0">
              <a:buNone/>
            </a:pPr>
            <a:r>
              <a:rPr lang="en-US" altLang="zh-CN" sz="2000" dirty="0" err="1"/>
              <a:t>plt.legend</a:t>
            </a:r>
            <a:r>
              <a:rPr lang="en-US" altLang="zh-CN" sz="2000" dirty="0"/>
              <a:t>(["y1=x","y2=2x","y3=3x"])   # </a:t>
            </a:r>
            <a:r>
              <a:rPr lang="zh-CN" altLang="en-US" sz="2000" dirty="0"/>
              <a:t>添加图例</a:t>
            </a:r>
            <a:endParaRPr lang="zh-CN" altLang="en-US" sz="2000" dirty="0"/>
          </a:p>
          <a:p>
            <a:pPr marL="0" indent="0">
              <a:buNone/>
            </a:pPr>
            <a:r>
              <a:rPr lang="en-US" altLang="zh-CN" sz="2000" dirty="0" err="1"/>
              <a:t>plt.text</a:t>
            </a:r>
            <a:r>
              <a:rPr lang="en-US" altLang="zh-CN" sz="2000" dirty="0"/>
              <a:t>(4,2,"TEXT")  # TEXT</a:t>
            </a:r>
            <a:r>
              <a:rPr lang="zh-CN" altLang="en-US" sz="2000" dirty="0"/>
              <a:t>可以换成你想要显示的文本</a:t>
            </a:r>
            <a:endParaRPr lang="zh-CN" altLang="en-US" sz="2000" dirty="0"/>
          </a:p>
          <a:p>
            <a:pPr marL="0" indent="0">
              <a:buNone/>
            </a:pPr>
            <a:r>
              <a:rPr lang="en-US" altLang="zh-CN" sz="2000" dirty="0" err="1"/>
              <a:t>plt.title</a:t>
            </a:r>
            <a:r>
              <a:rPr lang="en-US" altLang="zh-CN" sz="2000" dirty="0"/>
              <a:t>("TITLE")    # TITLE</a:t>
            </a:r>
            <a:r>
              <a:rPr lang="zh-CN" altLang="en-US" sz="2000" dirty="0"/>
              <a:t>可以换成你想要显示的文本</a:t>
            </a:r>
            <a:endParaRPr lang="zh-CN" altLang="en-US" sz="2000" dirty="0"/>
          </a:p>
          <a:p>
            <a:pPr marL="0" indent="0">
              <a:buNone/>
            </a:pPr>
            <a:r>
              <a:rPr lang="en-US" altLang="zh-CN" sz="2000" dirty="0" err="1" smtClean="0"/>
              <a:t>plt.show</a:t>
            </a:r>
            <a:r>
              <a:rPr lang="en-US" altLang="zh-CN" sz="2000" dirty="0"/>
              <a:t>()</a:t>
            </a:r>
            <a:endParaRPr lang="en-US" altLang="zh-CN" sz="2000" dirty="0"/>
          </a:p>
        </p:txBody>
      </p:sp>
      <p:pic>
        <p:nvPicPr>
          <p:cNvPr id="13" name="图片 12"/>
          <p:cNvPicPr/>
          <p:nvPr/>
        </p:nvPicPr>
        <p:blipFill>
          <a:blip r:embed="rId2"/>
          <a:stretch>
            <a:fillRect/>
          </a:stretch>
        </p:blipFill>
        <p:spPr>
          <a:xfrm>
            <a:off x="9088510" y="707504"/>
            <a:ext cx="3103490" cy="61504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 calcmode="lin" valueType="num">
                                      <p:cBhvr>
                                        <p:cTn id="70"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71"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72" dur="500"/>
                                        <p:tgtEl>
                                          <p:spTgt spid="10">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 calcmode="lin" valueType="num">
                                      <p:cBhvr>
                                        <p:cTn id="77"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78"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79" dur="500"/>
                                        <p:tgtEl>
                                          <p:spTgt spid="10">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0">
                                            <p:txEl>
                                              <p:pRg st="10" end="10"/>
                                            </p:txEl>
                                          </p:spTgt>
                                        </p:tgtEl>
                                        <p:attrNameLst>
                                          <p:attrName>style.visibility</p:attrName>
                                        </p:attrNameLst>
                                      </p:cBhvr>
                                      <p:to>
                                        <p:strVal val="visible"/>
                                      </p:to>
                                    </p:set>
                                    <p:anim calcmode="lin" valueType="num">
                                      <p:cBhvr>
                                        <p:cTn id="84" dur="500" fill="hold"/>
                                        <p:tgtEl>
                                          <p:spTgt spid="10">
                                            <p:txEl>
                                              <p:pRg st="10" end="10"/>
                                            </p:txEl>
                                          </p:spTgt>
                                        </p:tgtEl>
                                        <p:attrNameLst>
                                          <p:attrName>ppt_w</p:attrName>
                                        </p:attrNameLst>
                                      </p:cBhvr>
                                      <p:tavLst>
                                        <p:tav tm="0">
                                          <p:val>
                                            <p:fltVal val="0"/>
                                          </p:val>
                                        </p:tav>
                                        <p:tav tm="100000">
                                          <p:val>
                                            <p:strVal val="#ppt_w"/>
                                          </p:val>
                                        </p:tav>
                                      </p:tavLst>
                                    </p:anim>
                                    <p:anim calcmode="lin" valueType="num">
                                      <p:cBhvr>
                                        <p:cTn id="85" dur="500" fill="hold"/>
                                        <p:tgtEl>
                                          <p:spTgt spid="10">
                                            <p:txEl>
                                              <p:pRg st="10" end="10"/>
                                            </p:txEl>
                                          </p:spTgt>
                                        </p:tgtEl>
                                        <p:attrNameLst>
                                          <p:attrName>ppt_h</p:attrName>
                                        </p:attrNameLst>
                                      </p:cBhvr>
                                      <p:tavLst>
                                        <p:tav tm="0">
                                          <p:val>
                                            <p:fltVal val="0"/>
                                          </p:val>
                                        </p:tav>
                                        <p:tav tm="100000">
                                          <p:val>
                                            <p:strVal val="#ppt_h"/>
                                          </p:val>
                                        </p:tav>
                                      </p:tavLst>
                                    </p:anim>
                                    <p:animEffect transition="in" filter="fade">
                                      <p:cBhvr>
                                        <p:cTn id="86" dur="500"/>
                                        <p:tgtEl>
                                          <p:spTgt spid="10">
                                            <p:txEl>
                                              <p:pRg st="10" end="1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0">
                                            <p:txEl>
                                              <p:pRg st="11" end="11"/>
                                            </p:txEl>
                                          </p:spTgt>
                                        </p:tgtEl>
                                        <p:attrNameLst>
                                          <p:attrName>style.visibility</p:attrName>
                                        </p:attrNameLst>
                                      </p:cBhvr>
                                      <p:to>
                                        <p:strVal val="visible"/>
                                      </p:to>
                                    </p:set>
                                    <p:anim calcmode="lin" valueType="num">
                                      <p:cBhvr>
                                        <p:cTn id="91" dur="500" fill="hold"/>
                                        <p:tgtEl>
                                          <p:spTgt spid="10">
                                            <p:txEl>
                                              <p:pRg st="11" end="11"/>
                                            </p:txEl>
                                          </p:spTgt>
                                        </p:tgtEl>
                                        <p:attrNameLst>
                                          <p:attrName>ppt_w</p:attrName>
                                        </p:attrNameLst>
                                      </p:cBhvr>
                                      <p:tavLst>
                                        <p:tav tm="0">
                                          <p:val>
                                            <p:fltVal val="0"/>
                                          </p:val>
                                        </p:tav>
                                        <p:tav tm="100000">
                                          <p:val>
                                            <p:strVal val="#ppt_w"/>
                                          </p:val>
                                        </p:tav>
                                      </p:tavLst>
                                    </p:anim>
                                    <p:anim calcmode="lin" valueType="num">
                                      <p:cBhvr>
                                        <p:cTn id="92" dur="500" fill="hold"/>
                                        <p:tgtEl>
                                          <p:spTgt spid="10">
                                            <p:txEl>
                                              <p:pRg st="11" end="11"/>
                                            </p:txEl>
                                          </p:spTgt>
                                        </p:tgtEl>
                                        <p:attrNameLst>
                                          <p:attrName>ppt_h</p:attrName>
                                        </p:attrNameLst>
                                      </p:cBhvr>
                                      <p:tavLst>
                                        <p:tav tm="0">
                                          <p:val>
                                            <p:fltVal val="0"/>
                                          </p:val>
                                        </p:tav>
                                        <p:tav tm="100000">
                                          <p:val>
                                            <p:strVal val="#ppt_h"/>
                                          </p:val>
                                        </p:tav>
                                      </p:tavLst>
                                    </p:anim>
                                    <p:animEffect transition="in" filter="fade">
                                      <p:cBhvr>
                                        <p:cTn id="93" dur="500"/>
                                        <p:tgtEl>
                                          <p:spTgt spid="10">
                                            <p:txEl>
                                              <p:pRg st="11" end="1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10">
                                            <p:txEl>
                                              <p:pRg st="12" end="12"/>
                                            </p:txEl>
                                          </p:spTgt>
                                        </p:tgtEl>
                                        <p:attrNameLst>
                                          <p:attrName>style.visibility</p:attrName>
                                        </p:attrNameLst>
                                      </p:cBhvr>
                                      <p:to>
                                        <p:strVal val="visible"/>
                                      </p:to>
                                    </p:set>
                                    <p:anim calcmode="lin" valueType="num">
                                      <p:cBhvr>
                                        <p:cTn id="98" dur="500" fill="hold"/>
                                        <p:tgtEl>
                                          <p:spTgt spid="10">
                                            <p:txEl>
                                              <p:pRg st="12" end="12"/>
                                            </p:txEl>
                                          </p:spTgt>
                                        </p:tgtEl>
                                        <p:attrNameLst>
                                          <p:attrName>ppt_w</p:attrName>
                                        </p:attrNameLst>
                                      </p:cBhvr>
                                      <p:tavLst>
                                        <p:tav tm="0">
                                          <p:val>
                                            <p:fltVal val="0"/>
                                          </p:val>
                                        </p:tav>
                                        <p:tav tm="100000">
                                          <p:val>
                                            <p:strVal val="#ppt_w"/>
                                          </p:val>
                                        </p:tav>
                                      </p:tavLst>
                                    </p:anim>
                                    <p:anim calcmode="lin" valueType="num">
                                      <p:cBhvr>
                                        <p:cTn id="99" dur="500" fill="hold"/>
                                        <p:tgtEl>
                                          <p:spTgt spid="10">
                                            <p:txEl>
                                              <p:pRg st="12" end="12"/>
                                            </p:txEl>
                                          </p:spTgt>
                                        </p:tgtEl>
                                        <p:attrNameLst>
                                          <p:attrName>ppt_h</p:attrName>
                                        </p:attrNameLst>
                                      </p:cBhvr>
                                      <p:tavLst>
                                        <p:tav tm="0">
                                          <p:val>
                                            <p:fltVal val="0"/>
                                          </p:val>
                                        </p:tav>
                                        <p:tav tm="100000">
                                          <p:val>
                                            <p:strVal val="#ppt_h"/>
                                          </p:val>
                                        </p:tav>
                                      </p:tavLst>
                                    </p:anim>
                                    <p:animEffect transition="in" filter="fade">
                                      <p:cBhvr>
                                        <p:cTn id="100" dur="500"/>
                                        <p:tgtEl>
                                          <p:spTgt spid="10">
                                            <p:txEl>
                                              <p:pRg st="12" end="12"/>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0">
                                            <p:txEl>
                                              <p:pRg st="13" end="13"/>
                                            </p:txEl>
                                          </p:spTgt>
                                        </p:tgtEl>
                                        <p:attrNameLst>
                                          <p:attrName>style.visibility</p:attrName>
                                        </p:attrNameLst>
                                      </p:cBhvr>
                                      <p:to>
                                        <p:strVal val="visible"/>
                                      </p:to>
                                    </p:set>
                                    <p:anim calcmode="lin" valueType="num">
                                      <p:cBhvr>
                                        <p:cTn id="105" dur="500" fill="hold"/>
                                        <p:tgtEl>
                                          <p:spTgt spid="10">
                                            <p:txEl>
                                              <p:pRg st="13" end="13"/>
                                            </p:txEl>
                                          </p:spTgt>
                                        </p:tgtEl>
                                        <p:attrNameLst>
                                          <p:attrName>ppt_w</p:attrName>
                                        </p:attrNameLst>
                                      </p:cBhvr>
                                      <p:tavLst>
                                        <p:tav tm="0">
                                          <p:val>
                                            <p:fltVal val="0"/>
                                          </p:val>
                                        </p:tav>
                                        <p:tav tm="100000">
                                          <p:val>
                                            <p:strVal val="#ppt_w"/>
                                          </p:val>
                                        </p:tav>
                                      </p:tavLst>
                                    </p:anim>
                                    <p:anim calcmode="lin" valueType="num">
                                      <p:cBhvr>
                                        <p:cTn id="106" dur="500" fill="hold"/>
                                        <p:tgtEl>
                                          <p:spTgt spid="10">
                                            <p:txEl>
                                              <p:pRg st="13" end="13"/>
                                            </p:txEl>
                                          </p:spTgt>
                                        </p:tgtEl>
                                        <p:attrNameLst>
                                          <p:attrName>ppt_h</p:attrName>
                                        </p:attrNameLst>
                                      </p:cBhvr>
                                      <p:tavLst>
                                        <p:tav tm="0">
                                          <p:val>
                                            <p:fltVal val="0"/>
                                          </p:val>
                                        </p:tav>
                                        <p:tav tm="100000">
                                          <p:val>
                                            <p:strVal val="#ppt_h"/>
                                          </p:val>
                                        </p:tav>
                                      </p:tavLst>
                                    </p:anim>
                                    <p:animEffect transition="in" filter="fade">
                                      <p:cBhvr>
                                        <p:cTn id="107" dur="500"/>
                                        <p:tgtEl>
                                          <p:spTgt spid="10">
                                            <p:txEl>
                                              <p:pRg st="13" end="1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10">
                                            <p:txEl>
                                              <p:pRg st="14" end="14"/>
                                            </p:txEl>
                                          </p:spTgt>
                                        </p:tgtEl>
                                        <p:attrNameLst>
                                          <p:attrName>style.visibility</p:attrName>
                                        </p:attrNameLst>
                                      </p:cBhvr>
                                      <p:to>
                                        <p:strVal val="visible"/>
                                      </p:to>
                                    </p:set>
                                    <p:anim calcmode="lin" valueType="num">
                                      <p:cBhvr>
                                        <p:cTn id="112" dur="500" fill="hold"/>
                                        <p:tgtEl>
                                          <p:spTgt spid="10">
                                            <p:txEl>
                                              <p:pRg st="14" end="14"/>
                                            </p:txEl>
                                          </p:spTgt>
                                        </p:tgtEl>
                                        <p:attrNameLst>
                                          <p:attrName>ppt_w</p:attrName>
                                        </p:attrNameLst>
                                      </p:cBhvr>
                                      <p:tavLst>
                                        <p:tav tm="0">
                                          <p:val>
                                            <p:fltVal val="0"/>
                                          </p:val>
                                        </p:tav>
                                        <p:tav tm="100000">
                                          <p:val>
                                            <p:strVal val="#ppt_w"/>
                                          </p:val>
                                        </p:tav>
                                      </p:tavLst>
                                    </p:anim>
                                    <p:anim calcmode="lin" valueType="num">
                                      <p:cBhvr>
                                        <p:cTn id="113" dur="500" fill="hold"/>
                                        <p:tgtEl>
                                          <p:spTgt spid="10">
                                            <p:txEl>
                                              <p:pRg st="14" end="14"/>
                                            </p:txEl>
                                          </p:spTgt>
                                        </p:tgtEl>
                                        <p:attrNameLst>
                                          <p:attrName>ppt_h</p:attrName>
                                        </p:attrNameLst>
                                      </p:cBhvr>
                                      <p:tavLst>
                                        <p:tav tm="0">
                                          <p:val>
                                            <p:fltVal val="0"/>
                                          </p:val>
                                        </p:tav>
                                        <p:tav tm="100000">
                                          <p:val>
                                            <p:strVal val="#ppt_h"/>
                                          </p:val>
                                        </p:tav>
                                      </p:tavLst>
                                    </p:anim>
                                    <p:animEffect transition="in" filter="fade">
                                      <p:cBhvr>
                                        <p:cTn id="114" dur="500"/>
                                        <p:tgtEl>
                                          <p:spTgt spid="10">
                                            <p:txEl>
                                              <p:pRg st="14" end="14"/>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0">
                                            <p:txEl>
                                              <p:pRg st="15" end="15"/>
                                            </p:txEl>
                                          </p:spTgt>
                                        </p:tgtEl>
                                        <p:attrNameLst>
                                          <p:attrName>style.visibility</p:attrName>
                                        </p:attrNameLst>
                                      </p:cBhvr>
                                      <p:to>
                                        <p:strVal val="visible"/>
                                      </p:to>
                                    </p:set>
                                    <p:anim calcmode="lin" valueType="num">
                                      <p:cBhvr>
                                        <p:cTn id="119" dur="500" fill="hold"/>
                                        <p:tgtEl>
                                          <p:spTgt spid="10">
                                            <p:txEl>
                                              <p:pRg st="15" end="15"/>
                                            </p:txEl>
                                          </p:spTgt>
                                        </p:tgtEl>
                                        <p:attrNameLst>
                                          <p:attrName>ppt_w</p:attrName>
                                        </p:attrNameLst>
                                      </p:cBhvr>
                                      <p:tavLst>
                                        <p:tav tm="0">
                                          <p:val>
                                            <p:fltVal val="0"/>
                                          </p:val>
                                        </p:tav>
                                        <p:tav tm="100000">
                                          <p:val>
                                            <p:strVal val="#ppt_w"/>
                                          </p:val>
                                        </p:tav>
                                      </p:tavLst>
                                    </p:anim>
                                    <p:anim calcmode="lin" valueType="num">
                                      <p:cBhvr>
                                        <p:cTn id="120" dur="500" fill="hold"/>
                                        <p:tgtEl>
                                          <p:spTgt spid="10">
                                            <p:txEl>
                                              <p:pRg st="15" end="15"/>
                                            </p:txEl>
                                          </p:spTgt>
                                        </p:tgtEl>
                                        <p:attrNameLst>
                                          <p:attrName>ppt_h</p:attrName>
                                        </p:attrNameLst>
                                      </p:cBhvr>
                                      <p:tavLst>
                                        <p:tav tm="0">
                                          <p:val>
                                            <p:fltVal val="0"/>
                                          </p:val>
                                        </p:tav>
                                        <p:tav tm="100000">
                                          <p:val>
                                            <p:strVal val="#ppt_h"/>
                                          </p:val>
                                        </p:tav>
                                      </p:tavLst>
                                    </p:anim>
                                    <p:animEffect transition="in" filter="fade">
                                      <p:cBhvr>
                                        <p:cTn id="121" dur="500"/>
                                        <p:tgtEl>
                                          <p:spTgt spid="10">
                                            <p:txEl>
                                              <p:pRg st="15" end="15"/>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0">
                                            <p:txEl>
                                              <p:pRg st="16" end="16"/>
                                            </p:txEl>
                                          </p:spTgt>
                                        </p:tgtEl>
                                        <p:attrNameLst>
                                          <p:attrName>style.visibility</p:attrName>
                                        </p:attrNameLst>
                                      </p:cBhvr>
                                      <p:to>
                                        <p:strVal val="visible"/>
                                      </p:to>
                                    </p:set>
                                    <p:anim calcmode="lin" valueType="num">
                                      <p:cBhvr>
                                        <p:cTn id="126" dur="500" fill="hold"/>
                                        <p:tgtEl>
                                          <p:spTgt spid="10">
                                            <p:txEl>
                                              <p:pRg st="16" end="16"/>
                                            </p:txEl>
                                          </p:spTgt>
                                        </p:tgtEl>
                                        <p:attrNameLst>
                                          <p:attrName>ppt_w</p:attrName>
                                        </p:attrNameLst>
                                      </p:cBhvr>
                                      <p:tavLst>
                                        <p:tav tm="0">
                                          <p:val>
                                            <p:fltVal val="0"/>
                                          </p:val>
                                        </p:tav>
                                        <p:tav tm="100000">
                                          <p:val>
                                            <p:strVal val="#ppt_w"/>
                                          </p:val>
                                        </p:tav>
                                      </p:tavLst>
                                    </p:anim>
                                    <p:anim calcmode="lin" valueType="num">
                                      <p:cBhvr>
                                        <p:cTn id="127" dur="500" fill="hold"/>
                                        <p:tgtEl>
                                          <p:spTgt spid="10">
                                            <p:txEl>
                                              <p:pRg st="16" end="16"/>
                                            </p:txEl>
                                          </p:spTgt>
                                        </p:tgtEl>
                                        <p:attrNameLst>
                                          <p:attrName>ppt_h</p:attrName>
                                        </p:attrNameLst>
                                      </p:cBhvr>
                                      <p:tavLst>
                                        <p:tav tm="0">
                                          <p:val>
                                            <p:fltVal val="0"/>
                                          </p:val>
                                        </p:tav>
                                        <p:tav tm="100000">
                                          <p:val>
                                            <p:strVal val="#ppt_h"/>
                                          </p:val>
                                        </p:tav>
                                      </p:tavLst>
                                    </p:anim>
                                    <p:animEffect transition="in" filter="fade">
                                      <p:cBhvr>
                                        <p:cTn id="128" dur="500"/>
                                        <p:tgtEl>
                                          <p:spTgt spid="10">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a:t>
              </a:r>
              <a:r>
                <a:rPr lang="zh-CN" altLang="en-US" sz="3600" b="1" spc="300" dirty="0">
                  <a:solidFill>
                    <a:srgbClr val="1E6787"/>
                  </a:solidFill>
                  <a:latin typeface="微软雅黑" panose="020B0503020204020204" pitchFamily="34" charset="-122"/>
                  <a:ea typeface="微软雅黑" panose="020B0503020204020204" pitchFamily="34" charset="-122"/>
                </a:rPr>
                <a:t>模块绘图函数示例</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graphicFrame>
        <p:nvGraphicFramePr>
          <p:cNvPr id="3" name="表格 2"/>
          <p:cNvGraphicFramePr>
            <a:graphicFrameLocks noGrp="1"/>
          </p:cNvGraphicFramePr>
          <p:nvPr/>
        </p:nvGraphicFramePr>
        <p:xfrm>
          <a:off x="1042866" y="906842"/>
          <a:ext cx="6872836" cy="5725972"/>
        </p:xfrm>
        <a:graphic>
          <a:graphicData uri="http://schemas.openxmlformats.org/drawingml/2006/table">
            <a:tbl>
              <a:tblPr firstRow="1" bandRow="1">
                <a:tableStyleId>{5C22544A-7EE6-4342-B048-85BDC9FD1C3A}</a:tableStyleId>
              </a:tblPr>
              <a:tblGrid>
                <a:gridCol w="2314484"/>
                <a:gridCol w="4558352"/>
              </a:tblGrid>
              <a:tr h="408998">
                <a:tc>
                  <a:txBody>
                    <a:bodyPr/>
                    <a:lstStyle/>
                    <a:p>
                      <a:pPr algn="ctr">
                        <a:spcAft>
                          <a:spcPts val="0"/>
                        </a:spcAft>
                      </a:pPr>
                      <a:r>
                        <a:rPr lang="zh-CN" sz="2400" kern="100">
                          <a:effectLst/>
                        </a:rPr>
                        <a:t>函数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2400" kern="100">
                          <a:effectLst/>
                        </a:rPr>
                        <a:t>描述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dirty="0">
                          <a:effectLst/>
                        </a:rPr>
                        <a:t>boxplot</a:t>
                      </a:r>
                      <a:r>
                        <a:rPr lang="zh-CN" sz="2400" kern="100" dirty="0">
                          <a:effectLst/>
                        </a:rPr>
                        <a: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绘制箱型图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bar</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绘制竖向条形图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barh</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绘制横向条形图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contour</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绘制等高线</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hist</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绘制直方图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u="sng" kern="100">
                          <a:effectLst/>
                        </a:rPr>
                        <a:t>pie</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绘制饼图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plot_date</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绘制包含日期型数据的图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u="none" strike="noStrike" kern="100">
                          <a:effectLst/>
                          <a:hlinkClick r:id="rId2" tooltip="matplotlib.pyplot.polar"/>
                        </a:rPr>
                        <a:t>polar</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绘制极坐标图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psd</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功率谱密度</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u="none" strike="noStrike" kern="100">
                          <a:effectLst/>
                          <a:hlinkClick r:id="rId3" tooltip="matplotlib.pyplot.scatter"/>
                        </a:rPr>
                        <a:t>scatter</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绘制散点图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u="none" strike="noStrike" kern="100">
                          <a:effectLst/>
                          <a:hlinkClick r:id="rId4" tooltip="matplotlib.pyplot.specgram"/>
                        </a:rPr>
                        <a:t>specgram</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绘制频谱图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stem</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a:effectLst/>
                        </a:rPr>
                        <a:t>绘制火柴杆图</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408998">
                <a:tc>
                  <a:txBody>
                    <a:bodyPr/>
                    <a:lstStyle/>
                    <a:p>
                      <a:pPr algn="l">
                        <a:spcAft>
                          <a:spcPts val="0"/>
                        </a:spcAft>
                      </a:pPr>
                      <a:r>
                        <a:rPr lang="en-US" sz="2400" kern="100">
                          <a:effectLst/>
                        </a:rPr>
                        <a:t>step</a:t>
                      </a:r>
                      <a:r>
                        <a:rPr lang="zh-CN" sz="2400" kern="100">
                          <a:effectLst/>
                        </a:rPr>
                        <a: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37465" algn="l">
                        <a:spcAft>
                          <a:spcPts val="0"/>
                        </a:spcAft>
                      </a:pPr>
                      <a:r>
                        <a:rPr lang="zh-CN" sz="2400" kern="100" dirty="0">
                          <a:effectLst/>
                        </a:rPr>
                        <a:t>绘制步阶图</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9" name="内容占位符 1"/>
          <p:cNvSpPr txBox="1"/>
          <p:nvPr/>
        </p:nvSpPr>
        <p:spPr>
          <a:xfrm>
            <a:off x="477672" y="1746913"/>
            <a:ext cx="5732059" cy="4735774"/>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import </a:t>
            </a:r>
            <a:r>
              <a:rPr lang="en-US" altLang="zh-CN" dirty="0" err="1"/>
              <a:t>matplotlib.pyplot</a:t>
            </a:r>
            <a:r>
              <a:rPr lang="en-US" altLang="zh-CN" dirty="0"/>
              <a:t> as </a:t>
            </a:r>
            <a:r>
              <a:rPr lang="en-US" altLang="zh-CN" dirty="0" err="1"/>
              <a:t>plt</a:t>
            </a:r>
            <a:endParaRPr lang="en-US" altLang="zh-CN" dirty="0"/>
          </a:p>
          <a:p>
            <a:pPr marL="0" indent="0">
              <a:buNone/>
            </a:pPr>
            <a:r>
              <a:rPr lang="en-US" altLang="zh-CN" dirty="0"/>
              <a:t>import </a:t>
            </a:r>
            <a:r>
              <a:rPr lang="en-US" altLang="zh-CN" dirty="0" err="1"/>
              <a:t>numpy</a:t>
            </a:r>
            <a:r>
              <a:rPr lang="en-US" altLang="zh-CN" dirty="0"/>
              <a:t> as np</a:t>
            </a:r>
            <a:endParaRPr lang="en-US" altLang="zh-CN" dirty="0"/>
          </a:p>
          <a:p>
            <a:pPr marL="0" indent="0">
              <a:buNone/>
            </a:pPr>
            <a:r>
              <a:rPr lang="en-US" altLang="zh-CN" dirty="0"/>
              <a:t>x=</a:t>
            </a:r>
            <a:r>
              <a:rPr lang="en-US" altLang="zh-CN" dirty="0" err="1"/>
              <a:t>np.arange</a:t>
            </a:r>
            <a:r>
              <a:rPr lang="en-US" altLang="zh-CN" dirty="0"/>
              <a:t>(7)</a:t>
            </a:r>
            <a:endParaRPr lang="en-US" altLang="zh-CN" dirty="0"/>
          </a:p>
          <a:p>
            <a:pPr marL="0" indent="0">
              <a:buNone/>
            </a:pPr>
            <a:r>
              <a:rPr lang="en-US" altLang="zh-CN" dirty="0"/>
              <a:t>height=[3, 4, 7, 6, 2, 8, 9]</a:t>
            </a:r>
            <a:endParaRPr lang="en-US" altLang="zh-CN" dirty="0"/>
          </a:p>
          <a:p>
            <a:pPr marL="0" indent="0">
              <a:buNone/>
            </a:pPr>
            <a:r>
              <a:rPr lang="en-US" altLang="zh-CN" dirty="0" err="1"/>
              <a:t>plt.bar</a:t>
            </a:r>
            <a:r>
              <a:rPr lang="en-US" altLang="zh-CN" dirty="0"/>
              <a:t>(</a:t>
            </a:r>
            <a:r>
              <a:rPr lang="en-US" altLang="zh-CN" dirty="0" err="1"/>
              <a:t>x,height</a:t>
            </a:r>
            <a:r>
              <a:rPr lang="en-US" altLang="zh-CN" dirty="0"/>
              <a:t>)</a:t>
            </a:r>
            <a:endParaRPr lang="en-US" altLang="zh-CN" dirty="0"/>
          </a:p>
          <a:p>
            <a:pPr marL="0" indent="0">
              <a:buNone/>
            </a:pPr>
            <a:r>
              <a:rPr lang="en-US" altLang="zh-CN" dirty="0" err="1"/>
              <a:t>plt.show</a:t>
            </a:r>
            <a:r>
              <a:rPr lang="en-US" altLang="zh-CN" dirty="0"/>
              <a:t>()</a:t>
            </a:r>
            <a:endParaRPr lang="en-US" altLang="zh-CN" dirty="0"/>
          </a:p>
        </p:txBody>
      </p:sp>
      <p:pic>
        <p:nvPicPr>
          <p:cNvPr id="11" name="图片 10"/>
          <p:cNvPicPr/>
          <p:nvPr/>
        </p:nvPicPr>
        <p:blipFill>
          <a:blip r:embed="rId2"/>
          <a:stretch>
            <a:fillRect/>
          </a:stretch>
        </p:blipFill>
        <p:spPr>
          <a:xfrm>
            <a:off x="6406760" y="1746913"/>
            <a:ext cx="5703352" cy="47357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500" fill="hold"/>
                                        <p:tgtEl>
                                          <p:spTgt spid="9">
                                            <p:bg/>
                                          </p:spTgt>
                                        </p:tgtEl>
                                        <p:attrNameLst>
                                          <p:attrName>ppt_w</p:attrName>
                                        </p:attrNameLst>
                                      </p:cBhvr>
                                      <p:tavLst>
                                        <p:tav tm="0">
                                          <p:val>
                                            <p:fltVal val="0"/>
                                          </p:val>
                                        </p:tav>
                                        <p:tav tm="100000">
                                          <p:val>
                                            <p:strVal val="#ppt_w"/>
                                          </p:val>
                                        </p:tav>
                                      </p:tavLst>
                                    </p:anim>
                                    <p:anim calcmode="lin" valueType="num">
                                      <p:cBhvr>
                                        <p:cTn id="8" dur="500" fill="hold"/>
                                        <p:tgtEl>
                                          <p:spTgt spid="9">
                                            <p:bg/>
                                          </p:spTgt>
                                        </p:tgtEl>
                                        <p:attrNameLst>
                                          <p:attrName>ppt_h</p:attrName>
                                        </p:attrNameLst>
                                      </p:cBhvr>
                                      <p:tavLst>
                                        <p:tav tm="0">
                                          <p:val>
                                            <p:fltVal val="0"/>
                                          </p:val>
                                        </p:tav>
                                        <p:tav tm="100000">
                                          <p:val>
                                            <p:strVal val="#ppt_h"/>
                                          </p:val>
                                        </p:tav>
                                      </p:tavLst>
                                    </p:anim>
                                    <p:animEffect transition="in" filter="fade">
                                      <p:cBhvr>
                                        <p:cTn id="9" dur="500"/>
                                        <p:tgtEl>
                                          <p:spTgt spid="9">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p:cTn id="14"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 calcmode="lin" valueType="num">
                                      <p:cBhvr>
                                        <p:cTn id="21"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9">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 calcmode="lin" valueType="num">
                                      <p:cBhvr>
                                        <p:cTn id="28"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 calcmode="lin" valueType="num">
                                      <p:cBhvr>
                                        <p:cTn id="35"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9">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 calcmode="lin" valueType="num">
                                      <p:cBhvr>
                                        <p:cTn id="42"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9">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 calcmode="lin" valueType="num">
                                      <p:cBhvr>
                                        <p:cTn id="49"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9">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9" name="内容占位符 1"/>
          <p:cNvSpPr txBox="1"/>
          <p:nvPr/>
        </p:nvSpPr>
        <p:spPr>
          <a:xfrm>
            <a:off x="477672" y="1746913"/>
            <a:ext cx="5732059" cy="4735774"/>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import </a:t>
            </a:r>
            <a:r>
              <a:rPr lang="en-US" altLang="zh-CN" dirty="0" err="1"/>
              <a:t>matplotlib.pyplot</a:t>
            </a:r>
            <a:r>
              <a:rPr lang="en-US" altLang="zh-CN" dirty="0"/>
              <a:t> as </a:t>
            </a:r>
            <a:r>
              <a:rPr lang="en-US" altLang="zh-CN" dirty="0" err="1"/>
              <a:t>plt</a:t>
            </a:r>
            <a:endParaRPr lang="en-US" altLang="zh-CN" dirty="0"/>
          </a:p>
          <a:p>
            <a:pPr marL="0" indent="0">
              <a:buNone/>
            </a:pPr>
            <a:r>
              <a:rPr lang="en-US" altLang="zh-CN" dirty="0"/>
              <a:t>import </a:t>
            </a:r>
            <a:r>
              <a:rPr lang="en-US" altLang="zh-CN" dirty="0" err="1"/>
              <a:t>numpy</a:t>
            </a:r>
            <a:r>
              <a:rPr lang="en-US" altLang="zh-CN" dirty="0"/>
              <a:t> as np</a:t>
            </a:r>
            <a:endParaRPr lang="en-US" altLang="zh-CN" dirty="0"/>
          </a:p>
          <a:p>
            <a:pPr marL="0" indent="0">
              <a:buNone/>
            </a:pPr>
            <a:r>
              <a:rPr lang="en-US" altLang="zh-CN" dirty="0"/>
              <a:t>x=</a:t>
            </a:r>
            <a:r>
              <a:rPr lang="en-US" altLang="zh-CN" dirty="0" err="1"/>
              <a:t>np.arange</a:t>
            </a:r>
            <a:r>
              <a:rPr lang="en-US" altLang="zh-CN" dirty="0"/>
              <a:t>(7)</a:t>
            </a:r>
            <a:endParaRPr lang="en-US" altLang="zh-CN" dirty="0"/>
          </a:p>
          <a:p>
            <a:pPr marL="0" indent="0">
              <a:buNone/>
            </a:pPr>
            <a:r>
              <a:rPr lang="en-US" altLang="zh-CN" dirty="0"/>
              <a:t>y=[3, 4, 7, 6, 2, 8, 9]</a:t>
            </a:r>
            <a:endParaRPr lang="en-US" altLang="zh-CN" dirty="0"/>
          </a:p>
          <a:p>
            <a:pPr marL="0" indent="0">
              <a:buNone/>
            </a:pPr>
            <a:r>
              <a:rPr lang="en-US" altLang="zh-CN" dirty="0" err="1" smtClean="0"/>
              <a:t>plt.scatter</a:t>
            </a:r>
            <a:r>
              <a:rPr lang="en-US" altLang="zh-CN" dirty="0" smtClean="0"/>
              <a:t>(</a:t>
            </a:r>
            <a:r>
              <a:rPr lang="en-US" altLang="zh-CN" dirty="0" err="1" smtClean="0"/>
              <a:t>x,y</a:t>
            </a:r>
            <a:r>
              <a:rPr lang="en-US" altLang="zh-CN" dirty="0" smtClean="0"/>
              <a:t>)</a:t>
            </a:r>
            <a:endParaRPr lang="en-US" altLang="zh-CN" dirty="0" smtClean="0"/>
          </a:p>
          <a:p>
            <a:pPr marL="0" indent="0">
              <a:buNone/>
            </a:pPr>
            <a:r>
              <a:rPr lang="en-US" altLang="zh-CN" dirty="0" err="1" smtClean="0"/>
              <a:t>plt.show</a:t>
            </a:r>
            <a:r>
              <a:rPr lang="en-US" altLang="zh-CN" dirty="0" smtClean="0"/>
              <a:t>()</a:t>
            </a:r>
            <a:endParaRPr lang="en-US" altLang="zh-CN" dirty="0" smtClean="0"/>
          </a:p>
          <a:p>
            <a:pPr marL="0" indent="0">
              <a:buNone/>
            </a:pPr>
            <a:endParaRPr lang="en-US" altLang="zh-CN" dirty="0"/>
          </a:p>
        </p:txBody>
      </p:sp>
      <p:pic>
        <p:nvPicPr>
          <p:cNvPr id="10" name="图片 9"/>
          <p:cNvPicPr/>
          <p:nvPr/>
        </p:nvPicPr>
        <p:blipFill>
          <a:blip r:embed="rId2"/>
          <a:stretch>
            <a:fillRect/>
          </a:stretch>
        </p:blipFill>
        <p:spPr>
          <a:xfrm>
            <a:off x="6393112" y="1746913"/>
            <a:ext cx="5589621" cy="47357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500" fill="hold"/>
                                        <p:tgtEl>
                                          <p:spTgt spid="9">
                                            <p:bg/>
                                          </p:spTgt>
                                        </p:tgtEl>
                                        <p:attrNameLst>
                                          <p:attrName>ppt_w</p:attrName>
                                        </p:attrNameLst>
                                      </p:cBhvr>
                                      <p:tavLst>
                                        <p:tav tm="0">
                                          <p:val>
                                            <p:fltVal val="0"/>
                                          </p:val>
                                        </p:tav>
                                        <p:tav tm="100000">
                                          <p:val>
                                            <p:strVal val="#ppt_w"/>
                                          </p:val>
                                        </p:tav>
                                      </p:tavLst>
                                    </p:anim>
                                    <p:anim calcmode="lin" valueType="num">
                                      <p:cBhvr>
                                        <p:cTn id="8" dur="500" fill="hold"/>
                                        <p:tgtEl>
                                          <p:spTgt spid="9">
                                            <p:bg/>
                                          </p:spTgt>
                                        </p:tgtEl>
                                        <p:attrNameLst>
                                          <p:attrName>ppt_h</p:attrName>
                                        </p:attrNameLst>
                                      </p:cBhvr>
                                      <p:tavLst>
                                        <p:tav tm="0">
                                          <p:val>
                                            <p:fltVal val="0"/>
                                          </p:val>
                                        </p:tav>
                                        <p:tav tm="100000">
                                          <p:val>
                                            <p:strVal val="#ppt_h"/>
                                          </p:val>
                                        </p:tav>
                                      </p:tavLst>
                                    </p:anim>
                                    <p:animEffect transition="in" filter="fade">
                                      <p:cBhvr>
                                        <p:cTn id="9" dur="500"/>
                                        <p:tgtEl>
                                          <p:spTgt spid="9">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p:cTn id="14"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 calcmode="lin" valueType="num">
                                      <p:cBhvr>
                                        <p:cTn id="21"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9">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 calcmode="lin" valueType="num">
                                      <p:cBhvr>
                                        <p:cTn id="28"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 calcmode="lin" valueType="num">
                                      <p:cBhvr>
                                        <p:cTn id="35"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9">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 calcmode="lin" valueType="num">
                                      <p:cBhvr>
                                        <p:cTn id="42"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9">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 calcmode="lin" valueType="num">
                                      <p:cBhvr>
                                        <p:cTn id="49"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9">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p:cTn id="56" dur="500" fill="hold"/>
                                        <p:tgtEl>
                                          <p:spTgt spid="10"/>
                                        </p:tgtEl>
                                        <p:attrNameLst>
                                          <p:attrName>ppt_w</p:attrName>
                                        </p:attrNameLst>
                                      </p:cBhvr>
                                      <p:tavLst>
                                        <p:tav tm="0">
                                          <p:val>
                                            <p:fltVal val="0"/>
                                          </p:val>
                                        </p:tav>
                                        <p:tav tm="100000">
                                          <p:val>
                                            <p:strVal val="#ppt_w"/>
                                          </p:val>
                                        </p:tav>
                                      </p:tavLst>
                                    </p:anim>
                                    <p:anim calcmode="lin" valueType="num">
                                      <p:cBhvr>
                                        <p:cTn id="57" dur="500" fill="hold"/>
                                        <p:tgtEl>
                                          <p:spTgt spid="10"/>
                                        </p:tgtEl>
                                        <p:attrNameLst>
                                          <p:attrName>ppt_h</p:attrName>
                                        </p:attrNameLst>
                                      </p:cBhvr>
                                      <p:tavLst>
                                        <p:tav tm="0">
                                          <p:val>
                                            <p:fltVal val="0"/>
                                          </p:val>
                                        </p:tav>
                                        <p:tav tm="100000">
                                          <p:val>
                                            <p:strVal val="#ppt_h"/>
                                          </p:val>
                                        </p:tav>
                                      </p:tavLst>
                                    </p:anim>
                                    <p:animEffect transition="in" filter="fade">
                                      <p:cBhvr>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pyplot.plot</a:t>
              </a:r>
              <a:r>
                <a:rPr lang="en-US" altLang="zh-CN" sz="3600" b="1" spc="300" dirty="0">
                  <a:solidFill>
                    <a:srgbClr val="1E6787"/>
                  </a:solidFill>
                  <a:latin typeface="微软雅黑" panose="020B0503020204020204" pitchFamily="34" charset="-122"/>
                  <a:ea typeface="微软雅黑" panose="020B0503020204020204" pitchFamily="34" charset="-122"/>
                </a:rPr>
                <a:t>()</a:t>
              </a:r>
              <a:r>
                <a:rPr lang="zh-CN" altLang="en-US" sz="3600" b="1" spc="300" dirty="0">
                  <a:solidFill>
                    <a:srgbClr val="1E6787"/>
                  </a:solidFill>
                  <a:latin typeface="微软雅黑" panose="020B0503020204020204" pitchFamily="34" charset="-122"/>
                  <a:ea typeface="微软雅黑" panose="020B0503020204020204" pitchFamily="34" charset="-122"/>
                </a:rPr>
                <a:t>绘图函数的使用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9" name="内容占位符 1"/>
          <p:cNvSpPr txBox="1"/>
          <p:nvPr/>
        </p:nvSpPr>
        <p:spPr>
          <a:xfrm>
            <a:off x="300250" y="2500538"/>
            <a:ext cx="11122925" cy="3384645"/>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dirty="0"/>
              <a:t>import </a:t>
            </a:r>
            <a:r>
              <a:rPr lang="en-US" altLang="zh-CN" dirty="0" err="1"/>
              <a:t>matplotlib.pyplot</a:t>
            </a:r>
            <a:r>
              <a:rPr lang="en-US" altLang="zh-CN" dirty="0"/>
              <a:t> as </a:t>
            </a:r>
            <a:r>
              <a:rPr lang="en-US" altLang="zh-CN" dirty="0" err="1"/>
              <a:t>plt</a:t>
            </a:r>
            <a:endParaRPr lang="en-US" altLang="zh-CN" dirty="0"/>
          </a:p>
          <a:p>
            <a:pPr marL="0" indent="0">
              <a:buNone/>
            </a:pPr>
            <a:r>
              <a:rPr lang="en-US" altLang="zh-CN" dirty="0"/>
              <a:t>Labels = 'Class-A', 'Class-B', 'Class-C', 'Class-D'</a:t>
            </a:r>
            <a:endParaRPr lang="en-US" altLang="zh-CN" dirty="0"/>
          </a:p>
          <a:p>
            <a:pPr marL="0" indent="0">
              <a:buNone/>
            </a:pPr>
            <a:r>
              <a:rPr lang="en-US" altLang="zh-CN" dirty="0"/>
              <a:t>data = [15, 30, 45, 10]</a:t>
            </a:r>
            <a:endParaRPr lang="en-US" altLang="zh-CN" dirty="0"/>
          </a:p>
          <a:p>
            <a:pPr marL="0" indent="0">
              <a:buNone/>
            </a:pPr>
            <a:r>
              <a:rPr lang="en-US" altLang="zh-CN" dirty="0"/>
              <a:t>Explode = (0, 0.1, 0, 0)  </a:t>
            </a:r>
            <a:endParaRPr lang="en-US" altLang="zh-CN" dirty="0"/>
          </a:p>
          <a:p>
            <a:pPr marL="0" indent="0">
              <a:buNone/>
            </a:pPr>
            <a:r>
              <a:rPr lang="en-US" altLang="zh-CN" dirty="0" err="1"/>
              <a:t>plt.pie</a:t>
            </a:r>
            <a:r>
              <a:rPr lang="en-US" altLang="zh-CN" dirty="0"/>
              <a:t>(data, explode=</a:t>
            </a:r>
            <a:r>
              <a:rPr lang="en-US" altLang="zh-CN" dirty="0" err="1"/>
              <a:t>Explode,labels</a:t>
            </a:r>
            <a:r>
              <a:rPr lang="en-US" altLang="zh-CN" dirty="0"/>
              <a:t>=</a:t>
            </a:r>
            <a:r>
              <a:rPr lang="en-US" altLang="zh-CN" dirty="0" err="1"/>
              <a:t>Labels,autopct</a:t>
            </a:r>
            <a:r>
              <a:rPr lang="en-US" altLang="zh-CN" dirty="0"/>
              <a:t>='%.2f%%')</a:t>
            </a:r>
            <a:endParaRPr lang="en-US" altLang="zh-CN" dirty="0"/>
          </a:p>
          <a:p>
            <a:pPr marL="0" indent="0">
              <a:buNone/>
            </a:pPr>
            <a:r>
              <a:rPr lang="en-US" altLang="zh-CN" dirty="0" err="1"/>
              <a:t>plt.show</a:t>
            </a:r>
            <a:r>
              <a:rPr lang="en-US" altLang="zh-CN" dirty="0"/>
              <a:t>()</a:t>
            </a:r>
            <a:endParaRPr lang="en-US" altLang="zh-CN" dirty="0"/>
          </a:p>
          <a:p>
            <a:pPr marL="0" indent="0">
              <a:buNone/>
            </a:pPr>
            <a:endParaRPr lang="en-US" altLang="zh-CN" dirty="0"/>
          </a:p>
        </p:txBody>
      </p:sp>
      <p:pic>
        <p:nvPicPr>
          <p:cNvPr id="11" name="图片 10"/>
          <p:cNvPicPr/>
          <p:nvPr/>
        </p:nvPicPr>
        <p:blipFill>
          <a:blip r:embed="rId2"/>
          <a:stretch>
            <a:fillRect/>
          </a:stretch>
        </p:blipFill>
        <p:spPr>
          <a:xfrm>
            <a:off x="7925435" y="564470"/>
            <a:ext cx="4266565" cy="3628390"/>
          </a:xfrm>
          <a:prstGeom prst="rect">
            <a:avLst/>
          </a:prstGeom>
          <a:ln>
            <a:solidFill>
              <a:srgbClr val="FFC000"/>
            </a:solid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500" fill="hold"/>
                                        <p:tgtEl>
                                          <p:spTgt spid="9">
                                            <p:bg/>
                                          </p:spTgt>
                                        </p:tgtEl>
                                        <p:attrNameLst>
                                          <p:attrName>ppt_w</p:attrName>
                                        </p:attrNameLst>
                                      </p:cBhvr>
                                      <p:tavLst>
                                        <p:tav tm="0">
                                          <p:val>
                                            <p:fltVal val="0"/>
                                          </p:val>
                                        </p:tav>
                                        <p:tav tm="100000">
                                          <p:val>
                                            <p:strVal val="#ppt_w"/>
                                          </p:val>
                                        </p:tav>
                                      </p:tavLst>
                                    </p:anim>
                                    <p:anim calcmode="lin" valueType="num">
                                      <p:cBhvr>
                                        <p:cTn id="8" dur="500" fill="hold"/>
                                        <p:tgtEl>
                                          <p:spTgt spid="9">
                                            <p:bg/>
                                          </p:spTgt>
                                        </p:tgtEl>
                                        <p:attrNameLst>
                                          <p:attrName>ppt_h</p:attrName>
                                        </p:attrNameLst>
                                      </p:cBhvr>
                                      <p:tavLst>
                                        <p:tav tm="0">
                                          <p:val>
                                            <p:fltVal val="0"/>
                                          </p:val>
                                        </p:tav>
                                        <p:tav tm="100000">
                                          <p:val>
                                            <p:strVal val="#ppt_h"/>
                                          </p:val>
                                        </p:tav>
                                      </p:tavLst>
                                    </p:anim>
                                    <p:animEffect transition="in" filter="fade">
                                      <p:cBhvr>
                                        <p:cTn id="9" dur="500"/>
                                        <p:tgtEl>
                                          <p:spTgt spid="9">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p:cTn id="14"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 calcmode="lin" valueType="num">
                                      <p:cBhvr>
                                        <p:cTn id="21"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9">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 calcmode="lin" valueType="num">
                                      <p:cBhvr>
                                        <p:cTn id="28"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 calcmode="lin" valueType="num">
                                      <p:cBhvr>
                                        <p:cTn id="35"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9">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 calcmode="lin" valueType="num">
                                      <p:cBhvr>
                                        <p:cTn id="42"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9">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 calcmode="lin" valueType="num">
                                      <p:cBhvr>
                                        <p:cTn id="49"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9">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zh-CN" altLang="en-US" sz="3600" b="1" spc="300" dirty="0">
                  <a:solidFill>
                    <a:srgbClr val="1E6787"/>
                  </a:solidFill>
                  <a:latin typeface="微软雅黑" panose="020B0503020204020204" pitchFamily="34" charset="-122"/>
                  <a:ea typeface="微软雅黑" panose="020B0503020204020204" pitchFamily="34" charset="-122"/>
                </a:rPr>
                <a:t>子图绘制 </a:t>
              </a:r>
              <a:r>
                <a:rPr lang="en-US" altLang="zh-CN" sz="3600" b="1" spc="300" dirty="0">
                  <a:solidFill>
                    <a:srgbClr val="1E6787"/>
                  </a:solidFill>
                  <a:latin typeface="微软雅黑" panose="020B0503020204020204" pitchFamily="34" charset="-122"/>
                  <a:ea typeface="微软雅黑" panose="020B0503020204020204" pitchFamily="34" charset="-122"/>
                </a:rPr>
                <a:t>– subplot()</a:t>
              </a:r>
              <a:r>
                <a:rPr lang="zh-CN" altLang="en-US" sz="3600" b="1" spc="300" dirty="0">
                  <a:solidFill>
                    <a:srgbClr val="1E6787"/>
                  </a:solidFill>
                  <a:latin typeface="微软雅黑" panose="020B0503020204020204" pitchFamily="34" charset="-122"/>
                  <a:ea typeface="微软雅黑" panose="020B0503020204020204" pitchFamily="34" charset="-122"/>
                </a:rPr>
                <a:t>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pic>
        <p:nvPicPr>
          <p:cNvPr id="5" name="图片 4"/>
          <p:cNvPicPr>
            <a:picLocks noChangeAspect="1"/>
          </p:cNvPicPr>
          <p:nvPr/>
        </p:nvPicPr>
        <p:blipFill>
          <a:blip r:embed="rId2"/>
          <a:stretch>
            <a:fillRect/>
          </a:stretch>
        </p:blipFill>
        <p:spPr>
          <a:xfrm>
            <a:off x="776097" y="955202"/>
            <a:ext cx="9701691" cy="1774350"/>
          </a:xfrm>
          <a:prstGeom prst="rect">
            <a:avLst/>
          </a:prstGeom>
        </p:spPr>
      </p:pic>
      <p:pic>
        <p:nvPicPr>
          <p:cNvPr id="12" name="图片 11"/>
          <p:cNvPicPr/>
          <p:nvPr/>
        </p:nvPicPr>
        <p:blipFill>
          <a:blip r:embed="rId3">
            <a:extLst>
              <a:ext uri="{28A0092B-C50C-407E-A947-70E740481C1C}">
                <a14:useLocalDpi xmlns:a14="http://schemas.microsoft.com/office/drawing/2010/main" val="0"/>
              </a:ext>
            </a:extLst>
          </a:blip>
          <a:srcRect/>
          <a:stretch>
            <a:fillRect/>
          </a:stretch>
        </p:blipFill>
        <p:spPr bwMode="auto">
          <a:xfrm>
            <a:off x="776097" y="2977249"/>
            <a:ext cx="4792190" cy="3505438"/>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子图绘制 </a:t>
              </a:r>
              <a:r>
                <a:rPr lang="en-US" altLang="zh-CN" sz="3600" b="1" spc="300" dirty="0" smtClean="0">
                  <a:solidFill>
                    <a:srgbClr val="1E6787"/>
                  </a:solidFill>
                  <a:latin typeface="微软雅黑" panose="020B0503020204020204" pitchFamily="34" charset="-122"/>
                  <a:ea typeface="微软雅黑" panose="020B0503020204020204" pitchFamily="34" charset="-122"/>
                </a:rPr>
                <a:t>– subplot()</a:t>
              </a:r>
              <a:r>
                <a:rPr lang="zh-CN" altLang="en-US" sz="3600" b="1" spc="300" dirty="0" smtClean="0">
                  <a:solidFill>
                    <a:srgbClr val="1E6787"/>
                  </a:solidFill>
                  <a:latin typeface="微软雅黑" panose="020B0503020204020204" pitchFamily="34" charset="-122"/>
                  <a:ea typeface="微软雅黑" panose="020B0503020204020204" pitchFamily="34" charset="-122"/>
                </a:rPr>
                <a:t>函数</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10" name="内容占位符 1"/>
          <p:cNvSpPr txBox="1"/>
          <p:nvPr/>
        </p:nvSpPr>
        <p:spPr>
          <a:xfrm>
            <a:off x="477673" y="1271975"/>
            <a:ext cx="5882184" cy="5111087"/>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800" dirty="0" smtClean="0"/>
              <a:t>import </a:t>
            </a:r>
            <a:r>
              <a:rPr lang="en-US" altLang="zh-CN" sz="2800" dirty="0" err="1" smtClean="0"/>
              <a:t>matplotlib.pyplot</a:t>
            </a:r>
            <a:r>
              <a:rPr lang="en-US" altLang="zh-CN" sz="2800" dirty="0" smtClean="0"/>
              <a:t> as </a:t>
            </a:r>
            <a:r>
              <a:rPr lang="en-US" altLang="zh-CN" sz="2800" dirty="0" err="1" smtClean="0"/>
              <a:t>plt</a:t>
            </a:r>
            <a:endParaRPr lang="en-US" altLang="zh-CN" sz="2800" dirty="0" smtClean="0"/>
          </a:p>
          <a:p>
            <a:pPr marL="0" indent="0">
              <a:buNone/>
            </a:pPr>
            <a:r>
              <a:rPr lang="en-US" altLang="zh-CN" sz="2800" dirty="0" err="1" smtClean="0"/>
              <a:t>plt.subplot</a:t>
            </a:r>
            <a:r>
              <a:rPr lang="en-US" altLang="zh-CN" sz="2800" dirty="0" smtClean="0"/>
              <a:t>(2,2,1)</a:t>
            </a:r>
            <a:endParaRPr lang="en-US" altLang="zh-CN" sz="2800" dirty="0" smtClean="0"/>
          </a:p>
          <a:p>
            <a:pPr marL="0" indent="0">
              <a:buNone/>
            </a:pPr>
            <a:r>
              <a:rPr lang="en-US" altLang="zh-CN" sz="2800" dirty="0" err="1" smtClean="0"/>
              <a:t>plt.bar</a:t>
            </a:r>
            <a:r>
              <a:rPr lang="en-US" altLang="zh-CN" sz="2800" dirty="0" smtClean="0"/>
              <a:t>(range(7), [3, 4, 7, 6, 2, 8, 9])</a:t>
            </a:r>
            <a:endParaRPr lang="en-US" altLang="zh-CN" sz="2800" dirty="0" smtClean="0"/>
          </a:p>
          <a:p>
            <a:pPr marL="0" indent="0">
              <a:buNone/>
            </a:pPr>
            <a:r>
              <a:rPr lang="en-US" altLang="zh-CN" sz="2800" dirty="0" err="1" smtClean="0"/>
              <a:t>plt.subplot</a:t>
            </a:r>
            <a:r>
              <a:rPr lang="en-US" altLang="zh-CN" sz="2800" dirty="0" smtClean="0"/>
              <a:t>(2,2,2)</a:t>
            </a:r>
            <a:endParaRPr lang="en-US" altLang="zh-CN" sz="2800" dirty="0" smtClean="0"/>
          </a:p>
          <a:p>
            <a:pPr marL="0" indent="0">
              <a:buNone/>
            </a:pPr>
            <a:r>
              <a:rPr lang="en-US" altLang="zh-CN" sz="2800" dirty="0" err="1" smtClean="0"/>
              <a:t>plt.plot</a:t>
            </a:r>
            <a:r>
              <a:rPr lang="en-US" altLang="zh-CN" sz="2800" dirty="0" smtClean="0"/>
              <a:t>(range(7), [3, 4, 7, 6, 2, 8, 9])</a:t>
            </a:r>
            <a:endParaRPr lang="en-US" altLang="zh-CN" sz="2800" dirty="0" smtClean="0"/>
          </a:p>
          <a:p>
            <a:pPr marL="0" indent="0">
              <a:buNone/>
            </a:pPr>
            <a:r>
              <a:rPr lang="en-US" altLang="zh-CN" sz="2800" dirty="0" err="1" smtClean="0"/>
              <a:t>plt.subplot</a:t>
            </a:r>
            <a:r>
              <a:rPr lang="en-US" altLang="zh-CN" sz="2800" dirty="0" smtClean="0"/>
              <a:t>(2,2,3)</a:t>
            </a:r>
            <a:endParaRPr lang="en-US" altLang="zh-CN" sz="2800" dirty="0" smtClean="0"/>
          </a:p>
          <a:p>
            <a:pPr marL="0" indent="0">
              <a:buNone/>
            </a:pPr>
            <a:r>
              <a:rPr lang="en-US" altLang="zh-CN" sz="2800" dirty="0" err="1" smtClean="0"/>
              <a:t>plt.scatter</a:t>
            </a:r>
            <a:r>
              <a:rPr lang="en-US" altLang="zh-CN" sz="2800" dirty="0" smtClean="0"/>
              <a:t>(range(7), [3, 4, 7, 6, 2, 8, 9])</a:t>
            </a:r>
            <a:endParaRPr lang="en-US" altLang="zh-CN" sz="2800" dirty="0" smtClean="0"/>
          </a:p>
          <a:p>
            <a:pPr marL="0" indent="0">
              <a:buNone/>
            </a:pPr>
            <a:r>
              <a:rPr lang="en-US" altLang="zh-CN" sz="2800" dirty="0" err="1" smtClean="0"/>
              <a:t>plt.subplot</a:t>
            </a:r>
            <a:r>
              <a:rPr lang="en-US" altLang="zh-CN" sz="2800" dirty="0" smtClean="0"/>
              <a:t>(2,2,4)</a:t>
            </a:r>
            <a:endParaRPr lang="en-US" altLang="zh-CN" sz="2800" dirty="0" smtClean="0"/>
          </a:p>
          <a:p>
            <a:pPr marL="0" indent="0">
              <a:buNone/>
            </a:pPr>
            <a:r>
              <a:rPr lang="en-US" altLang="zh-CN" sz="2800" dirty="0" err="1" smtClean="0"/>
              <a:t>plt.barh</a:t>
            </a:r>
            <a:r>
              <a:rPr lang="en-US" altLang="zh-CN" sz="2800" dirty="0" smtClean="0"/>
              <a:t>(range(7), [3, 4, 7, 6, 2, 8, 9])</a:t>
            </a:r>
            <a:endParaRPr lang="en-US" altLang="zh-CN" sz="2800" dirty="0" smtClean="0"/>
          </a:p>
          <a:p>
            <a:pPr marL="0" indent="0">
              <a:buNone/>
            </a:pPr>
            <a:r>
              <a:rPr lang="en-US" altLang="zh-CN" sz="2800" dirty="0" err="1" smtClean="0"/>
              <a:t>plt.show</a:t>
            </a:r>
            <a:r>
              <a:rPr lang="en-US" altLang="zh-CN" sz="2800" dirty="0" smtClean="0"/>
              <a:t>()</a:t>
            </a:r>
            <a:endParaRPr lang="en-US" altLang="zh-CN" sz="2800" dirty="0"/>
          </a:p>
        </p:txBody>
      </p:sp>
      <p:pic>
        <p:nvPicPr>
          <p:cNvPr id="12" name="图片 11"/>
          <p:cNvPicPr/>
          <p:nvPr/>
        </p:nvPicPr>
        <p:blipFill>
          <a:blip r:embed="rId2"/>
          <a:stretch>
            <a:fillRect/>
          </a:stretch>
        </p:blipFill>
        <p:spPr>
          <a:xfrm>
            <a:off x="6526606" y="1271974"/>
            <a:ext cx="5497072" cy="51110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 calcmode="lin" valueType="num">
                                      <p:cBhvr>
                                        <p:cTn id="70" dur="500" fill="hold"/>
                                        <p:tgtEl>
                                          <p:spTgt spid="10">
                                            <p:txEl>
                                              <p:pRg st="8" end="8"/>
                                            </p:txEl>
                                          </p:spTgt>
                                        </p:tgtEl>
                                        <p:attrNameLst>
                                          <p:attrName>ppt_w</p:attrName>
                                        </p:attrNameLst>
                                      </p:cBhvr>
                                      <p:tavLst>
                                        <p:tav tm="0">
                                          <p:val>
                                            <p:fltVal val="0"/>
                                          </p:val>
                                        </p:tav>
                                        <p:tav tm="100000">
                                          <p:val>
                                            <p:strVal val="#ppt_w"/>
                                          </p:val>
                                        </p:tav>
                                      </p:tavLst>
                                    </p:anim>
                                    <p:anim calcmode="lin" valueType="num">
                                      <p:cBhvr>
                                        <p:cTn id="71" dur="500" fill="hold"/>
                                        <p:tgtEl>
                                          <p:spTgt spid="10">
                                            <p:txEl>
                                              <p:pRg st="8" end="8"/>
                                            </p:txEl>
                                          </p:spTgt>
                                        </p:tgtEl>
                                        <p:attrNameLst>
                                          <p:attrName>ppt_h</p:attrName>
                                        </p:attrNameLst>
                                      </p:cBhvr>
                                      <p:tavLst>
                                        <p:tav tm="0">
                                          <p:val>
                                            <p:fltVal val="0"/>
                                          </p:val>
                                        </p:tav>
                                        <p:tav tm="100000">
                                          <p:val>
                                            <p:strVal val="#ppt_h"/>
                                          </p:val>
                                        </p:tav>
                                      </p:tavLst>
                                    </p:anim>
                                    <p:animEffect transition="in" filter="fade">
                                      <p:cBhvr>
                                        <p:cTn id="72" dur="500"/>
                                        <p:tgtEl>
                                          <p:spTgt spid="10">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 calcmode="lin" valueType="num">
                                      <p:cBhvr>
                                        <p:cTn id="77" dur="500" fill="hold"/>
                                        <p:tgtEl>
                                          <p:spTgt spid="10">
                                            <p:txEl>
                                              <p:pRg st="9" end="9"/>
                                            </p:txEl>
                                          </p:spTgt>
                                        </p:tgtEl>
                                        <p:attrNameLst>
                                          <p:attrName>ppt_w</p:attrName>
                                        </p:attrNameLst>
                                      </p:cBhvr>
                                      <p:tavLst>
                                        <p:tav tm="0">
                                          <p:val>
                                            <p:fltVal val="0"/>
                                          </p:val>
                                        </p:tav>
                                        <p:tav tm="100000">
                                          <p:val>
                                            <p:strVal val="#ppt_w"/>
                                          </p:val>
                                        </p:tav>
                                      </p:tavLst>
                                    </p:anim>
                                    <p:anim calcmode="lin" valueType="num">
                                      <p:cBhvr>
                                        <p:cTn id="78" dur="500" fill="hold"/>
                                        <p:tgtEl>
                                          <p:spTgt spid="10">
                                            <p:txEl>
                                              <p:pRg st="9" end="9"/>
                                            </p:txEl>
                                          </p:spTgt>
                                        </p:tgtEl>
                                        <p:attrNameLst>
                                          <p:attrName>ppt_h</p:attrName>
                                        </p:attrNameLst>
                                      </p:cBhvr>
                                      <p:tavLst>
                                        <p:tav tm="0">
                                          <p:val>
                                            <p:fltVal val="0"/>
                                          </p:val>
                                        </p:tav>
                                        <p:tav tm="100000">
                                          <p:val>
                                            <p:strVal val="#ppt_h"/>
                                          </p:val>
                                        </p:tav>
                                      </p:tavLst>
                                    </p:anim>
                                    <p:animEffect transition="in" filter="fade">
                                      <p:cBhvr>
                                        <p:cTn id="79" dur="500"/>
                                        <p:tgtEl>
                                          <p:spTgt spid="10">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500" fill="hold"/>
                                        <p:tgtEl>
                                          <p:spTgt spid="12"/>
                                        </p:tgtEl>
                                        <p:attrNameLst>
                                          <p:attrName>ppt_w</p:attrName>
                                        </p:attrNameLst>
                                      </p:cBhvr>
                                      <p:tavLst>
                                        <p:tav tm="0">
                                          <p:val>
                                            <p:fltVal val="0"/>
                                          </p:val>
                                        </p:tav>
                                        <p:tav tm="100000">
                                          <p:val>
                                            <p:strVal val="#ppt_w"/>
                                          </p:val>
                                        </p:tav>
                                      </p:tavLst>
                                    </p:anim>
                                    <p:anim calcmode="lin" valueType="num">
                                      <p:cBhvr>
                                        <p:cTn id="85" dur="500" fill="hold"/>
                                        <p:tgtEl>
                                          <p:spTgt spid="12"/>
                                        </p:tgtEl>
                                        <p:attrNameLst>
                                          <p:attrName>ppt_h</p:attrName>
                                        </p:attrNameLst>
                                      </p:cBhvr>
                                      <p:tavLst>
                                        <p:tav tm="0">
                                          <p:val>
                                            <p:fltVal val="0"/>
                                          </p:val>
                                        </p:tav>
                                        <p:tav tm="100000">
                                          <p:val>
                                            <p:strVal val="#ppt_h"/>
                                          </p:val>
                                        </p:tav>
                                      </p:tavLst>
                                    </p:anim>
                                    <p:animEffect transition="in" filter="fade">
                                      <p:cBhvr>
                                        <p:cTn id="8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Matplotlib</a:t>
              </a:r>
              <a:r>
                <a:rPr lang="zh-CN" altLang="en-US" sz="3600" b="1" spc="300" dirty="0">
                  <a:solidFill>
                    <a:srgbClr val="1E6787"/>
                  </a:solidFill>
                  <a:latin typeface="微软雅黑" panose="020B0503020204020204" pitchFamily="34" charset="-122"/>
                  <a:ea typeface="微软雅黑" panose="020B0503020204020204" pitchFamily="34" charset="-122"/>
                </a:rPr>
                <a:t>的中文显示问题</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10" name="内容占位符 1"/>
          <p:cNvSpPr txBox="1"/>
          <p:nvPr/>
        </p:nvSpPr>
        <p:spPr>
          <a:xfrm>
            <a:off x="477673" y="1271975"/>
            <a:ext cx="4640237" cy="5111087"/>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800" dirty="0"/>
              <a:t>import </a:t>
            </a:r>
            <a:r>
              <a:rPr lang="en-US" altLang="zh-CN" sz="2800" dirty="0" err="1"/>
              <a:t>matplotlib.pyplot</a:t>
            </a:r>
            <a:r>
              <a:rPr lang="en-US" altLang="zh-CN" sz="2800" dirty="0"/>
              <a:t> as </a:t>
            </a:r>
            <a:r>
              <a:rPr lang="en-US" altLang="zh-CN" sz="2800" dirty="0" err="1"/>
              <a:t>plt</a:t>
            </a:r>
            <a:endParaRPr lang="en-US" altLang="zh-CN" sz="2800" dirty="0"/>
          </a:p>
          <a:p>
            <a:pPr marL="0" indent="0">
              <a:buNone/>
            </a:pPr>
            <a:r>
              <a:rPr lang="en-US" altLang="zh-CN" sz="2800" dirty="0" err="1"/>
              <a:t>plt.plot</a:t>
            </a:r>
            <a:r>
              <a:rPr lang="en-US" altLang="zh-CN" sz="2800" dirty="0"/>
              <a:t>([1,2,4], [1,2,3])</a:t>
            </a:r>
            <a:endParaRPr lang="en-US" altLang="zh-CN" sz="2800" dirty="0"/>
          </a:p>
          <a:p>
            <a:pPr marL="0" indent="0">
              <a:buNone/>
            </a:pPr>
            <a:r>
              <a:rPr lang="en-US" altLang="zh-CN" sz="2800" dirty="0" err="1"/>
              <a:t>plt.title</a:t>
            </a:r>
            <a:r>
              <a:rPr lang="en-US" altLang="zh-CN" sz="2800" dirty="0"/>
              <a:t>("</a:t>
            </a:r>
            <a:r>
              <a:rPr lang="zh-CN" altLang="en-US" sz="2800" dirty="0"/>
              <a:t>坐标系标题</a:t>
            </a:r>
            <a:r>
              <a:rPr lang="en-US" altLang="zh-CN" sz="2800" dirty="0"/>
              <a:t>")</a:t>
            </a:r>
            <a:endParaRPr lang="en-US" altLang="zh-CN" sz="2800" dirty="0"/>
          </a:p>
          <a:p>
            <a:pPr marL="0" indent="0">
              <a:buNone/>
            </a:pPr>
            <a:r>
              <a:rPr lang="en-US" altLang="zh-CN" sz="2800" dirty="0" err="1"/>
              <a:t>plt.xlabel</a:t>
            </a:r>
            <a:r>
              <a:rPr lang="en-US" altLang="zh-CN" sz="2800" dirty="0"/>
              <a:t>('</a:t>
            </a:r>
            <a:r>
              <a:rPr lang="zh-CN" altLang="en-US" sz="2800" dirty="0"/>
              <a:t>时间</a:t>
            </a:r>
            <a:r>
              <a:rPr lang="en-US" altLang="zh-CN" sz="2800" dirty="0"/>
              <a:t>(s)')</a:t>
            </a:r>
            <a:endParaRPr lang="en-US" altLang="zh-CN" sz="2800" dirty="0"/>
          </a:p>
          <a:p>
            <a:pPr marL="0" indent="0">
              <a:buNone/>
            </a:pPr>
            <a:r>
              <a:rPr lang="en-US" altLang="zh-CN" sz="2800" dirty="0" err="1"/>
              <a:t>plt.ylabel</a:t>
            </a:r>
            <a:r>
              <a:rPr lang="en-US" altLang="zh-CN" sz="2800" dirty="0"/>
              <a:t>('</a:t>
            </a:r>
            <a:r>
              <a:rPr lang="zh-CN" altLang="en-US" sz="2800" dirty="0"/>
              <a:t>范围</a:t>
            </a:r>
            <a:r>
              <a:rPr lang="en-US" altLang="zh-CN" sz="2800" dirty="0"/>
              <a:t>(m)')</a:t>
            </a:r>
            <a:endParaRPr lang="en-US" altLang="zh-CN" sz="2800" dirty="0"/>
          </a:p>
          <a:p>
            <a:pPr marL="0" indent="0">
              <a:buNone/>
            </a:pPr>
            <a:r>
              <a:rPr lang="en-US" altLang="zh-CN" sz="2800" dirty="0" err="1"/>
              <a:t>plt.show</a:t>
            </a:r>
            <a:r>
              <a:rPr lang="en-US" altLang="zh-CN" sz="2800" dirty="0"/>
              <a:t>()</a:t>
            </a:r>
            <a:endParaRPr lang="en-US" altLang="zh-CN" sz="2800" dirty="0"/>
          </a:p>
        </p:txBody>
      </p:sp>
      <p:pic>
        <p:nvPicPr>
          <p:cNvPr id="9" name="图片 8"/>
          <p:cNvPicPr/>
          <p:nvPr/>
        </p:nvPicPr>
        <p:blipFill>
          <a:blip r:embed="rId2"/>
          <a:stretch>
            <a:fillRect/>
          </a:stretch>
        </p:blipFill>
        <p:spPr>
          <a:xfrm>
            <a:off x="5241901" y="1271975"/>
            <a:ext cx="6781777" cy="5111087"/>
          </a:xfrm>
          <a:prstGeom prst="rect">
            <a:avLst/>
          </a:prstGeom>
        </p:spPr>
      </p:pic>
      <p:sp>
        <p:nvSpPr>
          <p:cNvPr id="3" name="椭圆 2"/>
          <p:cNvSpPr/>
          <p:nvPr/>
        </p:nvSpPr>
        <p:spPr>
          <a:xfrm>
            <a:off x="8215952" y="1678675"/>
            <a:ext cx="928048" cy="464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215952" y="5650173"/>
            <a:ext cx="928048" cy="464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p:cTn id="56" dur="500" fill="hold"/>
                                        <p:tgtEl>
                                          <p:spTgt spid="9"/>
                                        </p:tgtEl>
                                        <p:attrNameLst>
                                          <p:attrName>ppt_w</p:attrName>
                                        </p:attrNameLst>
                                      </p:cBhvr>
                                      <p:tavLst>
                                        <p:tav tm="0">
                                          <p:val>
                                            <p:fltVal val="0"/>
                                          </p:val>
                                        </p:tav>
                                        <p:tav tm="100000">
                                          <p:val>
                                            <p:strVal val="#ppt_w"/>
                                          </p:val>
                                        </p:tav>
                                      </p:tavLst>
                                    </p:anim>
                                    <p:anim calcmode="lin" valueType="num">
                                      <p:cBhvr>
                                        <p:cTn id="57" dur="500" fill="hold"/>
                                        <p:tgtEl>
                                          <p:spTgt spid="9"/>
                                        </p:tgtEl>
                                        <p:attrNameLst>
                                          <p:attrName>ppt_h</p:attrName>
                                        </p:attrNameLst>
                                      </p:cBhvr>
                                      <p:tavLst>
                                        <p:tav tm="0">
                                          <p:val>
                                            <p:fltVal val="0"/>
                                          </p:val>
                                        </p:tav>
                                        <p:tav tm="100000">
                                          <p:val>
                                            <p:strVal val="#ppt_h"/>
                                          </p:val>
                                        </p:tav>
                                      </p:tavLst>
                                    </p:anim>
                                    <p:animEffect transition="in" filter="fade">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p:cTn id="63" dur="500" fill="hold"/>
                                        <p:tgtEl>
                                          <p:spTgt spid="11"/>
                                        </p:tgtEl>
                                        <p:attrNameLst>
                                          <p:attrName>ppt_w</p:attrName>
                                        </p:attrNameLst>
                                      </p:cBhvr>
                                      <p:tavLst>
                                        <p:tav tm="0">
                                          <p:val>
                                            <p:fltVal val="0"/>
                                          </p:val>
                                        </p:tav>
                                        <p:tav tm="100000">
                                          <p:val>
                                            <p:strVal val="#ppt_w"/>
                                          </p:val>
                                        </p:tav>
                                      </p:tavLst>
                                    </p:anim>
                                    <p:anim calcmode="lin" valueType="num">
                                      <p:cBhvr>
                                        <p:cTn id="64" dur="500" fill="hold"/>
                                        <p:tgtEl>
                                          <p:spTgt spid="11"/>
                                        </p:tgtEl>
                                        <p:attrNameLst>
                                          <p:attrName>ppt_h</p:attrName>
                                        </p:attrNameLst>
                                      </p:cBhvr>
                                      <p:tavLst>
                                        <p:tav tm="0">
                                          <p:val>
                                            <p:fltVal val="0"/>
                                          </p:val>
                                        </p:tav>
                                        <p:tav tm="100000">
                                          <p:val>
                                            <p:strVal val="#ppt_h"/>
                                          </p:val>
                                        </p:tav>
                                      </p:tavLst>
                                    </p:anim>
                                    <p:animEffect transition="in" filter="fade">
                                      <p:cBhvr>
                                        <p:cTn id="65" dur="500"/>
                                        <p:tgtEl>
                                          <p:spTgt spid="11"/>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 calcmode="lin" valueType="num">
                                      <p:cBhvr>
                                        <p:cTn id="68" dur="500" fill="hold"/>
                                        <p:tgtEl>
                                          <p:spTgt spid="3"/>
                                        </p:tgtEl>
                                        <p:attrNameLst>
                                          <p:attrName>ppt_w</p:attrName>
                                        </p:attrNameLst>
                                      </p:cBhvr>
                                      <p:tavLst>
                                        <p:tav tm="0">
                                          <p:val>
                                            <p:fltVal val="0"/>
                                          </p:val>
                                        </p:tav>
                                        <p:tav tm="100000">
                                          <p:val>
                                            <p:strVal val="#ppt_w"/>
                                          </p:val>
                                        </p:tav>
                                      </p:tavLst>
                                    </p:anim>
                                    <p:anim calcmode="lin" valueType="num">
                                      <p:cBhvr>
                                        <p:cTn id="69" dur="500" fill="hold"/>
                                        <p:tgtEl>
                                          <p:spTgt spid="3"/>
                                        </p:tgtEl>
                                        <p:attrNameLst>
                                          <p:attrName>ppt_h</p:attrName>
                                        </p:attrNameLst>
                                      </p:cBhvr>
                                      <p:tavLst>
                                        <p:tav tm="0">
                                          <p:val>
                                            <p:fltVal val="0"/>
                                          </p:val>
                                        </p:tav>
                                        <p:tav tm="100000">
                                          <p:val>
                                            <p:strVal val="#ppt_h"/>
                                          </p:val>
                                        </p:tav>
                                      </p:tavLst>
                                    </p:anim>
                                    <p:animEffect transition="in" filter="fade">
                                      <p:cBhvr>
                                        <p:cTn id="7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P spid="3"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Matplotlib</a:t>
              </a:r>
              <a:r>
                <a:rPr lang="zh-CN" altLang="en-US" sz="3600" b="1" spc="300" dirty="0">
                  <a:solidFill>
                    <a:srgbClr val="1E6787"/>
                  </a:solidFill>
                  <a:latin typeface="微软雅黑" panose="020B0503020204020204" pitchFamily="34" charset="-122"/>
                  <a:ea typeface="微软雅黑" panose="020B0503020204020204" pitchFamily="34" charset="-122"/>
                </a:rPr>
                <a:t>的中文显示问题</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10" name="内容占位符 1"/>
          <p:cNvSpPr txBox="1"/>
          <p:nvPr/>
        </p:nvSpPr>
        <p:spPr>
          <a:xfrm>
            <a:off x="436730" y="1271975"/>
            <a:ext cx="6237025" cy="5111087"/>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800" dirty="0"/>
              <a:t>import </a:t>
            </a:r>
            <a:r>
              <a:rPr lang="en-US" altLang="zh-CN" sz="2800" dirty="0" err="1"/>
              <a:t>matplotlib.pyplot</a:t>
            </a:r>
            <a:r>
              <a:rPr lang="en-US" altLang="zh-CN" sz="2800" dirty="0"/>
              <a:t> as </a:t>
            </a:r>
            <a:r>
              <a:rPr lang="en-US" altLang="zh-CN" sz="2800" dirty="0" err="1"/>
              <a:t>plt</a:t>
            </a:r>
            <a:endParaRPr lang="en-US" altLang="zh-CN" sz="2800" dirty="0"/>
          </a:p>
          <a:p>
            <a:pPr marL="0" indent="0">
              <a:buNone/>
            </a:pPr>
            <a:r>
              <a:rPr lang="en-US" altLang="zh-CN" sz="2800" dirty="0"/>
              <a:t>import </a:t>
            </a:r>
            <a:r>
              <a:rPr lang="en-US" altLang="zh-CN" sz="2800" dirty="0" err="1"/>
              <a:t>matplotlib</a:t>
            </a:r>
            <a:endParaRPr lang="en-US" altLang="zh-CN" sz="2800" dirty="0"/>
          </a:p>
          <a:p>
            <a:pPr marL="0" indent="0">
              <a:buNone/>
            </a:pPr>
            <a:r>
              <a:rPr lang="en-US" altLang="zh-CN" sz="2800" dirty="0" err="1"/>
              <a:t>matplotlib.rcParams</a:t>
            </a:r>
            <a:r>
              <a:rPr lang="en-US" altLang="zh-CN" sz="2800" dirty="0"/>
              <a:t>['</a:t>
            </a:r>
            <a:r>
              <a:rPr lang="en-US" altLang="zh-CN" sz="2800" dirty="0" err="1"/>
              <a:t>font.family</a:t>
            </a:r>
            <a:r>
              <a:rPr lang="en-US" altLang="zh-CN" sz="2800" dirty="0"/>
              <a:t>']='</a:t>
            </a:r>
            <a:r>
              <a:rPr lang="en-US" altLang="zh-CN" sz="2800" dirty="0" err="1"/>
              <a:t>kaiti</a:t>
            </a:r>
            <a:r>
              <a:rPr lang="en-US" altLang="zh-CN" sz="2800" dirty="0"/>
              <a:t>'</a:t>
            </a:r>
            <a:endParaRPr lang="en-US" altLang="zh-CN" sz="2800" dirty="0"/>
          </a:p>
          <a:p>
            <a:pPr marL="0" indent="0">
              <a:buNone/>
            </a:pPr>
            <a:r>
              <a:rPr lang="en-US" altLang="zh-CN" sz="2800" dirty="0" err="1"/>
              <a:t>plt.plot</a:t>
            </a:r>
            <a:r>
              <a:rPr lang="en-US" altLang="zh-CN" sz="2800" dirty="0"/>
              <a:t>([1,2,4], [1,2,3])</a:t>
            </a:r>
            <a:endParaRPr lang="en-US" altLang="zh-CN" sz="2800" dirty="0"/>
          </a:p>
          <a:p>
            <a:pPr marL="0" indent="0">
              <a:buNone/>
            </a:pPr>
            <a:r>
              <a:rPr lang="en-US" altLang="zh-CN" sz="2800" dirty="0" err="1"/>
              <a:t>plt.title</a:t>
            </a:r>
            <a:r>
              <a:rPr lang="en-US" altLang="zh-CN" sz="2800" dirty="0"/>
              <a:t>("</a:t>
            </a:r>
            <a:r>
              <a:rPr lang="zh-CN" altLang="en-US" sz="2800" dirty="0"/>
              <a:t>坐标系标题</a:t>
            </a:r>
            <a:r>
              <a:rPr lang="en-US" altLang="zh-CN" sz="2800" dirty="0"/>
              <a:t>")</a:t>
            </a:r>
            <a:endParaRPr lang="en-US" altLang="zh-CN" sz="2800" dirty="0"/>
          </a:p>
          <a:p>
            <a:pPr marL="0" indent="0">
              <a:buNone/>
            </a:pPr>
            <a:r>
              <a:rPr lang="en-US" altLang="zh-CN" sz="2800" dirty="0" err="1"/>
              <a:t>plt.xlabel</a:t>
            </a:r>
            <a:r>
              <a:rPr lang="en-US" altLang="zh-CN" sz="2800" dirty="0"/>
              <a:t>('</a:t>
            </a:r>
            <a:r>
              <a:rPr lang="zh-CN" altLang="en-US" sz="2800" dirty="0"/>
              <a:t>时间</a:t>
            </a:r>
            <a:r>
              <a:rPr lang="en-US" altLang="zh-CN" sz="2800" dirty="0"/>
              <a:t>(s)')</a:t>
            </a:r>
            <a:endParaRPr lang="en-US" altLang="zh-CN" sz="2800" dirty="0"/>
          </a:p>
          <a:p>
            <a:pPr marL="0" indent="0">
              <a:buNone/>
            </a:pPr>
            <a:r>
              <a:rPr lang="en-US" altLang="zh-CN" sz="2800" dirty="0" err="1"/>
              <a:t>plt.ylabel</a:t>
            </a:r>
            <a:r>
              <a:rPr lang="en-US" altLang="zh-CN" sz="2800" dirty="0"/>
              <a:t>('</a:t>
            </a:r>
            <a:r>
              <a:rPr lang="zh-CN" altLang="en-US" sz="2800" dirty="0"/>
              <a:t>范围</a:t>
            </a:r>
            <a:r>
              <a:rPr lang="en-US" altLang="zh-CN" sz="2800" dirty="0"/>
              <a:t>(m)')</a:t>
            </a:r>
            <a:endParaRPr lang="en-US" altLang="zh-CN" sz="2800" dirty="0"/>
          </a:p>
          <a:p>
            <a:pPr marL="0" indent="0">
              <a:buNone/>
            </a:pPr>
            <a:r>
              <a:rPr lang="en-US" altLang="zh-CN" sz="2800" dirty="0" err="1"/>
              <a:t>plt.show</a:t>
            </a:r>
            <a:r>
              <a:rPr lang="en-US" altLang="zh-CN" sz="2800" dirty="0"/>
              <a:t>()</a:t>
            </a:r>
            <a:endParaRPr lang="en-US" altLang="zh-CN" sz="2800" dirty="0"/>
          </a:p>
        </p:txBody>
      </p:sp>
      <p:pic>
        <p:nvPicPr>
          <p:cNvPr id="12" name="图片 11"/>
          <p:cNvPicPr/>
          <p:nvPr/>
        </p:nvPicPr>
        <p:blipFill>
          <a:blip r:embed="rId2"/>
          <a:stretch>
            <a:fillRect/>
          </a:stretch>
        </p:blipFill>
        <p:spPr>
          <a:xfrm>
            <a:off x="6799897" y="1271975"/>
            <a:ext cx="5210133" cy="5111087"/>
          </a:xfrm>
          <a:prstGeom prst="rect">
            <a:avLst/>
          </a:prstGeom>
        </p:spPr>
      </p:pic>
      <p:graphicFrame>
        <p:nvGraphicFramePr>
          <p:cNvPr id="5" name="表格 4"/>
          <p:cNvGraphicFramePr>
            <a:graphicFrameLocks noGrp="1"/>
          </p:cNvGraphicFramePr>
          <p:nvPr/>
        </p:nvGraphicFramePr>
        <p:xfrm>
          <a:off x="7938827" y="155412"/>
          <a:ext cx="3880134" cy="970260"/>
        </p:xfrm>
        <a:graphic>
          <a:graphicData uri="http://schemas.openxmlformats.org/drawingml/2006/table">
            <a:tbl>
              <a:tblPr firstRow="1" bandRow="1">
                <a:tableStyleId>{5C22544A-7EE6-4342-B048-85BDC9FD1C3A}</a:tableStyleId>
              </a:tblPr>
              <a:tblGrid>
                <a:gridCol w="1361409"/>
                <a:gridCol w="2518725"/>
              </a:tblGrid>
              <a:tr h="242565">
                <a:tc>
                  <a:txBody>
                    <a:bodyPr/>
                    <a:lstStyle/>
                    <a:p>
                      <a:pPr algn="ctr">
                        <a:spcAft>
                          <a:spcPts val="0"/>
                        </a:spcAft>
                      </a:pPr>
                      <a:r>
                        <a:rPr lang="zh-CN" sz="1050" kern="100" dirty="0">
                          <a:effectLst/>
                        </a:rPr>
                        <a:t>标识符</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indent="267970" algn="ctr">
                        <a:spcAft>
                          <a:spcPts val="0"/>
                        </a:spcAft>
                      </a:pPr>
                      <a:r>
                        <a:rPr lang="zh-CN" sz="1050" kern="100" dirty="0">
                          <a:effectLst/>
                        </a:rPr>
                        <a:t>描述</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242565">
                <a:tc>
                  <a:txBody>
                    <a:bodyPr/>
                    <a:lstStyle/>
                    <a:p>
                      <a:pPr algn="ctr">
                        <a:spcAft>
                          <a:spcPts val="0"/>
                        </a:spcAft>
                      </a:pPr>
                      <a:r>
                        <a:rPr lang="zh-CN" sz="1050" kern="100">
                          <a:effectLst/>
                        </a:rPr>
                        <a:t>‘</a:t>
                      </a:r>
                      <a:r>
                        <a:rPr lang="en-US" sz="1050" kern="100">
                          <a:effectLst/>
                        </a:rPr>
                        <a:t>Simhei</a:t>
                      </a:r>
                      <a:r>
                        <a:rPr lang="zh-CN" sz="1050" kern="100">
                          <a:effectLst/>
                        </a:rPr>
                        <a: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1050" kern="100">
                          <a:effectLst/>
                        </a:rPr>
                        <a:t>黑体</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242565">
                <a:tc>
                  <a:txBody>
                    <a:bodyPr/>
                    <a:lstStyle/>
                    <a:p>
                      <a:pPr algn="ctr">
                        <a:spcAft>
                          <a:spcPts val="0"/>
                        </a:spcAft>
                      </a:pPr>
                      <a:r>
                        <a:rPr lang="zh-CN" sz="1050" kern="100">
                          <a:effectLst/>
                        </a:rPr>
                        <a:t>‘</a:t>
                      </a:r>
                      <a:r>
                        <a:rPr lang="en-US" sz="1050" kern="100">
                          <a:effectLst/>
                        </a:rPr>
                        <a:t>Kaiti</a:t>
                      </a:r>
                      <a:r>
                        <a:rPr lang="zh-CN" sz="1050" kern="100">
                          <a:effectLst/>
                        </a:rPr>
                        <a: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1050" kern="100">
                          <a:effectLst/>
                        </a:rPr>
                        <a:t>楷体</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r h="242565">
                <a:tc>
                  <a:txBody>
                    <a:bodyPr/>
                    <a:lstStyle/>
                    <a:p>
                      <a:pPr algn="ctr">
                        <a:spcAft>
                          <a:spcPts val="0"/>
                        </a:spcAft>
                      </a:pPr>
                      <a:r>
                        <a:rPr lang="zh-CN" sz="1050" kern="100">
                          <a:effectLst/>
                        </a:rPr>
                        <a:t>‘</a:t>
                      </a:r>
                      <a:r>
                        <a:rPr lang="en-US" sz="1050" kern="100">
                          <a:effectLst/>
                        </a:rPr>
                        <a:t>Microsoft YaHei</a:t>
                      </a:r>
                      <a:r>
                        <a:rPr lang="zh-CN" sz="1050" kern="100">
                          <a:effectLst/>
                        </a:rPr>
                        <a: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c>
                  <a:txBody>
                    <a:bodyPr/>
                    <a:lstStyle/>
                    <a:p>
                      <a:pPr algn="ctr">
                        <a:spcAft>
                          <a:spcPts val="0"/>
                        </a:spcAft>
                      </a:pPr>
                      <a:r>
                        <a:rPr lang="zh-CN" sz="1050" kern="100" dirty="0">
                          <a:effectLst/>
                        </a:rPr>
                        <a:t>微软雅黑</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9525" marB="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anim calcmode="lin" valueType="num">
                                      <p:cBhvr>
                                        <p:cTn id="77" dur="500" fill="hold"/>
                                        <p:tgtEl>
                                          <p:spTgt spid="5"/>
                                        </p:tgtEl>
                                        <p:attrNameLst>
                                          <p:attrName>ppt_w</p:attrName>
                                        </p:attrNameLst>
                                      </p:cBhvr>
                                      <p:tavLst>
                                        <p:tav tm="0">
                                          <p:val>
                                            <p:fltVal val="0"/>
                                          </p:val>
                                        </p:tav>
                                        <p:tav tm="100000">
                                          <p:val>
                                            <p:strVal val="#ppt_w"/>
                                          </p:val>
                                        </p:tav>
                                      </p:tavLst>
                                    </p:anim>
                                    <p:anim calcmode="lin" valueType="num">
                                      <p:cBhvr>
                                        <p:cTn id="78" dur="500" fill="hold"/>
                                        <p:tgtEl>
                                          <p:spTgt spid="5"/>
                                        </p:tgtEl>
                                        <p:attrNameLst>
                                          <p:attrName>ppt_h</p:attrName>
                                        </p:attrNameLst>
                                      </p:cBhvr>
                                      <p:tavLst>
                                        <p:tav tm="0">
                                          <p:val>
                                            <p:fltVal val="0"/>
                                          </p:val>
                                        </p:tav>
                                        <p:tav tm="100000">
                                          <p:val>
                                            <p:strVal val="#ppt_h"/>
                                          </p:val>
                                        </p:tav>
                                      </p:tavLst>
                                    </p:anim>
                                    <p:animEffect transition="in" filter="fade">
                                      <p:cBhvr>
                                        <p:cTn id="7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en-US" altLang="zh-CN" sz="3600" b="1" spc="300" dirty="0" err="1" smtClean="0">
                  <a:solidFill>
                    <a:srgbClr val="1E6787"/>
                  </a:solidFill>
                  <a:latin typeface="微软雅黑" panose="020B0503020204020204" pitchFamily="34" charset="-122"/>
                  <a:ea typeface="微软雅黑" panose="020B0503020204020204" pitchFamily="34" charset="-122"/>
                </a:rPr>
                <a:t>Matplotlib</a:t>
              </a:r>
              <a:r>
                <a:rPr lang="zh-CN" altLang="en-US" sz="3600" b="1" spc="300" dirty="0">
                  <a:solidFill>
                    <a:srgbClr val="1E6787"/>
                  </a:solidFill>
                  <a:latin typeface="微软雅黑" panose="020B0503020204020204" pitchFamily="34" charset="-122"/>
                  <a:ea typeface="微软雅黑" panose="020B0503020204020204" pitchFamily="34" charset="-122"/>
                </a:rPr>
                <a:t>的中文显示问题</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
        <p:nvSpPr>
          <p:cNvPr id="10" name="内容占位符 1"/>
          <p:cNvSpPr txBox="1"/>
          <p:nvPr/>
        </p:nvSpPr>
        <p:spPr>
          <a:xfrm>
            <a:off x="436730" y="1271975"/>
            <a:ext cx="8024882" cy="5111087"/>
          </a:xfrm>
          <a:prstGeom prst="rect">
            <a:avLst/>
          </a:prstGeom>
        </p:spPr>
        <p:style>
          <a:lnRef idx="2">
            <a:schemeClr val="accent6"/>
          </a:lnRef>
          <a:fillRef idx="1">
            <a:schemeClr val="lt1"/>
          </a:fillRef>
          <a:effectRef idx="0">
            <a:schemeClr val="accent6"/>
          </a:effectRef>
          <a:fontRef idx="minor">
            <a:schemeClr val="dk1"/>
          </a:fontRef>
        </p:style>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indent="0">
              <a:buNone/>
            </a:pPr>
            <a:r>
              <a:rPr lang="en-US" altLang="zh-CN" sz="2800" dirty="0"/>
              <a:t>import </a:t>
            </a:r>
            <a:r>
              <a:rPr lang="en-US" altLang="zh-CN" sz="2800" dirty="0" err="1"/>
              <a:t>matplotlib.pyplot</a:t>
            </a:r>
            <a:r>
              <a:rPr lang="en-US" altLang="zh-CN" sz="2800" dirty="0"/>
              <a:t> as </a:t>
            </a:r>
            <a:r>
              <a:rPr lang="en-US" altLang="zh-CN" sz="2800" dirty="0" err="1"/>
              <a:t>plt</a:t>
            </a:r>
            <a:endParaRPr lang="en-US" altLang="zh-CN" sz="2800" dirty="0"/>
          </a:p>
          <a:p>
            <a:pPr marL="0" indent="0">
              <a:buNone/>
            </a:pPr>
            <a:r>
              <a:rPr lang="en-US" altLang="zh-CN" sz="2800" dirty="0"/>
              <a:t>import </a:t>
            </a:r>
            <a:r>
              <a:rPr lang="en-US" altLang="zh-CN" sz="2800" dirty="0" err="1"/>
              <a:t>matplotlib</a:t>
            </a:r>
            <a:endParaRPr lang="en-US" altLang="zh-CN" sz="2800" dirty="0"/>
          </a:p>
          <a:p>
            <a:pPr marL="0" indent="0">
              <a:buNone/>
            </a:pPr>
            <a:r>
              <a:rPr lang="en-US" altLang="zh-CN" sz="2800" dirty="0" err="1"/>
              <a:t>matplotlib.rcParams</a:t>
            </a:r>
            <a:r>
              <a:rPr lang="en-US" altLang="zh-CN" sz="2800" dirty="0"/>
              <a:t>['</a:t>
            </a:r>
            <a:r>
              <a:rPr lang="en-US" altLang="zh-CN" sz="2800" dirty="0" err="1"/>
              <a:t>font.family</a:t>
            </a:r>
            <a:r>
              <a:rPr lang="en-US" altLang="zh-CN" sz="2800" dirty="0"/>
              <a:t>']='</a:t>
            </a:r>
            <a:r>
              <a:rPr lang="en-US" altLang="zh-CN" sz="2800" dirty="0" err="1"/>
              <a:t>kaiti</a:t>
            </a:r>
            <a:r>
              <a:rPr lang="en-US" altLang="zh-CN" sz="2800" dirty="0"/>
              <a:t>'</a:t>
            </a:r>
            <a:endParaRPr lang="en-US" altLang="zh-CN" sz="2800" dirty="0"/>
          </a:p>
          <a:p>
            <a:pPr marL="0" indent="0">
              <a:buNone/>
            </a:pPr>
            <a:r>
              <a:rPr lang="en-US" altLang="zh-CN" sz="2800" dirty="0" err="1"/>
              <a:t>plt.plot</a:t>
            </a:r>
            <a:r>
              <a:rPr lang="en-US" altLang="zh-CN" sz="2800" dirty="0"/>
              <a:t>([1,2,4], [1,2,3])</a:t>
            </a:r>
            <a:endParaRPr lang="en-US" altLang="zh-CN" sz="2800" dirty="0"/>
          </a:p>
          <a:p>
            <a:pPr marL="0" indent="0">
              <a:buNone/>
            </a:pPr>
            <a:r>
              <a:rPr lang="en-US" altLang="zh-CN" sz="2800" dirty="0" err="1"/>
              <a:t>plt.title</a:t>
            </a:r>
            <a:r>
              <a:rPr lang="en-US" altLang="zh-CN" sz="2800" dirty="0"/>
              <a:t>("</a:t>
            </a:r>
            <a:r>
              <a:rPr lang="zh-CN" altLang="en-US" sz="2800" dirty="0"/>
              <a:t>坐标系标题</a:t>
            </a:r>
            <a:r>
              <a:rPr lang="en-US" altLang="zh-CN" sz="2800" dirty="0"/>
              <a:t>",</a:t>
            </a:r>
            <a:r>
              <a:rPr lang="en-US" altLang="zh-CN" sz="2800" dirty="0" err="1"/>
              <a:t>fontproperties</a:t>
            </a:r>
            <a:r>
              <a:rPr lang="en-US" altLang="zh-CN" sz="2800" dirty="0"/>
              <a:t>="</a:t>
            </a:r>
            <a:r>
              <a:rPr lang="en-US" altLang="zh-CN" sz="2800" dirty="0" err="1"/>
              <a:t>Simhei</a:t>
            </a:r>
            <a:r>
              <a:rPr lang="en-US" altLang="zh-CN" sz="2800" dirty="0"/>
              <a:t>")</a:t>
            </a:r>
            <a:endParaRPr lang="en-US" altLang="zh-CN" sz="2800" dirty="0"/>
          </a:p>
          <a:p>
            <a:pPr marL="0" indent="0">
              <a:buNone/>
            </a:pPr>
            <a:r>
              <a:rPr lang="en-US" altLang="zh-CN" sz="2800" dirty="0" err="1"/>
              <a:t>plt.xlabel</a:t>
            </a:r>
            <a:r>
              <a:rPr lang="en-US" altLang="zh-CN" sz="2800" dirty="0"/>
              <a:t>('</a:t>
            </a:r>
            <a:r>
              <a:rPr lang="zh-CN" altLang="en-US" sz="2800" dirty="0"/>
              <a:t>时间</a:t>
            </a:r>
            <a:r>
              <a:rPr lang="en-US" altLang="zh-CN" sz="2800" dirty="0"/>
              <a:t>(s)',</a:t>
            </a:r>
            <a:r>
              <a:rPr lang="en-US" altLang="zh-CN" sz="2800" dirty="0" err="1"/>
              <a:t>fontproperties</a:t>
            </a:r>
            <a:r>
              <a:rPr lang="en-US" altLang="zh-CN" sz="2800" dirty="0"/>
              <a:t>="</a:t>
            </a:r>
            <a:r>
              <a:rPr lang="en-US" altLang="zh-CN" sz="2800" dirty="0" err="1"/>
              <a:t>Kaiti</a:t>
            </a:r>
            <a:r>
              <a:rPr lang="en-US" altLang="zh-CN" sz="2800" dirty="0"/>
              <a:t>")</a:t>
            </a:r>
            <a:endParaRPr lang="en-US" altLang="zh-CN" sz="2800" dirty="0"/>
          </a:p>
          <a:p>
            <a:pPr marL="0" indent="0">
              <a:buNone/>
            </a:pPr>
            <a:r>
              <a:rPr lang="en-US" altLang="zh-CN" sz="2800" dirty="0" err="1"/>
              <a:t>plt.ylabel</a:t>
            </a:r>
            <a:r>
              <a:rPr lang="en-US" altLang="zh-CN" sz="2800" dirty="0"/>
              <a:t>('</a:t>
            </a:r>
            <a:r>
              <a:rPr lang="zh-CN" altLang="en-US" sz="2800" dirty="0"/>
              <a:t>范围</a:t>
            </a:r>
            <a:r>
              <a:rPr lang="en-US" altLang="zh-CN" sz="2800" dirty="0"/>
              <a:t>(m)',</a:t>
            </a:r>
            <a:r>
              <a:rPr lang="en-US" altLang="zh-CN" sz="2800" dirty="0" err="1"/>
              <a:t>fontproperties</a:t>
            </a:r>
            <a:r>
              <a:rPr lang="en-US" altLang="zh-CN" sz="2800" dirty="0"/>
              <a:t>="Microsoft </a:t>
            </a:r>
            <a:r>
              <a:rPr lang="en-US" altLang="zh-CN" sz="2800" dirty="0" err="1"/>
              <a:t>YaHei</a:t>
            </a:r>
            <a:r>
              <a:rPr lang="en-US" altLang="zh-CN" sz="2800" dirty="0"/>
              <a:t>")</a:t>
            </a:r>
            <a:endParaRPr lang="en-US" altLang="zh-CN" sz="2800" dirty="0"/>
          </a:p>
          <a:p>
            <a:pPr marL="0" indent="0">
              <a:buNone/>
            </a:pPr>
            <a:r>
              <a:rPr lang="en-US" altLang="zh-CN" sz="2800" dirty="0" err="1"/>
              <a:t>plt.show</a:t>
            </a:r>
            <a:r>
              <a:rPr lang="en-US" altLang="zh-CN" sz="2800" dirty="0"/>
              <a:t>()</a:t>
            </a:r>
            <a:endParaRPr lang="en-US" altLang="zh-CN" sz="2800" dirty="0"/>
          </a:p>
        </p:txBody>
      </p:sp>
      <p:pic>
        <p:nvPicPr>
          <p:cNvPr id="9" name="图片 8"/>
          <p:cNvPicPr/>
          <p:nvPr/>
        </p:nvPicPr>
        <p:blipFill>
          <a:blip r:embed="rId2"/>
          <a:stretch>
            <a:fillRect/>
          </a:stretch>
        </p:blipFill>
        <p:spPr>
          <a:xfrm>
            <a:off x="5129908" y="760183"/>
            <a:ext cx="7062092" cy="6097817"/>
          </a:xfrm>
          <a:prstGeom prst="rect">
            <a:avLst/>
          </a:prstGeom>
        </p:spPr>
      </p:pic>
      <p:sp>
        <p:nvSpPr>
          <p:cNvPr id="11" name="椭圆 10"/>
          <p:cNvSpPr/>
          <p:nvPr/>
        </p:nvSpPr>
        <p:spPr>
          <a:xfrm>
            <a:off x="8270543" y="1378424"/>
            <a:ext cx="928048" cy="464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270543" y="6025487"/>
            <a:ext cx="928048" cy="464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 calcmode="lin" valueType="num">
                                      <p:cBhvr>
                                        <p:cTn id="7" dur="500" fill="hold"/>
                                        <p:tgtEl>
                                          <p:spTgt spid="10">
                                            <p:bg/>
                                          </p:spTgt>
                                        </p:tgtEl>
                                        <p:attrNameLst>
                                          <p:attrName>ppt_w</p:attrName>
                                        </p:attrNameLst>
                                      </p:cBhvr>
                                      <p:tavLst>
                                        <p:tav tm="0">
                                          <p:val>
                                            <p:fltVal val="0"/>
                                          </p:val>
                                        </p:tav>
                                        <p:tav tm="100000">
                                          <p:val>
                                            <p:strVal val="#ppt_w"/>
                                          </p:val>
                                        </p:tav>
                                      </p:tavLst>
                                    </p:anim>
                                    <p:anim calcmode="lin" valueType="num">
                                      <p:cBhvr>
                                        <p:cTn id="8" dur="500" fill="hold"/>
                                        <p:tgtEl>
                                          <p:spTgt spid="10">
                                            <p:bg/>
                                          </p:spTgt>
                                        </p:tgtEl>
                                        <p:attrNameLst>
                                          <p:attrName>ppt_h</p:attrName>
                                        </p:attrNameLst>
                                      </p:cBhvr>
                                      <p:tavLst>
                                        <p:tav tm="0">
                                          <p:val>
                                            <p:fltVal val="0"/>
                                          </p:val>
                                        </p:tav>
                                        <p:tav tm="100000">
                                          <p:val>
                                            <p:strVal val="#ppt_h"/>
                                          </p:val>
                                        </p:tav>
                                      </p:tavLst>
                                    </p:anim>
                                    <p:animEffect transition="in" filter="fade">
                                      <p:cBhvr>
                                        <p:cTn id="9" dur="500"/>
                                        <p:tgtEl>
                                          <p:spTgt spid="10">
                                            <p:bg/>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p:cTn id="28"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p:cTn id="35"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p:cTn id="42"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 calcmode="lin" valueType="num">
                                      <p:cBhvr>
                                        <p:cTn id="4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0">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 calcmode="lin" valueType="num">
                                      <p:cBhvr>
                                        <p:cTn id="56" dur="500" fill="hold"/>
                                        <p:tgtEl>
                                          <p:spTgt spid="10">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0">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0">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 calcmode="lin" valueType="num">
                                      <p:cBhvr>
                                        <p:cTn id="63" dur="500" fill="hold"/>
                                        <p:tgtEl>
                                          <p:spTgt spid="10">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10">
                                            <p:txEl>
                                              <p:pRg st="7" end="7"/>
                                            </p:txEl>
                                          </p:spTgt>
                                        </p:tgtEl>
                                        <p:attrNameLst>
                                          <p:attrName>ppt_h</p:attrName>
                                        </p:attrNameLst>
                                      </p:cBhvr>
                                      <p:tavLst>
                                        <p:tav tm="0">
                                          <p:val>
                                            <p:fltVal val="0"/>
                                          </p:val>
                                        </p:tav>
                                        <p:tav tm="100000">
                                          <p:val>
                                            <p:strVal val="#ppt_h"/>
                                          </p:val>
                                        </p:tav>
                                      </p:tavLst>
                                    </p:anim>
                                    <p:animEffect transition="in" filter="fade">
                                      <p:cBhvr>
                                        <p:cTn id="65" dur="500"/>
                                        <p:tgtEl>
                                          <p:spTgt spid="10">
                                            <p:txEl>
                                              <p:pRg st="7"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p:cTn id="70" dur="500" fill="hold"/>
                                        <p:tgtEl>
                                          <p:spTgt spid="9"/>
                                        </p:tgtEl>
                                        <p:attrNameLst>
                                          <p:attrName>ppt_w</p:attrName>
                                        </p:attrNameLst>
                                      </p:cBhvr>
                                      <p:tavLst>
                                        <p:tav tm="0">
                                          <p:val>
                                            <p:fltVal val="0"/>
                                          </p:val>
                                        </p:tav>
                                        <p:tav tm="100000">
                                          <p:val>
                                            <p:strVal val="#ppt_w"/>
                                          </p:val>
                                        </p:tav>
                                      </p:tavLst>
                                    </p:anim>
                                    <p:anim calcmode="lin" valueType="num">
                                      <p:cBhvr>
                                        <p:cTn id="71" dur="500" fill="hold"/>
                                        <p:tgtEl>
                                          <p:spTgt spid="9"/>
                                        </p:tgtEl>
                                        <p:attrNameLst>
                                          <p:attrName>ppt_h</p:attrName>
                                        </p:attrNameLst>
                                      </p:cBhvr>
                                      <p:tavLst>
                                        <p:tav tm="0">
                                          <p:val>
                                            <p:fltVal val="0"/>
                                          </p:val>
                                        </p:tav>
                                        <p:tav tm="100000">
                                          <p:val>
                                            <p:strVal val="#ppt_h"/>
                                          </p:val>
                                        </p:tav>
                                      </p:tavLst>
                                    </p:anim>
                                    <p:animEffect transition="in" filter="fade">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 calcmode="lin" valueType="num">
                                      <p:cBhvr>
                                        <p:cTn id="77" dur="500" fill="hold"/>
                                        <p:tgtEl>
                                          <p:spTgt spid="13"/>
                                        </p:tgtEl>
                                        <p:attrNameLst>
                                          <p:attrName>ppt_w</p:attrName>
                                        </p:attrNameLst>
                                      </p:cBhvr>
                                      <p:tavLst>
                                        <p:tav tm="0">
                                          <p:val>
                                            <p:fltVal val="0"/>
                                          </p:val>
                                        </p:tav>
                                        <p:tav tm="100000">
                                          <p:val>
                                            <p:strVal val="#ppt_w"/>
                                          </p:val>
                                        </p:tav>
                                      </p:tavLst>
                                    </p:anim>
                                    <p:anim calcmode="lin" valueType="num">
                                      <p:cBhvr>
                                        <p:cTn id="78" dur="500" fill="hold"/>
                                        <p:tgtEl>
                                          <p:spTgt spid="13"/>
                                        </p:tgtEl>
                                        <p:attrNameLst>
                                          <p:attrName>ppt_h</p:attrName>
                                        </p:attrNameLst>
                                      </p:cBhvr>
                                      <p:tavLst>
                                        <p:tav tm="0">
                                          <p:val>
                                            <p:fltVal val="0"/>
                                          </p:val>
                                        </p:tav>
                                        <p:tav tm="100000">
                                          <p:val>
                                            <p:strVal val="#ppt_h"/>
                                          </p:val>
                                        </p:tav>
                                      </p:tavLst>
                                    </p:anim>
                                    <p:animEffect transition="in" filter="fade">
                                      <p:cBhvr>
                                        <p:cTn id="79" dur="500"/>
                                        <p:tgtEl>
                                          <p:spTgt spid="13"/>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1"/>
                                        </p:tgtEl>
                                        <p:attrNameLst>
                                          <p:attrName>style.visibility</p:attrName>
                                        </p:attrNameLst>
                                      </p:cBhvr>
                                      <p:to>
                                        <p:strVal val="visible"/>
                                      </p:to>
                                    </p:set>
                                    <p:anim calcmode="lin" valueType="num">
                                      <p:cBhvr>
                                        <p:cTn id="82" dur="500" fill="hold"/>
                                        <p:tgtEl>
                                          <p:spTgt spid="11"/>
                                        </p:tgtEl>
                                        <p:attrNameLst>
                                          <p:attrName>ppt_w</p:attrName>
                                        </p:attrNameLst>
                                      </p:cBhvr>
                                      <p:tavLst>
                                        <p:tav tm="0">
                                          <p:val>
                                            <p:fltVal val="0"/>
                                          </p:val>
                                        </p:tav>
                                        <p:tav tm="100000">
                                          <p:val>
                                            <p:strVal val="#ppt_w"/>
                                          </p:val>
                                        </p:tav>
                                      </p:tavLst>
                                    </p:anim>
                                    <p:anim calcmode="lin" valueType="num">
                                      <p:cBhvr>
                                        <p:cTn id="83" dur="500" fill="hold"/>
                                        <p:tgtEl>
                                          <p:spTgt spid="11"/>
                                        </p:tgtEl>
                                        <p:attrNameLst>
                                          <p:attrName>ppt_h</p:attrName>
                                        </p:attrNameLst>
                                      </p:cBhvr>
                                      <p:tavLst>
                                        <p:tav tm="0">
                                          <p:val>
                                            <p:fltVal val="0"/>
                                          </p:val>
                                        </p:tav>
                                        <p:tav tm="100000">
                                          <p:val>
                                            <p:strVal val="#ppt_h"/>
                                          </p:val>
                                        </p:tav>
                                      </p:tavLst>
                                    </p:anim>
                                    <p:animEffect transition="in" filter="fade">
                                      <p:cBhvr>
                                        <p:cTn id="8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build="p"/>
      <p:bldP spid="11" grpId="0" animBg="1"/>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203448"/>
            <a:ext cx="5190653" cy="504056"/>
            <a:chOff x="169526" y="203448"/>
            <a:chExt cx="5190653" cy="504056"/>
          </a:xfrm>
        </p:grpSpPr>
        <p:sp>
          <p:nvSpPr>
            <p:cNvPr id="4" name="TextBox 3"/>
            <p:cNvSpPr txBox="1"/>
            <p:nvPr/>
          </p:nvSpPr>
          <p:spPr>
            <a:xfrm>
              <a:off x="781173" y="245839"/>
              <a:ext cx="4579006" cy="461665"/>
            </a:xfrm>
            <a:prstGeom prst="rect">
              <a:avLst/>
            </a:prstGeom>
            <a:noFill/>
          </p:spPr>
          <p:txBody>
            <a:bodyPr wrap="square" rtlCol="0">
              <a:spAutoFit/>
            </a:bodyPr>
            <a:lstStyle/>
            <a:p>
              <a:r>
                <a:rPr lang="zh-CN" altLang="en-US" sz="2400" b="1" dirty="0">
                  <a:solidFill>
                    <a:srgbClr val="1E6787"/>
                  </a:solidFill>
                  <a:latin typeface="微软雅黑" panose="020B0503020204020204" pitchFamily="34" charset="-122"/>
                  <a:ea typeface="微软雅黑" panose="020B0503020204020204" pitchFamily="34" charset="-122"/>
                </a:rPr>
                <a:t>计 算 机 基 础</a:t>
              </a:r>
              <a:r>
                <a:rPr lang="en-US" altLang="zh-CN" sz="2400" b="1" dirty="0">
                  <a:solidFill>
                    <a:srgbClr val="1E6787"/>
                  </a:solidFill>
                  <a:latin typeface="微软雅黑" panose="020B0503020204020204" pitchFamily="34" charset="-122"/>
                  <a:ea typeface="微软雅黑" panose="020B0503020204020204" pitchFamily="34" charset="-122"/>
                </a:rPr>
                <a:t>——</a:t>
              </a:r>
              <a:r>
                <a:rPr lang="zh-CN" altLang="en-US" sz="2000" b="1" dirty="0">
                  <a:solidFill>
                    <a:srgbClr val="1E6787"/>
                  </a:solidFill>
                  <a:latin typeface="微软雅黑" panose="020B0503020204020204" pitchFamily="34" charset="-122"/>
                  <a:ea typeface="微软雅黑" panose="020B0503020204020204" pitchFamily="34" charset="-122"/>
                </a:rPr>
                <a:t>软件和程序设计 </a:t>
              </a:r>
              <a:endParaRPr lang="zh-CN" altLang="en-US" sz="2000" b="1" dirty="0">
                <a:solidFill>
                  <a:srgbClr val="1E6787"/>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169526" y="203448"/>
              <a:ext cx="504056" cy="504056"/>
              <a:chOff x="11207774" y="442662"/>
              <a:chExt cx="504056" cy="504056"/>
            </a:xfrm>
            <a:effectLst>
              <a:outerShdw blurRad="50800" dist="38100" dir="5400000" algn="t" rotWithShape="0">
                <a:prstClr val="black">
                  <a:alpha val="40000"/>
                </a:prstClr>
              </a:outerShdw>
            </a:effectLst>
          </p:grpSpPr>
          <p:sp>
            <p:nvSpPr>
              <p:cNvPr id="57" name="椭圆 56"/>
              <p:cNvSpPr/>
              <p:nvPr/>
            </p:nvSpPr>
            <p:spPr>
              <a:xfrm>
                <a:off x="11351790" y="601230"/>
                <a:ext cx="216024" cy="216024"/>
              </a:xfrm>
              <a:prstGeom prst="ellipse">
                <a:avLst/>
              </a:prstGeom>
              <a:solidFill>
                <a:srgbClr val="B3DF6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58" name="椭圆 57"/>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Calibri" panose="020F0502020204030204"/>
                  <a:ea typeface="微软雅黑" panose="020B0503020204020204" pitchFamily="34" charset="-122"/>
                </a:endParaRPr>
              </a:p>
            </p:txBody>
          </p:sp>
        </p:grpSp>
        <p:cxnSp>
          <p:nvCxnSpPr>
            <p:cNvPr id="20" name="直接连接符 19"/>
            <p:cNvCxnSpPr/>
            <p:nvPr/>
          </p:nvCxnSpPr>
          <p:spPr>
            <a:xfrm>
              <a:off x="775303" y="707504"/>
              <a:ext cx="1833288"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4195" y="1688601"/>
            <a:ext cx="3943246" cy="496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内容占位符 1"/>
          <p:cNvSpPr txBox="1"/>
          <p:nvPr/>
        </p:nvSpPr>
        <p:spPr>
          <a:xfrm>
            <a:off x="314336" y="1572413"/>
            <a:ext cx="7633345" cy="48958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Everybody in this country should learn how to program a computer, because it teaches you how to think.</a:t>
            </a:r>
            <a:endParaRPr lang="en-US" altLang="zh-CN" sz="4400" dirty="0">
              <a:solidFill>
                <a:schemeClr val="tx1">
                  <a:lumMod val="65000"/>
                  <a:lumOff val="35000"/>
                </a:schemeClr>
              </a:solidFill>
              <a:latin typeface="+mj-lt"/>
            </a:endParaRPr>
          </a:p>
          <a:p>
            <a:pPr marL="0" indent="0" algn="r">
              <a:lnSpc>
                <a:spcPct val="120000"/>
              </a:lnSpc>
              <a:buFont typeface="Arial" panose="020B0604020202020204" pitchFamily="34" charset="0"/>
              <a:buNone/>
              <a:defRPr/>
            </a:pPr>
            <a:r>
              <a:rPr lang="en-US" altLang="zh-CN" sz="4400" dirty="0">
                <a:solidFill>
                  <a:schemeClr val="tx1">
                    <a:lumMod val="65000"/>
                    <a:lumOff val="35000"/>
                  </a:schemeClr>
                </a:solidFill>
                <a:latin typeface="+mj-lt"/>
              </a:rPr>
              <a:t>                           	Steve Jobs</a:t>
            </a:r>
            <a:endParaRPr lang="en-US" altLang="zh-CN" sz="4400" dirty="0">
              <a:solidFill>
                <a:schemeClr val="tx1">
                  <a:lumMod val="65000"/>
                  <a:lumOff val="35000"/>
                </a:schemeClr>
              </a:solidFill>
              <a:latin typeface="+mj-lt"/>
            </a:endParaRPr>
          </a:p>
        </p:txBody>
      </p:sp>
      <p:pic>
        <p:nvPicPr>
          <p:cNvPr id="23" name="图片 22"/>
          <p:cNvPicPr>
            <a:picLocks noChangeAspect="1"/>
          </p:cNvPicPr>
          <p:nvPr/>
        </p:nvPicPr>
        <p:blipFill>
          <a:blip r:embed="rId2">
            <a:clrChange>
              <a:clrFrom>
                <a:srgbClr val="FFFDFF"/>
              </a:clrFrom>
              <a:clrTo>
                <a:srgbClr val="FFFDFF">
                  <a:alpha val="0"/>
                </a:srgbClr>
              </a:clrTo>
            </a:clrChange>
          </a:blip>
          <a:stretch>
            <a:fillRect/>
          </a:stretch>
        </p:blipFill>
        <p:spPr>
          <a:xfrm>
            <a:off x="-1" y="0"/>
            <a:ext cx="12192001" cy="6870567"/>
          </a:xfrm>
          <a:prstGeom prst="rect">
            <a:avLst/>
          </a:prstGeom>
        </p:spPr>
      </p:pic>
      <p:sp>
        <p:nvSpPr>
          <p:cNvPr id="24" name="TextBox 1"/>
          <p:cNvSpPr txBox="1"/>
          <p:nvPr/>
        </p:nvSpPr>
        <p:spPr>
          <a:xfrm>
            <a:off x="2758230" y="2752857"/>
            <a:ext cx="6053391" cy="1015663"/>
          </a:xfrm>
          <a:prstGeom prst="rect">
            <a:avLst/>
          </a:prstGeom>
          <a:noFill/>
        </p:spPr>
        <p:txBody>
          <a:bodyPr wrap="square" rtlCol="0">
            <a:spAutoFit/>
          </a:bodyPr>
          <a:lstStyle/>
          <a:p>
            <a:r>
              <a:rPr lang="zh-CN" altLang="en-US" sz="6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综合应用</a:t>
            </a:r>
            <a:endParaRPr lang="zh-CN" altLang="en-US" sz="6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nvGrpSpPr>
          <p:cNvPr id="25" name="Group 5"/>
          <p:cNvGrpSpPr/>
          <p:nvPr/>
        </p:nvGrpSpPr>
        <p:grpSpPr>
          <a:xfrm>
            <a:off x="8825614" y="4241498"/>
            <a:ext cx="2169488" cy="2175406"/>
            <a:chOff x="5292553" y="3355717"/>
            <a:chExt cx="1711365" cy="2494000"/>
          </a:xfrm>
          <a:solidFill>
            <a:schemeClr val="bg1">
              <a:lumMod val="95000"/>
            </a:schemeClr>
          </a:solidFill>
        </p:grpSpPr>
        <p:sp>
          <p:nvSpPr>
            <p:cNvPr id="26" name="Rectangle 5"/>
            <p:cNvSpPr>
              <a:spLocks noChangeArrowheads="1"/>
            </p:cNvSpPr>
            <p:nvPr/>
          </p:nvSpPr>
          <p:spPr bwMode="auto">
            <a:xfrm>
              <a:off x="5292553" y="3573075"/>
              <a:ext cx="992082" cy="190188"/>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7" name="Rectangle 6"/>
            <p:cNvSpPr>
              <a:spLocks noChangeArrowheads="1"/>
            </p:cNvSpPr>
            <p:nvPr/>
          </p:nvSpPr>
          <p:spPr bwMode="auto">
            <a:xfrm>
              <a:off x="5402008" y="4624848"/>
              <a:ext cx="80422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8" name="Rectangle 7"/>
            <p:cNvSpPr>
              <a:spLocks noChangeArrowheads="1"/>
            </p:cNvSpPr>
            <p:nvPr/>
          </p:nvSpPr>
          <p:spPr bwMode="auto">
            <a:xfrm>
              <a:off x="5471873" y="3355717"/>
              <a:ext cx="1124825"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29" name="Rectangle 8"/>
            <p:cNvSpPr>
              <a:spLocks noChangeArrowheads="1"/>
            </p:cNvSpPr>
            <p:nvPr/>
          </p:nvSpPr>
          <p:spPr bwMode="auto">
            <a:xfrm>
              <a:off x="5382601" y="3902993"/>
              <a:ext cx="1127154" cy="784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0" name="Rectangle 9"/>
            <p:cNvSpPr>
              <a:spLocks noChangeArrowheads="1"/>
            </p:cNvSpPr>
            <p:nvPr/>
          </p:nvSpPr>
          <p:spPr bwMode="auto">
            <a:xfrm>
              <a:off x="5592196" y="3981397"/>
              <a:ext cx="1004502"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1" name="Rectangle 10"/>
            <p:cNvSpPr>
              <a:spLocks noChangeArrowheads="1"/>
            </p:cNvSpPr>
            <p:nvPr/>
          </p:nvSpPr>
          <p:spPr bwMode="auto">
            <a:xfrm>
              <a:off x="5471873" y="4093379"/>
              <a:ext cx="874864" cy="7374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3" name="Rectangle 11"/>
            <p:cNvSpPr>
              <a:spLocks noChangeArrowheads="1"/>
            </p:cNvSpPr>
            <p:nvPr/>
          </p:nvSpPr>
          <p:spPr bwMode="auto">
            <a:xfrm>
              <a:off x="5592196" y="4166845"/>
              <a:ext cx="1026238"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4" name="Rectangle 12"/>
            <p:cNvSpPr>
              <a:spLocks noChangeArrowheads="1"/>
            </p:cNvSpPr>
            <p:nvPr/>
          </p:nvSpPr>
          <p:spPr bwMode="auto">
            <a:xfrm>
              <a:off x="5570460" y="4915952"/>
              <a:ext cx="902034" cy="52011"/>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5" name="Rectangle 13"/>
            <p:cNvSpPr>
              <a:spLocks noChangeArrowheads="1"/>
            </p:cNvSpPr>
            <p:nvPr/>
          </p:nvSpPr>
          <p:spPr bwMode="auto">
            <a:xfrm>
              <a:off x="5690783" y="4967962"/>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6" name="Rectangle 14"/>
            <p:cNvSpPr>
              <a:spLocks noChangeArrowheads="1"/>
            </p:cNvSpPr>
            <p:nvPr/>
          </p:nvSpPr>
          <p:spPr bwMode="auto">
            <a:xfrm>
              <a:off x="5409771" y="5109245"/>
              <a:ext cx="936966" cy="23443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7" name="Rectangle 16"/>
            <p:cNvSpPr>
              <a:spLocks noChangeArrowheads="1"/>
            </p:cNvSpPr>
            <p:nvPr/>
          </p:nvSpPr>
          <p:spPr bwMode="auto">
            <a:xfrm>
              <a:off x="5632562" y="5343680"/>
              <a:ext cx="877193" cy="114113"/>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38" name="Rectangle 17"/>
            <p:cNvSpPr>
              <a:spLocks noChangeArrowheads="1"/>
            </p:cNvSpPr>
            <p:nvPr/>
          </p:nvSpPr>
          <p:spPr bwMode="auto">
            <a:xfrm>
              <a:off x="5340682" y="5458288"/>
              <a:ext cx="823630" cy="166900"/>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0" name="Rectangle 18"/>
            <p:cNvSpPr>
              <a:spLocks noChangeArrowheads="1"/>
            </p:cNvSpPr>
            <p:nvPr/>
          </p:nvSpPr>
          <p:spPr bwMode="auto">
            <a:xfrm>
              <a:off x="5536304" y="5625188"/>
              <a:ext cx="1110076" cy="22434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2" name="Rectangle 19"/>
            <p:cNvSpPr>
              <a:spLocks noChangeArrowheads="1"/>
            </p:cNvSpPr>
            <p:nvPr/>
          </p:nvSpPr>
          <p:spPr bwMode="auto">
            <a:xfrm>
              <a:off x="6411944" y="3355717"/>
              <a:ext cx="24841"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4" name="Rectangle 20"/>
            <p:cNvSpPr>
              <a:spLocks noChangeArrowheads="1"/>
            </p:cNvSpPr>
            <p:nvPr/>
          </p:nvSpPr>
          <p:spPr bwMode="auto">
            <a:xfrm>
              <a:off x="6436785" y="3575404"/>
              <a:ext cx="776" cy="77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5" name="Rectangle 21"/>
            <p:cNvSpPr>
              <a:spLocks noChangeArrowheads="1"/>
            </p:cNvSpPr>
            <p:nvPr/>
          </p:nvSpPr>
          <p:spPr bwMode="auto">
            <a:xfrm>
              <a:off x="5592196" y="3355717"/>
              <a:ext cx="40366" cy="219686"/>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6" name="Rectangle 22"/>
            <p:cNvSpPr>
              <a:spLocks noChangeArrowheads="1"/>
            </p:cNvSpPr>
            <p:nvPr/>
          </p:nvSpPr>
          <p:spPr bwMode="auto">
            <a:xfrm>
              <a:off x="6509755" y="4166845"/>
              <a:ext cx="16302"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48" name="Rectangle 23"/>
            <p:cNvSpPr>
              <a:spLocks noChangeArrowheads="1"/>
            </p:cNvSpPr>
            <p:nvPr/>
          </p:nvSpPr>
          <p:spPr bwMode="auto">
            <a:xfrm>
              <a:off x="5676034" y="4166845"/>
              <a:ext cx="158360" cy="254619"/>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50" name="Freeform 24"/>
            <p:cNvSpPr/>
            <p:nvPr/>
          </p:nvSpPr>
          <p:spPr bwMode="auto">
            <a:xfrm>
              <a:off x="6455866" y="4793204"/>
              <a:ext cx="548052" cy="1056513"/>
            </a:xfrm>
            <a:custGeom>
              <a:avLst/>
              <a:gdLst>
                <a:gd name="T0" fmla="*/ 393 w 706"/>
                <a:gd name="T1" fmla="*/ 1361 h 1361"/>
                <a:gd name="T2" fmla="*/ 0 w 706"/>
                <a:gd name="T3" fmla="*/ 98 h 1361"/>
                <a:gd name="T4" fmla="*/ 314 w 706"/>
                <a:gd name="T5" fmla="*/ 0 h 1361"/>
                <a:gd name="T6" fmla="*/ 706 w 706"/>
                <a:gd name="T7" fmla="*/ 1263 h 1361"/>
                <a:gd name="T8" fmla="*/ 393 w 706"/>
                <a:gd name="T9" fmla="*/ 1361 h 1361"/>
              </a:gdLst>
              <a:ahLst/>
              <a:cxnLst>
                <a:cxn ang="0">
                  <a:pos x="T0" y="T1"/>
                </a:cxn>
                <a:cxn ang="0">
                  <a:pos x="T2" y="T3"/>
                </a:cxn>
                <a:cxn ang="0">
                  <a:pos x="T4" y="T5"/>
                </a:cxn>
                <a:cxn ang="0">
                  <a:pos x="T6" y="T7"/>
                </a:cxn>
                <a:cxn ang="0">
                  <a:pos x="T8" y="T9"/>
                </a:cxn>
              </a:cxnLst>
              <a:rect l="0" t="0" r="r" b="b"/>
              <a:pathLst>
                <a:path w="706" h="1361">
                  <a:moveTo>
                    <a:pt x="393" y="1361"/>
                  </a:moveTo>
                  <a:lnTo>
                    <a:pt x="0" y="98"/>
                  </a:lnTo>
                  <a:lnTo>
                    <a:pt x="314" y="0"/>
                  </a:lnTo>
                  <a:lnTo>
                    <a:pt x="706" y="1263"/>
                  </a:lnTo>
                  <a:lnTo>
                    <a:pt x="393" y="1361"/>
                  </a:lnTo>
                  <a:close/>
                </a:path>
              </a:pathLst>
            </a:custGeom>
            <a:solidFill>
              <a:srgbClr val="6BE137"/>
            </a:solidFill>
            <a:ln w="9525">
              <a:solidFill>
                <a:schemeClr val="accent1"/>
              </a:solidFill>
              <a:round/>
            </a:ln>
          </p:spPr>
          <p:txBody>
            <a:bodyPr vert="horz" wrap="square" lIns="86687" tIns="43344" rIns="86687" bIns="43344" numCol="1" anchor="t" anchorCtr="0" compatLnSpc="1"/>
            <a:lstStyle/>
            <a:p>
              <a:endParaRPr lang="en-US" sz="1705" dirty="0">
                <a:solidFill>
                  <a:prstClr val="black"/>
                </a:solidFill>
                <a:latin typeface="Calibri" panose="020F0502020204030204"/>
                <a:ea typeface="微软雅黑" panose="020B0503020204020204" pitchFamily="34" charset="-122"/>
              </a:endParaRPr>
            </a:p>
          </p:txBody>
        </p:sp>
        <p:sp>
          <p:nvSpPr>
            <p:cNvPr id="51" name="Freeform 25"/>
            <p:cNvSpPr/>
            <p:nvPr/>
          </p:nvSpPr>
          <p:spPr bwMode="auto">
            <a:xfrm>
              <a:off x="6731444" y="5683594"/>
              <a:ext cx="248409" cy="91601"/>
            </a:xfrm>
            <a:custGeom>
              <a:avLst/>
              <a:gdLst>
                <a:gd name="T0" fmla="*/ 7 w 320"/>
                <a:gd name="T1" fmla="*/ 118 h 118"/>
                <a:gd name="T2" fmla="*/ 0 w 320"/>
                <a:gd name="T3" fmla="*/ 97 h 118"/>
                <a:gd name="T4" fmla="*/ 314 w 320"/>
                <a:gd name="T5" fmla="*/ 0 h 118"/>
                <a:gd name="T6" fmla="*/ 320 w 320"/>
                <a:gd name="T7" fmla="*/ 21 h 118"/>
                <a:gd name="T8" fmla="*/ 7 w 320"/>
                <a:gd name="T9" fmla="*/ 118 h 118"/>
              </a:gdLst>
              <a:ahLst/>
              <a:cxnLst>
                <a:cxn ang="0">
                  <a:pos x="T0" y="T1"/>
                </a:cxn>
                <a:cxn ang="0">
                  <a:pos x="T2" y="T3"/>
                </a:cxn>
                <a:cxn ang="0">
                  <a:pos x="T4" y="T5"/>
                </a:cxn>
                <a:cxn ang="0">
                  <a:pos x="T6" y="T7"/>
                </a:cxn>
                <a:cxn ang="0">
                  <a:pos x="T8" y="T9"/>
                </a:cxn>
              </a:cxnLst>
              <a:rect l="0" t="0" r="r" b="b"/>
              <a:pathLst>
                <a:path w="320" h="118">
                  <a:moveTo>
                    <a:pt x="7" y="118"/>
                  </a:moveTo>
                  <a:lnTo>
                    <a:pt x="0" y="97"/>
                  </a:lnTo>
                  <a:lnTo>
                    <a:pt x="314" y="0"/>
                  </a:lnTo>
                  <a:lnTo>
                    <a:pt x="320" y="21"/>
                  </a:lnTo>
                  <a:lnTo>
                    <a:pt x="7" y="118"/>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1" name="Freeform 26"/>
            <p:cNvSpPr/>
            <p:nvPr/>
          </p:nvSpPr>
          <p:spPr bwMode="auto">
            <a:xfrm>
              <a:off x="6481483" y="4874713"/>
              <a:ext cx="290328" cy="226673"/>
            </a:xfrm>
            <a:custGeom>
              <a:avLst/>
              <a:gdLst>
                <a:gd name="T0" fmla="*/ 61 w 374"/>
                <a:gd name="T1" fmla="*/ 292 h 292"/>
                <a:gd name="T2" fmla="*/ 0 w 374"/>
                <a:gd name="T3" fmla="*/ 98 h 292"/>
                <a:gd name="T4" fmla="*/ 314 w 374"/>
                <a:gd name="T5" fmla="*/ 0 h 292"/>
                <a:gd name="T6" fmla="*/ 374 w 374"/>
                <a:gd name="T7" fmla="*/ 194 h 292"/>
                <a:gd name="T8" fmla="*/ 61 w 374"/>
                <a:gd name="T9" fmla="*/ 292 h 292"/>
              </a:gdLst>
              <a:ahLst/>
              <a:cxnLst>
                <a:cxn ang="0">
                  <a:pos x="T0" y="T1"/>
                </a:cxn>
                <a:cxn ang="0">
                  <a:pos x="T2" y="T3"/>
                </a:cxn>
                <a:cxn ang="0">
                  <a:pos x="T4" y="T5"/>
                </a:cxn>
                <a:cxn ang="0">
                  <a:pos x="T6" y="T7"/>
                </a:cxn>
                <a:cxn ang="0">
                  <a:pos x="T8" y="T9"/>
                </a:cxn>
              </a:cxnLst>
              <a:rect l="0" t="0" r="r" b="b"/>
              <a:pathLst>
                <a:path w="374" h="292">
                  <a:moveTo>
                    <a:pt x="61" y="292"/>
                  </a:moveTo>
                  <a:lnTo>
                    <a:pt x="0" y="98"/>
                  </a:lnTo>
                  <a:lnTo>
                    <a:pt x="314" y="0"/>
                  </a:lnTo>
                  <a:lnTo>
                    <a:pt x="374" y="194"/>
                  </a:lnTo>
                  <a:lnTo>
                    <a:pt x="61" y="292"/>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3" name="Rectangle 27"/>
            <p:cNvSpPr>
              <a:spLocks noChangeArrowheads="1"/>
            </p:cNvSpPr>
            <p:nvPr/>
          </p:nvSpPr>
          <p:spPr bwMode="auto">
            <a:xfrm>
              <a:off x="5306526" y="4421463"/>
              <a:ext cx="81742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4" name="Rectangle 28"/>
            <p:cNvSpPr>
              <a:spLocks noChangeArrowheads="1"/>
            </p:cNvSpPr>
            <p:nvPr/>
          </p:nvSpPr>
          <p:spPr bwMode="auto">
            <a:xfrm>
              <a:off x="5808001" y="4421463"/>
              <a:ext cx="60550"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5" name="Rectangle 29"/>
            <p:cNvSpPr>
              <a:spLocks noChangeArrowheads="1"/>
            </p:cNvSpPr>
            <p:nvPr/>
          </p:nvSpPr>
          <p:spPr bwMode="auto">
            <a:xfrm>
              <a:off x="5652745" y="4421463"/>
              <a:ext cx="62102" cy="203385"/>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6" name="Rectangle 30"/>
            <p:cNvSpPr>
              <a:spLocks noChangeArrowheads="1"/>
            </p:cNvSpPr>
            <p:nvPr/>
          </p:nvSpPr>
          <p:spPr bwMode="auto">
            <a:xfrm>
              <a:off x="5738136" y="4624848"/>
              <a:ext cx="126533" cy="291104"/>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7" name="Rectangle 31"/>
            <p:cNvSpPr>
              <a:spLocks noChangeArrowheads="1"/>
            </p:cNvSpPr>
            <p:nvPr/>
          </p:nvSpPr>
          <p:spPr bwMode="auto">
            <a:xfrm>
              <a:off x="5738136"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8" name="Rectangle 32"/>
            <p:cNvSpPr>
              <a:spLocks noChangeArrowheads="1"/>
            </p:cNvSpPr>
            <p:nvPr/>
          </p:nvSpPr>
          <p:spPr bwMode="auto">
            <a:xfrm>
              <a:off x="5772292" y="4967962"/>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69" name="Rectangle 33"/>
            <p:cNvSpPr>
              <a:spLocks noChangeArrowheads="1"/>
            </p:cNvSpPr>
            <p:nvPr/>
          </p:nvSpPr>
          <p:spPr bwMode="auto">
            <a:xfrm>
              <a:off x="6264452" y="4967962"/>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0" name="Rectangle 34"/>
            <p:cNvSpPr>
              <a:spLocks noChangeArrowheads="1"/>
            </p:cNvSpPr>
            <p:nvPr/>
          </p:nvSpPr>
          <p:spPr bwMode="auto">
            <a:xfrm>
              <a:off x="6311804" y="4967962"/>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1" name="Rectangle 35"/>
            <p:cNvSpPr>
              <a:spLocks noChangeArrowheads="1"/>
            </p:cNvSpPr>
            <p:nvPr/>
          </p:nvSpPr>
          <p:spPr bwMode="auto">
            <a:xfrm>
              <a:off x="5690783" y="3761710"/>
              <a:ext cx="693215"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2" name="Rectangle 36"/>
            <p:cNvSpPr>
              <a:spLocks noChangeArrowheads="1"/>
            </p:cNvSpPr>
            <p:nvPr/>
          </p:nvSpPr>
          <p:spPr bwMode="auto">
            <a:xfrm>
              <a:off x="5738136"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3" name="Rectangle 37"/>
            <p:cNvSpPr>
              <a:spLocks noChangeArrowheads="1"/>
            </p:cNvSpPr>
            <p:nvPr/>
          </p:nvSpPr>
          <p:spPr bwMode="auto">
            <a:xfrm>
              <a:off x="5772292" y="3761710"/>
              <a:ext cx="16302"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4" name="Rectangle 38"/>
            <p:cNvSpPr>
              <a:spLocks noChangeArrowheads="1"/>
            </p:cNvSpPr>
            <p:nvPr/>
          </p:nvSpPr>
          <p:spPr bwMode="auto">
            <a:xfrm>
              <a:off x="6264452" y="3761710"/>
              <a:ext cx="19407"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5" name="Rectangle 39"/>
            <p:cNvSpPr>
              <a:spLocks noChangeArrowheads="1"/>
            </p:cNvSpPr>
            <p:nvPr/>
          </p:nvSpPr>
          <p:spPr bwMode="auto">
            <a:xfrm>
              <a:off x="6311804" y="3761710"/>
              <a:ext cx="14749" cy="141282"/>
            </a:xfrm>
            <a:prstGeom prst="rect">
              <a:avLst/>
            </a:prstGeom>
            <a:grpFill/>
            <a:ln w="9525">
              <a:solidFill>
                <a:schemeClr val="accent1"/>
              </a:solidFill>
              <a:miter lim="800000"/>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6" name="Freeform 40"/>
            <p:cNvSpPr/>
            <p:nvPr/>
          </p:nvSpPr>
          <p:spPr bwMode="auto">
            <a:xfrm>
              <a:off x="5604616" y="5664002"/>
              <a:ext cx="416084" cy="148269"/>
            </a:xfrm>
            <a:custGeom>
              <a:avLst/>
              <a:gdLst>
                <a:gd name="T0" fmla="*/ 328 w 328"/>
                <a:gd name="T1" fmla="*/ 90 h 117"/>
                <a:gd name="T2" fmla="*/ 301 w 328"/>
                <a:gd name="T3" fmla="*/ 117 h 117"/>
                <a:gd name="T4" fmla="*/ 27 w 328"/>
                <a:gd name="T5" fmla="*/ 117 h 117"/>
                <a:gd name="T6" fmla="*/ 0 w 328"/>
                <a:gd name="T7" fmla="*/ 90 h 117"/>
                <a:gd name="T8" fmla="*/ 0 w 328"/>
                <a:gd name="T9" fmla="*/ 27 h 117"/>
                <a:gd name="T10" fmla="*/ 27 w 328"/>
                <a:gd name="T11" fmla="*/ 0 h 117"/>
                <a:gd name="T12" fmla="*/ 301 w 328"/>
                <a:gd name="T13" fmla="*/ 0 h 117"/>
                <a:gd name="T14" fmla="*/ 328 w 328"/>
                <a:gd name="T15" fmla="*/ 27 h 117"/>
                <a:gd name="T16" fmla="*/ 328 w 328"/>
                <a:gd name="T17" fmla="*/ 9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117">
                  <a:moveTo>
                    <a:pt x="328" y="90"/>
                  </a:moveTo>
                  <a:cubicBezTo>
                    <a:pt x="328" y="105"/>
                    <a:pt x="316" y="117"/>
                    <a:pt x="301" y="117"/>
                  </a:cubicBezTo>
                  <a:cubicBezTo>
                    <a:pt x="27" y="117"/>
                    <a:pt x="27" y="117"/>
                    <a:pt x="27" y="117"/>
                  </a:cubicBezTo>
                  <a:cubicBezTo>
                    <a:pt x="12" y="117"/>
                    <a:pt x="0" y="105"/>
                    <a:pt x="0" y="90"/>
                  </a:cubicBezTo>
                  <a:cubicBezTo>
                    <a:pt x="0" y="27"/>
                    <a:pt x="0" y="27"/>
                    <a:pt x="0" y="27"/>
                  </a:cubicBezTo>
                  <a:cubicBezTo>
                    <a:pt x="0" y="12"/>
                    <a:pt x="12" y="0"/>
                    <a:pt x="27" y="0"/>
                  </a:cubicBezTo>
                  <a:cubicBezTo>
                    <a:pt x="301" y="0"/>
                    <a:pt x="301" y="0"/>
                    <a:pt x="301" y="0"/>
                  </a:cubicBezTo>
                  <a:cubicBezTo>
                    <a:pt x="316" y="0"/>
                    <a:pt x="328" y="12"/>
                    <a:pt x="328" y="27"/>
                  </a:cubicBezTo>
                  <a:lnTo>
                    <a:pt x="328" y="90"/>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7" name="Freeform 41"/>
            <p:cNvSpPr/>
            <p:nvPr/>
          </p:nvSpPr>
          <p:spPr bwMode="auto">
            <a:xfrm>
              <a:off x="6547793" y="5664002"/>
              <a:ext cx="40366" cy="167676"/>
            </a:xfrm>
            <a:custGeom>
              <a:avLst/>
              <a:gdLst>
                <a:gd name="T0" fmla="*/ 32 w 32"/>
                <a:gd name="T1" fmla="*/ 116 h 132"/>
                <a:gd name="T2" fmla="*/ 16 w 32"/>
                <a:gd name="T3" fmla="*/ 132 h 132"/>
                <a:gd name="T4" fmla="*/ 16 w 32"/>
                <a:gd name="T5" fmla="*/ 132 h 132"/>
                <a:gd name="T6" fmla="*/ 0 w 32"/>
                <a:gd name="T7" fmla="*/ 116 h 132"/>
                <a:gd name="T8" fmla="*/ 0 w 32"/>
                <a:gd name="T9" fmla="*/ 16 h 132"/>
                <a:gd name="T10" fmla="*/ 16 w 32"/>
                <a:gd name="T11" fmla="*/ 0 h 132"/>
                <a:gd name="T12" fmla="*/ 16 w 32"/>
                <a:gd name="T13" fmla="*/ 0 h 132"/>
                <a:gd name="T14" fmla="*/ 32 w 32"/>
                <a:gd name="T15" fmla="*/ 16 h 132"/>
                <a:gd name="T16" fmla="*/ 32 w 32"/>
                <a:gd name="T17" fmla="*/ 11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32">
                  <a:moveTo>
                    <a:pt x="32" y="116"/>
                  </a:moveTo>
                  <a:cubicBezTo>
                    <a:pt x="32" y="125"/>
                    <a:pt x="25" y="132"/>
                    <a:pt x="16" y="132"/>
                  </a:cubicBezTo>
                  <a:cubicBezTo>
                    <a:pt x="16" y="132"/>
                    <a:pt x="16" y="132"/>
                    <a:pt x="16" y="132"/>
                  </a:cubicBezTo>
                  <a:cubicBezTo>
                    <a:pt x="7" y="132"/>
                    <a:pt x="0" y="125"/>
                    <a:pt x="0" y="116"/>
                  </a:cubicBezTo>
                  <a:cubicBezTo>
                    <a:pt x="0" y="16"/>
                    <a:pt x="0" y="16"/>
                    <a:pt x="0" y="16"/>
                  </a:cubicBezTo>
                  <a:cubicBezTo>
                    <a:pt x="0" y="7"/>
                    <a:pt x="7" y="0"/>
                    <a:pt x="16" y="0"/>
                  </a:cubicBezTo>
                  <a:cubicBezTo>
                    <a:pt x="16" y="0"/>
                    <a:pt x="16" y="0"/>
                    <a:pt x="16" y="0"/>
                  </a:cubicBezTo>
                  <a:cubicBezTo>
                    <a:pt x="25" y="0"/>
                    <a:pt x="32" y="7"/>
                    <a:pt x="32" y="16"/>
                  </a:cubicBezTo>
                  <a:lnTo>
                    <a:pt x="32" y="116"/>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8" name="Freeform 42"/>
            <p:cNvSpPr/>
            <p:nvPr/>
          </p:nvSpPr>
          <p:spPr bwMode="auto">
            <a:xfrm>
              <a:off x="5409771" y="5514180"/>
              <a:ext cx="70641" cy="72194"/>
            </a:xfrm>
            <a:custGeom>
              <a:avLst/>
              <a:gdLst>
                <a:gd name="T0" fmla="*/ 56 w 56"/>
                <a:gd name="T1" fmla="*/ 29 h 57"/>
                <a:gd name="T2" fmla="*/ 28 w 56"/>
                <a:gd name="T3" fmla="*/ 57 h 57"/>
                <a:gd name="T4" fmla="*/ 27 w 56"/>
                <a:gd name="T5" fmla="*/ 57 h 57"/>
                <a:gd name="T6" fmla="*/ 0 w 56"/>
                <a:gd name="T7" fmla="*/ 29 h 57"/>
                <a:gd name="T8" fmla="*/ 0 w 56"/>
                <a:gd name="T9" fmla="*/ 28 h 57"/>
                <a:gd name="T10" fmla="*/ 27 w 56"/>
                <a:gd name="T11" fmla="*/ 0 h 57"/>
                <a:gd name="T12" fmla="*/ 28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8" y="57"/>
                  </a:cubicBezTo>
                  <a:cubicBezTo>
                    <a:pt x="27" y="57"/>
                    <a:pt x="27" y="57"/>
                    <a:pt x="27" y="57"/>
                  </a:cubicBezTo>
                  <a:cubicBezTo>
                    <a:pt x="12" y="57"/>
                    <a:pt x="0" y="44"/>
                    <a:pt x="0" y="29"/>
                  </a:cubicBezTo>
                  <a:cubicBezTo>
                    <a:pt x="0" y="28"/>
                    <a:pt x="0" y="28"/>
                    <a:pt x="0" y="28"/>
                  </a:cubicBezTo>
                  <a:cubicBezTo>
                    <a:pt x="0" y="13"/>
                    <a:pt x="12" y="0"/>
                    <a:pt x="27" y="0"/>
                  </a:cubicBezTo>
                  <a:cubicBezTo>
                    <a:pt x="28" y="0"/>
                    <a:pt x="28" y="0"/>
                    <a:pt x="28"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79" name="Freeform 43"/>
            <p:cNvSpPr/>
            <p:nvPr/>
          </p:nvSpPr>
          <p:spPr bwMode="auto">
            <a:xfrm>
              <a:off x="6062620" y="5514180"/>
              <a:ext cx="71417" cy="72194"/>
            </a:xfrm>
            <a:custGeom>
              <a:avLst/>
              <a:gdLst>
                <a:gd name="T0" fmla="*/ 56 w 56"/>
                <a:gd name="T1" fmla="*/ 29 h 57"/>
                <a:gd name="T2" fmla="*/ 29 w 56"/>
                <a:gd name="T3" fmla="*/ 57 h 57"/>
                <a:gd name="T4" fmla="*/ 28 w 56"/>
                <a:gd name="T5" fmla="*/ 57 h 57"/>
                <a:gd name="T6" fmla="*/ 0 w 56"/>
                <a:gd name="T7" fmla="*/ 29 h 57"/>
                <a:gd name="T8" fmla="*/ 0 w 56"/>
                <a:gd name="T9" fmla="*/ 28 h 57"/>
                <a:gd name="T10" fmla="*/ 28 w 56"/>
                <a:gd name="T11" fmla="*/ 0 h 57"/>
                <a:gd name="T12" fmla="*/ 29 w 56"/>
                <a:gd name="T13" fmla="*/ 0 h 57"/>
                <a:gd name="T14" fmla="*/ 56 w 56"/>
                <a:gd name="T15" fmla="*/ 28 h 57"/>
                <a:gd name="T16" fmla="*/ 56 w 5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7">
                  <a:moveTo>
                    <a:pt x="56" y="29"/>
                  </a:moveTo>
                  <a:cubicBezTo>
                    <a:pt x="56" y="44"/>
                    <a:pt x="44" y="57"/>
                    <a:pt x="29" y="57"/>
                  </a:cubicBezTo>
                  <a:cubicBezTo>
                    <a:pt x="28" y="57"/>
                    <a:pt x="28" y="57"/>
                    <a:pt x="28" y="57"/>
                  </a:cubicBezTo>
                  <a:cubicBezTo>
                    <a:pt x="13" y="57"/>
                    <a:pt x="0" y="44"/>
                    <a:pt x="0" y="29"/>
                  </a:cubicBezTo>
                  <a:cubicBezTo>
                    <a:pt x="0" y="28"/>
                    <a:pt x="0" y="28"/>
                    <a:pt x="0" y="28"/>
                  </a:cubicBezTo>
                  <a:cubicBezTo>
                    <a:pt x="0" y="13"/>
                    <a:pt x="13" y="0"/>
                    <a:pt x="28" y="0"/>
                  </a:cubicBezTo>
                  <a:cubicBezTo>
                    <a:pt x="29" y="0"/>
                    <a:pt x="29" y="0"/>
                    <a:pt x="29" y="0"/>
                  </a:cubicBezTo>
                  <a:cubicBezTo>
                    <a:pt x="44" y="0"/>
                    <a:pt x="56" y="13"/>
                    <a:pt x="56" y="28"/>
                  </a:cubicBezTo>
                  <a:lnTo>
                    <a:pt x="56" y="29"/>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0" name="Freeform 44"/>
            <p:cNvSpPr/>
            <p:nvPr/>
          </p:nvSpPr>
          <p:spPr bwMode="auto">
            <a:xfrm>
              <a:off x="5576670" y="5179886"/>
              <a:ext cx="665269" cy="93153"/>
            </a:xfrm>
            <a:custGeom>
              <a:avLst/>
              <a:gdLst>
                <a:gd name="T0" fmla="*/ 524 w 524"/>
                <a:gd name="T1" fmla="*/ 45 h 73"/>
                <a:gd name="T2" fmla="*/ 497 w 524"/>
                <a:gd name="T3" fmla="*/ 73 h 73"/>
                <a:gd name="T4" fmla="*/ 28 w 524"/>
                <a:gd name="T5" fmla="*/ 73 h 73"/>
                <a:gd name="T6" fmla="*/ 0 w 524"/>
                <a:gd name="T7" fmla="*/ 45 h 73"/>
                <a:gd name="T8" fmla="*/ 0 w 524"/>
                <a:gd name="T9" fmla="*/ 27 h 73"/>
                <a:gd name="T10" fmla="*/ 28 w 524"/>
                <a:gd name="T11" fmla="*/ 0 h 73"/>
                <a:gd name="T12" fmla="*/ 497 w 524"/>
                <a:gd name="T13" fmla="*/ 0 h 73"/>
                <a:gd name="T14" fmla="*/ 524 w 524"/>
                <a:gd name="T15" fmla="*/ 27 h 73"/>
                <a:gd name="T16" fmla="*/ 524 w 524"/>
                <a:gd name="T17" fmla="*/ 4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4" h="73">
                  <a:moveTo>
                    <a:pt x="524" y="45"/>
                  </a:moveTo>
                  <a:cubicBezTo>
                    <a:pt x="524" y="61"/>
                    <a:pt x="512" y="73"/>
                    <a:pt x="497" y="73"/>
                  </a:cubicBezTo>
                  <a:cubicBezTo>
                    <a:pt x="28" y="73"/>
                    <a:pt x="28" y="73"/>
                    <a:pt x="28" y="73"/>
                  </a:cubicBezTo>
                  <a:cubicBezTo>
                    <a:pt x="12" y="73"/>
                    <a:pt x="0" y="61"/>
                    <a:pt x="0" y="45"/>
                  </a:cubicBezTo>
                  <a:cubicBezTo>
                    <a:pt x="0" y="27"/>
                    <a:pt x="0" y="27"/>
                    <a:pt x="0" y="27"/>
                  </a:cubicBezTo>
                  <a:cubicBezTo>
                    <a:pt x="0" y="12"/>
                    <a:pt x="12" y="0"/>
                    <a:pt x="28" y="0"/>
                  </a:cubicBezTo>
                  <a:cubicBezTo>
                    <a:pt x="497" y="0"/>
                    <a:pt x="497" y="0"/>
                    <a:pt x="497" y="0"/>
                  </a:cubicBezTo>
                  <a:cubicBezTo>
                    <a:pt x="512" y="0"/>
                    <a:pt x="524" y="12"/>
                    <a:pt x="524" y="27"/>
                  </a:cubicBezTo>
                  <a:lnTo>
                    <a:pt x="524" y="45"/>
                  </a:lnTo>
                  <a:close/>
                </a:path>
              </a:pathLst>
            </a:cu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1" name="Oval 45"/>
            <p:cNvSpPr>
              <a:spLocks noChangeArrowheads="1"/>
            </p:cNvSpPr>
            <p:nvPr/>
          </p:nvSpPr>
          <p:spPr bwMode="auto">
            <a:xfrm>
              <a:off x="6128603" y="3612665"/>
              <a:ext cx="111784" cy="111008"/>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sp>
          <p:nvSpPr>
            <p:cNvPr id="82" name="Oval 46"/>
            <p:cNvSpPr>
              <a:spLocks noChangeArrowheads="1"/>
            </p:cNvSpPr>
            <p:nvPr/>
          </p:nvSpPr>
          <p:spPr bwMode="auto">
            <a:xfrm>
              <a:off x="5325933" y="3617323"/>
              <a:ext cx="111784" cy="111784"/>
            </a:xfrm>
            <a:prstGeom prst="ellipse">
              <a:avLst/>
            </a:prstGeom>
            <a:grpFill/>
            <a:ln w="9525">
              <a:solidFill>
                <a:schemeClr val="accent1"/>
              </a:solidFill>
              <a:round/>
            </a:ln>
          </p:spPr>
          <p:txBody>
            <a:bodyPr vert="horz" wrap="square" lIns="86687" tIns="43344" rIns="86687" bIns="43344" numCol="1" anchor="t" anchorCtr="0" compatLnSpc="1"/>
            <a:lstStyle/>
            <a:p>
              <a:endParaRPr lang="en-US" sz="1705">
                <a:solidFill>
                  <a:prstClr val="black"/>
                </a:solidFill>
                <a:latin typeface="Calibri" panose="020F0502020204030204"/>
                <a:ea typeface="微软雅黑" panose="020B0503020204020204" pitchFamily="34" charset="-122"/>
              </a:endParaRPr>
            </a:p>
          </p:txBody>
        </p:sp>
      </p:grpSp>
      <p:grpSp>
        <p:nvGrpSpPr>
          <p:cNvPr id="83" name="组合 82"/>
          <p:cNvGrpSpPr/>
          <p:nvPr/>
        </p:nvGrpSpPr>
        <p:grpSpPr>
          <a:xfrm>
            <a:off x="443983" y="1112313"/>
            <a:ext cx="1936868" cy="1936868"/>
            <a:chOff x="2572456" y="958222"/>
            <a:chExt cx="1936868" cy="1936868"/>
          </a:xfrm>
        </p:grpSpPr>
        <p:grpSp>
          <p:nvGrpSpPr>
            <p:cNvPr id="84" name="组合 83"/>
            <p:cNvGrpSpPr/>
            <p:nvPr/>
          </p:nvGrpSpPr>
          <p:grpSpPr>
            <a:xfrm>
              <a:off x="2572456" y="958222"/>
              <a:ext cx="1936868" cy="1936868"/>
              <a:chOff x="11207774" y="442662"/>
              <a:chExt cx="504056" cy="504056"/>
            </a:xfrm>
            <a:solidFill>
              <a:srgbClr val="B3DF63"/>
            </a:solidFill>
            <a:effectLst>
              <a:outerShdw blurRad="50800" dist="38100" dir="5400000" algn="t" rotWithShape="0">
                <a:prstClr val="black">
                  <a:alpha val="40000"/>
                </a:prstClr>
              </a:outerShdw>
            </a:effectLst>
          </p:grpSpPr>
          <p:sp>
            <p:nvSpPr>
              <p:cNvPr id="86" name="椭圆 85"/>
              <p:cNvSpPr/>
              <p:nvPr/>
            </p:nvSpPr>
            <p:spPr>
              <a:xfrm>
                <a:off x="11273029" y="517620"/>
                <a:ext cx="373547" cy="373547"/>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sp>
            <p:nvSpPr>
              <p:cNvPr id="87" name="椭圆 86"/>
              <p:cNvSpPr/>
              <p:nvPr/>
            </p:nvSpPr>
            <p:spPr>
              <a:xfrm>
                <a:off x="11207774" y="442662"/>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微软雅黑" panose="020B0503020204020204" pitchFamily="34" charset="-122"/>
                </a:endParaRPr>
              </a:p>
            </p:txBody>
          </p:sp>
        </p:grpSp>
        <p:sp>
          <p:nvSpPr>
            <p:cNvPr id="85" name="TextBox 1"/>
            <p:cNvSpPr txBox="1"/>
            <p:nvPr/>
          </p:nvSpPr>
          <p:spPr>
            <a:xfrm>
              <a:off x="2815371" y="1264937"/>
              <a:ext cx="1398140" cy="1323439"/>
            </a:xfrm>
            <a:prstGeom prst="rect">
              <a:avLst/>
            </a:prstGeom>
            <a:noFill/>
          </p:spPr>
          <p:txBody>
            <a:bodyPr wrap="none" rtlCol="0">
              <a:spAutoFit/>
            </a:bodyPr>
            <a:lstStyle/>
            <a:p>
              <a:r>
                <a:rPr lang="en-US" altLang="zh-CN" sz="8000" b="1" dirty="0" smtClean="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rPr>
                <a:t>06</a:t>
              </a:r>
              <a:endParaRPr lang="zh-CN" altLang="en-US" sz="8000" b="1" dirty="0">
                <a:ln w="12700">
                  <a:noFill/>
                  <a:prstDash val="solid"/>
                </a:ln>
                <a:solidFill>
                  <a:prstClr val="white"/>
                </a:solidFill>
                <a:effectLst>
                  <a:outerShdw dist="50800" dir="4800000" algn="tl" rotWithShape="0">
                    <a:srgbClr val="000000">
                      <a:alpha val="40000"/>
                    </a:srgbClr>
                  </a:outerShdw>
                </a:effectLst>
                <a:latin typeface="造字工房尚黑（非商用）细体" pitchFamily="50" charset="-122"/>
                <a:ea typeface="造字工房尚黑（非商用）细体" pitchFamily="50" charset="-122"/>
              </a:endParaRPr>
            </a:p>
          </p:txBody>
        </p:sp>
      </p:grpSp>
      <p:grpSp>
        <p:nvGrpSpPr>
          <p:cNvPr id="88" name="组合 87"/>
          <p:cNvGrpSpPr/>
          <p:nvPr/>
        </p:nvGrpSpPr>
        <p:grpSpPr>
          <a:xfrm rot="5400000">
            <a:off x="7939470" y="-3214903"/>
            <a:ext cx="942183" cy="7462505"/>
            <a:chOff x="-11273" y="-594773"/>
            <a:chExt cx="719786" cy="7462505"/>
          </a:xfrm>
        </p:grpSpPr>
        <p:sp>
          <p:nvSpPr>
            <p:cNvPr id="89" name="等腰三角形 88"/>
            <p:cNvSpPr/>
            <p:nvPr/>
          </p:nvSpPr>
          <p:spPr>
            <a:xfrm rot="5400000">
              <a:off x="-68856" y="2776017"/>
              <a:ext cx="834952" cy="71978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0" name="等腰三角形 89"/>
            <p:cNvSpPr/>
            <p:nvPr/>
          </p:nvSpPr>
          <p:spPr>
            <a:xfrm rot="5400000">
              <a:off x="-68856" y="195805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1" name="等腰三角形 90"/>
            <p:cNvSpPr/>
            <p:nvPr/>
          </p:nvSpPr>
          <p:spPr>
            <a:xfrm rot="5400000">
              <a:off x="-68856" y="1114606"/>
              <a:ext cx="834952" cy="71978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2" name="等腰三角形 91"/>
            <p:cNvSpPr/>
            <p:nvPr/>
          </p:nvSpPr>
          <p:spPr>
            <a:xfrm rot="5400000">
              <a:off x="-68856" y="296639"/>
              <a:ext cx="834952" cy="71978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3" name="等腰三角形 92"/>
            <p:cNvSpPr/>
            <p:nvPr/>
          </p:nvSpPr>
          <p:spPr>
            <a:xfrm rot="5400000">
              <a:off x="-68856" y="3610969"/>
              <a:ext cx="834952" cy="71978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4" name="等腰三角形 93"/>
            <p:cNvSpPr/>
            <p:nvPr/>
          </p:nvSpPr>
          <p:spPr>
            <a:xfrm rot="5400000">
              <a:off x="-68856" y="4443673"/>
              <a:ext cx="834952" cy="719786"/>
            </a:xfrm>
            <a:prstGeom prst="triangle">
              <a:avLst/>
            </a:prstGeom>
            <a:solidFill>
              <a:srgbClr val="94C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5" name="等腰三角形 94"/>
            <p:cNvSpPr/>
            <p:nvPr/>
          </p:nvSpPr>
          <p:spPr>
            <a:xfrm rot="5400000">
              <a:off x="-68856" y="5264883"/>
              <a:ext cx="834952" cy="71978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6" name="等腰三角形 95"/>
            <p:cNvSpPr/>
            <p:nvPr/>
          </p:nvSpPr>
          <p:spPr>
            <a:xfrm rot="5400000">
              <a:off x="-68856" y="6090363"/>
              <a:ext cx="834952" cy="71978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7" name="等腰三角形 96"/>
            <p:cNvSpPr/>
            <p:nvPr/>
          </p:nvSpPr>
          <p:spPr>
            <a:xfrm rot="5400000">
              <a:off x="-68856" y="-537190"/>
              <a:ext cx="834952" cy="71978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800" fill="hold"/>
                                        <p:tgtEl>
                                          <p:spTgt spid="24"/>
                                        </p:tgtEl>
                                        <p:attrNameLst>
                                          <p:attrName>ppt_y</p:attrName>
                                        </p:attrNameLst>
                                      </p:cBhvr>
                                      <p:tavLst>
                                        <p:tav tm="0">
                                          <p:val>
                                            <p:strVal val="#ppt_y"/>
                                          </p:val>
                                        </p:tav>
                                        <p:tav tm="100000">
                                          <p:val>
                                            <p:strVal val="#ppt_y"/>
                                          </p:val>
                                        </p:tav>
                                      </p:tavLst>
                                    </p:anim>
                                    <p:anim calcmode="lin" valueType="num">
                                      <p:cBhvr>
                                        <p:cTn id="9"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800" tmFilter="0,0; .5, 1; 1, 1"/>
                                        <p:tgtEl>
                                          <p:spTgt spid="24"/>
                                        </p:tgtEl>
                                      </p:cBhvr>
                                    </p:animEffect>
                                  </p:childTnLst>
                                </p:cTn>
                              </p:par>
                            </p:childTnLst>
                          </p:cTn>
                        </p:par>
                        <p:par>
                          <p:cTn id="12" fill="hold">
                            <p:stCondLst>
                              <p:cond delay="1039"/>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70320" y="143033"/>
            <a:ext cx="7909155" cy="646331"/>
            <a:chOff x="169526" y="143033"/>
            <a:chExt cx="7909155" cy="646331"/>
          </a:xfrm>
        </p:grpSpPr>
        <p:sp>
          <p:nvSpPr>
            <p:cNvPr id="4" name="TextBox 3"/>
            <p:cNvSpPr txBox="1"/>
            <p:nvPr/>
          </p:nvSpPr>
          <p:spPr>
            <a:xfrm>
              <a:off x="897235" y="143033"/>
              <a:ext cx="7181446"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综合应用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58" name="椭圆 57"/>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20" name="直接连接符 19"/>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pic>
        <p:nvPicPr>
          <p:cNvPr id="3" name="图片 2"/>
          <p:cNvPicPr>
            <a:picLocks noChangeAspect="1"/>
          </p:cNvPicPr>
          <p:nvPr/>
        </p:nvPicPr>
        <p:blipFill>
          <a:blip r:embed="rId2"/>
          <a:stretch>
            <a:fillRect/>
          </a:stretch>
        </p:blipFill>
        <p:spPr>
          <a:xfrm>
            <a:off x="455418" y="815198"/>
            <a:ext cx="11158827" cy="2200146"/>
          </a:xfrm>
          <a:prstGeom prst="rect">
            <a:avLst/>
          </a:prstGeom>
        </p:spPr>
      </p:pic>
      <p:pic>
        <p:nvPicPr>
          <p:cNvPr id="12" name="图片 11"/>
          <p:cNvPicPr/>
          <p:nvPr/>
        </p:nvPicPr>
        <p:blipFill>
          <a:blip r:embed="rId3">
            <a:extLst>
              <a:ext uri="{28A0092B-C50C-407E-A947-70E740481C1C}">
                <a14:useLocalDpi xmlns:a14="http://schemas.microsoft.com/office/drawing/2010/main" val="0"/>
              </a:ext>
            </a:extLst>
          </a:blip>
          <a:stretch>
            <a:fillRect/>
          </a:stretch>
        </p:blipFill>
        <p:spPr>
          <a:xfrm>
            <a:off x="422348" y="3123037"/>
            <a:ext cx="2380174" cy="3444979"/>
          </a:xfrm>
          <a:prstGeom prst="rect">
            <a:avLst/>
          </a:prstGeom>
        </p:spPr>
      </p:pic>
      <p:pic>
        <p:nvPicPr>
          <p:cNvPr id="14" name="图片 13"/>
          <p:cNvPicPr/>
          <p:nvPr/>
        </p:nvPicPr>
        <p:blipFill>
          <a:blip r:embed="rId4"/>
          <a:stretch>
            <a:fillRect/>
          </a:stretch>
        </p:blipFill>
        <p:spPr>
          <a:xfrm>
            <a:off x="3161028" y="3123037"/>
            <a:ext cx="2147952" cy="3444979"/>
          </a:xfrm>
          <a:prstGeom prst="rect">
            <a:avLst/>
          </a:prstGeom>
        </p:spPr>
      </p:pic>
      <p:pic>
        <p:nvPicPr>
          <p:cNvPr id="15" name="图片 14"/>
          <p:cNvPicPr/>
          <p:nvPr/>
        </p:nvPicPr>
        <p:blipFill>
          <a:blip r:embed="rId5"/>
          <a:stretch>
            <a:fillRect/>
          </a:stretch>
        </p:blipFill>
        <p:spPr>
          <a:xfrm>
            <a:off x="6411311" y="3123037"/>
            <a:ext cx="5202934" cy="34449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903260" y="1"/>
            <a:ext cx="6305266" cy="6858000"/>
          </a:xfrm>
          <a:prstGeom prst="rect">
            <a:avLst/>
          </a:prstGeom>
        </p:spPr>
      </p:pic>
      <p:grpSp>
        <p:nvGrpSpPr>
          <p:cNvPr id="13" name="组合 12"/>
          <p:cNvGrpSpPr/>
          <p:nvPr/>
        </p:nvGrpSpPr>
        <p:grpSpPr>
          <a:xfrm>
            <a:off x="170320" y="143033"/>
            <a:ext cx="7909155" cy="646331"/>
            <a:chOff x="169526" y="143033"/>
            <a:chExt cx="7909155" cy="646331"/>
          </a:xfrm>
        </p:grpSpPr>
        <p:sp>
          <p:nvSpPr>
            <p:cNvPr id="16" name="TextBox 3"/>
            <p:cNvSpPr txBox="1"/>
            <p:nvPr/>
          </p:nvSpPr>
          <p:spPr>
            <a:xfrm>
              <a:off x="897235" y="143033"/>
              <a:ext cx="7181446" cy="646331"/>
            </a:xfrm>
            <a:prstGeom prst="rect">
              <a:avLst/>
            </a:prstGeom>
            <a:noFill/>
          </p:spPr>
          <p:txBody>
            <a:bodyPr wrap="square" rtlCol="0">
              <a:spAutoFit/>
            </a:bodyPr>
            <a:lstStyle/>
            <a:p>
              <a:r>
                <a:rPr lang="zh-CN" altLang="en-US" sz="3600" b="1" spc="300" dirty="0" smtClean="0">
                  <a:solidFill>
                    <a:srgbClr val="1E6787"/>
                  </a:solidFill>
                  <a:latin typeface="微软雅黑" panose="020B0503020204020204" pitchFamily="34" charset="-122"/>
                  <a:ea typeface="微软雅黑" panose="020B0503020204020204" pitchFamily="34" charset="-122"/>
                </a:rPr>
                <a:t>综合应用</a:t>
              </a:r>
              <a:endParaRPr lang="zh-CN" altLang="en-US" sz="3600" b="1" spc="300" dirty="0">
                <a:solidFill>
                  <a:srgbClr val="1E6787"/>
                </a:solidFill>
                <a:latin typeface="微软雅黑" panose="020B0503020204020204" pitchFamily="34" charset="-122"/>
                <a:ea typeface="微软雅黑" panose="020B0503020204020204" pitchFamily="34" charset="-122"/>
              </a:endParaRPr>
            </a:p>
          </p:txBody>
        </p:sp>
        <p:sp>
          <p:nvSpPr>
            <p:cNvPr id="17" name="椭圆 16"/>
            <p:cNvSpPr/>
            <p:nvPr/>
          </p:nvSpPr>
          <p:spPr>
            <a:xfrm>
              <a:off x="169526" y="203448"/>
              <a:ext cx="504056" cy="50405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Calibri" panose="020F0502020204030204"/>
                <a:ea typeface="微软雅黑" panose="020B0503020204020204" pitchFamily="34" charset="-122"/>
              </a:endParaRPr>
            </a:p>
          </p:txBody>
        </p:sp>
        <p:cxnSp>
          <p:nvCxnSpPr>
            <p:cNvPr id="18" name="直接连接符 17"/>
            <p:cNvCxnSpPr/>
            <p:nvPr/>
          </p:nvCxnSpPr>
          <p:spPr>
            <a:xfrm>
              <a:off x="775303" y="707504"/>
              <a:ext cx="1647495" cy="0"/>
            </a:xfrm>
            <a:prstGeom prst="line">
              <a:avLst/>
            </a:prstGeom>
            <a:ln>
              <a:solidFill>
                <a:srgbClr val="B3DF63"/>
              </a:solidFill>
            </a:ln>
          </p:spPr>
          <p:style>
            <a:lnRef idx="1">
              <a:schemeClr val="accent1"/>
            </a:lnRef>
            <a:fillRef idx="0">
              <a:schemeClr val="accent1"/>
            </a:fillRef>
            <a:effectRef idx="0">
              <a:schemeClr val="accent1"/>
            </a:effectRef>
            <a:fontRef idx="minor">
              <a:schemeClr val="tx1"/>
            </a:fontRef>
          </p:style>
        </p:cxnSp>
      </p:gr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30" y="217351"/>
            <a:ext cx="476250" cy="476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1_Office 主题​​">
  <a:themeElements>
    <a:clrScheme name="自定义 222">
      <a:dk1>
        <a:sysClr val="windowText" lastClr="000000"/>
      </a:dk1>
      <a:lt1>
        <a:sysClr val="window" lastClr="FFFFFF"/>
      </a:lt1>
      <a:dk2>
        <a:srgbClr val="435258"/>
      </a:dk2>
      <a:lt2>
        <a:srgbClr val="EEECE1"/>
      </a:lt2>
      <a:accent1>
        <a:srgbClr val="2A8FBD"/>
      </a:accent1>
      <a:accent2>
        <a:srgbClr val="00B0F0"/>
      </a:accent2>
      <a:accent3>
        <a:srgbClr val="435258"/>
      </a:accent3>
      <a:accent4>
        <a:srgbClr val="1E6787"/>
      </a:accent4>
      <a:accent5>
        <a:srgbClr val="2A8FBD"/>
      </a:accent5>
      <a:accent6>
        <a:srgbClr val="E44860"/>
      </a:accent6>
      <a:hlink>
        <a:srgbClr val="E44860"/>
      </a:hlink>
      <a:folHlink>
        <a:srgbClr val="435258"/>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9510</Words>
  <Application>WPS 演示</Application>
  <PresentationFormat>宽屏</PresentationFormat>
  <Paragraphs>912</Paragraphs>
  <Slides>60</Slides>
  <Notes>58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60</vt:i4>
      </vt:variant>
    </vt:vector>
  </HeadingPairs>
  <TitlesOfParts>
    <vt:vector size="73" baseType="lpstr">
      <vt:lpstr>Arial</vt:lpstr>
      <vt:lpstr>宋体</vt:lpstr>
      <vt:lpstr>Wingdings</vt:lpstr>
      <vt:lpstr>Gill Sans Ultra Bold</vt:lpstr>
      <vt:lpstr>造字工房尚黑（非商用）细体</vt:lpstr>
      <vt:lpstr>黑体</vt:lpstr>
      <vt:lpstr>微软雅黑</vt:lpstr>
      <vt:lpstr>Calibri</vt:lpstr>
      <vt:lpstr>Times New Roman</vt:lpstr>
      <vt:lpstr>Arial Unicode MS</vt:lpstr>
      <vt:lpstr>等线</vt:lpstr>
      <vt:lpstr>Calibri</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ZhaoLu</dc:creator>
  <cp:lastModifiedBy>仰月浮沉</cp:lastModifiedBy>
  <cp:revision>115</cp:revision>
  <dcterms:created xsi:type="dcterms:W3CDTF">2019-01-13T07:44:00Z</dcterms:created>
  <dcterms:modified xsi:type="dcterms:W3CDTF">2020-11-21T14:34:15Z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