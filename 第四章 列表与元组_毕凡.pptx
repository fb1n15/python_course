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9"/>
  </p:notesMasterIdLst>
  <p:sldIdLst>
    <p:sldId id="342" r:id="rId2"/>
    <p:sldId id="260" r:id="rId3"/>
    <p:sldId id="378" r:id="rId4"/>
    <p:sldId id="383" r:id="rId5"/>
    <p:sldId id="447" r:id="rId6"/>
    <p:sldId id="446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6" r:id="rId16"/>
    <p:sldId id="457" r:id="rId17"/>
    <p:sldId id="458" r:id="rId18"/>
    <p:sldId id="459" r:id="rId19"/>
    <p:sldId id="460" r:id="rId20"/>
    <p:sldId id="461" r:id="rId21"/>
    <p:sldId id="462" r:id="rId22"/>
    <p:sldId id="463" r:id="rId23"/>
    <p:sldId id="464" r:id="rId24"/>
    <p:sldId id="465" r:id="rId25"/>
    <p:sldId id="466" r:id="rId26"/>
    <p:sldId id="467" r:id="rId27"/>
    <p:sldId id="468" r:id="rId28"/>
    <p:sldId id="469" r:id="rId29"/>
    <p:sldId id="379" r:id="rId30"/>
    <p:sldId id="470" r:id="rId31"/>
    <p:sldId id="471" r:id="rId32"/>
    <p:sldId id="472" r:id="rId33"/>
    <p:sldId id="473" r:id="rId34"/>
    <p:sldId id="474" r:id="rId35"/>
    <p:sldId id="475" r:id="rId36"/>
    <p:sldId id="476" r:id="rId37"/>
    <p:sldId id="477" r:id="rId38"/>
    <p:sldId id="478" r:id="rId39"/>
    <p:sldId id="493" r:id="rId40"/>
    <p:sldId id="377" r:id="rId41"/>
    <p:sldId id="479" r:id="rId42"/>
    <p:sldId id="480" r:id="rId43"/>
    <p:sldId id="481" r:id="rId44"/>
    <p:sldId id="482" r:id="rId45"/>
    <p:sldId id="483" r:id="rId46"/>
    <p:sldId id="494" r:id="rId47"/>
    <p:sldId id="380" r:id="rId48"/>
    <p:sldId id="484" r:id="rId49"/>
    <p:sldId id="485" r:id="rId50"/>
    <p:sldId id="486" r:id="rId51"/>
    <p:sldId id="381" r:id="rId52"/>
    <p:sldId id="487" r:id="rId53"/>
    <p:sldId id="488" r:id="rId54"/>
    <p:sldId id="489" r:id="rId55"/>
    <p:sldId id="490" r:id="rId56"/>
    <p:sldId id="491" r:id="rId57"/>
    <p:sldId id="492" r:id="rId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6BE137"/>
    <a:srgbClr val="FFCC99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1" autoAdjust="0"/>
    <p:restoredTop sz="93453" autoAdjust="0"/>
  </p:normalViewPr>
  <p:slideViewPr>
    <p:cSldViewPr snapToGrid="0">
      <p:cViewPr varScale="1">
        <p:scale>
          <a:sx n="90" d="100"/>
          <a:sy n="90" d="100"/>
        </p:scale>
        <p:origin x="53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3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41353-A0F4-4DD2-AF90-B2B2D232929F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74753-AFF2-43A3-98C7-386D01E496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94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656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588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344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967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108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0884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685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330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0846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7502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826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427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8992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996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34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213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081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953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516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99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3735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473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715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49895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5615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82856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4215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3289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0495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4021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9260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7436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72267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2077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64337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6743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9425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3931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31815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72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425187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5100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6135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0188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7797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8321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5680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77285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44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967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891270"/>
      </p:ext>
    </p:extLst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Teaching</a:t>
            </a:r>
            <a:r>
              <a:rPr lang="en-US" altLang="zh-CN" sz="2400" baseline="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analysis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 userDrawn="1"/>
        </p:nvGrpSpPr>
        <p:grpSpPr>
          <a:xfrm>
            <a:off x="4419649" y="-355198"/>
            <a:ext cx="1742672" cy="1397180"/>
            <a:chOff x="3314736" y="-715238"/>
            <a:chExt cx="1307004" cy="1397180"/>
          </a:xfrm>
        </p:grpSpPr>
        <p:grpSp>
          <p:nvGrpSpPr>
            <p:cNvPr id="43" name="组合 42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46" name="圆角矩形 45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4" name="TextBox 43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5" name="TextBox 44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7178841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Teaching</a:t>
            </a:r>
            <a:r>
              <a:rPr lang="en-US" altLang="zh-CN" sz="2400" baseline="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analysis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75100" y="1016710"/>
            <a:ext cx="41623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 userDrawn="1"/>
        </p:nvGrpSpPr>
        <p:grpSpPr>
          <a:xfrm>
            <a:off x="4419649" y="-355198"/>
            <a:ext cx="1742672" cy="1397180"/>
            <a:chOff x="3314736" y="-715238"/>
            <a:chExt cx="1307004" cy="1397180"/>
          </a:xfrm>
        </p:grpSpPr>
        <p:grpSp>
          <p:nvGrpSpPr>
            <p:cNvPr id="43" name="组合 42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46" name="圆角矩形 45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4" name="TextBox 43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5" name="TextBox 44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3251408"/>
      </p:ext>
    </p:extLst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622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instructional strategies</a:t>
            </a:r>
          </a:p>
        </p:txBody>
      </p:sp>
      <p:grpSp>
        <p:nvGrpSpPr>
          <p:cNvPr id="60" name="组合 59"/>
          <p:cNvGrpSpPr/>
          <p:nvPr userDrawn="1"/>
        </p:nvGrpSpPr>
        <p:grpSpPr>
          <a:xfrm>
            <a:off x="6301954" y="-351838"/>
            <a:ext cx="1714296" cy="1394349"/>
            <a:chOff x="4726465" y="-711878"/>
            <a:chExt cx="1285722" cy="1394349"/>
          </a:xfrm>
        </p:grpSpPr>
        <p:grpSp>
          <p:nvGrpSpPr>
            <p:cNvPr id="61" name="组合 60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62" name="TextBox 61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3" name="TextBox 62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5860996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直接连接符 14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 userDrawn="1"/>
        </p:nvGrpSpPr>
        <p:grpSpPr>
          <a:xfrm>
            <a:off x="6301954" y="-351838"/>
            <a:ext cx="1714296" cy="1394349"/>
            <a:chOff x="4726465" y="-711878"/>
            <a:chExt cx="1285722" cy="1394349"/>
          </a:xfrm>
        </p:grpSpPr>
        <p:grpSp>
          <p:nvGrpSpPr>
            <p:cNvPr id="61" name="组合 60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62" name="TextBox 61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3" name="TextBox 62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-28691" y="404665"/>
            <a:ext cx="622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instructional strategies</a:t>
            </a:r>
          </a:p>
        </p:txBody>
      </p:sp>
    </p:spTree>
    <p:extLst>
      <p:ext uri="{BB962C8B-B14F-4D97-AF65-F5344CB8AC3E}">
        <p14:creationId xmlns:p14="http://schemas.microsoft.com/office/powerpoint/2010/main" val="1883280043"/>
      </p:ext>
    </p:extLst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直接连接符 13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teaching process</a:t>
            </a:r>
          </a:p>
        </p:txBody>
      </p:sp>
      <p:grpSp>
        <p:nvGrpSpPr>
          <p:cNvPr id="48" name="组合 47"/>
          <p:cNvGrpSpPr/>
          <p:nvPr userDrawn="1"/>
        </p:nvGrpSpPr>
        <p:grpSpPr>
          <a:xfrm>
            <a:off x="8210957" y="-348031"/>
            <a:ext cx="1714191" cy="1393350"/>
            <a:chOff x="6158217" y="-708071"/>
            <a:chExt cx="1285643" cy="1393350"/>
          </a:xfrm>
        </p:grpSpPr>
        <p:grpSp>
          <p:nvGrpSpPr>
            <p:cNvPr id="49" name="组合 48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52" name="圆角矩形 51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3" name="圆角矩形 52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0" name="TextBox 49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1" name="TextBox 50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3081814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teaching process</a:t>
            </a:r>
          </a:p>
        </p:txBody>
      </p:sp>
      <p:grpSp>
        <p:nvGrpSpPr>
          <p:cNvPr id="48" name="组合 47"/>
          <p:cNvGrpSpPr/>
          <p:nvPr userDrawn="1"/>
        </p:nvGrpSpPr>
        <p:grpSpPr>
          <a:xfrm>
            <a:off x="8210957" y="-348031"/>
            <a:ext cx="1714191" cy="1393350"/>
            <a:chOff x="6158217" y="-708071"/>
            <a:chExt cx="1285643" cy="1393350"/>
          </a:xfrm>
        </p:grpSpPr>
        <p:grpSp>
          <p:nvGrpSpPr>
            <p:cNvPr id="49" name="组合 48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52" name="圆角矩形 51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3" name="圆角矩形 52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0" name="TextBox 49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1" name="TextBox 50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205469"/>
      </p:ext>
    </p:extLst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0" y="404665"/>
            <a:ext cx="4108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Teaching effect</a:t>
            </a: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10128745" y="-340367"/>
            <a:ext cx="1705296" cy="1393103"/>
            <a:chOff x="7596559" y="-700407"/>
            <a:chExt cx="1278972" cy="1393103"/>
          </a:xfrm>
        </p:grpSpPr>
        <p:grpSp>
          <p:nvGrpSpPr>
            <p:cNvPr id="55" name="组合 54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6" name="TextBox 55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7" name="TextBox 56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4569994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0" y="404665"/>
            <a:ext cx="4108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 dirty="0"/>
              <a:t>Teaching effect</a:t>
            </a: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10128745" y="-340367"/>
            <a:ext cx="1705296" cy="1393103"/>
            <a:chOff x="7596559" y="-700407"/>
            <a:chExt cx="1278972" cy="1393103"/>
          </a:xfrm>
        </p:grpSpPr>
        <p:grpSp>
          <p:nvGrpSpPr>
            <p:cNvPr id="55" name="组合 54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6" name="TextBox 55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7" name="TextBox 56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5756373"/>
      </p:ext>
    </p:extLst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836933"/>
      </p:ext>
    </p:extLst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8" y="-14371"/>
            <a:ext cx="2299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  <p:grpSp>
        <p:nvGrpSpPr>
          <p:cNvPr id="59" name="组合 58"/>
          <p:cNvGrpSpPr/>
          <p:nvPr userDrawn="1"/>
        </p:nvGrpSpPr>
        <p:grpSpPr>
          <a:xfrm>
            <a:off x="4419649" y="-715238"/>
            <a:ext cx="1742672" cy="1397180"/>
            <a:chOff x="3314736" y="-715238"/>
            <a:chExt cx="1307004" cy="1397180"/>
          </a:xfrm>
        </p:grpSpPr>
        <p:grpSp>
          <p:nvGrpSpPr>
            <p:cNvPr id="34" name="组合 33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35" name="TextBox 34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6" name="TextBox 35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8210957" y="-708071"/>
            <a:ext cx="1714191" cy="1393350"/>
            <a:chOff x="6158217" y="-708071"/>
            <a:chExt cx="1285643" cy="1393350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43" name="圆角矩形 42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4" name="圆角矩形 43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1" name="TextBox 40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2" name="TextBox 41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  <p:grpSp>
        <p:nvGrpSpPr>
          <p:cNvPr id="62" name="组合 61"/>
          <p:cNvGrpSpPr/>
          <p:nvPr userDrawn="1"/>
        </p:nvGrpSpPr>
        <p:grpSpPr>
          <a:xfrm>
            <a:off x="10128745" y="-700407"/>
            <a:ext cx="1705296" cy="1393103"/>
            <a:chOff x="7596559" y="-700407"/>
            <a:chExt cx="1278972" cy="1393103"/>
          </a:xfrm>
        </p:grpSpPr>
        <p:grpSp>
          <p:nvGrpSpPr>
            <p:cNvPr id="46" name="组合 45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49" name="圆角矩形 48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7" name="TextBox 46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8" name="TextBox 47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  <p:grpSp>
        <p:nvGrpSpPr>
          <p:cNvPr id="60" name="组合 59"/>
          <p:cNvGrpSpPr/>
          <p:nvPr userDrawn="1"/>
        </p:nvGrpSpPr>
        <p:grpSpPr>
          <a:xfrm>
            <a:off x="6301954" y="-711878"/>
            <a:ext cx="1714296" cy="1394349"/>
            <a:chOff x="4726465" y="-711878"/>
            <a:chExt cx="1285722" cy="1394349"/>
          </a:xfrm>
        </p:grpSpPr>
        <p:grpSp>
          <p:nvGrpSpPr>
            <p:cNvPr id="52" name="组合 51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55" name="圆角矩形 54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6" name="圆角矩形 55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3" name="TextBox 52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 dirty="0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542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random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gi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image" Target="../media/image63.tmp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11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-31693"/>
            <a:ext cx="12192001" cy="6870567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AF7CF07-C3D1-48FA-AC1F-1CC74323FA7E}"/>
              </a:ext>
            </a:extLst>
          </p:cNvPr>
          <p:cNvCxnSpPr>
            <a:cxnSpLocks/>
          </p:cNvCxnSpPr>
          <p:nvPr/>
        </p:nvCxnSpPr>
        <p:spPr>
          <a:xfrm>
            <a:off x="2149057" y="3429000"/>
            <a:ext cx="7342288" cy="0"/>
          </a:xfrm>
          <a:prstGeom prst="line">
            <a:avLst/>
          </a:prstGeom>
          <a:ln w="25400">
            <a:solidFill>
              <a:schemeClr val="bg1"/>
            </a:solidFill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reeform 284">
            <a:extLst>
              <a:ext uri="{FF2B5EF4-FFF2-40B4-BE49-F238E27FC236}">
                <a16:creationId xmlns:a16="http://schemas.microsoft.com/office/drawing/2014/main" id="{F0A56CFD-663E-4AFB-BF60-D093C87FDC59}"/>
              </a:ext>
            </a:extLst>
          </p:cNvPr>
          <p:cNvSpPr>
            <a:spLocks noEditPoints="1"/>
          </p:cNvSpPr>
          <p:nvPr/>
        </p:nvSpPr>
        <p:spPr bwMode="auto">
          <a:xfrm>
            <a:off x="8933349" y="4285049"/>
            <a:ext cx="1914405" cy="1419137"/>
          </a:xfrm>
          <a:custGeom>
            <a:avLst/>
            <a:gdLst>
              <a:gd name="T0" fmla="*/ 1 w 85"/>
              <a:gd name="T1" fmla="*/ 0 h 63"/>
              <a:gd name="T2" fmla="*/ 0 w 85"/>
              <a:gd name="T3" fmla="*/ 62 h 63"/>
              <a:gd name="T4" fmla="*/ 16 w 85"/>
              <a:gd name="T5" fmla="*/ 63 h 63"/>
              <a:gd name="T6" fmla="*/ 18 w 85"/>
              <a:gd name="T7" fmla="*/ 1 h 63"/>
              <a:gd name="T8" fmla="*/ 2 w 85"/>
              <a:gd name="T9" fmla="*/ 5 h 63"/>
              <a:gd name="T10" fmla="*/ 14 w 85"/>
              <a:gd name="T11" fmla="*/ 4 h 63"/>
              <a:gd name="T12" fmla="*/ 16 w 85"/>
              <a:gd name="T13" fmla="*/ 28 h 63"/>
              <a:gd name="T14" fmla="*/ 3 w 85"/>
              <a:gd name="T15" fmla="*/ 29 h 63"/>
              <a:gd name="T16" fmla="*/ 2 w 85"/>
              <a:gd name="T17" fmla="*/ 5 h 63"/>
              <a:gd name="T18" fmla="*/ 2 w 85"/>
              <a:gd name="T19" fmla="*/ 56 h 63"/>
              <a:gd name="T20" fmla="*/ 2 w 85"/>
              <a:gd name="T21" fmla="*/ 55 h 63"/>
              <a:gd name="T22" fmla="*/ 16 w 85"/>
              <a:gd name="T23" fmla="*/ 56 h 63"/>
              <a:gd name="T24" fmla="*/ 16 w 85"/>
              <a:gd name="T25" fmla="*/ 52 h 63"/>
              <a:gd name="T26" fmla="*/ 2 w 85"/>
              <a:gd name="T27" fmla="*/ 52 h 63"/>
              <a:gd name="T28" fmla="*/ 16 w 85"/>
              <a:gd name="T29" fmla="*/ 51 h 63"/>
              <a:gd name="T30" fmla="*/ 16 w 85"/>
              <a:gd name="T31" fmla="*/ 52 h 63"/>
              <a:gd name="T32" fmla="*/ 21 w 85"/>
              <a:gd name="T33" fmla="*/ 0 h 63"/>
              <a:gd name="T34" fmla="*/ 19 w 85"/>
              <a:gd name="T35" fmla="*/ 62 h 63"/>
              <a:gd name="T36" fmla="*/ 36 w 85"/>
              <a:gd name="T37" fmla="*/ 63 h 63"/>
              <a:gd name="T38" fmla="*/ 38 w 85"/>
              <a:gd name="T39" fmla="*/ 1 h 63"/>
              <a:gd name="T40" fmla="*/ 22 w 85"/>
              <a:gd name="T41" fmla="*/ 5 h 63"/>
              <a:gd name="T42" fmla="*/ 34 w 85"/>
              <a:gd name="T43" fmla="*/ 4 h 63"/>
              <a:gd name="T44" fmla="*/ 35 w 85"/>
              <a:gd name="T45" fmla="*/ 28 h 63"/>
              <a:gd name="T46" fmla="*/ 23 w 85"/>
              <a:gd name="T47" fmla="*/ 29 h 63"/>
              <a:gd name="T48" fmla="*/ 22 w 85"/>
              <a:gd name="T49" fmla="*/ 5 h 63"/>
              <a:gd name="T50" fmla="*/ 22 w 85"/>
              <a:gd name="T51" fmla="*/ 56 h 63"/>
              <a:gd name="T52" fmla="*/ 22 w 85"/>
              <a:gd name="T53" fmla="*/ 55 h 63"/>
              <a:gd name="T54" fmla="*/ 36 w 85"/>
              <a:gd name="T55" fmla="*/ 56 h 63"/>
              <a:gd name="T56" fmla="*/ 35 w 85"/>
              <a:gd name="T57" fmla="*/ 52 h 63"/>
              <a:gd name="T58" fmla="*/ 21 w 85"/>
              <a:gd name="T59" fmla="*/ 52 h 63"/>
              <a:gd name="T60" fmla="*/ 35 w 85"/>
              <a:gd name="T61" fmla="*/ 51 h 63"/>
              <a:gd name="T62" fmla="*/ 35 w 85"/>
              <a:gd name="T63" fmla="*/ 52 h 63"/>
              <a:gd name="T64" fmla="*/ 53 w 85"/>
              <a:gd name="T65" fmla="*/ 1 h 63"/>
              <a:gd name="T66" fmla="*/ 38 w 85"/>
              <a:gd name="T67" fmla="*/ 9 h 63"/>
              <a:gd name="T68" fmla="*/ 69 w 85"/>
              <a:gd name="T69" fmla="*/ 62 h 63"/>
              <a:gd name="T70" fmla="*/ 84 w 85"/>
              <a:gd name="T71" fmla="*/ 55 h 63"/>
              <a:gd name="T72" fmla="*/ 64 w 85"/>
              <a:gd name="T73" fmla="*/ 27 h 63"/>
              <a:gd name="T74" fmla="*/ 53 w 85"/>
              <a:gd name="T75" fmla="*/ 32 h 63"/>
              <a:gd name="T76" fmla="*/ 42 w 85"/>
              <a:gd name="T77" fmla="*/ 11 h 63"/>
              <a:gd name="T78" fmla="*/ 53 w 85"/>
              <a:gd name="T79" fmla="*/ 6 h 63"/>
              <a:gd name="T80" fmla="*/ 64 w 85"/>
              <a:gd name="T81" fmla="*/ 27 h 63"/>
              <a:gd name="T82" fmla="*/ 66 w 85"/>
              <a:gd name="T83" fmla="*/ 52 h 63"/>
              <a:gd name="T84" fmla="*/ 78 w 85"/>
              <a:gd name="T85" fmla="*/ 46 h 63"/>
              <a:gd name="T86" fmla="*/ 66 w 85"/>
              <a:gd name="T87" fmla="*/ 53 h 63"/>
              <a:gd name="T88" fmla="*/ 80 w 85"/>
              <a:gd name="T89" fmla="*/ 49 h 63"/>
              <a:gd name="T90" fmla="*/ 68 w 85"/>
              <a:gd name="T91" fmla="*/ 56 h 63"/>
              <a:gd name="T92" fmla="*/ 79 w 85"/>
              <a:gd name="T93" fmla="*/ 49 h 63"/>
              <a:gd name="T94" fmla="*/ 80 w 85"/>
              <a:gd name="T95" fmla="*/ 4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5" h="63">
                <a:moveTo>
                  <a:pt x="16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0" y="1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1" y="63"/>
                  <a:pt x="1" y="63"/>
                </a:cubicBezTo>
                <a:cubicBezTo>
                  <a:pt x="16" y="63"/>
                  <a:pt x="16" y="63"/>
                  <a:pt x="16" y="63"/>
                </a:cubicBezTo>
                <a:cubicBezTo>
                  <a:pt x="17" y="63"/>
                  <a:pt x="18" y="62"/>
                  <a:pt x="18" y="62"/>
                </a:cubicBezTo>
                <a:cubicBezTo>
                  <a:pt x="18" y="1"/>
                  <a:pt x="18" y="1"/>
                  <a:pt x="18" y="1"/>
                </a:cubicBezTo>
                <a:cubicBezTo>
                  <a:pt x="18" y="1"/>
                  <a:pt x="17" y="0"/>
                  <a:pt x="16" y="0"/>
                </a:cubicBezTo>
                <a:close/>
                <a:moveTo>
                  <a:pt x="2" y="5"/>
                </a:moveTo>
                <a:cubicBezTo>
                  <a:pt x="2" y="4"/>
                  <a:pt x="3" y="4"/>
                  <a:pt x="3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5" y="4"/>
                  <a:pt x="16" y="4"/>
                  <a:pt x="16" y="5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8"/>
                  <a:pt x="15" y="29"/>
                  <a:pt x="14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29"/>
                  <a:pt x="2" y="28"/>
                  <a:pt x="2" y="28"/>
                </a:cubicBezTo>
                <a:lnTo>
                  <a:pt x="2" y="5"/>
                </a:lnTo>
                <a:close/>
                <a:moveTo>
                  <a:pt x="16" y="56"/>
                </a:moveTo>
                <a:cubicBezTo>
                  <a:pt x="2" y="56"/>
                  <a:pt x="2" y="56"/>
                  <a:pt x="2" y="56"/>
                </a:cubicBezTo>
                <a:cubicBezTo>
                  <a:pt x="2" y="56"/>
                  <a:pt x="2" y="56"/>
                  <a:pt x="2" y="56"/>
                </a:cubicBezTo>
                <a:cubicBezTo>
                  <a:pt x="2" y="55"/>
                  <a:pt x="2" y="55"/>
                  <a:pt x="2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16" y="55"/>
                  <a:pt x="16" y="55"/>
                  <a:pt x="16" y="56"/>
                </a:cubicBezTo>
                <a:cubicBezTo>
                  <a:pt x="16" y="56"/>
                  <a:pt x="16" y="56"/>
                  <a:pt x="16" y="56"/>
                </a:cubicBezTo>
                <a:close/>
                <a:moveTo>
                  <a:pt x="16" y="52"/>
                </a:move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1"/>
                  <a:pt x="2" y="51"/>
                </a:cubicBezTo>
                <a:cubicBezTo>
                  <a:pt x="16" y="51"/>
                  <a:pt x="16" y="51"/>
                  <a:pt x="16" y="51"/>
                </a:cubicBezTo>
                <a:cubicBezTo>
                  <a:pt x="16" y="51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lose/>
                <a:moveTo>
                  <a:pt x="36" y="0"/>
                </a:moveTo>
                <a:cubicBezTo>
                  <a:pt x="21" y="0"/>
                  <a:pt x="21" y="0"/>
                  <a:pt x="21" y="0"/>
                </a:cubicBezTo>
                <a:cubicBezTo>
                  <a:pt x="20" y="0"/>
                  <a:pt x="19" y="1"/>
                  <a:pt x="19" y="1"/>
                </a:cubicBezTo>
                <a:cubicBezTo>
                  <a:pt x="19" y="62"/>
                  <a:pt x="19" y="62"/>
                  <a:pt x="19" y="62"/>
                </a:cubicBezTo>
                <a:cubicBezTo>
                  <a:pt x="19" y="62"/>
                  <a:pt x="20" y="63"/>
                  <a:pt x="21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7" y="63"/>
                  <a:pt x="38" y="62"/>
                  <a:pt x="38" y="62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1"/>
                  <a:pt x="37" y="0"/>
                  <a:pt x="36" y="0"/>
                </a:cubicBezTo>
                <a:close/>
                <a:moveTo>
                  <a:pt x="22" y="5"/>
                </a:moveTo>
                <a:cubicBezTo>
                  <a:pt x="22" y="4"/>
                  <a:pt x="22" y="4"/>
                  <a:pt x="23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5"/>
                </a:cubicBezTo>
                <a:cubicBezTo>
                  <a:pt x="35" y="28"/>
                  <a:pt x="35" y="28"/>
                  <a:pt x="35" y="28"/>
                </a:cubicBezTo>
                <a:cubicBezTo>
                  <a:pt x="35" y="28"/>
                  <a:pt x="35" y="29"/>
                  <a:pt x="34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2" y="29"/>
                  <a:pt x="22" y="28"/>
                  <a:pt x="22" y="28"/>
                </a:cubicBezTo>
                <a:lnTo>
                  <a:pt x="22" y="5"/>
                </a:lnTo>
                <a:close/>
                <a:moveTo>
                  <a:pt x="35" y="56"/>
                </a:moveTo>
                <a:cubicBezTo>
                  <a:pt x="22" y="56"/>
                  <a:pt x="22" y="56"/>
                  <a:pt x="22" y="56"/>
                </a:cubicBezTo>
                <a:cubicBezTo>
                  <a:pt x="22" y="56"/>
                  <a:pt x="21" y="56"/>
                  <a:pt x="21" y="56"/>
                </a:cubicBezTo>
                <a:cubicBezTo>
                  <a:pt x="21" y="55"/>
                  <a:pt x="22" y="55"/>
                  <a:pt x="22" y="55"/>
                </a:cubicBezTo>
                <a:cubicBezTo>
                  <a:pt x="35" y="55"/>
                  <a:pt x="35" y="55"/>
                  <a:pt x="35" y="55"/>
                </a:cubicBezTo>
                <a:cubicBezTo>
                  <a:pt x="35" y="55"/>
                  <a:pt x="36" y="55"/>
                  <a:pt x="36" y="56"/>
                </a:cubicBezTo>
                <a:cubicBezTo>
                  <a:pt x="36" y="56"/>
                  <a:pt x="35" y="56"/>
                  <a:pt x="35" y="56"/>
                </a:cubicBezTo>
                <a:close/>
                <a:moveTo>
                  <a:pt x="35" y="52"/>
                </a:moveTo>
                <a:cubicBezTo>
                  <a:pt x="22" y="52"/>
                  <a:pt x="22" y="52"/>
                  <a:pt x="22" y="52"/>
                </a:cubicBezTo>
                <a:cubicBezTo>
                  <a:pt x="22" y="52"/>
                  <a:pt x="21" y="52"/>
                  <a:pt x="21" y="52"/>
                </a:cubicBezTo>
                <a:cubicBezTo>
                  <a:pt x="21" y="52"/>
                  <a:pt x="22" y="51"/>
                  <a:pt x="22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6" y="52"/>
                  <a:pt x="36" y="52"/>
                </a:cubicBezTo>
                <a:cubicBezTo>
                  <a:pt x="36" y="52"/>
                  <a:pt x="35" y="52"/>
                  <a:pt x="35" y="52"/>
                </a:cubicBezTo>
                <a:close/>
                <a:moveTo>
                  <a:pt x="85" y="53"/>
                </a:moveTo>
                <a:cubicBezTo>
                  <a:pt x="53" y="1"/>
                  <a:pt x="53" y="1"/>
                  <a:pt x="53" y="1"/>
                </a:cubicBezTo>
                <a:cubicBezTo>
                  <a:pt x="53" y="1"/>
                  <a:pt x="52" y="1"/>
                  <a:pt x="51" y="1"/>
                </a:cubicBezTo>
                <a:cubicBezTo>
                  <a:pt x="38" y="9"/>
                  <a:pt x="38" y="9"/>
                  <a:pt x="38" y="9"/>
                </a:cubicBezTo>
                <a:cubicBezTo>
                  <a:pt x="38" y="10"/>
                  <a:pt x="37" y="10"/>
                  <a:pt x="38" y="11"/>
                </a:cubicBezTo>
                <a:cubicBezTo>
                  <a:pt x="69" y="62"/>
                  <a:pt x="69" y="62"/>
                  <a:pt x="69" y="62"/>
                </a:cubicBezTo>
                <a:cubicBezTo>
                  <a:pt x="70" y="63"/>
                  <a:pt x="70" y="63"/>
                  <a:pt x="71" y="62"/>
                </a:cubicBezTo>
                <a:cubicBezTo>
                  <a:pt x="84" y="55"/>
                  <a:pt x="84" y="55"/>
                  <a:pt x="84" y="55"/>
                </a:cubicBezTo>
                <a:cubicBezTo>
                  <a:pt x="85" y="54"/>
                  <a:pt x="85" y="53"/>
                  <a:pt x="85" y="53"/>
                </a:cubicBezTo>
                <a:close/>
                <a:moveTo>
                  <a:pt x="64" y="27"/>
                </a:moveTo>
                <a:cubicBezTo>
                  <a:pt x="55" y="32"/>
                  <a:pt x="55" y="32"/>
                  <a:pt x="55" y="32"/>
                </a:cubicBezTo>
                <a:cubicBezTo>
                  <a:pt x="54" y="33"/>
                  <a:pt x="54" y="33"/>
                  <a:pt x="53" y="32"/>
                </a:cubicBezTo>
                <a:cubicBezTo>
                  <a:pt x="42" y="13"/>
                  <a:pt x="42" y="13"/>
                  <a:pt x="42" y="13"/>
                </a:cubicBezTo>
                <a:cubicBezTo>
                  <a:pt x="41" y="12"/>
                  <a:pt x="41" y="11"/>
                  <a:pt x="42" y="11"/>
                </a:cubicBezTo>
                <a:cubicBezTo>
                  <a:pt x="51" y="5"/>
                  <a:pt x="51" y="5"/>
                  <a:pt x="51" y="5"/>
                </a:cubicBezTo>
                <a:cubicBezTo>
                  <a:pt x="52" y="5"/>
                  <a:pt x="53" y="5"/>
                  <a:pt x="53" y="6"/>
                </a:cubicBezTo>
                <a:cubicBezTo>
                  <a:pt x="65" y="25"/>
                  <a:pt x="65" y="25"/>
                  <a:pt x="65" y="25"/>
                </a:cubicBezTo>
                <a:cubicBezTo>
                  <a:pt x="65" y="26"/>
                  <a:pt x="65" y="26"/>
                  <a:pt x="64" y="27"/>
                </a:cubicBezTo>
                <a:close/>
                <a:moveTo>
                  <a:pt x="66" y="53"/>
                </a:moveTo>
                <a:cubicBezTo>
                  <a:pt x="66" y="53"/>
                  <a:pt x="66" y="53"/>
                  <a:pt x="66" y="52"/>
                </a:cubicBezTo>
                <a:cubicBezTo>
                  <a:pt x="77" y="45"/>
                  <a:pt x="77" y="45"/>
                  <a:pt x="77" y="45"/>
                </a:cubicBezTo>
                <a:cubicBezTo>
                  <a:pt x="78" y="45"/>
                  <a:pt x="78" y="45"/>
                  <a:pt x="78" y="46"/>
                </a:cubicBezTo>
                <a:cubicBezTo>
                  <a:pt x="78" y="46"/>
                  <a:pt x="78" y="46"/>
                  <a:pt x="78" y="46"/>
                </a:cubicBezTo>
                <a:cubicBezTo>
                  <a:pt x="66" y="53"/>
                  <a:pt x="66" y="53"/>
                  <a:pt x="66" y="53"/>
                </a:cubicBezTo>
                <a:cubicBezTo>
                  <a:pt x="66" y="53"/>
                  <a:pt x="66" y="53"/>
                  <a:pt x="66" y="53"/>
                </a:cubicBezTo>
                <a:close/>
                <a:moveTo>
                  <a:pt x="80" y="49"/>
                </a:move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79" y="49"/>
                  <a:pt x="79" y="49"/>
                  <a:pt x="79" y="49"/>
                </a:cubicBezTo>
                <a:cubicBezTo>
                  <a:pt x="80" y="48"/>
                  <a:pt x="80" y="49"/>
                  <a:pt x="80" y="49"/>
                </a:cubicBezTo>
                <a:cubicBezTo>
                  <a:pt x="80" y="49"/>
                  <a:pt x="80" y="49"/>
                  <a:pt x="80" y="49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3D44ABC1-E21D-46A6-AF90-9746A111A621}"/>
              </a:ext>
            </a:extLst>
          </p:cNvPr>
          <p:cNvGrpSpPr/>
          <p:nvPr/>
        </p:nvGrpSpPr>
        <p:grpSpPr>
          <a:xfrm>
            <a:off x="-17094" y="-399144"/>
            <a:ext cx="863598" cy="7656288"/>
            <a:chOff x="-11273" y="-594773"/>
            <a:chExt cx="719786" cy="7462505"/>
          </a:xfrm>
        </p:grpSpPr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9D978FFE-21AB-4973-AC5C-6DDD0B0417D6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5920837E-20BF-4C1A-AB52-C42C213E6CEF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2E2B046E-4F44-45B0-81C6-0C98BE11AEBD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54F5B9E1-B9C4-4E6A-BAC8-B698C4D76C19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A05BE209-FBDF-4191-8712-F6215DE4CD3A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0" name="等腰三角形 79">
              <a:extLst>
                <a:ext uri="{FF2B5EF4-FFF2-40B4-BE49-F238E27FC236}">
                  <a16:creationId xmlns:a16="http://schemas.microsoft.com/office/drawing/2014/main" id="{7315F6CE-D3BC-4B15-B5E6-653ED8A8DBA5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1" name="等腰三角形 80">
              <a:extLst>
                <a:ext uri="{FF2B5EF4-FFF2-40B4-BE49-F238E27FC236}">
                  <a16:creationId xmlns:a16="http://schemas.microsoft.com/office/drawing/2014/main" id="{8A69D79C-1A42-4021-82FC-6331F9AA87D6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2" name="等腰三角形 81">
              <a:extLst>
                <a:ext uri="{FF2B5EF4-FFF2-40B4-BE49-F238E27FC236}">
                  <a16:creationId xmlns:a16="http://schemas.microsoft.com/office/drawing/2014/main" id="{ABB0925A-C905-4AEB-A7B9-2A4A52B649B8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id="{8AAF126E-DD1E-4E03-AA7D-C0E9D162295B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5" name="TextBox 1">
            <a:extLst>
              <a:ext uri="{FF2B5EF4-FFF2-40B4-BE49-F238E27FC236}">
                <a16:creationId xmlns:a16="http://schemas.microsoft.com/office/drawing/2014/main" id="{9CD66783-D6B8-4855-929A-848959D1A623}"/>
              </a:ext>
            </a:extLst>
          </p:cNvPr>
          <p:cNvSpPr txBox="1"/>
          <p:nvPr/>
        </p:nvSpPr>
        <p:spPr>
          <a:xfrm>
            <a:off x="2149057" y="2472030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列表与元组</a:t>
            </a:r>
          </a:p>
        </p:txBody>
      </p:sp>
    </p:spTree>
    <p:extLst>
      <p:ext uri="{BB962C8B-B14F-4D97-AF65-F5344CB8AC3E}">
        <p14:creationId xmlns:p14="http://schemas.microsoft.com/office/powerpoint/2010/main" val="1960538721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0" tmFilter="0,0; .5, 1; 1, 1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9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椭圆 7">
            <a:extLst>
              <a:ext uri="{FF2B5EF4-FFF2-40B4-BE49-F238E27FC236}">
                <a16:creationId xmlns:a16="http://schemas.microsoft.com/office/drawing/2014/main" id="{3A8C2EE4-2B9A-42DB-AD7B-7A8932BB106A}"/>
              </a:ext>
            </a:extLst>
          </p:cNvPr>
          <p:cNvSpPr/>
          <p:nvPr/>
        </p:nvSpPr>
        <p:spPr>
          <a:xfrm rot="5400000">
            <a:off x="2087856" y="3245736"/>
            <a:ext cx="3917626" cy="1075002"/>
          </a:xfrm>
          <a:custGeom>
            <a:avLst/>
            <a:gdLst>
              <a:gd name="connsiteX0" fmla="*/ 5141438 w 5232878"/>
              <a:gd name="connsiteY0" fmla="*/ 0 h 1208638"/>
              <a:gd name="connsiteX1" fmla="*/ 2570719 w 5232878"/>
              <a:gd name="connsiteY1" fmla="*/ 1208638 h 1208638"/>
              <a:gd name="connsiteX2" fmla="*/ 0 w 5232878"/>
              <a:gd name="connsiteY2" fmla="*/ 0 h 1208638"/>
              <a:gd name="connsiteX3" fmla="*/ 5232878 w 5232878"/>
              <a:gd name="connsiteY3" fmla="*/ 91440 h 1208638"/>
              <a:gd name="connsiteX0-1" fmla="*/ 5141438 w 5141438"/>
              <a:gd name="connsiteY0-2" fmla="*/ 0 h 1208638"/>
              <a:gd name="connsiteX1-3" fmla="*/ 2570719 w 5141438"/>
              <a:gd name="connsiteY1-4" fmla="*/ 1208638 h 1208638"/>
              <a:gd name="connsiteX2-5" fmla="*/ 0 w 5141438"/>
              <a:gd name="connsiteY2-6" fmla="*/ 0 h 12086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141438" h="1208638">
                <a:moveTo>
                  <a:pt x="5141438" y="0"/>
                </a:moveTo>
                <a:cubicBezTo>
                  <a:pt x="4741027" y="708082"/>
                  <a:pt x="3740838" y="1208638"/>
                  <a:pt x="2570719" y="1208638"/>
                </a:cubicBezTo>
                <a:cubicBezTo>
                  <a:pt x="1400600" y="1208638"/>
                  <a:pt x="400411" y="708082"/>
                  <a:pt x="0" y="0"/>
                </a:cubicBez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4" rIns="91428" bIns="4571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2354994" cy="504056"/>
            <a:chOff x="169526" y="203448"/>
            <a:chExt cx="2354994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1743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E6787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本 章 提 要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/>
                  <a:cs typeface="+mn-cs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/>
                  <a:cs typeface="+mn-cs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椭圆 7">
            <a:extLst>
              <a:ext uri="{FF2B5EF4-FFF2-40B4-BE49-F238E27FC236}">
                <a16:creationId xmlns:a16="http://schemas.microsoft.com/office/drawing/2014/main" id="{3C7760C4-4887-47A5-8107-41BE4B705798}"/>
              </a:ext>
            </a:extLst>
          </p:cNvPr>
          <p:cNvSpPr/>
          <p:nvPr/>
        </p:nvSpPr>
        <p:spPr>
          <a:xfrm rot="5400000" flipV="1">
            <a:off x="6560390" y="3157532"/>
            <a:ext cx="3917624" cy="1148198"/>
          </a:xfrm>
          <a:custGeom>
            <a:avLst/>
            <a:gdLst>
              <a:gd name="connsiteX0" fmla="*/ 5141438 w 5232878"/>
              <a:gd name="connsiteY0" fmla="*/ 0 h 1208638"/>
              <a:gd name="connsiteX1" fmla="*/ 2570719 w 5232878"/>
              <a:gd name="connsiteY1" fmla="*/ 1208638 h 1208638"/>
              <a:gd name="connsiteX2" fmla="*/ 0 w 5232878"/>
              <a:gd name="connsiteY2" fmla="*/ 0 h 1208638"/>
              <a:gd name="connsiteX3" fmla="*/ 5232878 w 5232878"/>
              <a:gd name="connsiteY3" fmla="*/ 91440 h 1208638"/>
              <a:gd name="connsiteX0-1" fmla="*/ 5141438 w 5141438"/>
              <a:gd name="connsiteY0-2" fmla="*/ 0 h 1208638"/>
              <a:gd name="connsiteX1-3" fmla="*/ 2570719 w 5141438"/>
              <a:gd name="connsiteY1-4" fmla="*/ 1208638 h 1208638"/>
              <a:gd name="connsiteX2-5" fmla="*/ 0 w 5141438"/>
              <a:gd name="connsiteY2-6" fmla="*/ 0 h 12086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141438" h="1208638">
                <a:moveTo>
                  <a:pt x="5141438" y="0"/>
                </a:moveTo>
                <a:cubicBezTo>
                  <a:pt x="4741027" y="708082"/>
                  <a:pt x="3740838" y="1208638"/>
                  <a:pt x="2570719" y="1208638"/>
                </a:cubicBezTo>
                <a:cubicBezTo>
                  <a:pt x="1400600" y="1208638"/>
                  <a:pt x="400411" y="708082"/>
                  <a:pt x="0" y="0"/>
                </a:cubicBez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4" rIns="91428" bIns="4571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976B71A-242C-4AF1-B19D-79D1C50C26F9}"/>
              </a:ext>
            </a:extLst>
          </p:cNvPr>
          <p:cNvCxnSpPr>
            <a:cxnSpLocks/>
          </p:cNvCxnSpPr>
          <p:nvPr/>
        </p:nvCxnSpPr>
        <p:spPr>
          <a:xfrm>
            <a:off x="3799219" y="3696928"/>
            <a:ext cx="494961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40">
            <a:extLst>
              <a:ext uri="{FF2B5EF4-FFF2-40B4-BE49-F238E27FC236}">
                <a16:creationId xmlns:a16="http://schemas.microsoft.com/office/drawing/2014/main" id="{F869DB1D-BA19-4502-A7B4-B36F519E1637}"/>
              </a:ext>
            </a:extLst>
          </p:cNvPr>
          <p:cNvSpPr txBox="1"/>
          <p:nvPr/>
        </p:nvSpPr>
        <p:spPr>
          <a:xfrm>
            <a:off x="898158" y="2148349"/>
            <a:ext cx="1943963" cy="35720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sz="1467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列表与列表操作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TextBox 41">
            <a:extLst>
              <a:ext uri="{FF2B5EF4-FFF2-40B4-BE49-F238E27FC236}">
                <a16:creationId xmlns:a16="http://schemas.microsoft.com/office/drawing/2014/main" id="{38503611-A151-4383-BC43-5D22E53A63B2}"/>
              </a:ext>
            </a:extLst>
          </p:cNvPr>
          <p:cNvSpPr txBox="1"/>
          <p:nvPr/>
        </p:nvSpPr>
        <p:spPr>
          <a:xfrm>
            <a:off x="853975" y="4218664"/>
            <a:ext cx="1943963" cy="35720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zh-CN" altLang="en-US" sz="1467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数值列表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TextBox 42">
            <a:extLst>
              <a:ext uri="{FF2B5EF4-FFF2-40B4-BE49-F238E27FC236}">
                <a16:creationId xmlns:a16="http://schemas.microsoft.com/office/drawing/2014/main" id="{A2FEA3FD-41CA-4442-8F40-F5E012005257}"/>
              </a:ext>
            </a:extLst>
          </p:cNvPr>
          <p:cNvSpPr txBox="1"/>
          <p:nvPr/>
        </p:nvSpPr>
        <p:spPr>
          <a:xfrm>
            <a:off x="9607602" y="4218664"/>
            <a:ext cx="1943963" cy="35720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zh-CN" altLang="en-US" sz="1467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元组与元组操作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TextBox 43">
            <a:extLst>
              <a:ext uri="{FF2B5EF4-FFF2-40B4-BE49-F238E27FC236}">
                <a16:creationId xmlns:a16="http://schemas.microsoft.com/office/drawing/2014/main" id="{C119E0E4-E4B1-453F-86AD-10A64C128094}"/>
              </a:ext>
            </a:extLst>
          </p:cNvPr>
          <p:cNvSpPr txBox="1"/>
          <p:nvPr/>
        </p:nvSpPr>
        <p:spPr>
          <a:xfrm>
            <a:off x="9570940" y="2071127"/>
            <a:ext cx="1943963" cy="357202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zh-CN" altLang="en-US" sz="1467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序列转换函数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215802A-6EDC-4541-A486-8F58F9CBFAE8}"/>
              </a:ext>
            </a:extLst>
          </p:cNvPr>
          <p:cNvGrpSpPr/>
          <p:nvPr/>
        </p:nvGrpSpPr>
        <p:grpSpPr>
          <a:xfrm>
            <a:off x="5317554" y="2650555"/>
            <a:ext cx="1912944" cy="1912942"/>
            <a:chOff x="2690253" y="1702153"/>
            <a:chExt cx="4123259" cy="41232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FA34BCC7-2EA8-43D4-9B32-E46D07E5EEE4}"/>
                </a:ext>
              </a:extLst>
            </p:cNvPr>
            <p:cNvGrpSpPr/>
            <p:nvPr/>
          </p:nvGrpSpPr>
          <p:grpSpPr>
            <a:xfrm>
              <a:off x="2690253" y="1702153"/>
              <a:ext cx="4123259" cy="4123256"/>
              <a:chOff x="2690253" y="1702153"/>
              <a:chExt cx="4123259" cy="4123256"/>
            </a:xfrm>
          </p:grpSpPr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142BCF96-0059-4A7D-BF41-A28F1DFBBB39}"/>
                  </a:ext>
                </a:extLst>
              </p:cNvPr>
              <p:cNvSpPr/>
              <p:nvPr/>
            </p:nvSpPr>
            <p:spPr>
              <a:xfrm>
                <a:off x="2690253" y="1702153"/>
                <a:ext cx="4123259" cy="412325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5E7E5D62-7BF7-49F1-B86A-D60E934BA3E1}"/>
                  </a:ext>
                </a:extLst>
              </p:cNvPr>
              <p:cNvSpPr/>
              <p:nvPr/>
            </p:nvSpPr>
            <p:spPr>
              <a:xfrm>
                <a:off x="2936823" y="1948721"/>
                <a:ext cx="3630119" cy="3630119"/>
              </a:xfrm>
              <a:prstGeom prst="ellipse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7" name="文本框 91">
              <a:extLst>
                <a:ext uri="{FF2B5EF4-FFF2-40B4-BE49-F238E27FC236}">
                  <a16:creationId xmlns:a16="http://schemas.microsoft.com/office/drawing/2014/main" id="{42FBEE05-2DB2-4082-BF2A-3E7EA5E121B7}"/>
                </a:ext>
              </a:extLst>
            </p:cNvPr>
            <p:cNvSpPr txBox="1"/>
            <p:nvPr/>
          </p:nvSpPr>
          <p:spPr>
            <a:xfrm>
              <a:off x="3786397" y="2727750"/>
              <a:ext cx="1945966" cy="20565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本章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提要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61A192E-E421-4112-882F-5682C87F73CB}"/>
              </a:ext>
            </a:extLst>
          </p:cNvPr>
          <p:cNvGrpSpPr/>
          <p:nvPr/>
        </p:nvGrpSpPr>
        <p:grpSpPr>
          <a:xfrm>
            <a:off x="3047902" y="2036744"/>
            <a:ext cx="1075004" cy="1075004"/>
            <a:chOff x="3724322" y="1908536"/>
            <a:chExt cx="1329153" cy="1329153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6FE42C3E-1386-4CBD-967B-077E22415C23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487DB677-506C-4636-95E5-952F8B43EB1E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B3DF63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CEDE32A8-4D89-4249-AD42-F25BA10942DD}"/>
              </a:ext>
            </a:extLst>
          </p:cNvPr>
          <p:cNvGrpSpPr/>
          <p:nvPr/>
        </p:nvGrpSpPr>
        <p:grpSpPr>
          <a:xfrm>
            <a:off x="3104669" y="4171535"/>
            <a:ext cx="1075004" cy="1075004"/>
            <a:chOff x="3724322" y="1908536"/>
            <a:chExt cx="1329153" cy="1329153"/>
          </a:xfrm>
        </p:grpSpPr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9D4791D8-DE6A-4A95-A9FA-6C3168D0AC7B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519FBF7B-0931-42FF-888B-E761129BC34F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35FD89B6-5181-4F6A-A928-875CB9000AA6}"/>
              </a:ext>
            </a:extLst>
          </p:cNvPr>
          <p:cNvGrpSpPr/>
          <p:nvPr/>
        </p:nvGrpSpPr>
        <p:grpSpPr>
          <a:xfrm>
            <a:off x="8393326" y="4116265"/>
            <a:ext cx="1075004" cy="1075004"/>
            <a:chOff x="3724322" y="1908536"/>
            <a:chExt cx="1329153" cy="1329153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92B14FA6-06C5-4841-A835-2E7C3D5D3B4C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9D2A4DB5-C452-4DAF-9F6B-B08CA8C50CA4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B3DF63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A6BDEFAF-0EC8-4F6B-A627-8B584F4F4C33}"/>
              </a:ext>
            </a:extLst>
          </p:cNvPr>
          <p:cNvGrpSpPr/>
          <p:nvPr/>
        </p:nvGrpSpPr>
        <p:grpSpPr>
          <a:xfrm>
            <a:off x="8393326" y="2051366"/>
            <a:ext cx="1075004" cy="1075004"/>
            <a:chOff x="3724322" y="1908536"/>
            <a:chExt cx="1329153" cy="1329153"/>
          </a:xfrm>
        </p:grpSpPr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C09D814B-D105-406C-BA26-E1FBA153853C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B26D371A-687A-4755-9DE7-17D904BA3BEA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72C7749E-8273-4941-B492-D30403CF175A}"/>
              </a:ext>
            </a:extLst>
          </p:cNvPr>
          <p:cNvSpPr/>
          <p:nvPr/>
        </p:nvSpPr>
        <p:spPr>
          <a:xfrm>
            <a:off x="3982208" y="3274959"/>
            <a:ext cx="1229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A8FBD">
                    <a:lumMod val="75000"/>
                  </a:srgb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微软雅黑"/>
                <a:ea typeface="微软雅黑"/>
                <a:cs typeface="+mn-cs"/>
              </a:rPr>
              <a:t>前置课程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2A8FBD">
                  <a:lumMod val="75000"/>
                </a:srgb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8B8E8A0-6BB6-406D-B3C8-0A6A03104885}"/>
              </a:ext>
            </a:extLst>
          </p:cNvPr>
          <p:cNvSpPr/>
          <p:nvPr/>
        </p:nvSpPr>
        <p:spPr>
          <a:xfrm>
            <a:off x="7277833" y="3804217"/>
            <a:ext cx="12696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6787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微软雅黑"/>
                <a:ea typeface="微软雅黑"/>
                <a:cs typeface="+mn-cs"/>
              </a:rPr>
              <a:t>后续课程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189FCAB-68BA-40F7-9EFB-BFB95E60AC66}"/>
              </a:ext>
            </a:extLst>
          </p:cNvPr>
          <p:cNvGrpSpPr/>
          <p:nvPr/>
        </p:nvGrpSpPr>
        <p:grpSpPr>
          <a:xfrm>
            <a:off x="3286488" y="2373761"/>
            <a:ext cx="504825" cy="430213"/>
            <a:chOff x="3898900" y="152401"/>
            <a:chExt cx="504825" cy="43021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3" name="Freeform 92">
              <a:extLst>
                <a:ext uri="{FF2B5EF4-FFF2-40B4-BE49-F238E27FC236}">
                  <a16:creationId xmlns:a16="http://schemas.microsoft.com/office/drawing/2014/main" id="{81214D62-709E-4C10-A2AD-41123A6E0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825" y="481013"/>
              <a:ext cx="179388" cy="61913"/>
            </a:xfrm>
            <a:custGeom>
              <a:avLst/>
              <a:gdLst>
                <a:gd name="T0" fmla="*/ 3 w 113"/>
                <a:gd name="T1" fmla="*/ 0 h 39"/>
                <a:gd name="T2" fmla="*/ 0 w 113"/>
                <a:gd name="T3" fmla="*/ 39 h 39"/>
                <a:gd name="T4" fmla="*/ 113 w 113"/>
                <a:gd name="T5" fmla="*/ 39 h 39"/>
                <a:gd name="T6" fmla="*/ 111 w 113"/>
                <a:gd name="T7" fmla="*/ 0 h 39"/>
                <a:gd name="T8" fmla="*/ 3 w 113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39">
                  <a:moveTo>
                    <a:pt x="3" y="0"/>
                  </a:moveTo>
                  <a:lnTo>
                    <a:pt x="0" y="39"/>
                  </a:lnTo>
                  <a:lnTo>
                    <a:pt x="113" y="39"/>
                  </a:lnTo>
                  <a:lnTo>
                    <a:pt x="111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44" name="Freeform 93">
              <a:extLst>
                <a:ext uri="{FF2B5EF4-FFF2-40B4-BE49-F238E27FC236}">
                  <a16:creationId xmlns:a16="http://schemas.microsoft.com/office/drawing/2014/main" id="{9EABBAE3-6690-47C2-B58E-B08101D3B7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8900" y="152401"/>
              <a:ext cx="504825" cy="312738"/>
            </a:xfrm>
            <a:custGeom>
              <a:avLst/>
              <a:gdLst>
                <a:gd name="T0" fmla="*/ 213 w 318"/>
                <a:gd name="T1" fmla="*/ 197 h 197"/>
                <a:gd name="T2" fmla="*/ 318 w 318"/>
                <a:gd name="T3" fmla="*/ 197 h 197"/>
                <a:gd name="T4" fmla="*/ 318 w 318"/>
                <a:gd name="T5" fmla="*/ 0 h 197"/>
                <a:gd name="T6" fmla="*/ 0 w 318"/>
                <a:gd name="T7" fmla="*/ 0 h 197"/>
                <a:gd name="T8" fmla="*/ 0 w 318"/>
                <a:gd name="T9" fmla="*/ 197 h 197"/>
                <a:gd name="T10" fmla="*/ 105 w 318"/>
                <a:gd name="T11" fmla="*/ 197 h 197"/>
                <a:gd name="T12" fmla="*/ 213 w 318"/>
                <a:gd name="T13" fmla="*/ 197 h 197"/>
                <a:gd name="T14" fmla="*/ 28 w 318"/>
                <a:gd name="T15" fmla="*/ 174 h 197"/>
                <a:gd name="T16" fmla="*/ 28 w 318"/>
                <a:gd name="T17" fmla="*/ 25 h 197"/>
                <a:gd name="T18" fmla="*/ 288 w 318"/>
                <a:gd name="T19" fmla="*/ 25 h 197"/>
                <a:gd name="T20" fmla="*/ 288 w 318"/>
                <a:gd name="T21" fmla="*/ 174 h 197"/>
                <a:gd name="T22" fmla="*/ 212 w 318"/>
                <a:gd name="T23" fmla="*/ 174 h 197"/>
                <a:gd name="T24" fmla="*/ 106 w 318"/>
                <a:gd name="T25" fmla="*/ 174 h 197"/>
                <a:gd name="T26" fmla="*/ 28 w 318"/>
                <a:gd name="T27" fmla="*/ 17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8" h="197">
                  <a:moveTo>
                    <a:pt x="213" y="197"/>
                  </a:moveTo>
                  <a:lnTo>
                    <a:pt x="318" y="197"/>
                  </a:lnTo>
                  <a:lnTo>
                    <a:pt x="318" y="0"/>
                  </a:lnTo>
                  <a:lnTo>
                    <a:pt x="0" y="0"/>
                  </a:lnTo>
                  <a:lnTo>
                    <a:pt x="0" y="197"/>
                  </a:lnTo>
                  <a:lnTo>
                    <a:pt x="105" y="197"/>
                  </a:lnTo>
                  <a:lnTo>
                    <a:pt x="213" y="197"/>
                  </a:lnTo>
                  <a:close/>
                  <a:moveTo>
                    <a:pt x="28" y="174"/>
                  </a:moveTo>
                  <a:lnTo>
                    <a:pt x="28" y="25"/>
                  </a:lnTo>
                  <a:lnTo>
                    <a:pt x="288" y="25"/>
                  </a:lnTo>
                  <a:lnTo>
                    <a:pt x="288" y="174"/>
                  </a:lnTo>
                  <a:lnTo>
                    <a:pt x="212" y="174"/>
                  </a:lnTo>
                  <a:lnTo>
                    <a:pt x="106" y="174"/>
                  </a:lnTo>
                  <a:lnTo>
                    <a:pt x="28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45" name="Freeform 94">
              <a:extLst>
                <a:ext uri="{FF2B5EF4-FFF2-40B4-BE49-F238E27FC236}">
                  <a16:creationId xmlns:a16="http://schemas.microsoft.com/office/drawing/2014/main" id="{21C427F7-DB37-4571-B957-AA639A9BC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488" y="558801"/>
              <a:ext cx="247650" cy="23813"/>
            </a:xfrm>
            <a:custGeom>
              <a:avLst/>
              <a:gdLst>
                <a:gd name="T0" fmla="*/ 0 w 156"/>
                <a:gd name="T1" fmla="*/ 0 h 15"/>
                <a:gd name="T2" fmla="*/ 0 w 156"/>
                <a:gd name="T3" fmla="*/ 15 h 15"/>
                <a:gd name="T4" fmla="*/ 156 w 156"/>
                <a:gd name="T5" fmla="*/ 15 h 15"/>
                <a:gd name="T6" fmla="*/ 156 w 156"/>
                <a:gd name="T7" fmla="*/ 0 h 15"/>
                <a:gd name="T8" fmla="*/ 134 w 156"/>
                <a:gd name="T9" fmla="*/ 0 h 15"/>
                <a:gd name="T10" fmla="*/ 21 w 156"/>
                <a:gd name="T11" fmla="*/ 0 h 15"/>
                <a:gd name="T12" fmla="*/ 0 w 156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6" h="15">
                  <a:moveTo>
                    <a:pt x="0" y="0"/>
                  </a:moveTo>
                  <a:lnTo>
                    <a:pt x="0" y="15"/>
                  </a:lnTo>
                  <a:lnTo>
                    <a:pt x="156" y="15"/>
                  </a:lnTo>
                  <a:lnTo>
                    <a:pt x="156" y="0"/>
                  </a:lnTo>
                  <a:lnTo>
                    <a:pt x="134" y="0"/>
                  </a:lnTo>
                  <a:lnTo>
                    <a:pt x="2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sp>
        <p:nvSpPr>
          <p:cNvPr id="46" name="Freeform 50">
            <a:extLst>
              <a:ext uri="{FF2B5EF4-FFF2-40B4-BE49-F238E27FC236}">
                <a16:creationId xmlns:a16="http://schemas.microsoft.com/office/drawing/2014/main" id="{02332D00-66BD-47AA-9128-70307C6C8BC7}"/>
              </a:ext>
            </a:extLst>
          </p:cNvPr>
          <p:cNvSpPr>
            <a:spLocks noEditPoints="1"/>
          </p:cNvSpPr>
          <p:nvPr/>
        </p:nvSpPr>
        <p:spPr bwMode="auto">
          <a:xfrm>
            <a:off x="3415158" y="4444852"/>
            <a:ext cx="454025" cy="549275"/>
          </a:xfrm>
          <a:custGeom>
            <a:avLst/>
            <a:gdLst>
              <a:gd name="T0" fmla="*/ 0 w 195"/>
              <a:gd name="T1" fmla="*/ 235 h 235"/>
              <a:gd name="T2" fmla="*/ 48 w 195"/>
              <a:gd name="T3" fmla="*/ 183 h 235"/>
              <a:gd name="T4" fmla="*/ 195 w 195"/>
              <a:gd name="T5" fmla="*/ 183 h 235"/>
              <a:gd name="T6" fmla="*/ 195 w 195"/>
              <a:gd name="T7" fmla="*/ 0 h 235"/>
              <a:gd name="T8" fmla="*/ 0 w 195"/>
              <a:gd name="T9" fmla="*/ 0 h 235"/>
              <a:gd name="T10" fmla="*/ 0 w 195"/>
              <a:gd name="T11" fmla="*/ 235 h 235"/>
              <a:gd name="T12" fmla="*/ 150 w 195"/>
              <a:gd name="T13" fmla="*/ 77 h 235"/>
              <a:gd name="T14" fmla="*/ 167 w 195"/>
              <a:gd name="T15" fmla="*/ 93 h 235"/>
              <a:gd name="T16" fmla="*/ 150 w 195"/>
              <a:gd name="T17" fmla="*/ 110 h 235"/>
              <a:gd name="T18" fmla="*/ 134 w 195"/>
              <a:gd name="T19" fmla="*/ 93 h 235"/>
              <a:gd name="T20" fmla="*/ 150 w 195"/>
              <a:gd name="T21" fmla="*/ 77 h 235"/>
              <a:gd name="T22" fmla="*/ 97 w 195"/>
              <a:gd name="T23" fmla="*/ 77 h 235"/>
              <a:gd name="T24" fmla="*/ 114 w 195"/>
              <a:gd name="T25" fmla="*/ 93 h 235"/>
              <a:gd name="T26" fmla="*/ 97 w 195"/>
              <a:gd name="T27" fmla="*/ 110 h 235"/>
              <a:gd name="T28" fmla="*/ 81 w 195"/>
              <a:gd name="T29" fmla="*/ 93 h 235"/>
              <a:gd name="T30" fmla="*/ 97 w 195"/>
              <a:gd name="T31" fmla="*/ 77 h 235"/>
              <a:gd name="T32" fmla="*/ 45 w 195"/>
              <a:gd name="T33" fmla="*/ 77 h 235"/>
              <a:gd name="T34" fmla="*/ 61 w 195"/>
              <a:gd name="T35" fmla="*/ 93 h 235"/>
              <a:gd name="T36" fmla="*/ 45 w 195"/>
              <a:gd name="T37" fmla="*/ 110 h 235"/>
              <a:gd name="T38" fmla="*/ 28 w 195"/>
              <a:gd name="T39" fmla="*/ 93 h 235"/>
              <a:gd name="T40" fmla="*/ 45 w 195"/>
              <a:gd name="T41" fmla="*/ 77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95" h="235">
                <a:moveTo>
                  <a:pt x="0" y="235"/>
                </a:moveTo>
                <a:cubicBezTo>
                  <a:pt x="48" y="183"/>
                  <a:pt x="48" y="183"/>
                  <a:pt x="48" y="183"/>
                </a:cubicBezTo>
                <a:cubicBezTo>
                  <a:pt x="195" y="183"/>
                  <a:pt x="195" y="183"/>
                  <a:pt x="195" y="183"/>
                </a:cubicBezTo>
                <a:cubicBezTo>
                  <a:pt x="195" y="0"/>
                  <a:pt x="195" y="0"/>
                  <a:pt x="195" y="0"/>
                </a:cubicBezTo>
                <a:cubicBezTo>
                  <a:pt x="0" y="0"/>
                  <a:pt x="0" y="0"/>
                  <a:pt x="0" y="0"/>
                </a:cubicBezTo>
                <a:lnTo>
                  <a:pt x="0" y="235"/>
                </a:lnTo>
                <a:close/>
                <a:moveTo>
                  <a:pt x="150" y="77"/>
                </a:moveTo>
                <a:cubicBezTo>
                  <a:pt x="159" y="77"/>
                  <a:pt x="167" y="84"/>
                  <a:pt x="167" y="93"/>
                </a:cubicBezTo>
                <a:cubicBezTo>
                  <a:pt x="167" y="102"/>
                  <a:pt x="159" y="110"/>
                  <a:pt x="150" y="110"/>
                </a:cubicBezTo>
                <a:cubicBezTo>
                  <a:pt x="141" y="110"/>
                  <a:pt x="134" y="102"/>
                  <a:pt x="134" y="93"/>
                </a:cubicBezTo>
                <a:cubicBezTo>
                  <a:pt x="134" y="84"/>
                  <a:pt x="141" y="77"/>
                  <a:pt x="150" y="77"/>
                </a:cubicBezTo>
                <a:close/>
                <a:moveTo>
                  <a:pt x="97" y="77"/>
                </a:moveTo>
                <a:cubicBezTo>
                  <a:pt x="107" y="77"/>
                  <a:pt x="114" y="84"/>
                  <a:pt x="114" y="93"/>
                </a:cubicBezTo>
                <a:cubicBezTo>
                  <a:pt x="114" y="102"/>
                  <a:pt x="107" y="110"/>
                  <a:pt x="97" y="110"/>
                </a:cubicBezTo>
                <a:cubicBezTo>
                  <a:pt x="88" y="110"/>
                  <a:pt x="81" y="102"/>
                  <a:pt x="81" y="93"/>
                </a:cubicBezTo>
                <a:cubicBezTo>
                  <a:pt x="81" y="84"/>
                  <a:pt x="88" y="77"/>
                  <a:pt x="97" y="77"/>
                </a:cubicBezTo>
                <a:close/>
                <a:moveTo>
                  <a:pt x="45" y="77"/>
                </a:moveTo>
                <a:cubicBezTo>
                  <a:pt x="54" y="77"/>
                  <a:pt x="61" y="84"/>
                  <a:pt x="61" y="93"/>
                </a:cubicBezTo>
                <a:cubicBezTo>
                  <a:pt x="61" y="102"/>
                  <a:pt x="54" y="110"/>
                  <a:pt x="45" y="110"/>
                </a:cubicBezTo>
                <a:cubicBezTo>
                  <a:pt x="36" y="110"/>
                  <a:pt x="28" y="102"/>
                  <a:pt x="28" y="93"/>
                </a:cubicBezTo>
                <a:cubicBezTo>
                  <a:pt x="28" y="84"/>
                  <a:pt x="36" y="77"/>
                  <a:pt x="45" y="7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89566DB8-5D23-4823-869D-1EFF0D9E9582}"/>
              </a:ext>
            </a:extLst>
          </p:cNvPr>
          <p:cNvGrpSpPr/>
          <p:nvPr/>
        </p:nvGrpSpPr>
        <p:grpSpPr>
          <a:xfrm>
            <a:off x="8692953" y="4366971"/>
            <a:ext cx="485776" cy="523876"/>
            <a:chOff x="3908425" y="1887538"/>
            <a:chExt cx="485776" cy="52387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7169A6C1-22C4-490D-8C31-2E85ABEAB0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8425" y="1887538"/>
              <a:ext cx="236538" cy="523875"/>
            </a:xfrm>
            <a:custGeom>
              <a:avLst/>
              <a:gdLst>
                <a:gd name="T0" fmla="*/ 2 w 101"/>
                <a:gd name="T1" fmla="*/ 219 h 225"/>
                <a:gd name="T2" fmla="*/ 50 w 101"/>
                <a:gd name="T3" fmla="*/ 195 h 225"/>
                <a:gd name="T4" fmla="*/ 99 w 101"/>
                <a:gd name="T5" fmla="*/ 219 h 225"/>
                <a:gd name="T6" fmla="*/ 100 w 101"/>
                <a:gd name="T7" fmla="*/ 219 h 225"/>
                <a:gd name="T8" fmla="*/ 100 w 101"/>
                <a:gd name="T9" fmla="*/ 59 h 225"/>
                <a:gd name="T10" fmla="*/ 98 w 101"/>
                <a:gd name="T11" fmla="*/ 35 h 225"/>
                <a:gd name="T12" fmla="*/ 84 w 101"/>
                <a:gd name="T13" fmla="*/ 19 h 225"/>
                <a:gd name="T14" fmla="*/ 84 w 101"/>
                <a:gd name="T15" fmla="*/ 6 h 225"/>
                <a:gd name="T16" fmla="*/ 84 w 101"/>
                <a:gd name="T17" fmla="*/ 0 h 225"/>
                <a:gd name="T18" fmla="*/ 79 w 101"/>
                <a:gd name="T19" fmla="*/ 0 h 225"/>
                <a:gd name="T20" fmla="*/ 22 w 101"/>
                <a:gd name="T21" fmla="*/ 0 h 225"/>
                <a:gd name="T22" fmla="*/ 16 w 101"/>
                <a:gd name="T23" fmla="*/ 0 h 225"/>
                <a:gd name="T24" fmla="*/ 16 w 101"/>
                <a:gd name="T25" fmla="*/ 6 h 225"/>
                <a:gd name="T26" fmla="*/ 16 w 101"/>
                <a:gd name="T27" fmla="*/ 19 h 225"/>
                <a:gd name="T28" fmla="*/ 2 w 101"/>
                <a:gd name="T29" fmla="*/ 35 h 225"/>
                <a:gd name="T30" fmla="*/ 0 w 101"/>
                <a:gd name="T31" fmla="*/ 59 h 225"/>
                <a:gd name="T32" fmla="*/ 0 w 101"/>
                <a:gd name="T33" fmla="*/ 219 h 225"/>
                <a:gd name="T34" fmla="*/ 2 w 101"/>
                <a:gd name="T35" fmla="*/ 219 h 225"/>
                <a:gd name="T36" fmla="*/ 22 w 101"/>
                <a:gd name="T37" fmla="*/ 17 h 225"/>
                <a:gd name="T38" fmla="*/ 22 w 101"/>
                <a:gd name="T39" fmla="*/ 6 h 225"/>
                <a:gd name="T40" fmla="*/ 79 w 101"/>
                <a:gd name="T41" fmla="*/ 6 h 225"/>
                <a:gd name="T42" fmla="*/ 79 w 101"/>
                <a:gd name="T43" fmla="*/ 17 h 225"/>
                <a:gd name="T44" fmla="*/ 79 w 101"/>
                <a:gd name="T45" fmla="*/ 95 h 225"/>
                <a:gd name="T46" fmla="*/ 51 w 101"/>
                <a:gd name="T47" fmla="*/ 65 h 225"/>
                <a:gd name="T48" fmla="*/ 22 w 101"/>
                <a:gd name="T49" fmla="*/ 95 h 225"/>
                <a:gd name="T50" fmla="*/ 22 w 101"/>
                <a:gd name="T51" fmla="*/ 17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1" h="225">
                  <a:moveTo>
                    <a:pt x="2" y="219"/>
                  </a:moveTo>
                  <a:cubicBezTo>
                    <a:pt x="7" y="200"/>
                    <a:pt x="27" y="195"/>
                    <a:pt x="50" y="195"/>
                  </a:cubicBezTo>
                  <a:cubicBezTo>
                    <a:pt x="74" y="195"/>
                    <a:pt x="93" y="200"/>
                    <a:pt x="99" y="219"/>
                  </a:cubicBezTo>
                  <a:cubicBezTo>
                    <a:pt x="101" y="225"/>
                    <a:pt x="100" y="225"/>
                    <a:pt x="100" y="219"/>
                  </a:cubicBezTo>
                  <a:cubicBezTo>
                    <a:pt x="100" y="186"/>
                    <a:pt x="100" y="92"/>
                    <a:pt x="100" y="59"/>
                  </a:cubicBezTo>
                  <a:cubicBezTo>
                    <a:pt x="100" y="52"/>
                    <a:pt x="100" y="42"/>
                    <a:pt x="98" y="35"/>
                  </a:cubicBezTo>
                  <a:cubicBezTo>
                    <a:pt x="96" y="28"/>
                    <a:pt x="91" y="23"/>
                    <a:pt x="84" y="19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9" y="23"/>
                    <a:pt x="5" y="28"/>
                    <a:pt x="2" y="35"/>
                  </a:cubicBezTo>
                  <a:cubicBezTo>
                    <a:pt x="0" y="42"/>
                    <a:pt x="0" y="52"/>
                    <a:pt x="0" y="59"/>
                  </a:cubicBezTo>
                  <a:cubicBezTo>
                    <a:pt x="0" y="92"/>
                    <a:pt x="0" y="186"/>
                    <a:pt x="0" y="219"/>
                  </a:cubicBezTo>
                  <a:cubicBezTo>
                    <a:pt x="0" y="225"/>
                    <a:pt x="0" y="225"/>
                    <a:pt x="2" y="219"/>
                  </a:cubicBezTo>
                  <a:close/>
                  <a:moveTo>
                    <a:pt x="22" y="17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2" y="17"/>
                    <a:pt x="22" y="17"/>
                    <a:pt x="22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F97953CE-BCC2-4BFD-BC0A-8ADE46335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663" y="1917701"/>
              <a:ext cx="236538" cy="493713"/>
            </a:xfrm>
            <a:custGeom>
              <a:avLst/>
              <a:gdLst>
                <a:gd name="T0" fmla="*/ 2 w 101"/>
                <a:gd name="T1" fmla="*/ 206 h 212"/>
                <a:gd name="T2" fmla="*/ 50 w 101"/>
                <a:gd name="T3" fmla="*/ 182 h 212"/>
                <a:gd name="T4" fmla="*/ 99 w 101"/>
                <a:gd name="T5" fmla="*/ 206 h 212"/>
                <a:gd name="T6" fmla="*/ 100 w 101"/>
                <a:gd name="T7" fmla="*/ 206 h 212"/>
                <a:gd name="T8" fmla="*/ 100 w 101"/>
                <a:gd name="T9" fmla="*/ 46 h 212"/>
                <a:gd name="T10" fmla="*/ 98 w 101"/>
                <a:gd name="T11" fmla="*/ 23 h 212"/>
                <a:gd name="T12" fmla="*/ 50 w 101"/>
                <a:gd name="T13" fmla="*/ 0 h 212"/>
                <a:gd name="T14" fmla="*/ 2 w 101"/>
                <a:gd name="T15" fmla="*/ 22 h 212"/>
                <a:gd name="T16" fmla="*/ 0 w 101"/>
                <a:gd name="T17" fmla="*/ 46 h 212"/>
                <a:gd name="T18" fmla="*/ 0 w 101"/>
                <a:gd name="T19" fmla="*/ 206 h 212"/>
                <a:gd name="T20" fmla="*/ 2 w 101"/>
                <a:gd name="T21" fmla="*/ 20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212">
                  <a:moveTo>
                    <a:pt x="2" y="206"/>
                  </a:moveTo>
                  <a:cubicBezTo>
                    <a:pt x="7" y="187"/>
                    <a:pt x="27" y="182"/>
                    <a:pt x="50" y="182"/>
                  </a:cubicBezTo>
                  <a:cubicBezTo>
                    <a:pt x="74" y="182"/>
                    <a:pt x="93" y="187"/>
                    <a:pt x="99" y="206"/>
                  </a:cubicBezTo>
                  <a:cubicBezTo>
                    <a:pt x="101" y="212"/>
                    <a:pt x="100" y="212"/>
                    <a:pt x="100" y="206"/>
                  </a:cubicBezTo>
                  <a:cubicBezTo>
                    <a:pt x="100" y="173"/>
                    <a:pt x="100" y="79"/>
                    <a:pt x="100" y="46"/>
                  </a:cubicBezTo>
                  <a:cubicBezTo>
                    <a:pt x="100" y="39"/>
                    <a:pt x="101" y="29"/>
                    <a:pt x="98" y="23"/>
                  </a:cubicBezTo>
                  <a:cubicBezTo>
                    <a:pt x="92" y="5"/>
                    <a:pt x="73" y="0"/>
                    <a:pt x="50" y="0"/>
                  </a:cubicBezTo>
                  <a:cubicBezTo>
                    <a:pt x="27" y="0"/>
                    <a:pt x="8" y="5"/>
                    <a:pt x="2" y="22"/>
                  </a:cubicBezTo>
                  <a:cubicBezTo>
                    <a:pt x="0" y="29"/>
                    <a:pt x="0" y="39"/>
                    <a:pt x="0" y="46"/>
                  </a:cubicBezTo>
                  <a:cubicBezTo>
                    <a:pt x="0" y="79"/>
                    <a:pt x="0" y="173"/>
                    <a:pt x="0" y="206"/>
                  </a:cubicBezTo>
                  <a:cubicBezTo>
                    <a:pt x="0" y="212"/>
                    <a:pt x="0" y="212"/>
                    <a:pt x="2" y="2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sp>
        <p:nvSpPr>
          <p:cNvPr id="50" name="Freeform 30">
            <a:extLst>
              <a:ext uri="{FF2B5EF4-FFF2-40B4-BE49-F238E27FC236}">
                <a16:creationId xmlns:a16="http://schemas.microsoft.com/office/drawing/2014/main" id="{495061B8-7976-4AFA-A014-4176F5233C41}"/>
              </a:ext>
            </a:extLst>
          </p:cNvPr>
          <p:cNvSpPr>
            <a:spLocks noEditPoints="1"/>
          </p:cNvSpPr>
          <p:nvPr/>
        </p:nvSpPr>
        <p:spPr bwMode="auto">
          <a:xfrm>
            <a:off x="8692953" y="2284289"/>
            <a:ext cx="509509" cy="556063"/>
          </a:xfrm>
          <a:custGeom>
            <a:avLst/>
            <a:gdLst>
              <a:gd name="T0" fmla="*/ 0 w 512"/>
              <a:gd name="T1" fmla="*/ 437 h 517"/>
              <a:gd name="T2" fmla="*/ 75 w 512"/>
              <a:gd name="T3" fmla="*/ 512 h 517"/>
              <a:gd name="T4" fmla="*/ 128 w 512"/>
              <a:gd name="T5" fmla="*/ 491 h 517"/>
              <a:gd name="T6" fmla="*/ 264 w 512"/>
              <a:gd name="T7" fmla="*/ 354 h 517"/>
              <a:gd name="T8" fmla="*/ 301 w 512"/>
              <a:gd name="T9" fmla="*/ 391 h 517"/>
              <a:gd name="T10" fmla="*/ 315 w 512"/>
              <a:gd name="T11" fmla="*/ 443 h 517"/>
              <a:gd name="T12" fmla="*/ 367 w 512"/>
              <a:gd name="T13" fmla="*/ 496 h 517"/>
              <a:gd name="T14" fmla="*/ 443 w 512"/>
              <a:gd name="T15" fmla="*/ 497 h 517"/>
              <a:gd name="T16" fmla="*/ 443 w 512"/>
              <a:gd name="T17" fmla="*/ 421 h 517"/>
              <a:gd name="T18" fmla="*/ 390 w 512"/>
              <a:gd name="T19" fmla="*/ 368 h 517"/>
              <a:gd name="T20" fmla="*/ 338 w 512"/>
              <a:gd name="T21" fmla="*/ 354 h 517"/>
              <a:gd name="T22" fmla="*/ 301 w 512"/>
              <a:gd name="T23" fmla="*/ 318 h 517"/>
              <a:gd name="T24" fmla="*/ 325 w 512"/>
              <a:gd name="T25" fmla="*/ 294 h 517"/>
              <a:gd name="T26" fmla="*/ 468 w 512"/>
              <a:gd name="T27" fmla="*/ 255 h 517"/>
              <a:gd name="T28" fmla="*/ 512 w 512"/>
              <a:gd name="T29" fmla="*/ 161 h 517"/>
              <a:gd name="T30" fmla="*/ 512 w 512"/>
              <a:gd name="T31" fmla="*/ 160 h 517"/>
              <a:gd name="T32" fmla="*/ 491 w 512"/>
              <a:gd name="T33" fmla="*/ 139 h 517"/>
              <a:gd name="T34" fmla="*/ 475 w 512"/>
              <a:gd name="T35" fmla="*/ 145 h 517"/>
              <a:gd name="T36" fmla="*/ 469 w 512"/>
              <a:gd name="T37" fmla="*/ 151 h 517"/>
              <a:gd name="T38" fmla="*/ 448 w 512"/>
              <a:gd name="T39" fmla="*/ 172 h 517"/>
              <a:gd name="T40" fmla="*/ 394 w 512"/>
              <a:gd name="T41" fmla="*/ 193 h 517"/>
              <a:gd name="T42" fmla="*/ 341 w 512"/>
              <a:gd name="T43" fmla="*/ 171 h 517"/>
              <a:gd name="T44" fmla="*/ 319 w 512"/>
              <a:gd name="T45" fmla="*/ 118 h 517"/>
              <a:gd name="T46" fmla="*/ 340 w 512"/>
              <a:gd name="T47" fmla="*/ 64 h 517"/>
              <a:gd name="T48" fmla="*/ 361 w 512"/>
              <a:gd name="T49" fmla="*/ 43 h 517"/>
              <a:gd name="T50" fmla="*/ 367 w 512"/>
              <a:gd name="T51" fmla="*/ 37 h 517"/>
              <a:gd name="T52" fmla="*/ 373 w 512"/>
              <a:gd name="T53" fmla="*/ 21 h 517"/>
              <a:gd name="T54" fmla="*/ 352 w 512"/>
              <a:gd name="T55" fmla="*/ 0 h 517"/>
              <a:gd name="T56" fmla="*/ 351 w 512"/>
              <a:gd name="T57" fmla="*/ 0 h 517"/>
              <a:gd name="T58" fmla="*/ 257 w 512"/>
              <a:gd name="T59" fmla="*/ 44 h 517"/>
              <a:gd name="T60" fmla="*/ 218 w 512"/>
              <a:gd name="T61" fmla="*/ 187 h 517"/>
              <a:gd name="T62" fmla="*/ 194 w 512"/>
              <a:gd name="T63" fmla="*/ 211 h 517"/>
              <a:gd name="T64" fmla="*/ 96 w 512"/>
              <a:gd name="T65" fmla="*/ 112 h 517"/>
              <a:gd name="T66" fmla="*/ 96 w 512"/>
              <a:gd name="T67" fmla="*/ 85 h 517"/>
              <a:gd name="T68" fmla="*/ 32 w 512"/>
              <a:gd name="T69" fmla="*/ 53 h 517"/>
              <a:gd name="T70" fmla="*/ 0 w 512"/>
              <a:gd name="T71" fmla="*/ 85 h 517"/>
              <a:gd name="T72" fmla="*/ 32 w 512"/>
              <a:gd name="T73" fmla="*/ 149 h 517"/>
              <a:gd name="T74" fmla="*/ 59 w 512"/>
              <a:gd name="T75" fmla="*/ 149 h 517"/>
              <a:gd name="T76" fmla="*/ 157 w 512"/>
              <a:gd name="T77" fmla="*/ 248 h 517"/>
              <a:gd name="T78" fmla="*/ 21 w 512"/>
              <a:gd name="T79" fmla="*/ 384 h 517"/>
              <a:gd name="T80" fmla="*/ 0 w 512"/>
              <a:gd name="T81" fmla="*/ 437 h 517"/>
              <a:gd name="T82" fmla="*/ 53 w 512"/>
              <a:gd name="T83" fmla="*/ 432 h 517"/>
              <a:gd name="T84" fmla="*/ 80 w 512"/>
              <a:gd name="T85" fmla="*/ 405 h 517"/>
              <a:gd name="T86" fmla="*/ 107 w 512"/>
              <a:gd name="T87" fmla="*/ 432 h 517"/>
              <a:gd name="T88" fmla="*/ 80 w 512"/>
              <a:gd name="T89" fmla="*/ 459 h 517"/>
              <a:gd name="T90" fmla="*/ 53 w 512"/>
              <a:gd name="T91" fmla="*/ 432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12" h="517">
                <a:moveTo>
                  <a:pt x="0" y="437"/>
                </a:moveTo>
                <a:cubicBezTo>
                  <a:pt x="0" y="479"/>
                  <a:pt x="33" y="512"/>
                  <a:pt x="75" y="512"/>
                </a:cubicBezTo>
                <a:cubicBezTo>
                  <a:pt x="95" y="512"/>
                  <a:pt x="114" y="504"/>
                  <a:pt x="128" y="491"/>
                </a:cubicBezTo>
                <a:cubicBezTo>
                  <a:pt x="264" y="354"/>
                  <a:pt x="264" y="354"/>
                  <a:pt x="264" y="354"/>
                </a:cubicBezTo>
                <a:cubicBezTo>
                  <a:pt x="301" y="391"/>
                  <a:pt x="301" y="391"/>
                  <a:pt x="301" y="391"/>
                </a:cubicBezTo>
                <a:cubicBezTo>
                  <a:pt x="296" y="409"/>
                  <a:pt x="300" y="429"/>
                  <a:pt x="315" y="443"/>
                </a:cubicBezTo>
                <a:cubicBezTo>
                  <a:pt x="367" y="496"/>
                  <a:pt x="367" y="496"/>
                  <a:pt x="367" y="496"/>
                </a:cubicBezTo>
                <a:cubicBezTo>
                  <a:pt x="389" y="517"/>
                  <a:pt x="422" y="517"/>
                  <a:pt x="443" y="497"/>
                </a:cubicBezTo>
                <a:cubicBezTo>
                  <a:pt x="464" y="476"/>
                  <a:pt x="464" y="442"/>
                  <a:pt x="443" y="421"/>
                </a:cubicBezTo>
                <a:cubicBezTo>
                  <a:pt x="390" y="368"/>
                  <a:pt x="390" y="368"/>
                  <a:pt x="390" y="368"/>
                </a:cubicBezTo>
                <a:cubicBezTo>
                  <a:pt x="376" y="354"/>
                  <a:pt x="356" y="349"/>
                  <a:pt x="338" y="354"/>
                </a:cubicBezTo>
                <a:cubicBezTo>
                  <a:pt x="301" y="318"/>
                  <a:pt x="301" y="318"/>
                  <a:pt x="301" y="318"/>
                </a:cubicBezTo>
                <a:cubicBezTo>
                  <a:pt x="325" y="294"/>
                  <a:pt x="325" y="294"/>
                  <a:pt x="325" y="294"/>
                </a:cubicBezTo>
                <a:cubicBezTo>
                  <a:pt x="375" y="307"/>
                  <a:pt x="430" y="294"/>
                  <a:pt x="468" y="255"/>
                </a:cubicBezTo>
                <a:cubicBezTo>
                  <a:pt x="495" y="229"/>
                  <a:pt x="510" y="196"/>
                  <a:pt x="512" y="161"/>
                </a:cubicBezTo>
                <a:cubicBezTo>
                  <a:pt x="512" y="160"/>
                  <a:pt x="512" y="160"/>
                  <a:pt x="512" y="160"/>
                </a:cubicBezTo>
                <a:cubicBezTo>
                  <a:pt x="512" y="148"/>
                  <a:pt x="502" y="139"/>
                  <a:pt x="491" y="139"/>
                </a:cubicBezTo>
                <a:cubicBezTo>
                  <a:pt x="485" y="139"/>
                  <a:pt x="479" y="141"/>
                  <a:pt x="475" y="145"/>
                </a:cubicBezTo>
                <a:cubicBezTo>
                  <a:pt x="469" y="151"/>
                  <a:pt x="469" y="151"/>
                  <a:pt x="469" y="151"/>
                </a:cubicBezTo>
                <a:cubicBezTo>
                  <a:pt x="448" y="172"/>
                  <a:pt x="448" y="172"/>
                  <a:pt x="448" y="172"/>
                </a:cubicBezTo>
                <a:cubicBezTo>
                  <a:pt x="434" y="185"/>
                  <a:pt x="415" y="193"/>
                  <a:pt x="394" y="193"/>
                </a:cubicBezTo>
                <a:cubicBezTo>
                  <a:pt x="373" y="193"/>
                  <a:pt x="355" y="184"/>
                  <a:pt x="341" y="171"/>
                </a:cubicBezTo>
                <a:cubicBezTo>
                  <a:pt x="328" y="157"/>
                  <a:pt x="319" y="139"/>
                  <a:pt x="319" y="118"/>
                </a:cubicBezTo>
                <a:cubicBezTo>
                  <a:pt x="319" y="97"/>
                  <a:pt x="327" y="78"/>
                  <a:pt x="340" y="64"/>
                </a:cubicBezTo>
                <a:cubicBezTo>
                  <a:pt x="361" y="43"/>
                  <a:pt x="361" y="43"/>
                  <a:pt x="361" y="43"/>
                </a:cubicBezTo>
                <a:cubicBezTo>
                  <a:pt x="367" y="37"/>
                  <a:pt x="367" y="37"/>
                  <a:pt x="367" y="37"/>
                </a:cubicBezTo>
                <a:cubicBezTo>
                  <a:pt x="371" y="33"/>
                  <a:pt x="373" y="27"/>
                  <a:pt x="373" y="21"/>
                </a:cubicBezTo>
                <a:cubicBezTo>
                  <a:pt x="373" y="10"/>
                  <a:pt x="364" y="0"/>
                  <a:pt x="352" y="0"/>
                </a:cubicBezTo>
                <a:cubicBezTo>
                  <a:pt x="351" y="0"/>
                  <a:pt x="351" y="0"/>
                  <a:pt x="351" y="0"/>
                </a:cubicBezTo>
                <a:cubicBezTo>
                  <a:pt x="316" y="2"/>
                  <a:pt x="283" y="17"/>
                  <a:pt x="257" y="44"/>
                </a:cubicBezTo>
                <a:cubicBezTo>
                  <a:pt x="218" y="82"/>
                  <a:pt x="205" y="138"/>
                  <a:pt x="218" y="187"/>
                </a:cubicBezTo>
                <a:cubicBezTo>
                  <a:pt x="194" y="211"/>
                  <a:pt x="194" y="211"/>
                  <a:pt x="194" y="211"/>
                </a:cubicBezTo>
                <a:cubicBezTo>
                  <a:pt x="96" y="112"/>
                  <a:pt x="96" y="112"/>
                  <a:pt x="96" y="112"/>
                </a:cubicBezTo>
                <a:cubicBezTo>
                  <a:pt x="96" y="85"/>
                  <a:pt x="96" y="85"/>
                  <a:pt x="96" y="85"/>
                </a:cubicBezTo>
                <a:cubicBezTo>
                  <a:pt x="32" y="53"/>
                  <a:pt x="32" y="53"/>
                  <a:pt x="32" y="53"/>
                </a:cubicBezTo>
                <a:cubicBezTo>
                  <a:pt x="0" y="85"/>
                  <a:pt x="0" y="85"/>
                  <a:pt x="0" y="85"/>
                </a:cubicBezTo>
                <a:cubicBezTo>
                  <a:pt x="32" y="149"/>
                  <a:pt x="32" y="149"/>
                  <a:pt x="32" y="149"/>
                </a:cubicBezTo>
                <a:cubicBezTo>
                  <a:pt x="59" y="149"/>
                  <a:pt x="59" y="149"/>
                  <a:pt x="59" y="149"/>
                </a:cubicBezTo>
                <a:cubicBezTo>
                  <a:pt x="157" y="248"/>
                  <a:pt x="157" y="248"/>
                  <a:pt x="157" y="248"/>
                </a:cubicBezTo>
                <a:cubicBezTo>
                  <a:pt x="21" y="384"/>
                  <a:pt x="21" y="384"/>
                  <a:pt x="21" y="384"/>
                </a:cubicBezTo>
                <a:cubicBezTo>
                  <a:pt x="8" y="398"/>
                  <a:pt x="0" y="417"/>
                  <a:pt x="0" y="437"/>
                </a:cubicBezTo>
                <a:close/>
                <a:moveTo>
                  <a:pt x="53" y="432"/>
                </a:moveTo>
                <a:cubicBezTo>
                  <a:pt x="53" y="417"/>
                  <a:pt x="65" y="405"/>
                  <a:pt x="80" y="405"/>
                </a:cubicBezTo>
                <a:cubicBezTo>
                  <a:pt x="95" y="405"/>
                  <a:pt x="107" y="417"/>
                  <a:pt x="107" y="432"/>
                </a:cubicBezTo>
                <a:cubicBezTo>
                  <a:pt x="107" y="447"/>
                  <a:pt x="95" y="459"/>
                  <a:pt x="80" y="459"/>
                </a:cubicBezTo>
                <a:cubicBezTo>
                  <a:pt x="65" y="459"/>
                  <a:pt x="53" y="447"/>
                  <a:pt x="53" y="4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6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59" grpId="0" animBg="1"/>
      <p:bldP spid="61" grpId="0"/>
      <p:bldP spid="62" grpId="0"/>
      <p:bldP spid="73" grpId="0"/>
      <p:bldP spid="74" grpId="0"/>
      <p:bldP spid="26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3887776" y="2420224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列表与列表操作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01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7697545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8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列表与列表定义</a:t>
            </a:r>
            <a:r>
              <a:rPr lang="en-US" altLang="zh-CN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 📜</a:t>
            </a:r>
            <a:endParaRPr lang="zh-CN" altLang="en-US" sz="2800" b="1" spc="300" dirty="0">
              <a:solidFill>
                <a:srgbClr val="1E678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11FEF55-FE96-AF4C-802A-D6E9A493A3EB}"/>
              </a:ext>
            </a:extLst>
          </p:cNvPr>
          <p:cNvGrpSpPr/>
          <p:nvPr/>
        </p:nvGrpSpPr>
        <p:grpSpPr>
          <a:xfrm>
            <a:off x="818392" y="476492"/>
            <a:ext cx="11101567" cy="3959893"/>
            <a:chOff x="776097" y="707504"/>
            <a:chExt cx="11101567" cy="3959893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6097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C909074-6B07-4A7B-AC17-105FA2C50C09}"/>
                </a:ext>
              </a:extLst>
            </p:cNvPr>
            <p:cNvSpPr/>
            <p:nvPr/>
          </p:nvSpPr>
          <p:spPr>
            <a:xfrm>
              <a:off x="1309658" y="951749"/>
              <a:ext cx="10568006" cy="13031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列表（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list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）用来有序存放一组相关数据，以便进行统一的处理。</a:t>
              </a:r>
              <a:endPara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Python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中，将</a:t>
              </a:r>
              <a:r>
                <a:rPr lang="zh-CN" altLang="zh-CN" sz="2800" b="1" dirty="0">
                  <a:solidFill>
                    <a:srgbClr val="6BE1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一组</a:t>
              </a:r>
              <a:r>
                <a:rPr lang="zh-CN" altLang="zh-CN" sz="28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数据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放在一对方括号“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[]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”中即定义了一个列表。</a:t>
              </a:r>
              <a:endPara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60385DFC-C596-432C-A4F6-C7B25108BB2E}"/>
                </a:ext>
              </a:extLst>
            </p:cNvPr>
            <p:cNvGrpSpPr/>
            <p:nvPr/>
          </p:nvGrpSpPr>
          <p:grpSpPr>
            <a:xfrm>
              <a:off x="4551380" y="2295994"/>
              <a:ext cx="5453143" cy="1279665"/>
              <a:chOff x="4017818" y="2809702"/>
              <a:chExt cx="5453143" cy="1279665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46583FA4-FF8E-4DB4-A100-992B64A3C2D7}"/>
                  </a:ext>
                </a:extLst>
              </p:cNvPr>
              <p:cNvGrpSpPr/>
              <p:nvPr/>
            </p:nvGrpSpPr>
            <p:grpSpPr>
              <a:xfrm>
                <a:off x="4017818" y="2809702"/>
                <a:ext cx="1950720" cy="936567"/>
                <a:chOff x="4017818" y="2809702"/>
                <a:chExt cx="1950720" cy="936567"/>
              </a:xfrm>
            </p:grpSpPr>
            <p:cxnSp>
              <p:nvCxnSpPr>
                <p:cNvPr id="6" name="直接连接符 5">
                  <a:extLst>
                    <a:ext uri="{FF2B5EF4-FFF2-40B4-BE49-F238E27FC236}">
                      <a16:creationId xmlns:a16="http://schemas.microsoft.com/office/drawing/2014/main" id="{68DEBE39-8043-438D-8DA7-1E80A46E4B99}"/>
                    </a:ext>
                  </a:extLst>
                </p:cNvPr>
                <p:cNvCxnSpPr/>
                <p:nvPr/>
              </p:nvCxnSpPr>
              <p:spPr>
                <a:xfrm>
                  <a:off x="4034444" y="2809702"/>
                  <a:ext cx="0" cy="919942"/>
                </a:xfrm>
                <a:prstGeom prst="line">
                  <a:avLst/>
                </a:prstGeom>
                <a:ln w="28575">
                  <a:solidFill>
                    <a:srgbClr val="FF9900"/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箭头连接符 7">
                  <a:extLst>
                    <a:ext uri="{FF2B5EF4-FFF2-40B4-BE49-F238E27FC236}">
                      <a16:creationId xmlns:a16="http://schemas.microsoft.com/office/drawing/2014/main" id="{4EB21C94-D9AF-40A8-BF9D-469B32956F8D}"/>
                    </a:ext>
                  </a:extLst>
                </p:cNvPr>
                <p:cNvCxnSpPr/>
                <p:nvPr/>
              </p:nvCxnSpPr>
              <p:spPr>
                <a:xfrm>
                  <a:off x="4017818" y="3746269"/>
                  <a:ext cx="1950720" cy="0"/>
                </a:xfrm>
                <a:prstGeom prst="straightConnector1">
                  <a:avLst/>
                </a:prstGeom>
                <a:ln w="28575">
                  <a:solidFill>
                    <a:srgbClr val="FF99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CD57D54-F6DE-41BB-BA80-F44410AE3BE6}"/>
                  </a:ext>
                </a:extLst>
              </p:cNvPr>
              <p:cNvSpPr/>
              <p:nvPr/>
            </p:nvSpPr>
            <p:spPr>
              <a:xfrm>
                <a:off x="6015647" y="3174967"/>
                <a:ext cx="3455314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>
                    <a:solidFill>
                      <a:srgbClr val="FF9900"/>
                    </a:solidFill>
                  </a:rPr>
                  <a:t>每个数据称为‘元素’</a:t>
                </a:r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52ED953-38C5-4EC7-9584-7EBC030D15CE}"/>
                </a:ext>
              </a:extLst>
            </p:cNvPr>
            <p:cNvCxnSpPr/>
            <p:nvPr/>
          </p:nvCxnSpPr>
          <p:spPr>
            <a:xfrm>
              <a:off x="3858653" y="2295994"/>
              <a:ext cx="0" cy="19008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FEB38337-433A-4DE1-98C8-9465F801C3BB}"/>
                </a:ext>
              </a:extLst>
            </p:cNvPr>
            <p:cNvCxnSpPr/>
            <p:nvPr/>
          </p:nvCxnSpPr>
          <p:spPr>
            <a:xfrm>
              <a:off x="3875278" y="4196837"/>
              <a:ext cx="25326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FDC586C-B3BB-4C1E-97B9-086677A6F40C}"/>
                </a:ext>
              </a:extLst>
            </p:cNvPr>
            <p:cNvSpPr/>
            <p:nvPr/>
          </p:nvSpPr>
          <p:spPr>
            <a:xfrm>
              <a:off x="6502100" y="3752997"/>
              <a:ext cx="3455314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rgbClr val="6BE137"/>
                  </a:solidFill>
                </a:rPr>
                <a:t>数据的个数称为‘长度’</a:t>
              </a:r>
            </a:p>
          </p:txBody>
        </p:sp>
      </p:grpSp>
      <p:pic>
        <p:nvPicPr>
          <p:cNvPr id="1028" name="Picture 4" descr="Commuters in a queue at Kyoto Station, Japan Stock Photo - Alamy">
            <a:extLst>
              <a:ext uri="{FF2B5EF4-FFF2-40B4-BE49-F238E27FC236}">
                <a16:creationId xmlns:a16="http://schemas.microsoft.com/office/drawing/2014/main" id="{12F28FED-779D-59F5-44DF-F114B3698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36" y="4109845"/>
            <a:ext cx="3466731" cy="2552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ANK in Excel (Formula, Examples) | How to Use RANK Function?">
            <a:extLst>
              <a:ext uri="{FF2B5EF4-FFF2-40B4-BE49-F238E27FC236}">
                <a16:creationId xmlns:a16="http://schemas.microsoft.com/office/drawing/2014/main" id="{862F23A1-F933-05D6-C7DB-16961D218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113" y="4306774"/>
            <a:ext cx="3695191" cy="2447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58384"/>
      </p:ext>
    </p:extLst>
  </p:cSld>
  <p:clrMapOvr>
    <a:masterClrMapping/>
  </p:clrMapOvr>
  <p:transition spd="slow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列表与列表定义</a:t>
            </a:r>
            <a:r>
              <a:rPr lang="en-US" altLang="zh-CN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📜</a:t>
            </a:r>
            <a:endParaRPr lang="zh-CN" altLang="en-US" sz="2800" b="1" spc="300" dirty="0">
              <a:solidFill>
                <a:srgbClr val="1E678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5A01C7E-8527-49BB-B7C3-4499F5B863FA}"/>
              </a:ext>
            </a:extLst>
          </p:cNvPr>
          <p:cNvGrpSpPr/>
          <p:nvPr/>
        </p:nvGrpSpPr>
        <p:grpSpPr>
          <a:xfrm>
            <a:off x="1955961" y="2552227"/>
            <a:ext cx="6761318" cy="1551608"/>
            <a:chOff x="2465809" y="2399606"/>
            <a:chExt cx="6761318" cy="155160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BA35A00-FF65-479F-A129-3A25B583CC2F}"/>
                </a:ext>
              </a:extLst>
            </p:cNvPr>
            <p:cNvSpPr/>
            <p:nvPr/>
          </p:nvSpPr>
          <p:spPr>
            <a:xfrm>
              <a:off x="2765068" y="2917365"/>
              <a:ext cx="646205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scores = [98, 96, 95, 94, 92]</a:t>
              </a:r>
              <a:endParaRPr lang="zh-CN" altLang="en-US" sz="2800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330198F-8638-465E-BEAA-57B0F23B74E8}"/>
                </a:ext>
              </a:extLst>
            </p:cNvPr>
            <p:cNvSpPr/>
            <p:nvPr/>
          </p:nvSpPr>
          <p:spPr>
            <a:xfrm>
              <a:off x="2465809" y="2399606"/>
              <a:ext cx="5054438" cy="5177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>
                  <a:solidFill>
                    <a:srgbClr val="0070C0"/>
                  </a:solidFill>
                </a:rPr>
                <a:t>正向序号             </a:t>
              </a:r>
              <a:r>
                <a:rPr lang="en-US" altLang="zh-CN" sz="2000" dirty="0">
                  <a:solidFill>
                    <a:srgbClr val="0070C0"/>
                  </a:solidFill>
                </a:rPr>
                <a:t>0        1      2       3        4</a:t>
              </a:r>
              <a:endParaRPr lang="zh-CN" altLang="en-US" sz="2000" dirty="0">
                <a:solidFill>
                  <a:srgbClr val="0070C0"/>
                </a:solidFill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94139FA1-EF7B-458C-AA00-B5315191EC36}"/>
                </a:ext>
              </a:extLst>
            </p:cNvPr>
            <p:cNvCxnSpPr/>
            <p:nvPr/>
          </p:nvCxnSpPr>
          <p:spPr>
            <a:xfrm>
              <a:off x="3790604" y="2665614"/>
              <a:ext cx="315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FD253C6-0D37-402F-87B0-53908D0AC55A}"/>
                </a:ext>
              </a:extLst>
            </p:cNvPr>
            <p:cNvSpPr/>
            <p:nvPr/>
          </p:nvSpPr>
          <p:spPr>
            <a:xfrm>
              <a:off x="3640972" y="3433455"/>
              <a:ext cx="5054438" cy="5177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dirty="0">
                  <a:solidFill>
                    <a:srgbClr val="0070C0"/>
                  </a:solidFill>
                </a:rPr>
                <a:t>          -5     -4       -3      -2      -1             </a:t>
              </a:r>
              <a:r>
                <a:rPr lang="zh-CN" altLang="en-US" sz="2000" dirty="0">
                  <a:solidFill>
                    <a:srgbClr val="0070C0"/>
                  </a:solidFill>
                </a:rPr>
                <a:t>反向序号 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28CCEEB5-7895-456A-AE41-579B51A21EBF}"/>
                </a:ext>
              </a:extLst>
            </p:cNvPr>
            <p:cNvCxnSpPr/>
            <p:nvPr/>
          </p:nvCxnSpPr>
          <p:spPr>
            <a:xfrm flipH="1">
              <a:off x="6927273" y="3700548"/>
              <a:ext cx="3879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C2EBE31F-F3F7-4B90-8913-80761EEF43FB}"/>
              </a:ext>
            </a:extLst>
          </p:cNvPr>
          <p:cNvSpPr/>
          <p:nvPr/>
        </p:nvSpPr>
        <p:spPr>
          <a:xfrm>
            <a:off x="1723503" y="4997094"/>
            <a:ext cx="64620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scores [2] == score [-3]== 95</a:t>
            </a:r>
            <a:endParaRPr lang="zh-CN" altLang="en-US" sz="28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7F981CF-49BC-4165-8A72-142CFD7CC9A0}"/>
              </a:ext>
            </a:extLst>
          </p:cNvPr>
          <p:cNvSpPr/>
          <p:nvPr/>
        </p:nvSpPr>
        <p:spPr>
          <a:xfrm>
            <a:off x="892080" y="1337686"/>
            <a:ext cx="64620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列表元素按序号访问。</a:t>
            </a:r>
          </a:p>
        </p:txBody>
      </p:sp>
    </p:spTree>
    <p:extLst>
      <p:ext uri="{BB962C8B-B14F-4D97-AF65-F5344CB8AC3E}">
        <p14:creationId xmlns:p14="http://schemas.microsoft.com/office/powerpoint/2010/main" val="2502519714"/>
      </p:ext>
    </p:extLst>
  </p:cSld>
  <p:clrMapOvr>
    <a:masterClrMapping/>
  </p:clrMapOvr>
  <p:transition spd="slow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列表与列表定义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595403" y="1721591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可以存放一组成绩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可以存放一组人名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可以存放一个学生的基本信息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098F99BD-4EC1-4BF0-BD77-0B98769D720A}"/>
              </a:ext>
            </a:extLst>
          </p:cNvPr>
          <p:cNvSpPr/>
          <p:nvPr/>
        </p:nvSpPr>
        <p:spPr>
          <a:xfrm>
            <a:off x="7081592" y="4397680"/>
            <a:ext cx="3851563" cy="725978"/>
          </a:xfrm>
          <a:prstGeom prst="wedgeRectCallout">
            <a:avLst>
              <a:gd name="adj1" fmla="val -59825"/>
              <a:gd name="adj2" fmla="val 96088"/>
            </a:avLst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9900"/>
                </a:solidFill>
              </a:rPr>
              <a:t>允许列表元素类型互不相同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91682D-DE62-4B9A-B32F-20A1AFEEC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844" y="2371627"/>
            <a:ext cx="5481748" cy="4216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25431BC-2CF4-4522-BA0F-26A1FBA9C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844" y="3897260"/>
            <a:ext cx="9127678" cy="3825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D0C94DB-F37A-4C48-9001-2398C4F1F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9844" y="5470462"/>
            <a:ext cx="9135061" cy="50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822136"/>
      </p:ext>
    </p:extLst>
  </p:cSld>
  <p:clrMapOvr>
    <a:masterClrMapping/>
  </p:clrMapOvr>
  <p:transition spd="slow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列表与列表定义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595403" y="1721591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可以存放若干学生的基本信息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可以如下定义嵌套的列表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098F99BD-4EC1-4BF0-BD77-0B98769D720A}"/>
              </a:ext>
            </a:extLst>
          </p:cNvPr>
          <p:cNvSpPr/>
          <p:nvPr/>
        </p:nvSpPr>
        <p:spPr>
          <a:xfrm>
            <a:off x="7181345" y="1016091"/>
            <a:ext cx="3851563" cy="725978"/>
          </a:xfrm>
          <a:prstGeom prst="wedgeRectCallout">
            <a:avLst>
              <a:gd name="adj1" fmla="val -52775"/>
              <a:gd name="adj2" fmla="val 138073"/>
            </a:avLst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9900"/>
                </a:solidFill>
              </a:rPr>
              <a:t>允许列表嵌套定义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6314AE-E205-4044-B1F6-C94D08D39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844" y="2460320"/>
            <a:ext cx="9586510" cy="4482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2B9630A-A135-4F26-B679-E644A71A6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844" y="4016224"/>
            <a:ext cx="10297207" cy="242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09816"/>
      </p:ext>
    </p:extLst>
  </p:cSld>
  <p:clrMapOvr>
    <a:masterClrMapping/>
  </p:clrMapOvr>
  <p:transition spd="slow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列表与列表定义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253330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2800" dirty="0"/>
              <a:t>【例</a:t>
            </a:r>
            <a:r>
              <a:rPr lang="en-US" altLang="zh-CN" sz="2800" dirty="0"/>
              <a:t>4-1</a:t>
            </a:r>
            <a:r>
              <a:rPr lang="zh-CN" altLang="zh-CN" sz="2800" dirty="0"/>
              <a:t>】根据输入的数字，输出对应的月份信息。如输入“</a:t>
            </a:r>
            <a:r>
              <a:rPr lang="en-US" altLang="zh-CN" sz="2800" dirty="0"/>
              <a:t>6</a:t>
            </a:r>
            <a:r>
              <a:rPr lang="zh-CN" altLang="zh-CN" sz="2800" dirty="0"/>
              <a:t>”，则输出“</a:t>
            </a:r>
            <a:r>
              <a:rPr lang="en-US" altLang="zh-CN" sz="2800" dirty="0"/>
              <a:t>It’s June.</a:t>
            </a:r>
            <a:r>
              <a:rPr lang="zh-CN" altLang="zh-CN" sz="2800" dirty="0"/>
              <a:t>”</a:t>
            </a:r>
            <a:endParaRPr lang="zh-CN" altLang="en-US" sz="28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AF4AF23-23A6-43A9-9402-DA8E97CEB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92442"/>
              </p:ext>
            </p:extLst>
          </p:nvPr>
        </p:nvGraphicFramePr>
        <p:xfrm>
          <a:off x="4311231" y="2576713"/>
          <a:ext cx="942668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2668">
                  <a:extLst>
                    <a:ext uri="{9D8B030D-6E8A-4147-A177-3AD203B41FA5}">
                      <a16:colId xmlns:a16="http://schemas.microsoft.com/office/drawing/2014/main" val="1692444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576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49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4098849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0270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3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86113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C127F97-928D-4702-9D8A-008D95458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166141"/>
              </p:ext>
            </p:extLst>
          </p:nvPr>
        </p:nvGraphicFramePr>
        <p:xfrm>
          <a:off x="5624666" y="2576713"/>
          <a:ext cx="155578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5780">
                  <a:extLst>
                    <a:ext uri="{9D8B030D-6E8A-4147-A177-3AD203B41FA5}">
                      <a16:colId xmlns:a16="http://schemas.microsoft.com/office/drawing/2014/main" val="1692444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‘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January</a:t>
                      </a:r>
                      <a:r>
                        <a:rPr lang="en-US" altLang="zh-CN" dirty="0"/>
                        <a:t>’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576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‘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February</a:t>
                      </a:r>
                      <a:r>
                        <a:rPr lang="en-US" altLang="zh-CN" dirty="0"/>
                        <a:t>’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9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‘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March</a:t>
                      </a:r>
                      <a:r>
                        <a:rPr lang="en-US" altLang="zh-CN" dirty="0"/>
                        <a:t>’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098849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270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‘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November</a:t>
                      </a:r>
                      <a:r>
                        <a:rPr lang="en-US" altLang="zh-CN" dirty="0"/>
                        <a:t>’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3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‘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December</a:t>
                      </a:r>
                      <a:r>
                        <a:rPr lang="en-US" altLang="zh-CN" dirty="0"/>
                        <a:t>’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86113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B3F08CC-E0A6-47FF-974F-0FB104D3E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089487"/>
              </p:ext>
            </p:extLst>
          </p:nvPr>
        </p:nvGraphicFramePr>
        <p:xfrm>
          <a:off x="7194363" y="2585180"/>
          <a:ext cx="46438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380">
                  <a:extLst>
                    <a:ext uri="{9D8B030D-6E8A-4147-A177-3AD203B41FA5}">
                      <a16:colId xmlns:a16="http://schemas.microsoft.com/office/drawing/2014/main" val="1692444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8576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49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4098849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0270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3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861132"/>
                  </a:ext>
                </a:extLst>
              </a:tr>
            </a:tbl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293B8DD7-1A92-4C7C-8991-CA6C2B0A757A}"/>
              </a:ext>
            </a:extLst>
          </p:cNvPr>
          <p:cNvGrpSpPr/>
          <p:nvPr/>
        </p:nvGrpSpPr>
        <p:grpSpPr>
          <a:xfrm>
            <a:off x="5022421" y="2762451"/>
            <a:ext cx="356138" cy="2246490"/>
            <a:chOff x="4932109" y="2762451"/>
            <a:chExt cx="356138" cy="2246490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7AD14EA4-E316-473D-9652-167A27D457AE}"/>
                </a:ext>
              </a:extLst>
            </p:cNvPr>
            <p:cNvCxnSpPr/>
            <p:nvPr/>
          </p:nvCxnSpPr>
          <p:spPr>
            <a:xfrm>
              <a:off x="4932112" y="2762451"/>
              <a:ext cx="35613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5E4FE7D8-4226-498B-9C24-E888BD69AC79}"/>
                </a:ext>
              </a:extLst>
            </p:cNvPr>
            <p:cNvCxnSpPr/>
            <p:nvPr/>
          </p:nvCxnSpPr>
          <p:spPr>
            <a:xfrm>
              <a:off x="4932112" y="3106763"/>
              <a:ext cx="35613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2DA6B54-ECCB-4667-87CA-2566BFFEDE18}"/>
                </a:ext>
              </a:extLst>
            </p:cNvPr>
            <p:cNvCxnSpPr/>
            <p:nvPr/>
          </p:nvCxnSpPr>
          <p:spPr>
            <a:xfrm>
              <a:off x="4932111" y="3518807"/>
              <a:ext cx="35613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3128E67E-B3FB-4100-B72A-31BCD931F7A8}"/>
                </a:ext>
              </a:extLst>
            </p:cNvPr>
            <p:cNvCxnSpPr/>
            <p:nvPr/>
          </p:nvCxnSpPr>
          <p:spPr>
            <a:xfrm>
              <a:off x="4932110" y="4636407"/>
              <a:ext cx="35613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353509F7-4664-4836-A1CD-CF1EFE375C85}"/>
                </a:ext>
              </a:extLst>
            </p:cNvPr>
            <p:cNvCxnSpPr/>
            <p:nvPr/>
          </p:nvCxnSpPr>
          <p:spPr>
            <a:xfrm>
              <a:off x="4932109" y="5008941"/>
              <a:ext cx="35613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4135E59D-D164-43D2-86EE-17AE15646DDE}"/>
              </a:ext>
            </a:extLst>
          </p:cNvPr>
          <p:cNvSpPr/>
          <p:nvPr/>
        </p:nvSpPr>
        <p:spPr>
          <a:xfrm>
            <a:off x="4260993" y="2187146"/>
            <a:ext cx="1043143" cy="335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2060"/>
                </a:solidFill>
              </a:rPr>
              <a:t>输入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780DC4E-EF6B-4D98-B3CE-B21929A7CB05}"/>
              </a:ext>
            </a:extLst>
          </p:cNvPr>
          <p:cNvSpPr/>
          <p:nvPr/>
        </p:nvSpPr>
        <p:spPr>
          <a:xfrm>
            <a:off x="5844723" y="2187146"/>
            <a:ext cx="1043143" cy="335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2060"/>
                </a:solidFill>
              </a:rPr>
              <a:t>输出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1F007D1-E5C0-42A8-A001-9F6F14952C2F}"/>
              </a:ext>
            </a:extLst>
          </p:cNvPr>
          <p:cNvSpPr/>
          <p:nvPr/>
        </p:nvSpPr>
        <p:spPr>
          <a:xfrm>
            <a:off x="5844722" y="5291908"/>
            <a:ext cx="1043143" cy="335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列表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1E47774-0FB6-4C4A-B056-D4AE77009B23}"/>
              </a:ext>
            </a:extLst>
          </p:cNvPr>
          <p:cNvSpPr/>
          <p:nvPr/>
        </p:nvSpPr>
        <p:spPr>
          <a:xfrm>
            <a:off x="6904981" y="5286624"/>
            <a:ext cx="1043143" cy="335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下标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1DDA532-DB86-4CFC-99ED-555EAAC19307}"/>
              </a:ext>
            </a:extLst>
          </p:cNvPr>
          <p:cNvGrpSpPr/>
          <p:nvPr/>
        </p:nvGrpSpPr>
        <p:grpSpPr>
          <a:xfrm>
            <a:off x="4782564" y="5286624"/>
            <a:ext cx="2643988" cy="1199104"/>
            <a:chOff x="4782564" y="5286624"/>
            <a:chExt cx="2643988" cy="1199104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8298884-80C5-4339-B2F0-BA2A9FC6C394}"/>
                </a:ext>
              </a:extLst>
            </p:cNvPr>
            <p:cNvGrpSpPr/>
            <p:nvPr/>
          </p:nvGrpSpPr>
          <p:grpSpPr>
            <a:xfrm>
              <a:off x="4782564" y="5286624"/>
              <a:ext cx="2643988" cy="843243"/>
              <a:chOff x="4782564" y="5286624"/>
              <a:chExt cx="2643988" cy="843243"/>
            </a:xfrm>
          </p:grpSpPr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FCCC0F70-0716-4031-AE92-D7CD1CE1D404}"/>
                  </a:ext>
                </a:extLst>
              </p:cNvPr>
              <p:cNvCxnSpPr/>
              <p:nvPr/>
            </p:nvCxnSpPr>
            <p:spPr>
              <a:xfrm>
                <a:off x="4782564" y="5286624"/>
                <a:ext cx="0" cy="84324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A82E1261-56DE-451F-9FAB-463830110B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6552" y="5621964"/>
                <a:ext cx="0" cy="50790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7739A09-3B4A-4C20-AC3C-0A70E0F8E245}"/>
                  </a:ext>
                </a:extLst>
              </p:cNvPr>
              <p:cNvCxnSpPr/>
              <p:nvPr/>
            </p:nvCxnSpPr>
            <p:spPr>
              <a:xfrm>
                <a:off x="4782564" y="6129867"/>
                <a:ext cx="2643988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F21DDB2-60B6-4308-B89A-3E43693A936B}"/>
                </a:ext>
              </a:extLst>
            </p:cNvPr>
            <p:cNvSpPr/>
            <p:nvPr/>
          </p:nvSpPr>
          <p:spPr>
            <a:xfrm>
              <a:off x="5022421" y="6107287"/>
              <a:ext cx="2171942" cy="3784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C00000"/>
                  </a:solidFill>
                </a:rPr>
                <a:t>注意</a:t>
              </a:r>
              <a:r>
                <a:rPr lang="en-US" altLang="zh-CN" dirty="0">
                  <a:solidFill>
                    <a:srgbClr val="C00000"/>
                  </a:solidFill>
                </a:rPr>
                <a:t>”</a:t>
              </a:r>
              <a:r>
                <a:rPr lang="zh-CN" altLang="en-US" dirty="0">
                  <a:solidFill>
                    <a:srgbClr val="C00000"/>
                  </a:solidFill>
                </a:rPr>
                <a:t>差</a:t>
              </a:r>
              <a:r>
                <a:rPr lang="en-US" altLang="zh-CN" dirty="0">
                  <a:solidFill>
                    <a:srgbClr val="C00000"/>
                  </a:solidFill>
                </a:rPr>
                <a:t>1”</a:t>
              </a:r>
              <a:r>
                <a:rPr lang="zh-CN" altLang="en-US" dirty="0">
                  <a:solidFill>
                    <a:srgbClr val="C00000"/>
                  </a:solidFill>
                </a:rPr>
                <a:t>处理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9082266"/>
      </p:ext>
    </p:extLst>
  </p:cSld>
  <p:clrMapOvr>
    <a:masterClrMapping/>
  </p:clrMapOvr>
  <p:transition spd="slow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  <a:r>
              <a:rPr lang="en-US" altLang="zh-CN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 📜</a:t>
            </a:r>
            <a:endParaRPr lang="zh-CN" altLang="en-US" sz="2800" b="1" spc="300" dirty="0">
              <a:solidFill>
                <a:srgbClr val="1E678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253330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lnSpc>
                <a:spcPct val="150000"/>
              </a:lnSpc>
              <a:buNone/>
            </a:pPr>
            <a:r>
              <a:rPr lang="zh-CN" altLang="en-US" sz="2800" dirty="0"/>
              <a:t>列表元素有序存放，并且可变。支持修改、添加和删除操作。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修改元素：</a:t>
            </a:r>
            <a:r>
              <a:rPr lang="en-US" altLang="zh-CN" sz="2800" dirty="0"/>
              <a:t>	</a:t>
            </a:r>
            <a:r>
              <a:rPr lang="zh-CN" altLang="zh-CN" sz="2800" dirty="0"/>
              <a:t>列表名</a:t>
            </a:r>
            <a:r>
              <a:rPr lang="en-US" altLang="zh-CN" sz="2800" dirty="0"/>
              <a:t>[</a:t>
            </a:r>
            <a:r>
              <a:rPr lang="zh-CN" altLang="zh-CN" sz="2800" dirty="0"/>
              <a:t>索引</a:t>
            </a:r>
            <a:r>
              <a:rPr lang="en-US" altLang="zh-CN" sz="2800" dirty="0"/>
              <a:t>] = </a:t>
            </a:r>
            <a:r>
              <a:rPr lang="zh-CN" altLang="zh-CN" sz="2800" dirty="0"/>
              <a:t>新值</a:t>
            </a:r>
            <a:r>
              <a:rPr lang="en-US" altLang="zh-CN" sz="2800" dirty="0"/>
              <a:t>          </a:t>
            </a:r>
            <a:r>
              <a:rPr lang="zh-CN" altLang="en-US" sz="2400" dirty="0">
                <a:solidFill>
                  <a:srgbClr val="C00000"/>
                </a:solidFill>
              </a:rPr>
              <a:t>注意序号索引方向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C0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A704EF-C5A7-4144-A80D-3C3640758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" y="3214510"/>
            <a:ext cx="6260807" cy="113171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1F68331-41FF-4562-B84D-16089B2EDDF3}"/>
              </a:ext>
            </a:extLst>
          </p:cNvPr>
          <p:cNvSpPr/>
          <p:nvPr/>
        </p:nvSpPr>
        <p:spPr>
          <a:xfrm>
            <a:off x="7620000" y="3214510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反向索引，修改最后一个元素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0D085E7-F46F-4B95-9710-D9CDB5C83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98" y="4806245"/>
            <a:ext cx="6260806" cy="1131711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F83F19B0-DFE9-4F64-A4F6-E73C1C2F1560}"/>
              </a:ext>
            </a:extLst>
          </p:cNvPr>
          <p:cNvSpPr/>
          <p:nvPr/>
        </p:nvSpPr>
        <p:spPr>
          <a:xfrm>
            <a:off x="7620000" y="4653844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通过赋值，交换两个元素值</a:t>
            </a:r>
          </a:p>
        </p:txBody>
      </p:sp>
    </p:spTree>
    <p:extLst>
      <p:ext uri="{BB962C8B-B14F-4D97-AF65-F5344CB8AC3E}">
        <p14:creationId xmlns:p14="http://schemas.microsoft.com/office/powerpoint/2010/main" val="2974084869"/>
      </p:ext>
    </p:extLst>
  </p:cSld>
  <p:clrMapOvr>
    <a:masterClrMapping/>
  </p:clrMapOvr>
  <p:transition spd="slow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072445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添加元素：</a:t>
            </a:r>
            <a:r>
              <a:rPr lang="en-US" altLang="zh-CN" sz="2800" dirty="0"/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尾部追加元素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——append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00050" lvl="1" indent="0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指定位置插入元素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——insert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F68331-41FF-4562-B84D-16089B2EDDF3}"/>
              </a:ext>
            </a:extLst>
          </p:cNvPr>
          <p:cNvSpPr/>
          <p:nvPr/>
        </p:nvSpPr>
        <p:spPr>
          <a:xfrm>
            <a:off x="7438392" y="2566743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固定在列表尾部添加元素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3F19B0-DFE9-4F64-A4F6-E73C1C2F1560}"/>
              </a:ext>
            </a:extLst>
          </p:cNvPr>
          <p:cNvSpPr/>
          <p:nvPr/>
        </p:nvSpPr>
        <p:spPr>
          <a:xfrm>
            <a:off x="7620000" y="4653844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第一个参数指定新元素插入位置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2943A8-E7AB-4D73-AFA9-DEF3D16AB4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43"/>
          <a:stretch/>
        </p:blipFill>
        <p:spPr>
          <a:xfrm>
            <a:off x="1250146" y="2409782"/>
            <a:ext cx="6188247" cy="12063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52396A5-8EA6-4E8D-9AB9-0E4419CE92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70"/>
          <a:stretch/>
        </p:blipFill>
        <p:spPr>
          <a:xfrm>
            <a:off x="1250147" y="4414978"/>
            <a:ext cx="6188245" cy="1735518"/>
          </a:xfrm>
          <a:prstGeom prst="rect">
            <a:avLst/>
          </a:prstGeom>
        </p:spPr>
      </p:pic>
      <p:pic>
        <p:nvPicPr>
          <p:cNvPr id="1026" name="Picture 2" descr="Python List append() Method">
            <a:extLst>
              <a:ext uri="{FF2B5EF4-FFF2-40B4-BE49-F238E27FC236}">
                <a16:creationId xmlns:a16="http://schemas.microsoft.com/office/drawing/2014/main" id="{C1E830C8-DACD-6DAB-583F-D248837D6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392" y="127487"/>
            <a:ext cx="4558754" cy="214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009804"/>
      </p:ext>
    </p:extLst>
  </p:cSld>
  <p:clrMapOvr>
    <a:masterClrMapping/>
  </p:clrMapOvr>
  <p:transition spd="slow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072445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删除元素：</a:t>
            </a:r>
            <a:r>
              <a:rPr lang="en-US" altLang="zh-CN" sz="2800" dirty="0"/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按索引删除元素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——del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命令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00050" lvl="1" indent="0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按索引删除元素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——pop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3F19B0-DFE9-4F64-A4F6-E73C1C2F1560}"/>
              </a:ext>
            </a:extLst>
          </p:cNvPr>
          <p:cNvSpPr/>
          <p:nvPr/>
        </p:nvSpPr>
        <p:spPr>
          <a:xfrm>
            <a:off x="8283309" y="3346813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注意命令和方法的区别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77D578F-6C5A-4FCB-9167-CEC186D11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147" y="2443021"/>
            <a:ext cx="6810375" cy="11317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620F09-32C7-4DB1-935F-9071FC93F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146" y="4452414"/>
            <a:ext cx="6810375" cy="1333141"/>
          </a:xfrm>
          <a:prstGeom prst="rect">
            <a:avLst/>
          </a:prstGeom>
        </p:spPr>
      </p:pic>
      <p:sp>
        <p:nvSpPr>
          <p:cNvPr id="7" name="右大括号 6">
            <a:extLst>
              <a:ext uri="{FF2B5EF4-FFF2-40B4-BE49-F238E27FC236}">
                <a16:creationId xmlns:a16="http://schemas.microsoft.com/office/drawing/2014/main" id="{86D28023-DD8B-46D8-8649-46D08BAF5BC1}"/>
              </a:ext>
            </a:extLst>
          </p:cNvPr>
          <p:cNvSpPr/>
          <p:nvPr/>
        </p:nvSpPr>
        <p:spPr>
          <a:xfrm>
            <a:off x="8361145" y="2839453"/>
            <a:ext cx="359343" cy="2146433"/>
          </a:xfrm>
          <a:prstGeom prst="rightBrac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注: 线形 9">
            <a:extLst>
              <a:ext uri="{FF2B5EF4-FFF2-40B4-BE49-F238E27FC236}">
                <a16:creationId xmlns:a16="http://schemas.microsoft.com/office/drawing/2014/main" id="{BA9FDBEE-4C42-4E8B-A04A-F78EE0CC29CE}"/>
              </a:ext>
            </a:extLst>
          </p:cNvPr>
          <p:cNvSpPr/>
          <p:nvPr/>
        </p:nvSpPr>
        <p:spPr>
          <a:xfrm>
            <a:off x="4305700" y="5921898"/>
            <a:ext cx="4553743" cy="529537"/>
          </a:xfrm>
          <a:prstGeom prst="borderCallout1">
            <a:avLst>
              <a:gd name="adj1" fmla="val 18750"/>
              <a:gd name="adj2" fmla="val -8333"/>
              <a:gd name="adj3" fmla="val -160618"/>
              <a:gd name="adj4" fmla="val -53139"/>
            </a:avLst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9900"/>
                </a:solidFill>
              </a:rPr>
              <a:t>pop</a:t>
            </a:r>
            <a:r>
              <a:rPr lang="zh-CN" altLang="en-US" b="1" dirty="0">
                <a:solidFill>
                  <a:srgbClr val="FF9900"/>
                </a:solidFill>
              </a:rPr>
              <a:t>方法删除元素同时会返回该元素</a:t>
            </a:r>
          </a:p>
        </p:txBody>
      </p:sp>
      <p:pic>
        <p:nvPicPr>
          <p:cNvPr id="2050" name="Picture 2" descr="栈的压入弹出序列c-CSDN博客">
            <a:extLst>
              <a:ext uri="{FF2B5EF4-FFF2-40B4-BE49-F238E27FC236}">
                <a16:creationId xmlns:a16="http://schemas.microsoft.com/office/drawing/2014/main" id="{5313F9BE-5F75-E3F2-7FEC-7523B2BDF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280" y="173793"/>
            <a:ext cx="383540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tack Pop Operation | Delete Data from Stack">
            <a:extLst>
              <a:ext uri="{FF2B5EF4-FFF2-40B4-BE49-F238E27FC236}">
                <a16:creationId xmlns:a16="http://schemas.microsoft.com/office/drawing/2014/main" id="{CBB15822-60AE-9D67-4551-67C0FAD2F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806" y="4172606"/>
            <a:ext cx="2300059" cy="270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491496"/>
      </p:ext>
    </p:extLst>
  </p:cSld>
  <p:clrMapOvr>
    <a:masterClrMapping/>
  </p:clrMapOvr>
  <p:transition spd="slow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072445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删除元素：</a:t>
            </a:r>
            <a:r>
              <a:rPr lang="en-US" altLang="zh-CN" sz="2800" dirty="0"/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按索引删除元素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——pop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方法（续）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00050" lvl="1" indent="0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按值删除元素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——remove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3F19B0-DFE9-4F64-A4F6-E73C1C2F1560}"/>
              </a:ext>
            </a:extLst>
          </p:cNvPr>
          <p:cNvSpPr/>
          <p:nvPr/>
        </p:nvSpPr>
        <p:spPr>
          <a:xfrm>
            <a:off x="8060521" y="2499399"/>
            <a:ext cx="3499556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缺省索引参数时，</a:t>
            </a:r>
            <a:r>
              <a:rPr lang="en-US" altLang="zh-CN" b="1" dirty="0">
                <a:solidFill>
                  <a:srgbClr val="C00000"/>
                </a:solidFill>
              </a:rPr>
              <a:t>pop</a:t>
            </a:r>
            <a:r>
              <a:rPr lang="zh-CN" altLang="en-US" b="1" dirty="0">
                <a:solidFill>
                  <a:srgbClr val="C00000"/>
                </a:solidFill>
              </a:rPr>
              <a:t>默认删除最后一个元素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4123DA-7A06-4905-824F-FA1FBE5E76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89"/>
          <a:stretch/>
        </p:blipFill>
        <p:spPr>
          <a:xfrm>
            <a:off x="1250146" y="2415941"/>
            <a:ext cx="6781800" cy="12986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5A08412-5A2C-489E-93CE-65EF4199B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146" y="4448975"/>
            <a:ext cx="7239000" cy="1131712"/>
          </a:xfrm>
          <a:prstGeom prst="rect">
            <a:avLst/>
          </a:prstGeom>
        </p:spPr>
      </p:pic>
      <p:pic>
        <p:nvPicPr>
          <p:cNvPr id="2" name="Picture 2" descr="栈的压入弹出序列c-CSDN博客">
            <a:extLst>
              <a:ext uri="{FF2B5EF4-FFF2-40B4-BE49-F238E27FC236}">
                <a16:creationId xmlns:a16="http://schemas.microsoft.com/office/drawing/2014/main" id="{B807D926-19DF-393C-FB3A-269A3186C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280" y="173793"/>
            <a:ext cx="383540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244052"/>
      </p:ext>
    </p:extLst>
  </p:cSld>
  <p:clrMapOvr>
    <a:masterClrMapping/>
  </p:clrMapOvr>
  <p:transition spd="slow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0D72CD8A-1617-46E1-9630-6BD8B8AA5DAC}"/>
              </a:ext>
            </a:extLst>
          </p:cNvPr>
          <p:cNvSpPr txBox="1">
            <a:spLocks/>
          </p:cNvSpPr>
          <p:nvPr/>
        </p:nvSpPr>
        <p:spPr>
          <a:xfrm>
            <a:off x="422348" y="1072445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删除元素：</a:t>
            </a:r>
            <a:r>
              <a:rPr lang="en-US" altLang="zh-CN" sz="2800" dirty="0"/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按值删除元素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——remove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方法（续）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3F19B0-DFE9-4F64-A4F6-E73C1C2F1560}"/>
              </a:ext>
            </a:extLst>
          </p:cNvPr>
          <p:cNvSpPr/>
          <p:nvPr/>
        </p:nvSpPr>
        <p:spPr>
          <a:xfrm>
            <a:off x="7036903" y="1231344"/>
            <a:ext cx="3791517" cy="1131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列表中包含多个待删除元素时，</a:t>
            </a:r>
            <a:r>
              <a:rPr lang="en-US" altLang="zh-CN" b="1" dirty="0">
                <a:solidFill>
                  <a:srgbClr val="C00000"/>
                </a:solidFill>
              </a:rPr>
              <a:t>remove</a:t>
            </a:r>
            <a:r>
              <a:rPr lang="zh-CN" altLang="en-US" b="1" dirty="0">
                <a:solidFill>
                  <a:srgbClr val="C00000"/>
                </a:solidFill>
              </a:rPr>
              <a:t>删除</a:t>
            </a:r>
            <a:r>
              <a:rPr lang="zh-CN" altLang="zh-CN" b="1" dirty="0">
                <a:solidFill>
                  <a:srgbClr val="C00000"/>
                </a:solidFill>
              </a:rPr>
              <a:t>索引值相对</a:t>
            </a:r>
            <a:r>
              <a:rPr lang="zh-CN" altLang="en-US" b="1" dirty="0">
                <a:solidFill>
                  <a:srgbClr val="C00000"/>
                </a:solidFill>
              </a:rPr>
              <a:t>较</a:t>
            </a:r>
            <a:r>
              <a:rPr lang="zh-CN" altLang="zh-CN" b="1" dirty="0">
                <a:solidFill>
                  <a:srgbClr val="C00000"/>
                </a:solidFill>
              </a:rPr>
              <a:t>小</a:t>
            </a:r>
            <a:r>
              <a:rPr lang="zh-CN" altLang="en-US" b="1" dirty="0">
                <a:solidFill>
                  <a:srgbClr val="C00000"/>
                </a:solidFill>
              </a:rPr>
              <a:t>的那个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C1AA2EC-B1BE-4FD4-9F82-5FA45E3C5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145" y="2499398"/>
            <a:ext cx="10368351" cy="929601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E6100327-CC75-4AF3-8370-4E798FF76C19}"/>
              </a:ext>
            </a:extLst>
          </p:cNvPr>
          <p:cNvSpPr/>
          <p:nvPr/>
        </p:nvSpPr>
        <p:spPr>
          <a:xfrm>
            <a:off x="7526956" y="2387065"/>
            <a:ext cx="808522" cy="48021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3BE14C8-F1F3-48F8-AEC4-B107720ADFDD}"/>
              </a:ext>
            </a:extLst>
          </p:cNvPr>
          <p:cNvSpPr/>
          <p:nvPr/>
        </p:nvSpPr>
        <p:spPr>
          <a:xfrm>
            <a:off x="9946880" y="2387065"/>
            <a:ext cx="808522" cy="48021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1675E32-AD88-4694-98B0-DC65346AD768}"/>
              </a:ext>
            </a:extLst>
          </p:cNvPr>
          <p:cNvCxnSpPr>
            <a:stCxn id="14" idx="4"/>
          </p:cNvCxnSpPr>
          <p:nvPr/>
        </p:nvCxnSpPr>
        <p:spPr>
          <a:xfrm flipH="1">
            <a:off x="8484032" y="2867278"/>
            <a:ext cx="1867109" cy="29943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BDAC2A7D-0739-42A7-B29A-931ABEB8EE06}"/>
              </a:ext>
            </a:extLst>
          </p:cNvPr>
          <p:cNvSpPr/>
          <p:nvPr/>
        </p:nvSpPr>
        <p:spPr>
          <a:xfrm>
            <a:off x="7675510" y="3044274"/>
            <a:ext cx="808522" cy="48021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B8D0A9-05DC-40F7-9B94-4B6B4D29EA72}"/>
              </a:ext>
            </a:extLst>
          </p:cNvPr>
          <p:cNvSpPr/>
          <p:nvPr/>
        </p:nvSpPr>
        <p:spPr>
          <a:xfrm>
            <a:off x="991403" y="4280072"/>
            <a:ext cx="10368351" cy="214735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已知待删除元素的索引时，可使用</a:t>
            </a:r>
            <a:r>
              <a:rPr lang="en-US" altLang="zh-CN" dirty="0"/>
              <a:t>del</a:t>
            </a:r>
            <a:r>
              <a:rPr lang="zh-CN" altLang="zh-CN" dirty="0"/>
              <a:t>命令和</a:t>
            </a:r>
            <a:r>
              <a:rPr lang="en-US" altLang="zh-CN" dirty="0"/>
              <a:t>pop</a:t>
            </a:r>
            <a:r>
              <a:rPr lang="zh-CN" altLang="zh-CN" dirty="0"/>
              <a:t>方法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pop</a:t>
            </a:r>
            <a:r>
              <a:rPr lang="zh-CN" altLang="zh-CN" dirty="0"/>
              <a:t>方法对于删除列表最末尾元素最为简单方便；</a:t>
            </a:r>
            <a:endParaRPr lang="en-US" altLang="zh-C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明确知道待删除元素值时，用</a:t>
            </a:r>
            <a:r>
              <a:rPr lang="en-US" altLang="zh-CN" dirty="0"/>
              <a:t>remove</a:t>
            </a:r>
            <a:r>
              <a:rPr lang="zh-CN" altLang="zh-CN" dirty="0"/>
              <a:t>方法更为简单。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与</a:t>
            </a:r>
            <a:r>
              <a:rPr lang="en-US" altLang="zh-CN" dirty="0"/>
              <a:t>del</a:t>
            </a:r>
            <a:r>
              <a:rPr lang="zh-CN" altLang="zh-CN" dirty="0"/>
              <a:t>命令和</a:t>
            </a:r>
            <a:r>
              <a:rPr lang="en-US" altLang="zh-CN" dirty="0"/>
              <a:t>remove</a:t>
            </a:r>
            <a:r>
              <a:rPr lang="zh-CN" altLang="zh-CN" dirty="0"/>
              <a:t>方法不同，</a:t>
            </a:r>
            <a:r>
              <a:rPr lang="en-US" altLang="zh-CN" dirty="0"/>
              <a:t>pop</a:t>
            </a:r>
            <a:r>
              <a:rPr lang="zh-CN" altLang="zh-CN" dirty="0"/>
              <a:t>方法在删除元素的同时会“弹出”这个被删除的元素，如果需要可以用一个变量“接住”它，以便进行进一步的后期操作。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1227380"/>
      </p:ext>
    </p:extLst>
  </p:cSld>
  <p:clrMapOvr>
    <a:masterClrMapping/>
  </p:clrMapOvr>
  <p:transition spd="slow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操作列表元素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7741151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其他常用操作：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函数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</a:t>
            </a:r>
            <a:r>
              <a:rPr lang="en-US" altLang="zh-CN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（列表）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 indent="-342900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统计和返回指定列表的长度，即列表中元素的个数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运算 和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not in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运算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元素 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（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not in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）列表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200150" lvl="2" indent="-342900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用来判断指定的元素是否在列表中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index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.index(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元素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marL="1314450" lvl="2" indent="-457200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用来在列表中查找指定的元素，如果找到返回第一个元素对应的索引；如果找不到，会直接报错。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count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方法</a:t>
            </a: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</a:t>
            </a: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.count(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元素</a:t>
            </a: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marL="1314450" lvl="2" indent="-457200">
              <a:lnSpc>
                <a:spcPct val="150000"/>
              </a:lnSpc>
              <a:buFont typeface="Calibri" panose="020F0502020204030204" pitchFamily="34" charset="0"/>
              <a:buChar char="−"/>
            </a:pP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用来统计并返回列表中指定元素的个数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098" name="Picture 2" descr="A Book of Book Lists: A Bibliophile's Compendium: Johnson, Alex:  9780712352253: Amazon.com: Books">
            <a:extLst>
              <a:ext uri="{FF2B5EF4-FFF2-40B4-BE49-F238E27FC236}">
                <a16:creationId xmlns:a16="http://schemas.microsoft.com/office/drawing/2014/main" id="{AE03016A-A7C5-29C4-9356-A03678B51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963" y="707504"/>
            <a:ext cx="3659647" cy="557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893632"/>
      </p:ext>
    </p:extLst>
  </p:cSld>
  <p:clrMapOvr>
    <a:masterClrMapping/>
  </p:clrMapOvr>
  <p:transition spd="slow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 📜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遍历列表：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zh-CN" sz="2400" dirty="0"/>
              <a:t>遍历，简单的说就是“从头到尾”的访问列表元素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guests[ 0 ]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guests[ 1 ]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guests[ 2 ]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……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guests[ </a:t>
            </a:r>
            <a:r>
              <a:rPr lang="en-US" altLang="zh-CN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]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……</a:t>
            </a:r>
          </a:p>
          <a:p>
            <a:pPr marL="400050" lvl="1" indent="0">
              <a:lnSpc>
                <a:spcPct val="150000"/>
              </a:lnSpc>
              <a:buNone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203635D-899E-48FF-ABD4-427DC4DB7B10}"/>
              </a:ext>
            </a:extLst>
          </p:cNvPr>
          <p:cNvGrpSpPr/>
          <p:nvPr/>
        </p:nvGrpSpPr>
        <p:grpSpPr>
          <a:xfrm>
            <a:off x="2319688" y="2362945"/>
            <a:ext cx="1491916" cy="3003072"/>
            <a:chOff x="1809549" y="2358189"/>
            <a:chExt cx="1491916" cy="3003072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950EAF7-9242-44D5-AFAB-FFACCE2E680F}"/>
                </a:ext>
              </a:extLst>
            </p:cNvPr>
            <p:cNvSpPr/>
            <p:nvPr/>
          </p:nvSpPr>
          <p:spPr>
            <a:xfrm>
              <a:off x="1809549" y="2358189"/>
              <a:ext cx="240632" cy="30030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7C34CC31-6EE1-464C-98A5-94501F31FAFE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2050181" y="3859725"/>
              <a:ext cx="125128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B4D4560C-F463-42C3-8C1D-1D4E4DA90943}"/>
              </a:ext>
            </a:extLst>
          </p:cNvPr>
          <p:cNvSpPr/>
          <p:nvPr/>
        </p:nvSpPr>
        <p:spPr>
          <a:xfrm>
            <a:off x="4218655" y="3566126"/>
            <a:ext cx="4161743" cy="596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0, 1, 2, 3, …, 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, …, </a:t>
            </a:r>
            <a:r>
              <a:rPr lang="en-US" altLang="zh-CN" sz="2400" dirty="0" err="1">
                <a:solidFill>
                  <a:srgbClr val="FF0000"/>
                </a:solidFill>
              </a:rPr>
              <a:t>len</a:t>
            </a:r>
            <a:r>
              <a:rPr lang="en-US" altLang="zh-CN" sz="2400" dirty="0">
                <a:solidFill>
                  <a:srgbClr val="FF0000"/>
                </a:solidFill>
              </a:rPr>
              <a:t>(guests)-1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85B57ABE-AADD-428D-9882-7F32733009E7}"/>
              </a:ext>
            </a:extLst>
          </p:cNvPr>
          <p:cNvSpPr/>
          <p:nvPr/>
        </p:nvSpPr>
        <p:spPr>
          <a:xfrm>
            <a:off x="6166166" y="4222202"/>
            <a:ext cx="266719" cy="346566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D1AA21-0039-4C6C-8BB6-2FCB78FFEDF7}"/>
              </a:ext>
            </a:extLst>
          </p:cNvPr>
          <p:cNvSpPr/>
          <p:nvPr/>
        </p:nvSpPr>
        <p:spPr>
          <a:xfrm>
            <a:off x="4839806" y="4628135"/>
            <a:ext cx="3019258" cy="490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range(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(guests))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214057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 💻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遍历列表：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使用</a:t>
            </a:r>
            <a:r>
              <a:rPr lang="en-US" altLang="zh-CN" sz="2400" dirty="0"/>
              <a:t>range</a:t>
            </a:r>
            <a:r>
              <a:rPr lang="zh-CN" altLang="en-US" sz="2400" dirty="0"/>
              <a:t>函数</a:t>
            </a:r>
            <a:r>
              <a:rPr lang="zh-CN" altLang="zh-CN" sz="2400" dirty="0"/>
              <a:t>遍历列表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254D03-0ED6-4B19-9BE8-DAEDDE55B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922" y="2517090"/>
            <a:ext cx="8201296" cy="2197419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766CE2C-32AA-475B-967A-9E22AF0C3F20}"/>
              </a:ext>
            </a:extLst>
          </p:cNvPr>
          <p:cNvCxnSpPr/>
          <p:nvPr/>
        </p:nvCxnSpPr>
        <p:spPr>
          <a:xfrm>
            <a:off x="2810577" y="2877954"/>
            <a:ext cx="1905802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标注: 线形 11">
            <a:extLst>
              <a:ext uri="{FF2B5EF4-FFF2-40B4-BE49-F238E27FC236}">
                <a16:creationId xmlns:a16="http://schemas.microsoft.com/office/drawing/2014/main" id="{EA0B6316-F30B-4D7E-8DA8-D3572095EB93}"/>
              </a:ext>
            </a:extLst>
          </p:cNvPr>
          <p:cNvSpPr/>
          <p:nvPr/>
        </p:nvSpPr>
        <p:spPr>
          <a:xfrm>
            <a:off x="5539338" y="3375979"/>
            <a:ext cx="4022879" cy="683390"/>
          </a:xfrm>
          <a:prstGeom prst="borderCallout1">
            <a:avLst>
              <a:gd name="adj1" fmla="val 18750"/>
              <a:gd name="adj2" fmla="val -8333"/>
              <a:gd name="adj3" fmla="val -70600"/>
              <a:gd name="adj4" fmla="val -2012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</a:rPr>
              <a:t>修改</a:t>
            </a:r>
            <a:r>
              <a:rPr lang="en-US" altLang="zh-CN" dirty="0">
                <a:solidFill>
                  <a:srgbClr val="C00000"/>
                </a:solidFill>
              </a:rPr>
              <a:t>range</a:t>
            </a:r>
            <a:r>
              <a:rPr lang="zh-CN" altLang="en-US" dirty="0">
                <a:solidFill>
                  <a:srgbClr val="C00000"/>
                </a:solidFill>
              </a:rPr>
              <a:t>函数的参数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可以灵活访问列表的部分元素</a:t>
            </a:r>
          </a:p>
        </p:txBody>
      </p:sp>
    </p:spTree>
    <p:extLst>
      <p:ext uri="{BB962C8B-B14F-4D97-AF65-F5344CB8AC3E}">
        <p14:creationId xmlns:p14="http://schemas.microsoft.com/office/powerpoint/2010/main" val="4288389317"/>
      </p:ext>
    </p:extLst>
  </p:cSld>
  <p:clrMapOvr>
    <a:masterClrMapping/>
  </p:clrMapOvr>
  <p:transition spd="slow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遍历列表：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400" dirty="0"/>
              <a:t>直接的元素</a:t>
            </a:r>
            <a:r>
              <a:rPr lang="zh-CN" altLang="zh-CN" sz="2400" dirty="0"/>
              <a:t>遍历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D37B781-D31A-4EDA-A78F-BC7506786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99" y="2557462"/>
            <a:ext cx="9040088" cy="2476551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1662EA8-AAB7-4300-9EC4-4B570597ECEE}"/>
              </a:ext>
            </a:extLst>
          </p:cNvPr>
          <p:cNvCxnSpPr/>
          <p:nvPr/>
        </p:nvCxnSpPr>
        <p:spPr>
          <a:xfrm>
            <a:off x="2367814" y="2991132"/>
            <a:ext cx="1905802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标注: 线形 9">
            <a:extLst>
              <a:ext uri="{FF2B5EF4-FFF2-40B4-BE49-F238E27FC236}">
                <a16:creationId xmlns:a16="http://schemas.microsoft.com/office/drawing/2014/main" id="{9C448571-A339-406F-BA92-F076C4E8BF74}"/>
              </a:ext>
            </a:extLst>
          </p:cNvPr>
          <p:cNvSpPr/>
          <p:nvPr/>
        </p:nvSpPr>
        <p:spPr>
          <a:xfrm>
            <a:off x="4778942" y="3364029"/>
            <a:ext cx="2815391" cy="466826"/>
          </a:xfrm>
          <a:prstGeom prst="borderCallout1">
            <a:avLst>
              <a:gd name="adj1" fmla="val 18750"/>
              <a:gd name="adj2" fmla="val -8333"/>
              <a:gd name="adj3" fmla="val -70600"/>
              <a:gd name="adj4" fmla="val -2012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</a:rPr>
              <a:t>表达更为直观</a:t>
            </a:r>
          </a:p>
        </p:txBody>
      </p:sp>
    </p:spTree>
    <p:extLst>
      <p:ext uri="{BB962C8B-B14F-4D97-AF65-F5344CB8AC3E}">
        <p14:creationId xmlns:p14="http://schemas.microsoft.com/office/powerpoint/2010/main" val="1612526470"/>
      </p:ext>
    </p:extLst>
  </p:cSld>
  <p:clrMapOvr>
    <a:masterClrMapping/>
  </p:clrMapOvr>
  <p:transition spd="slow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50,851 Dictionary Book Stock Photos - Free &amp; Royalty-Free Stock Photos from  Dreamstime">
            <a:extLst>
              <a:ext uri="{FF2B5EF4-FFF2-40B4-BE49-F238E27FC236}">
                <a16:creationId xmlns:a16="http://schemas.microsoft.com/office/drawing/2014/main" id="{235D4068-0EE8-5A03-2C11-B754ABEF8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784" y="1443210"/>
            <a:ext cx="6944211" cy="46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列表排序：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/>
              <a:t>sort</a:t>
            </a:r>
            <a:r>
              <a:rPr lang="zh-CN" altLang="en-US" sz="2400" dirty="0"/>
              <a:t>方法排序。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E2D6D8-0D58-4441-8F5F-1D3FA5393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877" y="2599673"/>
            <a:ext cx="3296504" cy="90410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3F2616-122A-4B75-9EA0-FEE06D882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877" y="4340477"/>
            <a:ext cx="4158878" cy="90410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0204E16-6B5F-41E0-B1C2-21C029CF535F}"/>
              </a:ext>
            </a:extLst>
          </p:cNvPr>
          <p:cNvSpPr/>
          <p:nvPr/>
        </p:nvSpPr>
        <p:spPr>
          <a:xfrm>
            <a:off x="6358169" y="2599673"/>
            <a:ext cx="3499556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缺省参数的</a:t>
            </a:r>
            <a:r>
              <a:rPr lang="en-US" altLang="zh-CN" b="1" dirty="0">
                <a:solidFill>
                  <a:srgbClr val="C00000"/>
                </a:solidFill>
              </a:rPr>
              <a:t>sort</a:t>
            </a:r>
            <a:r>
              <a:rPr lang="zh-CN" altLang="en-US" b="1" dirty="0">
                <a:solidFill>
                  <a:srgbClr val="C00000"/>
                </a:solidFill>
              </a:rPr>
              <a:t>方法默认对列表元素按升序排序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7F58EA-8845-407B-871B-FB53776B1FC3}"/>
              </a:ext>
            </a:extLst>
          </p:cNvPr>
          <p:cNvSpPr/>
          <p:nvPr/>
        </p:nvSpPr>
        <p:spPr>
          <a:xfrm>
            <a:off x="6358169" y="4291497"/>
            <a:ext cx="3499556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嵌套结构的列表默认元素的第一个子元素为关键字按升序排序</a:t>
            </a:r>
          </a:p>
        </p:txBody>
      </p:sp>
    </p:spTree>
    <p:extLst>
      <p:ext uri="{BB962C8B-B14F-4D97-AF65-F5344CB8AC3E}">
        <p14:creationId xmlns:p14="http://schemas.microsoft.com/office/powerpoint/2010/main" val="3291965866"/>
      </p:ext>
    </p:extLst>
  </p:cSld>
  <p:clrMapOvr>
    <a:masterClrMapping/>
  </p:clrMapOvr>
  <p:transition spd="slow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列表排序：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/>
              <a:t>sort</a:t>
            </a:r>
            <a:r>
              <a:rPr lang="zh-CN" altLang="en-US" sz="2400" dirty="0"/>
              <a:t>方法排序</a:t>
            </a:r>
            <a:r>
              <a:rPr lang="en-US" altLang="zh-CN" sz="2400" dirty="0"/>
              <a:t>(</a:t>
            </a:r>
            <a:r>
              <a:rPr lang="zh-CN" altLang="en-US" sz="2400" dirty="0"/>
              <a:t>续</a:t>
            </a:r>
            <a:r>
              <a:rPr lang="en-US" altLang="zh-CN" sz="2400" dirty="0"/>
              <a:t>)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204E16-6B5F-41E0-B1C2-21C029CF535F}"/>
              </a:ext>
            </a:extLst>
          </p:cNvPr>
          <p:cNvSpPr/>
          <p:nvPr/>
        </p:nvSpPr>
        <p:spPr>
          <a:xfrm>
            <a:off x="7193599" y="3429000"/>
            <a:ext cx="3499556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9900"/>
                </a:solidFill>
              </a:rPr>
              <a:t>reverse</a:t>
            </a:r>
            <a:r>
              <a:rPr lang="zh-CN" altLang="en-US" b="1" dirty="0">
                <a:solidFill>
                  <a:srgbClr val="C00000"/>
                </a:solidFill>
              </a:rPr>
              <a:t>参数为</a:t>
            </a:r>
            <a:r>
              <a:rPr lang="en-US" altLang="zh-CN" b="1" dirty="0">
                <a:solidFill>
                  <a:srgbClr val="C00000"/>
                </a:solidFill>
              </a:rPr>
              <a:t>”</a:t>
            </a:r>
            <a:r>
              <a:rPr lang="en-US" altLang="zh-CN" b="1" dirty="0">
                <a:solidFill>
                  <a:srgbClr val="FF9900"/>
                </a:solidFill>
              </a:rPr>
              <a:t>True</a:t>
            </a:r>
            <a:r>
              <a:rPr lang="en-US" altLang="zh-CN" b="1" dirty="0">
                <a:solidFill>
                  <a:srgbClr val="C00000"/>
                </a:solidFill>
              </a:rPr>
              <a:t>”</a:t>
            </a:r>
            <a:r>
              <a:rPr lang="zh-CN" altLang="en-US" b="1" dirty="0">
                <a:solidFill>
                  <a:srgbClr val="C00000"/>
                </a:solidFill>
              </a:rPr>
              <a:t>时对列表元素按</a:t>
            </a:r>
            <a:r>
              <a:rPr lang="zh-CN" altLang="en-US" b="1" dirty="0">
                <a:solidFill>
                  <a:srgbClr val="FF9900"/>
                </a:solidFill>
              </a:rPr>
              <a:t>降</a:t>
            </a:r>
            <a:r>
              <a:rPr lang="zh-CN" altLang="en-US" b="1" dirty="0">
                <a:solidFill>
                  <a:srgbClr val="C00000"/>
                </a:solidFill>
              </a:rPr>
              <a:t>序排序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E1664C7-0532-4133-9AE1-13410E309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603" y="2489267"/>
            <a:ext cx="4048557" cy="10239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9B98242-9494-4DCF-9DE9-263D019B1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124" y="4104805"/>
            <a:ext cx="5487683" cy="1055939"/>
          </a:xfrm>
          <a:prstGeom prst="rect">
            <a:avLst/>
          </a:prstGeom>
        </p:spPr>
      </p:pic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579D62F2-2006-42C3-82D3-6DF391A7554A}"/>
              </a:ext>
            </a:extLst>
          </p:cNvPr>
          <p:cNvSpPr txBox="1">
            <a:spLocks/>
          </p:cNvSpPr>
          <p:nvPr/>
        </p:nvSpPr>
        <p:spPr>
          <a:xfrm>
            <a:off x="1091944" y="5485330"/>
            <a:ext cx="7625206" cy="67300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sort</a:t>
            </a:r>
            <a:r>
              <a:rPr lang="zh-CN" altLang="en-US" dirty="0">
                <a:solidFill>
                  <a:srgbClr val="FF0000"/>
                </a:solidFill>
              </a:rPr>
              <a:t>方法原地排序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改变原来的列表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endParaRPr lang="zh-CN" altLang="zh-CN" sz="2400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956078"/>
      </p:ext>
    </p:extLst>
  </p:cSld>
  <p:clrMapOvr>
    <a:masterClrMapping/>
  </p:clrMapOvr>
  <p:transition spd="slow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列表排序：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400" dirty="0"/>
              <a:t>sorted</a:t>
            </a:r>
            <a:r>
              <a:rPr lang="zh-CN" altLang="en-US" sz="2400" dirty="0"/>
              <a:t>函数排序。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579D62F2-2006-42C3-82D3-6DF391A7554A}"/>
              </a:ext>
            </a:extLst>
          </p:cNvPr>
          <p:cNvSpPr txBox="1">
            <a:spLocks/>
          </p:cNvSpPr>
          <p:nvPr/>
        </p:nvSpPr>
        <p:spPr>
          <a:xfrm>
            <a:off x="674376" y="4649107"/>
            <a:ext cx="10804881" cy="144443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sorted</a:t>
            </a:r>
            <a:r>
              <a:rPr lang="zh-CN" altLang="en-US" dirty="0">
                <a:solidFill>
                  <a:srgbClr val="FF0000"/>
                </a:solidFill>
              </a:rPr>
              <a:t>命令的使用和参数含义和</a:t>
            </a:r>
            <a:r>
              <a:rPr lang="en-US" altLang="zh-CN" dirty="0">
                <a:solidFill>
                  <a:srgbClr val="FF0000"/>
                </a:solidFill>
              </a:rPr>
              <a:t>sort</a:t>
            </a:r>
            <a:r>
              <a:rPr lang="zh-CN" altLang="en-US" dirty="0">
                <a:solidFill>
                  <a:srgbClr val="FF0000"/>
                </a:solidFill>
              </a:rPr>
              <a:t>方法一致。</a:t>
            </a:r>
            <a:endParaRPr lang="en-US" altLang="zh-CN" dirty="0">
              <a:solidFill>
                <a:srgbClr val="FF0000"/>
              </a:solidFill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但</a:t>
            </a:r>
            <a:r>
              <a:rPr lang="en-US" altLang="zh-CN" dirty="0">
                <a:solidFill>
                  <a:srgbClr val="FF0000"/>
                </a:solidFill>
              </a:rPr>
              <a:t>sorted</a:t>
            </a:r>
            <a:r>
              <a:rPr lang="zh-CN" altLang="en-US" dirty="0">
                <a:solidFill>
                  <a:srgbClr val="FF0000"/>
                </a:solidFill>
              </a:rPr>
              <a:t>命令生成新的有序列表，不改变原来的列表。</a:t>
            </a:r>
            <a:endParaRPr lang="zh-CN" altLang="zh-CN" sz="3600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B5C2A1-4F59-4988-B075-A86DBCAF7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124" y="2334016"/>
            <a:ext cx="3537278" cy="11839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2BBA062-5542-480A-87B7-3BC7DC426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013" y="2345207"/>
            <a:ext cx="3902888" cy="118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28190"/>
      </p:ext>
    </p:extLst>
  </p:cSld>
  <p:clrMapOvr>
    <a:masterClrMapping/>
  </p:clrMapOvr>
  <p:transition spd="slow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ython List Slicing - GeeksforGeeks">
            <a:extLst>
              <a:ext uri="{FF2B5EF4-FFF2-40B4-BE49-F238E27FC236}">
                <a16:creationId xmlns:a16="http://schemas.microsoft.com/office/drawing/2014/main" id="{AC599DE6-22DF-45D2-A16F-EB9E4E5E2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267" y="281058"/>
            <a:ext cx="4662413" cy="247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7686066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列表切片：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400050" lvl="1" indent="457200">
              <a:lnSpc>
                <a:spcPct val="150000"/>
              </a:lnSpc>
              <a:buNone/>
            </a:pPr>
            <a:r>
              <a:rPr lang="zh-CN" altLang="en-US" dirty="0"/>
              <a:t>列表切片和</a:t>
            </a:r>
            <a:r>
              <a:rPr lang="zh-CN" altLang="zh-CN" dirty="0"/>
              <a:t>字符串切片操作</a:t>
            </a:r>
            <a:r>
              <a:rPr lang="en-US" altLang="zh-CN" dirty="0"/>
              <a:t> </a:t>
            </a:r>
            <a:r>
              <a:rPr lang="zh-CN" altLang="zh-CN" dirty="0"/>
              <a:t>类似，直接指定切片的起始索引</a:t>
            </a:r>
            <a:r>
              <a:rPr lang="zh-CN" altLang="en-US" dirty="0"/>
              <a:t>、</a:t>
            </a:r>
            <a:r>
              <a:rPr lang="zh-CN" altLang="zh-CN" dirty="0"/>
              <a:t>终止索引</a:t>
            </a:r>
            <a:r>
              <a:rPr lang="zh-CN" altLang="en-US" dirty="0"/>
              <a:t>和切片方式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/>
              <a:t>			</a:t>
            </a:r>
            <a:r>
              <a:rPr lang="zh-CN" altLang="zh-CN" dirty="0"/>
              <a:t>列表</a:t>
            </a:r>
            <a:r>
              <a:rPr lang="en-US" altLang="zh-CN" dirty="0"/>
              <a:t>[</a:t>
            </a:r>
            <a:r>
              <a:rPr lang="zh-CN" altLang="zh-CN" dirty="0"/>
              <a:t>起始索引 ：终止索引 ：</a:t>
            </a:r>
            <a:r>
              <a:rPr lang="en-US" altLang="zh-CN" dirty="0"/>
              <a:t>n]</a:t>
            </a:r>
            <a:endParaRPr lang="en-US" altLang="zh-CN" sz="2400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B82BC62-069B-466E-8671-F6FFC41AD6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40"/>
          <a:stretch/>
        </p:blipFill>
        <p:spPr>
          <a:xfrm>
            <a:off x="1025295" y="3850103"/>
            <a:ext cx="10141409" cy="1751799"/>
          </a:xfrm>
          <a:prstGeom prst="rect">
            <a:avLst/>
          </a:prstGeom>
        </p:spPr>
      </p:pic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B13A2070-3F96-461D-9798-DC3EE85F4AC3}"/>
              </a:ext>
            </a:extLst>
          </p:cNvPr>
          <p:cNvSpPr txBox="1">
            <a:spLocks/>
          </p:cNvSpPr>
          <p:nvPr/>
        </p:nvSpPr>
        <p:spPr>
          <a:xfrm>
            <a:off x="1025294" y="5762239"/>
            <a:ext cx="10141409" cy="66255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字符串中关于索引和切片方式的规定都适用于列表切片。</a:t>
            </a:r>
            <a:endParaRPr lang="zh-CN" altLang="zh-CN" sz="2400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444468"/>
      </p:ext>
    </p:extLst>
  </p:cSld>
  <p:clrMapOvr>
    <a:masterClrMapping/>
  </p:clrMapOvr>
  <p:transition spd="slow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列表扩充 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400050" lvl="1" indent="457200">
              <a:lnSpc>
                <a:spcPct val="150000"/>
              </a:lnSpc>
              <a:buNone/>
            </a:pPr>
            <a:r>
              <a:rPr lang="zh-CN" altLang="en-US" dirty="0"/>
              <a:t>列表的扩充是将两个列表合并成一个新的列表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/>
              <a:t>	</a:t>
            </a:r>
            <a:r>
              <a:rPr lang="zh-CN" altLang="zh-CN" dirty="0"/>
              <a:t>“</a:t>
            </a:r>
            <a:r>
              <a:rPr lang="en-US" altLang="zh-CN" dirty="0"/>
              <a:t>+</a:t>
            </a:r>
            <a:r>
              <a:rPr lang="zh-CN" altLang="zh-CN" dirty="0"/>
              <a:t>”运算</a:t>
            </a:r>
            <a:r>
              <a:rPr lang="en-US" altLang="zh-CN" sz="2400" dirty="0"/>
              <a:t>	</a:t>
            </a:r>
            <a:r>
              <a:rPr lang="zh-CN" altLang="en-US" sz="2400" dirty="0"/>
              <a:t>，也可以理解为“连接”操作。</a:t>
            </a: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8D5C76-8B55-436F-9D9F-08C339027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52" y="3244526"/>
            <a:ext cx="10332682" cy="13948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F6FAF93-B7C5-4914-BC50-3DD488FE2F7E}"/>
              </a:ext>
            </a:extLst>
          </p:cNvPr>
          <p:cNvSpPr/>
          <p:nvPr/>
        </p:nvSpPr>
        <p:spPr>
          <a:xfrm>
            <a:off x="530360" y="5362811"/>
            <a:ext cx="11253096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algn="just">
              <a:lnSpc>
                <a:spcPct val="150000"/>
              </a:lnSpc>
              <a:spcBef>
                <a:spcPts val="1000"/>
              </a:spcBef>
            </a:pPr>
            <a:r>
              <a:rPr lang="zh-CN" altLang="zh-CN" sz="2400" dirty="0">
                <a:solidFill>
                  <a:srgbClr val="FF0000"/>
                </a:solidFill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r>
              <a:rPr lang="zh-CN" altLang="zh-CN" sz="2400" dirty="0">
                <a:solidFill>
                  <a:srgbClr val="FF0000"/>
                </a:solidFill>
              </a:rPr>
              <a:t>”运算将两个列表连接生成一个新列表</a:t>
            </a:r>
            <a:r>
              <a:rPr lang="zh-CN" altLang="en-US" sz="2400" dirty="0">
                <a:solidFill>
                  <a:srgbClr val="FF0000"/>
                </a:solidFill>
              </a:rPr>
              <a:t>，而不改变</a:t>
            </a:r>
            <a:r>
              <a:rPr lang="zh-CN" altLang="zh-CN" sz="2400" dirty="0">
                <a:solidFill>
                  <a:srgbClr val="FF0000"/>
                </a:solidFill>
              </a:rPr>
              <a:t>参与运算的列</a:t>
            </a:r>
            <a:r>
              <a:rPr lang="zh-CN" altLang="en-US" sz="2400" dirty="0">
                <a:solidFill>
                  <a:srgbClr val="FF0000"/>
                </a:solidFill>
              </a:rPr>
              <a:t>表</a:t>
            </a:r>
            <a:r>
              <a:rPr lang="zh-CN" altLang="zh-CN" sz="2400" dirty="0">
                <a:solidFill>
                  <a:srgbClr val="FF0000"/>
                </a:solidFill>
              </a:rPr>
              <a:t>本身</a:t>
            </a:r>
            <a:r>
              <a:rPr lang="zh-CN" altLang="en-US" sz="2400" dirty="0">
                <a:solidFill>
                  <a:srgbClr val="FF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16072228"/>
      </p:ext>
    </p:extLst>
  </p:cSld>
  <p:clrMapOvr>
    <a:masterClrMapping/>
  </p:clrMapOvr>
  <p:transition spd="slow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列表扩充 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400" dirty="0"/>
              <a:t>	</a:t>
            </a:r>
            <a:r>
              <a:rPr lang="en-US" altLang="zh-CN" dirty="0"/>
              <a:t>extend</a:t>
            </a:r>
            <a:r>
              <a:rPr lang="zh-CN" altLang="en-US" dirty="0"/>
              <a:t>方法</a:t>
            </a:r>
            <a:r>
              <a:rPr lang="en-US" altLang="zh-CN" sz="2400" dirty="0"/>
              <a:t>	</a:t>
            </a:r>
            <a:r>
              <a:rPr lang="zh-CN" altLang="en-US" sz="2400" dirty="0"/>
              <a:t>，将参数列表添加至原列表中。</a:t>
            </a: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A558642-C7AD-454B-9692-62F428EE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2"/>
          <a:stretch/>
        </p:blipFill>
        <p:spPr>
          <a:xfrm>
            <a:off x="1254052" y="2829827"/>
            <a:ext cx="10271581" cy="205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73667"/>
      </p:ext>
    </p:extLst>
  </p:cSld>
  <p:clrMapOvr>
    <a:masterClrMapping/>
  </p:clrMapOvr>
  <p:transition spd="slow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列表扩充 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zh-CN" sz="2400" dirty="0"/>
              <a:t>	</a:t>
            </a:r>
            <a:r>
              <a:rPr lang="zh-CN" altLang="en-US" dirty="0"/>
              <a:t>“*”运算</a:t>
            </a:r>
            <a:r>
              <a:rPr lang="en-US" altLang="zh-CN" sz="2400" dirty="0"/>
              <a:t>	</a:t>
            </a:r>
            <a:r>
              <a:rPr lang="zh-CN" altLang="en-US" sz="2400" dirty="0"/>
              <a:t>，通过重复指定遍数扩充列表长度</a:t>
            </a: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2E9368-D96C-4C8D-B579-7725AACEF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589" y="2952449"/>
            <a:ext cx="9213641" cy="149442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0FA020B-42D5-453F-8545-7668A3172BD7}"/>
              </a:ext>
            </a:extLst>
          </p:cNvPr>
          <p:cNvSpPr/>
          <p:nvPr/>
        </p:nvSpPr>
        <p:spPr>
          <a:xfrm>
            <a:off x="516556" y="5295434"/>
            <a:ext cx="11253096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algn="just">
              <a:lnSpc>
                <a:spcPct val="150000"/>
              </a:lnSpc>
              <a:spcBef>
                <a:spcPts val="1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与</a:t>
            </a:r>
            <a:r>
              <a:rPr lang="zh-CN" altLang="zh-CN" sz="2400" dirty="0">
                <a:solidFill>
                  <a:srgbClr val="FF0000"/>
                </a:solidFill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r>
              <a:rPr lang="zh-CN" altLang="zh-CN" sz="2400" dirty="0">
                <a:solidFill>
                  <a:srgbClr val="FF0000"/>
                </a:solidFill>
              </a:rPr>
              <a:t>”运算</a:t>
            </a:r>
            <a:r>
              <a:rPr lang="zh-CN" altLang="en-US" sz="2400" dirty="0">
                <a:solidFill>
                  <a:srgbClr val="FF0000"/>
                </a:solidFill>
              </a:rPr>
              <a:t>类似，“*”运算也</a:t>
            </a:r>
            <a:r>
              <a:rPr lang="zh-CN" altLang="zh-CN" sz="2400" dirty="0">
                <a:solidFill>
                  <a:srgbClr val="FF0000"/>
                </a:solidFill>
              </a:rPr>
              <a:t>生成新列表</a:t>
            </a:r>
            <a:r>
              <a:rPr lang="zh-CN" altLang="en-US" sz="2400" dirty="0">
                <a:solidFill>
                  <a:srgbClr val="FF0000"/>
                </a:solidFill>
              </a:rPr>
              <a:t>、而不改变</a:t>
            </a:r>
            <a:r>
              <a:rPr lang="zh-CN" altLang="zh-CN" sz="2400" dirty="0">
                <a:solidFill>
                  <a:srgbClr val="FF0000"/>
                </a:solidFill>
              </a:rPr>
              <a:t>参与运算的列</a:t>
            </a:r>
            <a:r>
              <a:rPr lang="zh-CN" altLang="en-US" sz="2400" dirty="0">
                <a:solidFill>
                  <a:srgbClr val="FF0000"/>
                </a:solidFill>
              </a:rPr>
              <a:t>表</a:t>
            </a:r>
            <a:r>
              <a:rPr lang="zh-CN" altLang="zh-CN" sz="2400" dirty="0">
                <a:solidFill>
                  <a:srgbClr val="FF0000"/>
                </a:solidFill>
              </a:rPr>
              <a:t>本身</a:t>
            </a:r>
            <a:r>
              <a:rPr lang="zh-CN" altLang="en-US" sz="2400" dirty="0">
                <a:solidFill>
                  <a:srgbClr val="FF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52205678"/>
      </p:ext>
    </p:extLst>
  </p:cSld>
  <p:clrMapOvr>
    <a:masterClrMapping/>
  </p:clrMapOvr>
  <p:transition spd="slow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  <a:r>
              <a:rPr lang="en-US" altLang="zh-CN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 📜</a:t>
            </a:r>
            <a:endParaRPr lang="zh-CN" altLang="en-US" sz="2800" b="1" spc="300" dirty="0">
              <a:solidFill>
                <a:srgbClr val="1E678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5673652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列表的复制 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pPr marL="400050" lvl="1" indent="457200">
              <a:lnSpc>
                <a:spcPct val="150000"/>
              </a:lnSpc>
              <a:buNone/>
            </a:pPr>
            <a:r>
              <a:rPr lang="zh-CN" altLang="en-US" sz="2400" dirty="0"/>
              <a:t>复制，即生成“一模一样”的列表。除了可以通过“提取所有”的特殊切片操作实现外，还可以：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使用列表的</a:t>
            </a:r>
            <a:r>
              <a:rPr lang="en-US" altLang="zh-CN" sz="2400" dirty="0"/>
              <a:t>copy</a:t>
            </a:r>
            <a:r>
              <a:rPr lang="zh-CN" altLang="en-US" sz="2400" dirty="0"/>
              <a:t>方法。</a:t>
            </a:r>
            <a:endParaRPr lang="en-US" altLang="zh-CN" sz="2400" dirty="0"/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通过列表之间的赋值操作。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FA020B-42D5-453F-8545-7668A3172BD7}"/>
              </a:ext>
            </a:extLst>
          </p:cNvPr>
          <p:cNvSpPr/>
          <p:nvPr/>
        </p:nvSpPr>
        <p:spPr>
          <a:xfrm>
            <a:off x="762124" y="4602415"/>
            <a:ext cx="4867495" cy="169533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algn="just">
              <a:lnSpc>
                <a:spcPct val="15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copy</a:t>
            </a:r>
            <a:r>
              <a:rPr lang="zh-CN" altLang="en-US" sz="2400" dirty="0">
                <a:solidFill>
                  <a:srgbClr val="FF0000"/>
                </a:solidFill>
              </a:rPr>
              <a:t>方法和赋值操作都能得到“一样”的列表，但是两者的实现机制有着本质的区别。</a:t>
            </a:r>
          </a:p>
        </p:txBody>
      </p:sp>
      <p:pic>
        <p:nvPicPr>
          <p:cNvPr id="7170" name="Picture 2" descr="Python list copy - How to perform shallow copy and deep copy - Source Dexter">
            <a:extLst>
              <a:ext uri="{FF2B5EF4-FFF2-40B4-BE49-F238E27FC236}">
                <a16:creationId xmlns:a16="http://schemas.microsoft.com/office/drawing/2014/main" id="{11414A28-DFF3-CDB9-07D7-FC41C007B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592" y="697013"/>
            <a:ext cx="5264871" cy="235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3092652"/>
      </p:ext>
    </p:extLst>
  </p:cSld>
  <p:clrMapOvr>
    <a:masterClrMapping/>
  </p:clrMapOvr>
  <p:transition spd="slow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 💻 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列表的复制 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148EE3C-CDFA-4F99-9CD9-45D4ADA028B6}"/>
              </a:ext>
            </a:extLst>
          </p:cNvPr>
          <p:cNvCxnSpPr>
            <a:cxnSpLocks/>
          </p:cNvCxnSpPr>
          <p:nvPr/>
        </p:nvCxnSpPr>
        <p:spPr>
          <a:xfrm>
            <a:off x="5925614" y="1261249"/>
            <a:ext cx="0" cy="36052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8EA3BBD6-61C7-4DE7-B968-B8BCCE3F376D}"/>
              </a:ext>
            </a:extLst>
          </p:cNvPr>
          <p:cNvPicPr/>
          <p:nvPr/>
        </p:nvPicPr>
        <p:blipFill rotWithShape="1">
          <a:blip r:embed="rId3"/>
          <a:srcRect l="2800" t="6718" r="2751" b="8714"/>
          <a:stretch/>
        </p:blipFill>
        <p:spPr bwMode="auto">
          <a:xfrm>
            <a:off x="699930" y="2376585"/>
            <a:ext cx="4650163" cy="20251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9B00C9E-ABAE-44CE-92EB-24B08166DB89}"/>
              </a:ext>
            </a:extLst>
          </p:cNvPr>
          <p:cNvPicPr/>
          <p:nvPr/>
        </p:nvPicPr>
        <p:blipFill rotWithShape="1">
          <a:blip r:embed="rId4"/>
          <a:srcRect t="15312" r="-138"/>
          <a:stretch/>
        </p:blipFill>
        <p:spPr bwMode="auto">
          <a:xfrm>
            <a:off x="6552246" y="2617216"/>
            <a:ext cx="4385702" cy="15439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AB8C0CE-EAF2-4B7A-A88E-1D2BB8CA4EF1}"/>
              </a:ext>
            </a:extLst>
          </p:cNvPr>
          <p:cNvSpPr/>
          <p:nvPr/>
        </p:nvSpPr>
        <p:spPr>
          <a:xfrm>
            <a:off x="1666386" y="1877546"/>
            <a:ext cx="2243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使用列表的</a:t>
            </a:r>
            <a:r>
              <a:rPr lang="en-US" altLang="zh-CN" dirty="0"/>
              <a:t>copy</a:t>
            </a:r>
            <a:r>
              <a:rPr lang="zh-CN" altLang="en-US" dirty="0"/>
              <a:t>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02A31A-C4CA-4EA0-AA30-E9743A84308A}"/>
              </a:ext>
            </a:extLst>
          </p:cNvPr>
          <p:cNvSpPr/>
          <p:nvPr/>
        </p:nvSpPr>
        <p:spPr>
          <a:xfrm>
            <a:off x="7109135" y="1877546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通过列表之间的赋值操作</a:t>
            </a:r>
          </a:p>
        </p:txBody>
      </p:sp>
      <p:sp>
        <p:nvSpPr>
          <p:cNvPr id="15" name="内容占位符 12">
            <a:extLst>
              <a:ext uri="{FF2B5EF4-FFF2-40B4-BE49-F238E27FC236}">
                <a16:creationId xmlns:a16="http://schemas.microsoft.com/office/drawing/2014/main" id="{35BB398D-223D-4CBD-AD9A-3697781E9DF8}"/>
              </a:ext>
            </a:extLst>
          </p:cNvPr>
          <p:cNvSpPr txBox="1">
            <a:spLocks/>
          </p:cNvSpPr>
          <p:nvPr/>
        </p:nvSpPr>
        <p:spPr>
          <a:xfrm>
            <a:off x="699930" y="4732688"/>
            <a:ext cx="4594145" cy="680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00000"/>
                </a:solidFill>
              </a:rPr>
              <a:t>深拷贝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两个列表有独立空间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17" name="内容占位符 12">
            <a:extLst>
              <a:ext uri="{FF2B5EF4-FFF2-40B4-BE49-F238E27FC236}">
                <a16:creationId xmlns:a16="http://schemas.microsoft.com/office/drawing/2014/main" id="{2EE86A2B-BF91-4D90-B263-69C0B0597C30}"/>
              </a:ext>
            </a:extLst>
          </p:cNvPr>
          <p:cNvSpPr txBox="1">
            <a:spLocks/>
          </p:cNvSpPr>
          <p:nvPr/>
        </p:nvSpPr>
        <p:spPr>
          <a:xfrm>
            <a:off x="7109135" y="4732687"/>
            <a:ext cx="4594145" cy="680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00000"/>
                </a:solidFill>
              </a:rPr>
              <a:t>浅拷贝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两个列表共享空间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924043-E189-4867-9B37-A071CB332378}"/>
              </a:ext>
            </a:extLst>
          </p:cNvPr>
          <p:cNvSpPr/>
          <p:nvPr/>
        </p:nvSpPr>
        <p:spPr>
          <a:xfrm>
            <a:off x="2075510" y="5671392"/>
            <a:ext cx="7700208" cy="7736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FF9900"/>
                </a:solidFill>
              </a:rPr>
              <a:t>del guests[0]</a:t>
            </a:r>
            <a:r>
              <a:rPr lang="en-US" altLang="zh-CN" dirty="0"/>
              <a:t>	</a:t>
            </a:r>
            <a:r>
              <a:rPr lang="zh-CN" altLang="en-US" dirty="0"/>
              <a:t>操作后，</a:t>
            </a:r>
            <a:r>
              <a:rPr lang="en-US" altLang="zh-CN" dirty="0" err="1"/>
              <a:t>guestsCopy</a:t>
            </a:r>
            <a:r>
              <a:rPr lang="zh-CN" altLang="en-US" dirty="0"/>
              <a:t>和</a:t>
            </a:r>
            <a:r>
              <a:rPr lang="en-US" altLang="zh-CN" dirty="0" err="1"/>
              <a:t>guests1</a:t>
            </a:r>
            <a:r>
              <a:rPr lang="zh-CN" altLang="en-US" dirty="0"/>
              <a:t>列表会有什么变化？</a:t>
            </a:r>
          </a:p>
        </p:txBody>
      </p:sp>
    </p:spTree>
    <p:extLst>
      <p:ext uri="{BB962C8B-B14F-4D97-AF65-F5344CB8AC3E}">
        <p14:creationId xmlns:p14="http://schemas.microsoft.com/office/powerpoint/2010/main" val="1308901050"/>
      </p:ext>
    </p:extLst>
  </p:cSld>
  <p:clrMapOvr>
    <a:masterClrMapping/>
  </p:clrMapOvr>
  <p:transition spd="slow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0784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列表的删除：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列表的清空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C68F31-FF64-49AB-9383-9FEC25160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59" y="2620477"/>
            <a:ext cx="7999498" cy="142213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5F9DCEF-E282-4ECF-938B-7D04C5DF8D4C}"/>
              </a:ext>
            </a:extLst>
          </p:cNvPr>
          <p:cNvSpPr/>
          <p:nvPr/>
        </p:nvSpPr>
        <p:spPr>
          <a:xfrm>
            <a:off x="762124" y="4602415"/>
            <a:ext cx="9836048" cy="114133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algn="just">
              <a:lnSpc>
                <a:spcPct val="150000"/>
              </a:lnSpc>
              <a:spcBef>
                <a:spcPts val="1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经过删除“所有元素”的</a:t>
            </a:r>
            <a:r>
              <a:rPr lang="en-US" altLang="zh-CN" sz="2400" dirty="0">
                <a:solidFill>
                  <a:srgbClr val="FF0000"/>
                </a:solidFill>
              </a:rPr>
              <a:t>del</a:t>
            </a:r>
            <a:r>
              <a:rPr lang="zh-CN" altLang="en-US" sz="2400" dirty="0">
                <a:solidFill>
                  <a:srgbClr val="FF0000"/>
                </a:solidFill>
              </a:rPr>
              <a:t>操作后，列表中不包含任何元素，但是仍保留其列表的本质。</a:t>
            </a:r>
          </a:p>
        </p:txBody>
      </p:sp>
    </p:spTree>
    <p:extLst>
      <p:ext uri="{BB962C8B-B14F-4D97-AF65-F5344CB8AC3E}">
        <p14:creationId xmlns:p14="http://schemas.microsoft.com/office/powerpoint/2010/main" val="2676288755"/>
      </p:ext>
    </p:extLst>
  </p:cSld>
  <p:clrMapOvr>
    <a:masterClrMapping/>
  </p:clrMapOvr>
  <p:transition spd="slow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73793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操作列表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939329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列表的删除：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列表的删除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F9DCEF-E282-4ECF-938B-7D04C5DF8D4C}"/>
              </a:ext>
            </a:extLst>
          </p:cNvPr>
          <p:cNvSpPr/>
          <p:nvPr/>
        </p:nvSpPr>
        <p:spPr>
          <a:xfrm>
            <a:off x="674376" y="5173626"/>
            <a:ext cx="9836048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algn="just">
              <a:lnSpc>
                <a:spcPct val="15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del</a:t>
            </a:r>
            <a:r>
              <a:rPr lang="zh-CN" altLang="en-US" sz="2400" dirty="0">
                <a:solidFill>
                  <a:srgbClr val="FF0000"/>
                </a:solidFill>
              </a:rPr>
              <a:t>后直接跟列表名，则将彻底删除该列表对象！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84F658B-C3E9-491C-A6B0-096677514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52" y="2423968"/>
            <a:ext cx="9402357" cy="182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79911"/>
      </p:ext>
    </p:extLst>
  </p:cSld>
  <p:clrMapOvr>
    <a:masterClrMapping/>
  </p:clrMapOvr>
  <p:transition spd="slow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4511825" y="2633682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数值列表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02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7781221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数值列表</a:t>
            </a: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的创建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nput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输入列表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	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F9DCEF-E282-4ECF-938B-7D04C5DF8D4C}"/>
              </a:ext>
            </a:extLst>
          </p:cNvPr>
          <p:cNvSpPr/>
          <p:nvPr/>
        </p:nvSpPr>
        <p:spPr>
          <a:xfrm>
            <a:off x="902051" y="5146799"/>
            <a:ext cx="9836048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lvl="0" algn="just">
              <a:lnSpc>
                <a:spcPct val="150000"/>
              </a:lnSpc>
              <a:spcBef>
                <a:spcPts val="1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不管以何种形式输入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nput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函数</a:t>
            </a:r>
            <a:r>
              <a:rPr lang="zh-CN" altLang="en-US" sz="2400" dirty="0">
                <a:solidFill>
                  <a:srgbClr val="FF0000"/>
                </a:solidFill>
                <a:latin typeface="Calibri"/>
                <a:ea typeface="微软雅黑"/>
              </a:rPr>
              <a:t>都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默认从键盘输入的是字符串。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C04E46-40A3-4BA1-A50F-5EB254138C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08"/>
          <a:stretch/>
        </p:blipFill>
        <p:spPr>
          <a:xfrm>
            <a:off x="818392" y="2391315"/>
            <a:ext cx="5001683" cy="19111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E148E04-4203-4098-AA7F-3BFBEA4D4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927" y="2391314"/>
            <a:ext cx="5384156" cy="191117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A5AE446-17C2-41AB-AEF3-309B7445D0EC}"/>
              </a:ext>
            </a:extLst>
          </p:cNvPr>
          <p:cNvSpPr/>
          <p:nvPr/>
        </p:nvSpPr>
        <p:spPr>
          <a:xfrm>
            <a:off x="818392" y="2887579"/>
            <a:ext cx="1510922" cy="317634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5A1856-14A3-4462-837F-E3ABDEA54397}"/>
              </a:ext>
            </a:extLst>
          </p:cNvPr>
          <p:cNvSpPr/>
          <p:nvPr/>
        </p:nvSpPr>
        <p:spPr>
          <a:xfrm>
            <a:off x="6371927" y="2887579"/>
            <a:ext cx="1559290" cy="317634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151865"/>
      </p:ext>
    </p:extLst>
  </p:cSld>
  <p:clrMapOvr>
    <a:masterClrMapping/>
  </p:clrMapOvr>
  <p:transition spd="slow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数值列表</a:t>
            </a: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的创建 📜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nput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输入列表（续）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	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F9DCEF-E282-4ECF-938B-7D04C5DF8D4C}"/>
              </a:ext>
            </a:extLst>
          </p:cNvPr>
          <p:cNvSpPr/>
          <p:nvPr/>
        </p:nvSpPr>
        <p:spPr>
          <a:xfrm>
            <a:off x="1489192" y="4916632"/>
            <a:ext cx="6990665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lvl="0" algn="just">
              <a:lnSpc>
                <a:spcPct val="15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eval</a:t>
            </a:r>
            <a:r>
              <a:rPr lang="zh-CN" altLang="en-US" sz="2400" dirty="0">
                <a:solidFill>
                  <a:srgbClr val="FF0000"/>
                </a:solidFill>
              </a:rPr>
              <a:t>函数能将带“</a:t>
            </a:r>
            <a:r>
              <a:rPr lang="en-US" altLang="zh-CN" sz="2400" dirty="0">
                <a:solidFill>
                  <a:srgbClr val="FF0000"/>
                </a:solidFill>
              </a:rPr>
              <a:t>[]</a:t>
            </a:r>
            <a:r>
              <a:rPr lang="zh-CN" altLang="en-US" sz="2400" dirty="0">
                <a:solidFill>
                  <a:srgbClr val="FF0000"/>
                </a:solidFill>
              </a:rPr>
              <a:t>”的输入转换为列表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FCFF2A0-62E9-4738-8FE0-483504D09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430" y="2346038"/>
            <a:ext cx="7980742" cy="2165923"/>
          </a:xfrm>
          <a:prstGeom prst="rect">
            <a:avLst/>
          </a:prstGeom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5A3972D3-2B8A-4D36-A4AB-EFA5F075153E}"/>
              </a:ext>
            </a:extLst>
          </p:cNvPr>
          <p:cNvGrpSpPr/>
          <p:nvPr/>
        </p:nvGrpSpPr>
        <p:grpSpPr>
          <a:xfrm>
            <a:off x="1580055" y="2704699"/>
            <a:ext cx="3124561" cy="604788"/>
            <a:chOff x="1580055" y="2704699"/>
            <a:chExt cx="3124561" cy="604788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A4A5EA9-D12C-4E7A-A687-1250F80B8E39}"/>
                </a:ext>
              </a:extLst>
            </p:cNvPr>
            <p:cNvCxnSpPr>
              <a:cxnSpLocks/>
            </p:cNvCxnSpPr>
            <p:nvPr/>
          </p:nvCxnSpPr>
          <p:spPr>
            <a:xfrm>
              <a:off x="3214838" y="2704699"/>
              <a:ext cx="1489778" cy="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E2AE5CF-62AB-4317-8C07-C028AFF90797}"/>
                </a:ext>
              </a:extLst>
            </p:cNvPr>
            <p:cNvCxnSpPr>
              <a:cxnSpLocks/>
            </p:cNvCxnSpPr>
            <p:nvPr/>
          </p:nvCxnSpPr>
          <p:spPr>
            <a:xfrm>
              <a:off x="1580055" y="3309487"/>
              <a:ext cx="2895693" cy="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C35392E-3D3B-41D3-87E9-248649C8B8E4}"/>
              </a:ext>
            </a:extLst>
          </p:cNvPr>
          <p:cNvCxnSpPr>
            <a:cxnSpLocks/>
          </p:cNvCxnSpPr>
          <p:nvPr/>
        </p:nvCxnSpPr>
        <p:spPr>
          <a:xfrm flipH="1">
            <a:off x="4059724" y="2704699"/>
            <a:ext cx="644892" cy="15422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094363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数值列表</a:t>
            </a: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的创建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通过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list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函数转换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61FE4B-D3F8-4F66-9737-E59BFDF29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37" y="2462469"/>
            <a:ext cx="3487380" cy="10074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1E559C-C72A-4778-88F6-5C3C3CBEB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51" y="2684476"/>
            <a:ext cx="1945257" cy="281727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1198924E-29B8-47DA-B604-83357DEBCDC3}"/>
              </a:ext>
            </a:extLst>
          </p:cNvPr>
          <p:cNvGrpSpPr/>
          <p:nvPr/>
        </p:nvGrpSpPr>
        <p:grpSpPr>
          <a:xfrm>
            <a:off x="920151" y="3048587"/>
            <a:ext cx="2387065" cy="658913"/>
            <a:chOff x="920151" y="3048587"/>
            <a:chExt cx="2387065" cy="658913"/>
          </a:xfrm>
        </p:grpSpPr>
        <p:sp>
          <p:nvSpPr>
            <p:cNvPr id="6" name="右大括号 5">
              <a:extLst>
                <a:ext uri="{FF2B5EF4-FFF2-40B4-BE49-F238E27FC236}">
                  <a16:creationId xmlns:a16="http://schemas.microsoft.com/office/drawing/2014/main" id="{0C844786-27B6-4E12-9525-5DB566F43F62}"/>
                </a:ext>
              </a:extLst>
            </p:cNvPr>
            <p:cNvSpPr/>
            <p:nvPr/>
          </p:nvSpPr>
          <p:spPr>
            <a:xfrm rot="5400000">
              <a:off x="1789872" y="2412040"/>
              <a:ext cx="205813" cy="1478907"/>
            </a:xfrm>
            <a:prstGeom prst="rightBrace">
              <a:avLst/>
            </a:prstGeom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1BCD80A-234A-4B58-A1BA-2E78AEACCA8F}"/>
                </a:ext>
              </a:extLst>
            </p:cNvPr>
            <p:cNvSpPr/>
            <p:nvPr/>
          </p:nvSpPr>
          <p:spPr>
            <a:xfrm>
              <a:off x="920151" y="3253606"/>
              <a:ext cx="2387065" cy="4538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4"/>
                  </a:solidFill>
                </a:rPr>
                <a:t>与</a:t>
              </a:r>
              <a:r>
                <a:rPr lang="en-US" altLang="zh-CN" dirty="0">
                  <a:solidFill>
                    <a:schemeClr val="accent4"/>
                  </a:solidFill>
                </a:rPr>
                <a:t>range(1,6)</a:t>
              </a:r>
              <a:r>
                <a:rPr lang="zh-CN" altLang="en-US" dirty="0">
                  <a:solidFill>
                    <a:schemeClr val="accent4"/>
                  </a:solidFill>
                </a:rPr>
                <a:t>取值相同</a:t>
              </a:r>
            </a:p>
          </p:txBody>
        </p:sp>
      </p:grpSp>
      <p:sp>
        <p:nvSpPr>
          <p:cNvPr id="8" name="箭头: 右 7">
            <a:extLst>
              <a:ext uri="{FF2B5EF4-FFF2-40B4-BE49-F238E27FC236}">
                <a16:creationId xmlns:a16="http://schemas.microsoft.com/office/drawing/2014/main" id="{EE6BC030-FC00-41B6-BF6F-A10C5AA57346}"/>
              </a:ext>
            </a:extLst>
          </p:cNvPr>
          <p:cNvSpPr/>
          <p:nvPr/>
        </p:nvSpPr>
        <p:spPr>
          <a:xfrm>
            <a:off x="3359387" y="2966202"/>
            <a:ext cx="361768" cy="205019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8A79C0-BB7A-4DA3-8BB2-D111D6FEC14A}"/>
              </a:ext>
            </a:extLst>
          </p:cNvPr>
          <p:cNvSpPr/>
          <p:nvPr/>
        </p:nvSpPr>
        <p:spPr>
          <a:xfrm>
            <a:off x="3872990" y="2825339"/>
            <a:ext cx="2387065" cy="45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/>
                </a:solidFill>
              </a:rPr>
              <a:t>用</a:t>
            </a:r>
            <a:r>
              <a:rPr lang="en-US" altLang="zh-CN" dirty="0">
                <a:solidFill>
                  <a:schemeClr val="accent4"/>
                </a:solidFill>
              </a:rPr>
              <a:t>range</a:t>
            </a:r>
            <a:r>
              <a:rPr lang="zh-CN" altLang="en-US" dirty="0">
                <a:solidFill>
                  <a:schemeClr val="accent4"/>
                </a:solidFill>
              </a:rPr>
              <a:t>函数生成列表</a:t>
            </a:r>
            <a:r>
              <a:rPr lang="en-US" altLang="zh-CN" dirty="0">
                <a:solidFill>
                  <a:schemeClr val="accent4"/>
                </a:solidFill>
              </a:rPr>
              <a:t>?</a:t>
            </a:r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1AA26E9B-B593-4D52-9942-195B98CD706A}"/>
              </a:ext>
            </a:extLst>
          </p:cNvPr>
          <p:cNvSpPr/>
          <p:nvPr/>
        </p:nvSpPr>
        <p:spPr>
          <a:xfrm>
            <a:off x="6549277" y="2946077"/>
            <a:ext cx="361768" cy="205019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9039BC-1EBC-415F-980E-851D4DB63C6E}"/>
              </a:ext>
            </a:extLst>
          </p:cNvPr>
          <p:cNvSpPr/>
          <p:nvPr/>
        </p:nvSpPr>
        <p:spPr>
          <a:xfrm>
            <a:off x="7159956" y="3253606"/>
            <a:ext cx="2051421" cy="2269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D51E38-B24D-44D8-9CCA-19B7CFD29E45}"/>
              </a:ext>
            </a:extLst>
          </p:cNvPr>
          <p:cNvSpPr/>
          <p:nvPr/>
        </p:nvSpPr>
        <p:spPr>
          <a:xfrm>
            <a:off x="7504989" y="3470726"/>
            <a:ext cx="3412775" cy="45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range</a:t>
            </a:r>
            <a:r>
              <a:rPr lang="zh-CN" altLang="en-US" dirty="0">
                <a:solidFill>
                  <a:srgbClr val="C00000"/>
                </a:solidFill>
              </a:rPr>
              <a:t>函数无法直接生成列表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E1EB130-2691-4CBA-9EC7-A9C183D7C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1957" y="4561793"/>
            <a:ext cx="5138925" cy="1613384"/>
          </a:xfrm>
          <a:prstGeom prst="rect">
            <a:avLst/>
          </a:prstGeom>
        </p:spPr>
      </p:pic>
      <p:sp>
        <p:nvSpPr>
          <p:cNvPr id="12" name="箭头: 下 11">
            <a:extLst>
              <a:ext uri="{FF2B5EF4-FFF2-40B4-BE49-F238E27FC236}">
                <a16:creationId xmlns:a16="http://schemas.microsoft.com/office/drawing/2014/main" id="{CEBEB6C4-355D-42A0-93BC-EBAEF2E6FEE8}"/>
              </a:ext>
            </a:extLst>
          </p:cNvPr>
          <p:cNvSpPr/>
          <p:nvPr/>
        </p:nvSpPr>
        <p:spPr>
          <a:xfrm>
            <a:off x="8585735" y="4026386"/>
            <a:ext cx="221381" cy="328154"/>
          </a:xfrm>
          <a:prstGeom prst="downArrow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A36DD54-0C8F-44CF-B631-2E7A76BBA15A}"/>
              </a:ext>
            </a:extLst>
          </p:cNvPr>
          <p:cNvSpPr/>
          <p:nvPr/>
        </p:nvSpPr>
        <p:spPr>
          <a:xfrm>
            <a:off x="244744" y="5074815"/>
            <a:ext cx="5241327" cy="5873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228600" lvl="0" algn="just">
              <a:lnSpc>
                <a:spcPct val="150000"/>
              </a:lnSpc>
              <a:spcBef>
                <a:spcPts val="1000"/>
              </a:spcBef>
            </a:pPr>
            <a:r>
              <a:rPr lang="en-US" altLang="zh-CN" sz="2400" dirty="0" err="1">
                <a:solidFill>
                  <a:srgbClr val="FF0000"/>
                </a:solidFill>
              </a:rPr>
              <a:t>lsit</a:t>
            </a:r>
            <a:r>
              <a:rPr lang="zh-CN" altLang="en-US" sz="2400" dirty="0">
                <a:solidFill>
                  <a:srgbClr val="FF0000"/>
                </a:solidFill>
              </a:rPr>
              <a:t>函数可以将</a:t>
            </a:r>
            <a:r>
              <a:rPr lang="en-US" altLang="zh-CN" sz="2400" dirty="0">
                <a:solidFill>
                  <a:srgbClr val="FF0000"/>
                </a:solidFill>
              </a:rPr>
              <a:t>range</a:t>
            </a:r>
            <a:r>
              <a:rPr lang="zh-CN" altLang="en-US" sz="2400" dirty="0">
                <a:solidFill>
                  <a:srgbClr val="FF0000"/>
                </a:solidFill>
              </a:rPr>
              <a:t>对象转换为列表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307649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/>
      <p:bldP spid="21" grpId="0" animBg="1"/>
      <p:bldP spid="10" grpId="0" animBg="1"/>
      <p:bldP spid="24" grpId="0"/>
      <p:bldP spid="12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列表生成式 💻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【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例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】</a:t>
            </a:r>
            <a:r>
              <a:rPr lang="zh-CN" altLang="zh-CN" dirty="0"/>
              <a:t>创建一个由</a:t>
            </a:r>
            <a:r>
              <a:rPr lang="en-US" altLang="zh-CN" dirty="0"/>
              <a:t>1</a:t>
            </a:r>
            <a:r>
              <a:rPr lang="zh-CN" altLang="zh-CN" dirty="0"/>
              <a:t>～</a:t>
            </a:r>
            <a:r>
              <a:rPr lang="en-US" altLang="zh-CN" dirty="0"/>
              <a:t>10</a:t>
            </a:r>
            <a:r>
              <a:rPr lang="zh-CN" altLang="zh-CN" dirty="0"/>
              <a:t>这十个数的平方值组成的数值列表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2CB37A-822B-4DC4-9842-D1F88551E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92" y="2554662"/>
            <a:ext cx="5165645" cy="1517669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01C16EA3-884A-4439-97FC-EC71E9519F10}"/>
              </a:ext>
            </a:extLst>
          </p:cNvPr>
          <p:cNvSpPr/>
          <p:nvPr/>
        </p:nvSpPr>
        <p:spPr>
          <a:xfrm>
            <a:off x="6810556" y="2898832"/>
            <a:ext cx="3499556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range</a:t>
            </a:r>
            <a:r>
              <a:rPr lang="zh-CN" altLang="zh-CN" b="1" dirty="0">
                <a:solidFill>
                  <a:srgbClr val="C00000"/>
                </a:solidFill>
              </a:rPr>
              <a:t>函数配合</a:t>
            </a:r>
            <a:r>
              <a:rPr lang="en-US" altLang="zh-CN" b="1" dirty="0">
                <a:solidFill>
                  <a:srgbClr val="C00000"/>
                </a:solidFill>
              </a:rPr>
              <a:t>for</a:t>
            </a:r>
            <a:r>
              <a:rPr lang="zh-CN" altLang="zh-CN" b="1" dirty="0">
                <a:solidFill>
                  <a:srgbClr val="C00000"/>
                </a:solidFill>
              </a:rPr>
              <a:t>循环生成</a:t>
            </a:r>
            <a:r>
              <a:rPr lang="zh-CN" altLang="en-US" b="1" dirty="0">
                <a:solidFill>
                  <a:srgbClr val="C00000"/>
                </a:solidFill>
              </a:rPr>
              <a:t>列表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742F9A0-ABFE-4613-B2FA-40D956AB1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92" y="4502251"/>
            <a:ext cx="5234685" cy="762768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1AFC8BE-24A6-4003-B15C-14D0AF1427B3}"/>
              </a:ext>
            </a:extLst>
          </p:cNvPr>
          <p:cNvSpPr/>
          <p:nvPr/>
        </p:nvSpPr>
        <p:spPr>
          <a:xfrm>
            <a:off x="6810556" y="4435692"/>
            <a:ext cx="3499556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用列表生成式</a:t>
            </a:r>
            <a:r>
              <a:rPr lang="zh-CN" altLang="zh-CN" b="1" dirty="0">
                <a:solidFill>
                  <a:srgbClr val="C00000"/>
                </a:solidFill>
              </a:rPr>
              <a:t>生成</a:t>
            </a:r>
            <a:r>
              <a:rPr lang="zh-CN" altLang="en-US" b="1" dirty="0">
                <a:solidFill>
                  <a:srgbClr val="C00000"/>
                </a:solidFill>
              </a:rPr>
              <a:t>列表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918802-0BCC-4998-90E9-2B1BD374904B}"/>
              </a:ext>
            </a:extLst>
          </p:cNvPr>
          <p:cNvSpPr/>
          <p:nvPr/>
        </p:nvSpPr>
        <p:spPr>
          <a:xfrm>
            <a:off x="2066522" y="5724644"/>
            <a:ext cx="7835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列表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=  [</a:t>
            </a:r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循环变量相关表达式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for </a:t>
            </a:r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循环变量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in range</a:t>
            </a:r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89443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列表生成式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已知有学生信息列表如下：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请根据该列表用列表生成式生成包含学生姓名的列表。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   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如果需要生成包含学生姓名和籍贯的列表，列表生成式该如何写？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3053EC-6204-4DC7-B5F2-19ED6F88C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179" y="2160393"/>
            <a:ext cx="8572058" cy="5058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7D4205-AAA7-42D9-BD8B-5CB109E04F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212"/>
          <a:stretch/>
        </p:blipFill>
        <p:spPr>
          <a:xfrm>
            <a:off x="1980178" y="3465095"/>
            <a:ext cx="7634883" cy="108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78669"/>
      </p:ext>
    </p:extLst>
  </p:cSld>
  <p:clrMapOvr>
    <a:masterClrMapping/>
  </p:clrMapOvr>
  <p:transition spd="slow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列表生成式</a:t>
            </a: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📜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8" y="1253337"/>
            <a:ext cx="10515600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列表生成式是允许嵌套的，其嵌套格式如下：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		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列表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= [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循环变量相关表达式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for 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外循环 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for 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内循环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]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7C97B2-F06E-4E57-A40F-2F21855F6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48" y="3590223"/>
            <a:ext cx="5571632" cy="100102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F6E7F06-3543-493F-94FB-522492905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35" y="3254242"/>
            <a:ext cx="4362450" cy="1847850"/>
          </a:xfrm>
          <a:prstGeom prst="rect">
            <a:avLst/>
          </a:prstGeom>
        </p:spPr>
      </p:pic>
      <p:sp>
        <p:nvSpPr>
          <p:cNvPr id="12" name="箭头: 左右 11">
            <a:extLst>
              <a:ext uri="{FF2B5EF4-FFF2-40B4-BE49-F238E27FC236}">
                <a16:creationId xmlns:a16="http://schemas.microsoft.com/office/drawing/2014/main" id="{FF8E005E-34C4-4154-878A-4D813CFC2075}"/>
              </a:ext>
            </a:extLst>
          </p:cNvPr>
          <p:cNvSpPr/>
          <p:nvPr/>
        </p:nvSpPr>
        <p:spPr>
          <a:xfrm>
            <a:off x="5318361" y="5522887"/>
            <a:ext cx="1754967" cy="5452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等价</a:t>
            </a:r>
          </a:p>
        </p:txBody>
      </p:sp>
    </p:spTree>
    <p:extLst>
      <p:ext uri="{BB962C8B-B14F-4D97-AF65-F5344CB8AC3E}">
        <p14:creationId xmlns:p14="http://schemas.microsoft.com/office/powerpoint/2010/main" val="1050894425"/>
      </p:ext>
    </p:extLst>
  </p:cSld>
  <p:clrMapOvr>
    <a:masterClrMapping/>
  </p:clrMapOvr>
  <p:transition spd="slow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列表生成式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【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例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】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请用列表生成式生成九九乘法表列表并输出。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【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分析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】</a:t>
            </a:r>
          </a:p>
          <a:p>
            <a:pPr marL="971550" lvl="1" indent="-571500">
              <a:buFont typeface="+mj-lt"/>
              <a:buAutoNum type="romanUcPeriod"/>
            </a:pP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九九表中每一项可以写作 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	</a:t>
            </a: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 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*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j = r 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。</a:t>
            </a:r>
            <a:endParaRPr lang="en-US" altLang="zh-CN" sz="24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971550" lvl="1" indent="-571500">
              <a:buFont typeface="+mj-lt"/>
              <a:buAutoNum type="romanUcPeriod"/>
            </a:pP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对应行号，看作外循环；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j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对应列号，看作内循环。</a:t>
            </a:r>
            <a:endParaRPr lang="en-US" altLang="zh-CN" sz="24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971550" lvl="1" indent="-571500">
              <a:buFont typeface="+mj-lt"/>
              <a:buAutoNum type="romanUcPeriod"/>
            </a:pP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乘法表共有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9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行，即</a:t>
            </a: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的取值范围为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1~9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；第</a:t>
            </a: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行共有</a:t>
            </a: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i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项乘法式子，即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j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的取值范围为</a:t>
            </a:r>
            <a:r>
              <a:rPr lang="en-US" altLang="zh-CN" sz="2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1~i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。</a:t>
            </a:r>
            <a:endParaRPr lang="en-US" altLang="zh-CN" sz="24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10346-A5A6-41C2-9771-5816E175F0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493"/>
          <a:stretch/>
        </p:blipFill>
        <p:spPr>
          <a:xfrm>
            <a:off x="2365708" y="2158465"/>
            <a:ext cx="6465048" cy="205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79771"/>
      </p:ext>
    </p:extLst>
  </p:cSld>
  <p:clrMapOvr>
    <a:masterClrMapping/>
  </p:clrMapOvr>
  <p:transition spd="slow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列表生成式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【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例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】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请用列表生成式生成九九乘法表列表并输出。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</a:rPr>
              <a:t>       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4072332-A5D4-4441-BFCA-3E97E5E141ED}"/>
              </a:ext>
            </a:extLst>
          </p:cNvPr>
          <p:cNvCxnSpPr/>
          <p:nvPr/>
        </p:nvCxnSpPr>
        <p:spPr>
          <a:xfrm>
            <a:off x="6689558" y="2839453"/>
            <a:ext cx="2473693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54C494F-C72E-4591-95E1-8DEB8E13D495}"/>
              </a:ext>
            </a:extLst>
          </p:cNvPr>
          <p:cNvSpPr/>
          <p:nvPr/>
        </p:nvSpPr>
        <p:spPr>
          <a:xfrm>
            <a:off x="5661079" y="1925379"/>
            <a:ext cx="5769663" cy="829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每行最后一项后加上回车符，其余各项后加上空格</a:t>
            </a:r>
          </a:p>
        </p:txBody>
      </p: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BB3ED557-A4CA-5B64-AD0C-6B37DB0E3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36" y="2638793"/>
            <a:ext cx="11227372" cy="289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67371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数值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列表的简单统计计算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indent="0"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Calibri"/>
              <a:ea typeface="微软雅黑"/>
            </a:endParaRPr>
          </a:p>
          <a:p>
            <a:pPr marL="0" lvl="0" indent="0">
              <a:lnSpc>
                <a:spcPct val="150000"/>
              </a:lnSpc>
              <a:buNone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B1FF22-E58B-4A71-A719-4D1535A450C7}"/>
              </a:ext>
            </a:extLst>
          </p:cNvPr>
          <p:cNvSpPr/>
          <p:nvPr/>
        </p:nvSpPr>
        <p:spPr>
          <a:xfrm>
            <a:off x="1276952" y="2215844"/>
            <a:ext cx="8810324" cy="1955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min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函数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求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数值列表中的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最小值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元素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max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函数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求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数值列表中的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最大值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元素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sum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函数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——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求</a:t>
            </a:r>
            <a:r>
              <a:rPr lang="zh-CN" altLang="en-US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数值列表中元素之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和。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022810"/>
      </p:ext>
    </p:extLst>
  </p:cSld>
  <p:clrMapOvr>
    <a:masterClrMapping/>
  </p:clrMapOvr>
  <p:transition spd="slow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747BFB1-37A4-48F6-911D-39946872B9AD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329268" y="0"/>
            <a:ext cx="96012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55600" rIns="355600" rtlCol="0" anchor="ctr">
            <a:noAutofit/>
          </a:bodyPr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en-US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https://www.bilibili.com/video/BV1Ca411B7Tg/</a:t>
            </a: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4259950320"/>
      </p:ext>
    </p:extLst>
  </p:cSld>
  <p:clrMapOvr>
    <a:masterClrMapping/>
  </p:clrMapOvr>
  <p:transition spd="slow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186" y="-57825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4680228" y="2326968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元组与元组操作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03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1849680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8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元组与元组定义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1C909074-6B07-4A7B-AC17-105FA2C50C09}"/>
              </a:ext>
            </a:extLst>
          </p:cNvPr>
          <p:cNvSpPr/>
          <p:nvPr/>
        </p:nvSpPr>
        <p:spPr>
          <a:xfrm>
            <a:off x="530360" y="1465457"/>
            <a:ext cx="10813742" cy="2601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800" dirty="0">
                <a:latin typeface="+mn-ea"/>
              </a:rPr>
              <a:t>元组（</a:t>
            </a:r>
            <a:r>
              <a:rPr lang="en-US" altLang="zh-CN" sz="2800" dirty="0">
                <a:latin typeface="+mn-ea"/>
              </a:rPr>
              <a:t>tuple</a:t>
            </a:r>
            <a:r>
              <a:rPr lang="zh-CN" altLang="zh-CN" sz="2800" dirty="0">
                <a:latin typeface="+mn-ea"/>
              </a:rPr>
              <a:t>）与列表类似，也是用来存放一组相关的数据。两者的不同之处主要有两点：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800" dirty="0">
                <a:latin typeface="+mn-ea"/>
              </a:rPr>
              <a:t>元组使用圆括号（），列表使用方括号</a:t>
            </a:r>
            <a:r>
              <a:rPr lang="en-US" altLang="zh-CN" sz="2800" dirty="0">
                <a:latin typeface="+mn-ea"/>
              </a:rPr>
              <a:t>[]</a:t>
            </a:r>
            <a:r>
              <a:rPr lang="zh-CN" altLang="zh-CN" sz="2800" dirty="0">
                <a:latin typeface="+mn-ea"/>
              </a:rPr>
              <a:t>；</a:t>
            </a:r>
            <a:endParaRPr lang="en-US" altLang="zh-CN" sz="2800" dirty="0">
              <a:latin typeface="+mn-ea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800" dirty="0">
                <a:latin typeface="+mn-ea"/>
              </a:rPr>
              <a:t>元组的元素不能修</a:t>
            </a:r>
            <a:r>
              <a:rPr lang="zh-CN" altLang="en-US" sz="2800" dirty="0">
                <a:latin typeface="+mn-ea"/>
              </a:rPr>
              <a:t>改。</a:t>
            </a:r>
            <a:endParaRPr lang="zh-CN" altLang="zh-CN" sz="2800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B281D2-8062-4131-9E84-08771A34D7A6}"/>
              </a:ext>
            </a:extLst>
          </p:cNvPr>
          <p:cNvSpPr/>
          <p:nvPr/>
        </p:nvSpPr>
        <p:spPr>
          <a:xfrm>
            <a:off x="1252815" y="4290059"/>
            <a:ext cx="6647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可以将元组理解为</a:t>
            </a:r>
            <a:r>
              <a:rPr lang="zh-CN" altLang="en-US" sz="2800" dirty="0">
                <a:solidFill>
                  <a:srgbClr val="C00000"/>
                </a:solidFill>
                <a:highlight>
                  <a:srgbClr val="FFFF00"/>
                </a:highlight>
              </a:rPr>
              <a:t>不能修改</a:t>
            </a:r>
            <a:r>
              <a:rPr lang="zh-CN" altLang="en-US" sz="2800" dirty="0">
                <a:solidFill>
                  <a:srgbClr val="C00000"/>
                </a:solidFill>
              </a:rPr>
              <a:t>的“列表”。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28A00B-C25B-DB18-A696-75D02436F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97" y="4942775"/>
            <a:ext cx="11170138" cy="1292772"/>
          </a:xfrm>
          <a:prstGeom prst="rect">
            <a:avLst/>
          </a:prstGeom>
        </p:spPr>
      </p:pic>
      <p:pic>
        <p:nvPicPr>
          <p:cNvPr id="1026" name="Picture 2" descr="There Are Only 2 Genders - There Are Only Two Genders - T-Shirt | TeePublic">
            <a:extLst>
              <a:ext uri="{FF2B5EF4-FFF2-40B4-BE49-F238E27FC236}">
                <a16:creationId xmlns:a16="http://schemas.microsoft.com/office/drawing/2014/main" id="{3A737C4D-34EC-47C7-A813-2BBD4C091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192" y="2130531"/>
            <a:ext cx="2978043" cy="297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843363"/>
      </p:ext>
    </p:extLst>
  </p:cSld>
  <p:clrMapOvr>
    <a:masterClrMapping/>
  </p:clrMapOvr>
  <p:transition spd="slow"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元组与元组定义 💻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73FBE836-15F5-4E8C-B5E7-92F11AF25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" y="1374164"/>
            <a:ext cx="6769461" cy="12150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6B43E7-C1AB-45A9-B408-2D6E9E636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01" y="3139436"/>
            <a:ext cx="6758257" cy="96092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83EF2E8-64B7-47E8-A69D-AB6DF2B402B2}"/>
              </a:ext>
            </a:extLst>
          </p:cNvPr>
          <p:cNvSpPr/>
          <p:nvPr/>
        </p:nvSpPr>
        <p:spPr>
          <a:xfrm>
            <a:off x="8166604" y="1837300"/>
            <a:ext cx="3499556" cy="19261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9900"/>
                </a:solidFill>
              </a:rPr>
              <a:t>元组是不可变的：</a:t>
            </a:r>
            <a:endParaRPr lang="en-US" altLang="zh-CN" b="1" dirty="0">
              <a:solidFill>
                <a:srgbClr val="FF99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9900"/>
                </a:solidFill>
              </a:rPr>
              <a:t>	</a:t>
            </a:r>
            <a:r>
              <a:rPr lang="zh-CN" altLang="en-US" b="1" dirty="0">
                <a:solidFill>
                  <a:srgbClr val="FF9900"/>
                </a:solidFill>
              </a:rPr>
              <a:t>既不能增加元素；</a:t>
            </a:r>
            <a:endParaRPr lang="en-US" altLang="zh-CN" b="1" dirty="0">
              <a:solidFill>
                <a:srgbClr val="FF99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9900"/>
                </a:solidFill>
              </a:rPr>
              <a:t>	</a:t>
            </a:r>
            <a:r>
              <a:rPr lang="zh-CN" altLang="en-US" b="1" dirty="0">
                <a:solidFill>
                  <a:srgbClr val="FF9900"/>
                </a:solidFill>
              </a:rPr>
              <a:t>也不能修改元素。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17A14AB-FFE3-4F84-A375-C8543FE06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301" y="4922470"/>
            <a:ext cx="5872485" cy="122802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4DCC532-4983-4C50-B3E6-843191BD524F}"/>
              </a:ext>
            </a:extLst>
          </p:cNvPr>
          <p:cNvSpPr/>
          <p:nvPr/>
        </p:nvSpPr>
        <p:spPr>
          <a:xfrm>
            <a:off x="8166604" y="4573394"/>
            <a:ext cx="3499556" cy="19261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9900"/>
                </a:solidFill>
              </a:rPr>
              <a:t>不使用“（）”，</a:t>
            </a:r>
            <a:endParaRPr lang="en-US" altLang="zh-CN" b="1" dirty="0">
              <a:solidFill>
                <a:srgbClr val="FF99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9900"/>
                </a:solidFill>
              </a:rPr>
              <a:t>直接的</a:t>
            </a:r>
            <a:r>
              <a:rPr lang="zh-CN" altLang="zh-CN" b="1" dirty="0">
                <a:solidFill>
                  <a:srgbClr val="FF9900"/>
                </a:solidFill>
              </a:rPr>
              <a:t>多个数据用“，”隔开也可以定义元组</a:t>
            </a:r>
            <a:r>
              <a:rPr lang="zh-CN" altLang="en-US" b="1" dirty="0">
                <a:solidFill>
                  <a:srgbClr val="FF99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19615360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元组与元组定义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E83EF2E8-64B7-47E8-A69D-AB6DF2B402B2}"/>
              </a:ext>
            </a:extLst>
          </p:cNvPr>
          <p:cNvSpPr/>
          <p:nvPr/>
        </p:nvSpPr>
        <p:spPr>
          <a:xfrm>
            <a:off x="7454335" y="2022586"/>
            <a:ext cx="3499556" cy="1230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9900"/>
                </a:solidFill>
              </a:rPr>
              <a:t>元组</a:t>
            </a:r>
            <a:r>
              <a:rPr lang="zh-CN" altLang="zh-CN" b="1" dirty="0">
                <a:solidFill>
                  <a:srgbClr val="FF9900"/>
                </a:solidFill>
              </a:rPr>
              <a:t>只有</a:t>
            </a:r>
            <a:r>
              <a:rPr lang="en-US" altLang="zh-CN" b="1" dirty="0">
                <a:solidFill>
                  <a:srgbClr val="FF9900"/>
                </a:solidFill>
              </a:rPr>
              <a:t>1</a:t>
            </a:r>
            <a:r>
              <a:rPr lang="zh-CN" altLang="zh-CN" b="1" dirty="0">
                <a:solidFill>
                  <a:srgbClr val="FF9900"/>
                </a:solidFill>
              </a:rPr>
              <a:t>个元素时，系统将其视作单个的字符串</a:t>
            </a:r>
            <a:r>
              <a:rPr lang="zh-CN" altLang="en-US" b="1" dirty="0">
                <a:solidFill>
                  <a:srgbClr val="FF9900"/>
                </a:solidFill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DCC532-4983-4C50-B3E6-843191BD524F}"/>
              </a:ext>
            </a:extLst>
          </p:cNvPr>
          <p:cNvSpPr/>
          <p:nvPr/>
        </p:nvSpPr>
        <p:spPr>
          <a:xfrm>
            <a:off x="7454335" y="3902611"/>
            <a:ext cx="3499556" cy="1131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在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个元素后跟上‘，’才能</a:t>
            </a:r>
            <a:r>
              <a:rPr lang="zh-CN" altLang="zh-CN" b="1" dirty="0">
                <a:solidFill>
                  <a:srgbClr val="C00000"/>
                </a:solidFill>
              </a:rPr>
              <a:t>定义</a:t>
            </a:r>
            <a:r>
              <a:rPr lang="zh-CN" altLang="en-US" b="1" dirty="0">
                <a:solidFill>
                  <a:srgbClr val="C00000"/>
                </a:solidFill>
              </a:rPr>
              <a:t>单元素的</a:t>
            </a:r>
            <a:r>
              <a:rPr lang="zh-CN" altLang="zh-CN" b="1" dirty="0">
                <a:solidFill>
                  <a:srgbClr val="C00000"/>
                </a:solidFill>
              </a:rPr>
              <a:t>元组</a:t>
            </a:r>
            <a:r>
              <a:rPr lang="zh-CN" altLang="en-US" b="1" dirty="0">
                <a:solidFill>
                  <a:srgbClr val="C00000"/>
                </a:solidFill>
              </a:rPr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C49CE2F-D8DF-440E-9CC6-242A1B9F6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26" y="1867570"/>
            <a:ext cx="5384387" cy="3280810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B272D88F-27D7-4769-90ED-87DC8B8C2007}"/>
              </a:ext>
            </a:extLst>
          </p:cNvPr>
          <p:cNvSpPr/>
          <p:nvPr/>
        </p:nvSpPr>
        <p:spPr>
          <a:xfrm>
            <a:off x="2261937" y="4292867"/>
            <a:ext cx="240631" cy="25025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4BF756B-DC8D-4E04-A5FD-E631FEAD6F3A}"/>
              </a:ext>
            </a:extLst>
          </p:cNvPr>
          <p:cNvCxnSpPr>
            <a:stCxn id="13" idx="1"/>
            <a:endCxn id="3" idx="6"/>
          </p:cNvCxnSpPr>
          <p:nvPr/>
        </p:nvCxnSpPr>
        <p:spPr>
          <a:xfrm flipH="1" flipV="1">
            <a:off x="2502568" y="4417996"/>
            <a:ext cx="4951767" cy="5031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935699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元组的操作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7A7FA327-38F6-49B4-9E9D-27B0DCFDB785}"/>
              </a:ext>
            </a:extLst>
          </p:cNvPr>
          <p:cNvSpPr/>
          <p:nvPr/>
        </p:nvSpPr>
        <p:spPr>
          <a:xfrm>
            <a:off x="776097" y="1219048"/>
            <a:ext cx="9812981" cy="1308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元组是</a:t>
            </a:r>
            <a:r>
              <a:rPr lang="zh-CN" altLang="en-US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“</a:t>
            </a: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不能修改</a:t>
            </a:r>
            <a:r>
              <a:rPr lang="zh-CN" altLang="en-US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”的</a:t>
            </a:r>
            <a:r>
              <a:rPr lang="zh-CN" altLang="zh-CN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列表，</a:t>
            </a:r>
            <a:r>
              <a:rPr lang="zh-CN" altLang="en-US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因此列表中</a:t>
            </a: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不涉及</a:t>
            </a:r>
            <a:r>
              <a:rPr lang="zh-CN" altLang="zh-CN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altLang="en-US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的操作都适用于元组。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17E1BC8-986A-4A5F-B8B4-D272C05C3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103966"/>
              </p:ext>
            </p:extLst>
          </p:nvPr>
        </p:nvGraphicFramePr>
        <p:xfrm>
          <a:off x="1406457" y="2805656"/>
          <a:ext cx="8854074" cy="37395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07715">
                  <a:extLst>
                    <a:ext uri="{9D8B030D-6E8A-4147-A177-3AD203B41FA5}">
                      <a16:colId xmlns:a16="http://schemas.microsoft.com/office/drawing/2014/main" val="3318288981"/>
                    </a:ext>
                  </a:extLst>
                </a:gridCol>
                <a:gridCol w="2839722">
                  <a:extLst>
                    <a:ext uri="{9D8B030D-6E8A-4147-A177-3AD203B41FA5}">
                      <a16:colId xmlns:a16="http://schemas.microsoft.com/office/drawing/2014/main" val="1354642338"/>
                    </a:ext>
                  </a:extLst>
                </a:gridCol>
                <a:gridCol w="3006637">
                  <a:extLst>
                    <a:ext uri="{9D8B030D-6E8A-4147-A177-3AD203B41FA5}">
                      <a16:colId xmlns:a16="http://schemas.microsoft.com/office/drawing/2014/main" val="4020182990"/>
                    </a:ext>
                  </a:extLst>
                </a:gridCol>
              </a:tblGrid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操作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元组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54705864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读元素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2779847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写元素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539791579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append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82219763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insert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04118485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pop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60382436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del</a:t>
                      </a:r>
                      <a:r>
                        <a:rPr lang="zh-CN" sz="1600" kern="100">
                          <a:effectLst/>
                        </a:rPr>
                        <a:t>命令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只支持删除整个元组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33351482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remove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71519533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len</a:t>
                      </a:r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55028476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in</a:t>
                      </a:r>
                      <a:r>
                        <a:rPr lang="zh-CN" sz="1600" kern="100">
                          <a:effectLst/>
                        </a:rPr>
                        <a:t>运算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14386473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not in</a:t>
                      </a:r>
                      <a:r>
                        <a:rPr lang="zh-CN" sz="1600" kern="100">
                          <a:effectLst/>
                        </a:rPr>
                        <a:t>运算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49830879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index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24837616"/>
                  </a:ext>
                </a:extLst>
              </a:tr>
              <a:tr h="28765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count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√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2653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904860"/>
      </p:ext>
    </p:extLst>
  </p:cSld>
  <p:clrMapOvr>
    <a:masterClrMapping/>
  </p:clrMapOvr>
  <p:transition spd="slow"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元组的操作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8C0D8C1-0AC3-4149-AC32-33A35D416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69322"/>
              </p:ext>
            </p:extLst>
          </p:nvPr>
        </p:nvGraphicFramePr>
        <p:xfrm>
          <a:off x="1396833" y="1477369"/>
          <a:ext cx="8988826" cy="42304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3490">
                  <a:extLst>
                    <a:ext uri="{9D8B030D-6E8A-4147-A177-3AD203B41FA5}">
                      <a16:colId xmlns:a16="http://schemas.microsoft.com/office/drawing/2014/main" val="2396322050"/>
                    </a:ext>
                  </a:extLst>
                </a:gridCol>
                <a:gridCol w="2882940">
                  <a:extLst>
                    <a:ext uri="{9D8B030D-6E8A-4147-A177-3AD203B41FA5}">
                      <a16:colId xmlns:a16="http://schemas.microsoft.com/office/drawing/2014/main" val="816966312"/>
                    </a:ext>
                  </a:extLst>
                </a:gridCol>
                <a:gridCol w="3052396">
                  <a:extLst>
                    <a:ext uri="{9D8B030D-6E8A-4147-A177-3AD203B41FA5}">
                      <a16:colId xmlns:a16="http://schemas.microsoft.com/office/drawing/2014/main" val="1678520383"/>
                    </a:ext>
                  </a:extLst>
                </a:gridCol>
              </a:tblGrid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操作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元组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45454314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遍历元素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67979516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sort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39464875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sorted</a:t>
                      </a:r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排序结果为列表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56100077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切片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92478214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+</a:t>
                      </a:r>
                      <a:r>
                        <a:rPr lang="zh-CN" sz="1600" kern="100">
                          <a:effectLst/>
                        </a:rPr>
                        <a:t>运算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58198103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*</a:t>
                      </a:r>
                      <a:r>
                        <a:rPr lang="zh-CN" sz="1600" kern="100">
                          <a:effectLst/>
                        </a:rPr>
                        <a:t>运算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90476907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extend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37991450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copy</a:t>
                      </a: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×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29441035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赋值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√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70094163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max</a:t>
                      </a:r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适用于数值列表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适用于数值元组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8266083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min</a:t>
                      </a:r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适用于数值列表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适用于数值元组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39711550"/>
                  </a:ext>
                </a:extLst>
              </a:tr>
              <a:tr h="32541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sum</a:t>
                      </a:r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适用于数值列表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适用于数值元组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70343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8183610"/>
      </p:ext>
    </p:extLst>
  </p:cSld>
  <p:clrMapOvr>
    <a:masterClrMapping/>
  </p:clrMapOvr>
  <p:transition spd="slow"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E395AD1D-70F0-4230-942A-EE67864E44D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8924EC-571A-41CD-9852-ACCFE4D157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以下关于 </a:t>
            </a:r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Python 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中 </a:t>
            </a:r>
            <a:r>
              <a:rPr lang="en-US" altLang="zh-CN" sz="2800" b="1" i="0" dirty="0">
                <a:solidFill>
                  <a:srgbClr val="404040"/>
                </a:solidFill>
                <a:effectLst/>
                <a:latin typeface="DeepSeek-CJK-patch"/>
              </a:rPr>
              <a:t>List</a:t>
            </a:r>
            <a:r>
              <a:rPr lang="zh-CN" altLang="en-US" sz="2800" b="1" i="0" dirty="0">
                <a:solidFill>
                  <a:srgbClr val="404040"/>
                </a:solidFill>
                <a:effectLst/>
                <a:latin typeface="DeepSeek-CJK-patch"/>
              </a:rPr>
              <a:t>（列表）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 和 </a:t>
            </a:r>
            <a:r>
              <a:rPr lang="en-US" altLang="zh-CN" sz="2800" b="1" i="0" dirty="0">
                <a:solidFill>
                  <a:srgbClr val="404040"/>
                </a:solidFill>
                <a:effectLst/>
                <a:latin typeface="DeepSeek-CJK-patch"/>
              </a:rPr>
              <a:t>Tuple</a:t>
            </a:r>
            <a:r>
              <a:rPr lang="zh-CN" altLang="en-US" sz="2800" b="1" i="0" dirty="0">
                <a:solidFill>
                  <a:srgbClr val="404040"/>
                </a:solidFill>
                <a:effectLst/>
                <a:latin typeface="DeepSeek-CJK-patch"/>
              </a:rPr>
              <a:t>（元组）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 的描述，哪一项是</a:t>
            </a:r>
            <a:r>
              <a:rPr lang="zh-CN" altLang="en-US" sz="2800" b="1" i="0" dirty="0">
                <a:solidFill>
                  <a:srgbClr val="404040"/>
                </a:solidFill>
                <a:effectLst/>
                <a:latin typeface="DeepSeek-CJK-patch"/>
              </a:rPr>
              <a:t>正确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的？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D4C050-266C-484B-915E-2FA4C29EB12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List 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是不可变的，而 </a:t>
            </a:r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Tuple 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是可变的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67F280-EBA9-4475-B545-9F553FB47AC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C1F0F5-C833-48D8-A96F-4F79EA76FD0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List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使用方括号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[]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定义，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Tuple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使用圆括号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()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定义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5D67F2-D748-4A3B-B9E5-F5EE2EE352B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List 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比 </a:t>
            </a:r>
            <a:r>
              <a:rPr lang="en-US" altLang="zh-CN" sz="2800" b="0" i="0" dirty="0">
                <a:solidFill>
                  <a:srgbClr val="404040"/>
                </a:solidFill>
                <a:effectLst/>
                <a:latin typeface="DeepSeek-CJK-patch"/>
              </a:rPr>
              <a:t>Tuple </a:t>
            </a:r>
            <a:r>
              <a:rPr lang="zh-CN" altLang="en-US" sz="2800" b="0" i="0" dirty="0">
                <a:solidFill>
                  <a:srgbClr val="404040"/>
                </a:solidFill>
                <a:effectLst/>
                <a:latin typeface="DeepSeek-CJK-patch"/>
              </a:rPr>
              <a:t>存储效率更高，占用内存更少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CF3E70A-52E7-4096-92A3-DFE3294017B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9B89680-BC60-4D97-84C0-E55F8CB54B4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3A113EC-B785-4A32-93F6-EF5121A1D5F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91AA7F6-C619-43C1-8B0A-1C05F945041E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0F826D7-FDB9-424A-AB24-4DE249F73A2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21D31AB-D090-41B4-B979-7381F280F1B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3AD19B6-EBC5-476E-B2C2-F05DCF501B49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827000" y="1270000"/>
            <a:ext cx="3332480" cy="163121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List 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是可变的（支持增删改，如 </a:t>
            </a: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list.append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）。</a:t>
            </a:r>
          </a:p>
          <a:p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Tuple 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是不可变的（创建后不能修改）。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769595F-CCEE-425F-B1C4-69C975987F51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B74A11F-FCB1-4D1C-B8E6-8BEC2588B0B8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8A2CF848-EA40-4BED-8668-D882B10322C8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572D9D3-8C2E-4677-BFB3-7CDE89E9B5B2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ED33603C-C75A-4FD7-8FEE-2F118608861F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9926EAC-81CB-43C3-9BB7-FEE2D262F9EC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25" name="RemarkBack">
              <a:extLst>
                <a:ext uri="{FF2B5EF4-FFF2-40B4-BE49-F238E27FC236}">
                  <a16:creationId xmlns:a16="http://schemas.microsoft.com/office/drawing/2014/main" id="{C15F20F1-8D21-4A96-9155-A2D0D8973D46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RemarkBlock">
              <a:extLst>
                <a:ext uri="{FF2B5EF4-FFF2-40B4-BE49-F238E27FC236}">
                  <a16:creationId xmlns:a16="http://schemas.microsoft.com/office/drawing/2014/main" id="{315F272B-84D5-41C2-A293-3BA52E6CF09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RemarkTitleText">
              <a:extLst>
                <a:ext uri="{FF2B5EF4-FFF2-40B4-BE49-F238E27FC236}">
                  <a16:creationId xmlns:a16="http://schemas.microsoft.com/office/drawing/2014/main" id="{7FBB7A29-983F-4A24-8FEC-1CF1B4072A0E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ABA3F92-CFC6-4F5E-B071-F46A74E17E68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5560186"/>
      </p:ext>
    </p:extLst>
  </p:cSld>
  <p:clrMapOvr>
    <a:masterClrMapping/>
  </p:clrMapOvr>
  <p:transition spd="slow"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3887776" y="2420224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序列转换函数</a:t>
            </a:r>
            <a:endParaRPr lang="zh-CN" altLang="en-US" sz="4800" b="1" dirty="0">
              <a:ln w="12700">
                <a:noFill/>
                <a:prstDash val="solid"/>
              </a:ln>
              <a:solidFill>
                <a:prstClr val="white"/>
              </a:solidFill>
              <a:effectLst>
                <a:outerShdw dist="50800" dir="4800000" algn="tl" rotWithShape="0">
                  <a:srgbClr val="000000">
                    <a:alpha val="40000"/>
                  </a:srgbClr>
                </a:outerShdw>
              </a:effectLst>
              <a:latin typeface="造字工房尚黑（非商用）细体" pitchFamily="50" charset="-122"/>
              <a:ea typeface="造字工房尚黑（非商用）细体" pitchFamily="50" charset="-122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04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781252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序列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内容占位符 3">
            <a:extLst>
              <a:ext uri="{FF2B5EF4-FFF2-40B4-BE49-F238E27FC236}">
                <a16:creationId xmlns:a16="http://schemas.microsoft.com/office/drawing/2014/main" id="{4AE0B44C-31F8-4A4E-95C7-70B172ECD8EB}"/>
              </a:ext>
            </a:extLst>
          </p:cNvPr>
          <p:cNvSpPr txBox="1">
            <a:spLocks/>
          </p:cNvSpPr>
          <p:nvPr/>
        </p:nvSpPr>
        <p:spPr>
          <a:xfrm>
            <a:off x="674376" y="1931802"/>
            <a:ext cx="10515600" cy="3420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>
              <a:lnSpc>
                <a:spcPct val="150000"/>
              </a:lnSpc>
            </a:pPr>
            <a:r>
              <a:rPr lang="zh-CN" altLang="zh-CN" sz="2800" dirty="0">
                <a:latin typeface="+mn-ea"/>
              </a:rPr>
              <a:t>本章介绍的列表、元组和前面学习的字符串都属于</a:t>
            </a:r>
            <a:r>
              <a:rPr lang="en-US" altLang="zh-CN" sz="2800" dirty="0">
                <a:latin typeface="+mn-ea"/>
              </a:rPr>
              <a:t>Python</a:t>
            </a:r>
            <a:r>
              <a:rPr lang="zh-CN" altLang="zh-CN" sz="2800" dirty="0">
                <a:latin typeface="+mn-ea"/>
              </a:rPr>
              <a:t>的一种基本数据类型——序列（</a:t>
            </a:r>
            <a:r>
              <a:rPr lang="en-US" altLang="zh-CN" sz="2800" dirty="0">
                <a:latin typeface="+mn-ea"/>
              </a:rPr>
              <a:t>sequence</a:t>
            </a:r>
            <a:r>
              <a:rPr lang="zh-CN" altLang="zh-CN" sz="2800" dirty="0">
                <a:latin typeface="+mn-ea"/>
              </a:rPr>
              <a:t>）。</a:t>
            </a:r>
            <a:endParaRPr lang="en-US" altLang="zh-CN" sz="2800" dirty="0">
              <a:latin typeface="+mn-ea"/>
            </a:endParaRPr>
          </a:p>
          <a:p>
            <a:pPr indent="266700">
              <a:lnSpc>
                <a:spcPct val="150000"/>
              </a:lnSpc>
            </a:pPr>
            <a:r>
              <a:rPr lang="zh-CN" altLang="zh-CN" sz="2800" dirty="0">
                <a:latin typeface="+mn-ea"/>
              </a:rPr>
              <a:t>序列的最大特点是元素的</a:t>
            </a:r>
            <a:r>
              <a:rPr lang="zh-CN" altLang="zh-CN" sz="2800" dirty="0">
                <a:solidFill>
                  <a:srgbClr val="FF0000"/>
                </a:solidFill>
                <a:latin typeface="+mn-ea"/>
              </a:rPr>
              <a:t>有序性</a:t>
            </a:r>
            <a:r>
              <a:rPr lang="zh-CN" altLang="zh-CN" sz="2800" dirty="0">
                <a:latin typeface="+mn-ea"/>
              </a:rPr>
              <a:t>，所以序列都是通过序号索引来访问元素的。</a:t>
            </a:r>
            <a:endParaRPr lang="en-US" altLang="zh-CN" sz="2800" dirty="0">
              <a:latin typeface="+mn-ea"/>
            </a:endParaRPr>
          </a:p>
          <a:p>
            <a:pPr indent="266700">
              <a:lnSpc>
                <a:spcPct val="150000"/>
              </a:lnSpc>
            </a:pPr>
            <a:r>
              <a:rPr lang="zh-CN" altLang="en-US" sz="2800" kern="100" dirty="0">
                <a:latin typeface="+mn-ea"/>
                <a:cs typeface="Times New Roman" panose="02020603050405020304" pitchFamily="18" charset="0"/>
              </a:rPr>
              <a:t>序列之间可以通过转换函数进行互相转换。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505568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元组与列表之间的转换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B309F82-9375-41C5-A9B9-E739EAFCC8B3}"/>
              </a:ext>
            </a:extLst>
          </p:cNvPr>
          <p:cNvSpPr/>
          <p:nvPr/>
        </p:nvSpPr>
        <p:spPr>
          <a:xfrm>
            <a:off x="3270962" y="1928220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元组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F35834-C66D-49B6-ACD6-F8A5CECBE8FF}"/>
              </a:ext>
            </a:extLst>
          </p:cNvPr>
          <p:cNvSpPr/>
          <p:nvPr/>
        </p:nvSpPr>
        <p:spPr>
          <a:xfrm>
            <a:off x="7056154" y="1928841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列表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F937584-0D35-4906-B661-FAB3E217F29F}"/>
              </a:ext>
            </a:extLst>
          </p:cNvPr>
          <p:cNvCxnSpPr/>
          <p:nvPr/>
        </p:nvCxnSpPr>
        <p:spPr>
          <a:xfrm>
            <a:off x="4398745" y="2014226"/>
            <a:ext cx="2107932" cy="0"/>
          </a:xfrm>
          <a:prstGeom prst="straightConnector1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026D8B60-8AE7-4D76-99E2-AA5172AFBCF1}"/>
              </a:ext>
            </a:extLst>
          </p:cNvPr>
          <p:cNvSpPr/>
          <p:nvPr/>
        </p:nvSpPr>
        <p:spPr>
          <a:xfrm>
            <a:off x="4494997" y="1541967"/>
            <a:ext cx="1828800" cy="48188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9900"/>
                </a:solidFill>
              </a:rPr>
              <a:t>list</a:t>
            </a:r>
            <a:r>
              <a:rPr lang="zh-CN" altLang="en-US" sz="2000" b="1" dirty="0">
                <a:solidFill>
                  <a:srgbClr val="FF9900"/>
                </a:solidFill>
              </a:rPr>
              <a:t>函数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C3C57A-AD0B-4CE0-9C6D-E04C983BF1CC}"/>
              </a:ext>
            </a:extLst>
          </p:cNvPr>
          <p:cNvSpPr/>
          <p:nvPr/>
        </p:nvSpPr>
        <p:spPr>
          <a:xfrm>
            <a:off x="4494997" y="2331860"/>
            <a:ext cx="1828800" cy="481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</a:rPr>
              <a:t>tuple</a:t>
            </a:r>
            <a:r>
              <a:rPr lang="zh-CN" altLang="en-US" sz="2000" b="1" dirty="0">
                <a:solidFill>
                  <a:schemeClr val="accent1"/>
                </a:solidFill>
              </a:rPr>
              <a:t>函数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FF8AB8B-497A-450A-B445-5402C97BE57E}"/>
              </a:ext>
            </a:extLst>
          </p:cNvPr>
          <p:cNvCxnSpPr/>
          <p:nvPr/>
        </p:nvCxnSpPr>
        <p:spPr>
          <a:xfrm flipH="1">
            <a:off x="4398745" y="2331860"/>
            <a:ext cx="210793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42291127-5B4A-43C4-8E32-F55B805AA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20" y="3777627"/>
            <a:ext cx="5730906" cy="168356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09FBE3B-D375-443A-AFC9-3108FCDB1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785" y="3777627"/>
            <a:ext cx="5527593" cy="168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45555"/>
      </p:ext>
    </p:extLst>
  </p:cSld>
  <p:clrMapOvr>
    <a:masterClrMapping/>
  </p:clrMapOvr>
  <p:transition spd="slow"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1968" y="195961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字符串转换成列表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/>
          <p:nvPr/>
        </p:nvCxnSpPr>
        <p:spPr>
          <a:xfrm>
            <a:off x="776097" y="707504"/>
            <a:ext cx="1647495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4D12849B-EAC5-4FA3-8848-7820EC956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" y="2269463"/>
            <a:ext cx="4886077" cy="99531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7FFC3F2-53C3-4329-AF46-956FDFA36FD1}"/>
              </a:ext>
            </a:extLst>
          </p:cNvPr>
          <p:cNvSpPr/>
          <p:nvPr/>
        </p:nvSpPr>
        <p:spPr>
          <a:xfrm>
            <a:off x="5731299" y="3011143"/>
            <a:ext cx="5628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list</a:t>
            </a:r>
            <a:r>
              <a:rPr lang="zh-CN" altLang="en-US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函数</a:t>
            </a:r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转换后字符串中的</a:t>
            </a:r>
            <a:r>
              <a:rPr lang="zh-CN" altLang="zh-CN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单个字符</a:t>
            </a:r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依次成为列表元素</a:t>
            </a:r>
            <a:endParaRPr lang="zh-CN" altLang="en-US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86E253-56A5-4392-8664-EA3F0AED72A3}"/>
              </a:ext>
            </a:extLst>
          </p:cNvPr>
          <p:cNvSpPr/>
          <p:nvPr/>
        </p:nvSpPr>
        <p:spPr>
          <a:xfrm>
            <a:off x="845222" y="1466151"/>
            <a:ext cx="8385629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使用</a:t>
            </a:r>
            <a:r>
              <a:rPr lang="en-US" altLang="zh-CN" sz="2800" dirty="0"/>
              <a:t>list</a:t>
            </a:r>
            <a:r>
              <a:rPr lang="zh-CN" altLang="en-US" sz="2800" dirty="0"/>
              <a:t>函数</a:t>
            </a: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使用字符串的</a:t>
            </a:r>
            <a:r>
              <a:rPr lang="en-US" altLang="zh-CN" sz="2800" dirty="0"/>
              <a:t>split</a:t>
            </a:r>
            <a:r>
              <a:rPr lang="zh-CN" altLang="en-US" sz="2800" dirty="0"/>
              <a:t>方法</a:t>
            </a:r>
            <a:r>
              <a:rPr lang="en-US" altLang="zh-CN" sz="2800" dirty="0"/>
              <a:t>		</a:t>
            </a:r>
            <a:r>
              <a:rPr lang="zh-CN" altLang="zh-CN" dirty="0"/>
              <a:t>列表</a:t>
            </a:r>
            <a:r>
              <a:rPr lang="en-US" altLang="zh-CN" dirty="0"/>
              <a:t> = </a:t>
            </a:r>
            <a:r>
              <a:rPr lang="zh-CN" altLang="zh-CN" dirty="0"/>
              <a:t>字符串</a:t>
            </a:r>
            <a:r>
              <a:rPr lang="en-US" altLang="zh-CN" dirty="0"/>
              <a:t>.split(</a:t>
            </a:r>
            <a:r>
              <a:rPr lang="zh-CN" altLang="zh-CN" dirty="0"/>
              <a:t>分隔符</a:t>
            </a:r>
            <a:r>
              <a:rPr lang="en-US" altLang="zh-CN" dirty="0"/>
              <a:t>)</a:t>
            </a:r>
            <a:endParaRPr lang="zh-CN" altLang="en-US" sz="28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7701DB2-998C-4ACD-AE01-D5944DD45290}"/>
              </a:ext>
            </a:extLst>
          </p:cNvPr>
          <p:cNvGrpSpPr/>
          <p:nvPr/>
        </p:nvGrpSpPr>
        <p:grpSpPr>
          <a:xfrm>
            <a:off x="8643486" y="4052236"/>
            <a:ext cx="693022" cy="413886"/>
            <a:chOff x="6805061" y="4052236"/>
            <a:chExt cx="1530417" cy="413886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74918DA-5FD6-4A8D-9839-511F0CD31ECC}"/>
                </a:ext>
              </a:extLst>
            </p:cNvPr>
            <p:cNvCxnSpPr/>
            <p:nvPr/>
          </p:nvCxnSpPr>
          <p:spPr>
            <a:xfrm>
              <a:off x="6814686" y="4052236"/>
              <a:ext cx="0" cy="40426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7369869-80D0-4FCF-8AAD-BC9295A2E73C}"/>
                </a:ext>
              </a:extLst>
            </p:cNvPr>
            <p:cNvCxnSpPr/>
            <p:nvPr/>
          </p:nvCxnSpPr>
          <p:spPr>
            <a:xfrm>
              <a:off x="6805061" y="4466122"/>
              <a:ext cx="153041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104EC7D-B872-4856-AD4B-61FE0E41542C}"/>
              </a:ext>
            </a:extLst>
          </p:cNvPr>
          <p:cNvSpPr/>
          <p:nvPr/>
        </p:nvSpPr>
        <p:spPr>
          <a:xfrm>
            <a:off x="9336508" y="4133331"/>
            <a:ext cx="27238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chemeClr val="accent1"/>
                </a:solidFill>
              </a:rPr>
              <a:t>分隔符如果缺省的话，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zh-CN" altLang="zh-CN" dirty="0">
                <a:solidFill>
                  <a:schemeClr val="accent1"/>
                </a:solidFill>
              </a:rPr>
              <a:t>默认按照空格拆分字符串</a:t>
            </a:r>
            <a:endParaRPr lang="zh-CN" altLang="en-US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D96EF75-A1DE-453D-BBBD-DB9A66AE1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97" y="4596381"/>
            <a:ext cx="5093567" cy="926103"/>
          </a:xfrm>
          <a:prstGeom prst="rect">
            <a:avLst/>
          </a:prstGeom>
        </p:spPr>
      </p:pic>
      <p:pic>
        <p:nvPicPr>
          <p:cNvPr id="3" name="图片 2" descr="男人的照片上写着字&#10;&#10;AI 生成的内容可能不正确。">
            <a:extLst>
              <a:ext uri="{FF2B5EF4-FFF2-40B4-BE49-F238E27FC236}">
                <a16:creationId xmlns:a16="http://schemas.microsoft.com/office/drawing/2014/main" id="{094AF26C-9121-7005-8A69-839C11B506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542" y="14177"/>
            <a:ext cx="2972275" cy="290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34329"/>
      </p:ext>
    </p:extLst>
  </p:cSld>
  <p:clrMapOvr>
    <a:masterClrMapping/>
  </p:clrMapOvr>
  <p:transition spd="slow"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3887776" y="242022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rPr>
              <a:t>综合应用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15371" y="1264937"/>
              <a:ext cx="145103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0" b="1" dirty="0">
                  <a:ln w="12700">
                    <a:noFill/>
                    <a:prstDash val="solid"/>
                  </a:ln>
                  <a:solidFill>
                    <a:prstClr val="white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造字工房尚黑（非商用）细体" pitchFamily="50" charset="-122"/>
                  <a:ea typeface="造字工房尚黑（非商用）细体" pitchFamily="50" charset="-122"/>
                </a:rPr>
                <a:t>05</a:t>
              </a:r>
              <a:endParaRPr lang="zh-CN" altLang="en-US" sz="8000" b="1" dirty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造字工房尚黑（非商用）细体" pitchFamily="50" charset="-122"/>
                <a:ea typeface="造字工房尚黑（非商用）细体" pitchFamily="50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2728604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4-4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筛选法求</a:t>
            </a:r>
            <a:r>
              <a:rPr lang="zh-CN" altLang="en-US" dirty="0"/>
              <a:t>出</a:t>
            </a:r>
            <a:r>
              <a:rPr lang="en-US" altLang="zh-CN" dirty="0"/>
              <a:t>300</a:t>
            </a:r>
            <a:r>
              <a:rPr lang="zh-CN" altLang="en-US" dirty="0"/>
              <a:t>以内的</a:t>
            </a:r>
            <a:r>
              <a:rPr lang="zh-CN" altLang="zh-CN" dirty="0"/>
              <a:t>素数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A6B3709-25A1-48D7-9A80-0C4E10C4A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72649"/>
              </p:ext>
            </p:extLst>
          </p:nvPr>
        </p:nvGraphicFramePr>
        <p:xfrm>
          <a:off x="925095" y="2558092"/>
          <a:ext cx="8127990" cy="473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46261301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66997753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B0BFAF5-9158-46D6-BA19-21740F503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303502"/>
              </p:ext>
            </p:extLst>
          </p:nvPr>
        </p:nvGraphicFramePr>
        <p:xfrm>
          <a:off x="925095" y="2949925"/>
          <a:ext cx="8127990" cy="473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334702957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60034318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F64CE011-0DDE-4807-B058-3BFE1ACC75D7}"/>
              </a:ext>
            </a:extLst>
          </p:cNvPr>
          <p:cNvSpPr/>
          <p:nvPr/>
        </p:nvSpPr>
        <p:spPr>
          <a:xfrm>
            <a:off x="9555833" y="258059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所有数标记为素数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BE4F8E9-AFC6-450A-AD91-795A8242D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780936"/>
              </p:ext>
            </p:extLst>
          </p:nvPr>
        </p:nvGraphicFramePr>
        <p:xfrm>
          <a:off x="925095" y="3928316"/>
          <a:ext cx="8127990" cy="473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46261301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66997753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9D2A0337-362E-4608-9E0C-1363887D4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602756"/>
              </p:ext>
            </p:extLst>
          </p:nvPr>
        </p:nvGraphicFramePr>
        <p:xfrm>
          <a:off x="925095" y="4320149"/>
          <a:ext cx="8127990" cy="473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334702957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60034318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1F7DF1E0-DDFB-42CB-AD87-0D89E9BB44CD}"/>
              </a:ext>
            </a:extLst>
          </p:cNvPr>
          <p:cNvSpPr/>
          <p:nvPr/>
        </p:nvSpPr>
        <p:spPr>
          <a:xfrm>
            <a:off x="9555833" y="3980583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将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0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剔除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F6B729D6-0129-4400-B0BF-9F0B5469F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668531"/>
              </p:ext>
            </p:extLst>
          </p:nvPr>
        </p:nvGraphicFramePr>
        <p:xfrm>
          <a:off x="925095" y="5167227"/>
          <a:ext cx="8127990" cy="473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46261301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66997753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BFE26D96-67F5-4D86-B777-9CE28863A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764214"/>
              </p:ext>
            </p:extLst>
          </p:nvPr>
        </p:nvGraphicFramePr>
        <p:xfrm>
          <a:off x="925095" y="5559060"/>
          <a:ext cx="8127990" cy="473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5230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1250460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3347029570"/>
                    </a:ext>
                  </a:extLst>
                </a:gridCol>
                <a:gridCol w="625230">
                  <a:extLst>
                    <a:ext uri="{9D8B030D-6E8A-4147-A177-3AD203B41FA5}">
                      <a16:colId xmlns:a16="http://schemas.microsoft.com/office/drawing/2014/main" val="760034318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86338CAB-B7D4-489A-BC63-BF74BC13EA52}"/>
              </a:ext>
            </a:extLst>
          </p:cNvPr>
          <p:cNvSpPr/>
          <p:nvPr/>
        </p:nvSpPr>
        <p:spPr>
          <a:xfrm>
            <a:off x="9555833" y="5219494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将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的倍数剔除</a:t>
            </a:r>
          </a:p>
        </p:txBody>
      </p:sp>
    </p:spTree>
    <p:extLst>
      <p:ext uri="{BB962C8B-B14F-4D97-AF65-F5344CB8AC3E}">
        <p14:creationId xmlns:p14="http://schemas.microsoft.com/office/powerpoint/2010/main" val="1074781651"/>
      </p:ext>
    </p:extLst>
  </p:cSld>
  <p:clrMapOvr>
    <a:masterClrMapping/>
  </p:clrMapOvr>
  <p:transition spd="slow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4-4 </a:t>
            </a: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💻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筛选法求</a:t>
            </a:r>
            <a:r>
              <a:rPr lang="zh-CN" altLang="en-US" dirty="0"/>
              <a:t>出</a:t>
            </a:r>
            <a:r>
              <a:rPr lang="en-US" altLang="zh-CN" dirty="0"/>
              <a:t>300</a:t>
            </a:r>
            <a:r>
              <a:rPr lang="zh-CN" altLang="en-US" dirty="0"/>
              <a:t>以内的</a:t>
            </a:r>
            <a:r>
              <a:rPr lang="zh-CN" altLang="zh-CN" dirty="0"/>
              <a:t>素数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F6B729D6-0129-4400-B0BF-9F0B5469F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166798"/>
              </p:ext>
            </p:extLst>
          </p:nvPr>
        </p:nvGraphicFramePr>
        <p:xfrm>
          <a:off x="818392" y="2452902"/>
          <a:ext cx="8127993" cy="473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3056742299"/>
                    </a:ext>
                  </a:extLst>
                </a:gridCol>
                <a:gridCol w="1161141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46261301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466997753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BFE26D96-67F5-4D86-B777-9CE28863A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063653"/>
              </p:ext>
            </p:extLst>
          </p:nvPr>
        </p:nvGraphicFramePr>
        <p:xfrm>
          <a:off x="818392" y="2844735"/>
          <a:ext cx="8127993" cy="473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1553349652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753402787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2110716542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894070759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336106754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791028759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113654845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226406753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4244454078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1980824770"/>
                    </a:ext>
                  </a:extLst>
                </a:gridCol>
                <a:gridCol w="1161141">
                  <a:extLst>
                    <a:ext uri="{9D8B030D-6E8A-4147-A177-3AD203B41FA5}">
                      <a16:colId xmlns:a16="http://schemas.microsoft.com/office/drawing/2014/main" val="4061251238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3347029570"/>
                    </a:ext>
                  </a:extLst>
                </a:gridCol>
                <a:gridCol w="580571">
                  <a:extLst>
                    <a:ext uri="{9D8B030D-6E8A-4147-A177-3AD203B41FA5}">
                      <a16:colId xmlns:a16="http://schemas.microsoft.com/office/drawing/2014/main" val="760034318"/>
                    </a:ext>
                  </a:extLst>
                </a:gridCol>
              </a:tblGrid>
              <a:tr h="4738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48559"/>
                  </a:ext>
                </a:extLst>
              </a:tr>
            </a:tbl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86338CAB-B7D4-489A-BC63-BF74BC13EA52}"/>
              </a:ext>
            </a:extLst>
          </p:cNvPr>
          <p:cNvSpPr/>
          <p:nvPr/>
        </p:nvSpPr>
        <p:spPr>
          <a:xfrm>
            <a:off x="9449130" y="2505169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将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3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的倍数剔除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EAFD6A-18B7-49E9-9E4D-F73A422AE741}"/>
              </a:ext>
            </a:extLst>
          </p:cNvPr>
          <p:cNvSpPr/>
          <p:nvPr/>
        </p:nvSpPr>
        <p:spPr>
          <a:xfrm>
            <a:off x="4500662" y="3679768"/>
            <a:ext cx="628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…….</a:t>
            </a:r>
            <a:endParaRPr lang="zh-CN" altLang="en-US" dirty="0">
              <a:latin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0724EE-9FDF-4503-9BFD-6240E0AAF1E3}"/>
              </a:ext>
            </a:extLst>
          </p:cNvPr>
          <p:cNvSpPr/>
          <p:nvPr/>
        </p:nvSpPr>
        <p:spPr>
          <a:xfrm>
            <a:off x="7073328" y="3699937"/>
            <a:ext cx="4251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将下一个</a:t>
            </a:r>
            <a:r>
              <a:rPr lang="zh-CN" altLang="en-US" b="1" dirty="0">
                <a:solidFill>
                  <a:srgbClr val="FF9900"/>
                </a:solidFill>
                <a:latin typeface="+mn-ea"/>
              </a:rPr>
              <a:t>元素为</a:t>
            </a:r>
            <a:r>
              <a:rPr lang="en-US" altLang="zh-CN" b="1" dirty="0">
                <a:solidFill>
                  <a:srgbClr val="FF9900"/>
                </a:solidFill>
                <a:latin typeface="+mn-ea"/>
              </a:rPr>
              <a:t>1</a:t>
            </a:r>
            <a:r>
              <a:rPr lang="zh-CN" altLang="en-US" b="1" dirty="0">
                <a:solidFill>
                  <a:srgbClr val="FF9900"/>
                </a:solidFill>
                <a:latin typeface="+mn-ea"/>
              </a:rPr>
              <a:t>的下标对应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的倍数剔除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77CA7E-FADB-46BC-8550-99D2E626AFFA}"/>
              </a:ext>
            </a:extLst>
          </p:cNvPr>
          <p:cNvSpPr/>
          <p:nvPr/>
        </p:nvSpPr>
        <p:spPr>
          <a:xfrm>
            <a:off x="933339" y="4402427"/>
            <a:ext cx="8392041" cy="18846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具体算法：</a:t>
            </a:r>
            <a:endParaRPr lang="en-US" altLang="zh-CN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用</a:t>
            </a:r>
            <a:r>
              <a:rPr lang="en-US" altLang="zh-CN" sz="2000" dirty="0" err="1">
                <a:latin typeface="+mn-ea"/>
              </a:rPr>
              <a:t>i</a:t>
            </a:r>
            <a:r>
              <a:rPr lang="zh-CN" altLang="en-US" sz="2000" dirty="0">
                <a:latin typeface="+mn-ea"/>
              </a:rPr>
              <a:t>从</a:t>
            </a:r>
            <a:r>
              <a:rPr lang="en-US" altLang="zh-CN" sz="2000" dirty="0">
                <a:latin typeface="+mn-ea"/>
              </a:rPr>
              <a:t>2</a:t>
            </a:r>
            <a:r>
              <a:rPr lang="zh-CN" altLang="en-US" sz="2000" dirty="0">
                <a:latin typeface="+mn-ea"/>
              </a:rPr>
              <a:t>开始遍历整个列表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如果第</a:t>
            </a:r>
            <a:r>
              <a:rPr lang="en-US" altLang="zh-CN" sz="2000" dirty="0" err="1">
                <a:latin typeface="+mn-ea"/>
              </a:rPr>
              <a:t>i</a:t>
            </a:r>
            <a:r>
              <a:rPr lang="zh-CN" altLang="en-US" sz="2000" dirty="0">
                <a:latin typeface="+mn-ea"/>
              </a:rPr>
              <a:t>个元素值为</a:t>
            </a:r>
            <a:r>
              <a:rPr lang="en-US" altLang="zh-CN" sz="2000" dirty="0">
                <a:latin typeface="+mn-ea"/>
              </a:rPr>
              <a:t>1,</a:t>
            </a:r>
            <a:r>
              <a:rPr lang="zh-CN" altLang="en-US" sz="2000" dirty="0">
                <a:latin typeface="+mn-ea"/>
              </a:rPr>
              <a:t>将后面所有能被</a:t>
            </a:r>
            <a:r>
              <a:rPr lang="en-US" altLang="zh-CN" sz="2000" dirty="0" err="1">
                <a:latin typeface="+mn-ea"/>
              </a:rPr>
              <a:t>i</a:t>
            </a:r>
            <a:r>
              <a:rPr lang="zh-CN" altLang="en-US" sz="2000" dirty="0">
                <a:latin typeface="+mn-ea"/>
              </a:rPr>
              <a:t>整除的下标对应的元素改写为</a:t>
            </a:r>
            <a:r>
              <a:rPr lang="en-US" altLang="zh-CN" sz="2000" dirty="0">
                <a:latin typeface="+mn-ea"/>
              </a:rPr>
              <a:t>0;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遍历结束后</a:t>
            </a:r>
            <a:r>
              <a:rPr lang="en-US" altLang="zh-CN" sz="2000" dirty="0">
                <a:latin typeface="+mn-ea"/>
              </a:rPr>
              <a:t>,</a:t>
            </a:r>
            <a:r>
              <a:rPr lang="zh-CN" altLang="en-US" sz="2000" dirty="0">
                <a:latin typeface="+mn-ea"/>
              </a:rPr>
              <a:t>保持为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的元素对应的下标即为要求的素数。</a:t>
            </a:r>
          </a:p>
        </p:txBody>
      </p:sp>
    </p:spTree>
    <p:extLst>
      <p:ext uri="{BB962C8B-B14F-4D97-AF65-F5344CB8AC3E}">
        <p14:creationId xmlns:p14="http://schemas.microsoft.com/office/powerpoint/2010/main" val="585095125"/>
      </p:ext>
    </p:extLst>
  </p:cSld>
  <p:clrMapOvr>
    <a:masterClrMapping/>
  </p:clrMapOvr>
  <p:transition spd="slow"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b="1" spc="300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4-4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筛选法求</a:t>
            </a:r>
            <a:r>
              <a:rPr lang="zh-CN" altLang="en-US" dirty="0"/>
              <a:t>出</a:t>
            </a:r>
            <a:r>
              <a:rPr lang="en-US" altLang="zh-CN" dirty="0"/>
              <a:t>300</a:t>
            </a:r>
            <a:r>
              <a:rPr lang="zh-CN" altLang="en-US" dirty="0"/>
              <a:t>以内的</a:t>
            </a:r>
            <a:r>
              <a:rPr lang="zh-CN" altLang="zh-CN" dirty="0"/>
              <a:t>素数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A2440DB-478B-4608-9701-E29302323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74947"/>
              </p:ext>
            </p:extLst>
          </p:nvPr>
        </p:nvGraphicFramePr>
        <p:xfrm>
          <a:off x="1035820" y="2031318"/>
          <a:ext cx="7504331" cy="446466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403857">
                  <a:extLst>
                    <a:ext uri="{9D8B030D-6E8A-4147-A177-3AD203B41FA5}">
                      <a16:colId xmlns:a16="http://schemas.microsoft.com/office/drawing/2014/main" val="260253343"/>
                    </a:ext>
                  </a:extLst>
                </a:gridCol>
                <a:gridCol w="7100474">
                  <a:extLst>
                    <a:ext uri="{9D8B030D-6E8A-4147-A177-3AD203B41FA5}">
                      <a16:colId xmlns:a16="http://schemas.microsoft.com/office/drawing/2014/main" val="247097738"/>
                    </a:ext>
                  </a:extLst>
                </a:gridCol>
              </a:tblGrid>
              <a:tr h="342042">
                <a:tc gridSpan="2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#</a:t>
                      </a:r>
                      <a:r>
                        <a:rPr lang="zh-CN" sz="2000" kern="100" dirty="0">
                          <a:effectLst/>
                        </a:rPr>
                        <a:t>筛选法求素数。</a:t>
                      </a:r>
                      <a:r>
                        <a:rPr lang="en-US" sz="2000" kern="100" dirty="0">
                          <a:effectLst/>
                        </a:rPr>
                        <a:t> 4-4.py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764756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primes = [1] * 300;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67878988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primes[0:2] = [0,0]          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44601375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3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for </a:t>
                      </a:r>
                      <a:r>
                        <a:rPr lang="en-US" sz="2000" kern="100" dirty="0" err="1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 in range(2 , 300):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05098993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4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if primes[i]==1: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47121125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5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for j in range(i+1,300):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13336635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6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    if primes[j] != 0 and j % i == 0: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43158156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        primes[j] = 0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82731406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8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        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19679970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9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print("300</a:t>
                      </a:r>
                      <a:r>
                        <a:rPr lang="zh-CN" sz="2000" kern="100">
                          <a:effectLst/>
                        </a:rPr>
                        <a:t>以内的素数包括：</a:t>
                      </a:r>
                      <a:r>
                        <a:rPr lang="en-US" sz="2000" kern="100">
                          <a:effectLst/>
                        </a:rPr>
                        <a:t>")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15144474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for </a:t>
                      </a:r>
                      <a:r>
                        <a:rPr lang="en-US" sz="2000" kern="100" dirty="0" err="1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 in range(2 , 300):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55432334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    if primes[i]: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7265181"/>
                  </a:ext>
                </a:extLst>
              </a:tr>
              <a:tr h="34355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 print(</a:t>
                      </a:r>
                      <a:r>
                        <a:rPr lang="en-US" sz="2000" kern="100" dirty="0" err="1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 , end = ' ')    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68006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671854"/>
      </p:ext>
    </p:extLst>
  </p:cSld>
  <p:clrMapOvr>
    <a:masterClrMapping/>
  </p:clrMapOvr>
  <p:transition spd="slow"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4-5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二分查找</a:t>
            </a:r>
            <a:r>
              <a:rPr lang="zh-CN" altLang="en-US" dirty="0"/>
              <a:t>法在列表中查找指定的元素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（假设待查找元素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x=4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9A5CB83-623C-4F45-A4F5-43CBD227D5D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4376" y="2472681"/>
            <a:ext cx="6732486" cy="125229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C04F548-F17B-489F-A371-F0D00A80FB90}"/>
              </a:ext>
            </a:extLst>
          </p:cNvPr>
          <p:cNvSpPr/>
          <p:nvPr/>
        </p:nvSpPr>
        <p:spPr>
          <a:xfrm>
            <a:off x="8069869" y="2914163"/>
            <a:ext cx="3110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确定</a:t>
            </a:r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low</a:t>
            </a:r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high</a:t>
            </a:r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mid</a:t>
            </a:r>
            <a:r>
              <a:rPr lang="zh-CN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的初值</a:t>
            </a:r>
            <a:endParaRPr lang="zh-CN" altLang="en-US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C45A142-8F98-4FDC-8FEF-0F430A04681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74376" y="4318173"/>
            <a:ext cx="6732486" cy="1252296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7CD8C932-1CD8-4296-84CE-99A39AB86532}"/>
              </a:ext>
            </a:extLst>
          </p:cNvPr>
          <p:cNvSpPr/>
          <p:nvPr/>
        </p:nvSpPr>
        <p:spPr>
          <a:xfrm>
            <a:off x="8069869" y="4705073"/>
            <a:ext cx="2662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ls[mid]&gt;key</a:t>
            </a:r>
            <a:r>
              <a:rPr lang="zh-CN" altLang="en-US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high</a:t>
            </a:r>
            <a:r>
              <a:rPr lang="zh-CN" altLang="en-US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前移</a:t>
            </a:r>
            <a:endParaRPr lang="zh-CN" altLang="en-US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313652"/>
      </p:ext>
    </p:extLst>
  </p:cSld>
  <p:clrMapOvr>
    <a:masterClrMapping/>
  </p:clrMapOvr>
  <p:transition spd="slow"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4-5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2426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二分查找</a:t>
            </a:r>
            <a:r>
              <a:rPr lang="zh-CN" altLang="en-US" dirty="0"/>
              <a:t>法在列表中查找指定的元素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（假设待查找元素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x=4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04F548-F17B-489F-A371-F0D00A80FB90}"/>
              </a:ext>
            </a:extLst>
          </p:cNvPr>
          <p:cNvSpPr/>
          <p:nvPr/>
        </p:nvSpPr>
        <p:spPr>
          <a:xfrm>
            <a:off x="1016980" y="2449971"/>
            <a:ext cx="9810956" cy="12899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+mn-ea"/>
              </a:rPr>
              <a:t>按如下规则重复：</a:t>
            </a:r>
            <a:endParaRPr lang="en-US" altLang="zh-CN" dirty="0">
              <a:solidFill>
                <a:srgbClr val="C00000"/>
              </a:solidFill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zh-CN" altLang="zh-CN" dirty="0">
                <a:solidFill>
                  <a:srgbClr val="C00000"/>
                </a:solidFill>
                <a:latin typeface="+mn-ea"/>
              </a:rPr>
              <a:t>如果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x &gt; ls[mid]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，确定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(</a:t>
            </a:r>
            <a:r>
              <a:rPr lang="en-US" altLang="zh-CN" dirty="0" err="1">
                <a:solidFill>
                  <a:srgbClr val="C00000"/>
                </a:solidFill>
                <a:latin typeface="+mn-ea"/>
              </a:rPr>
              <a:t>mid,high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]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为下一查找区间，重新赋值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low,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计算新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mid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，继续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；</a:t>
            </a:r>
          </a:p>
          <a:p>
            <a:pPr lvl="2">
              <a:lnSpc>
                <a:spcPct val="150000"/>
              </a:lnSpc>
            </a:pPr>
            <a:r>
              <a:rPr lang="zh-CN" altLang="zh-CN" dirty="0">
                <a:solidFill>
                  <a:srgbClr val="C00000"/>
                </a:solidFill>
                <a:latin typeface="+mn-ea"/>
              </a:rPr>
              <a:t>如果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x &lt; ls[mid]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，确定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[</a:t>
            </a:r>
            <a:r>
              <a:rPr lang="en-US" altLang="zh-CN" dirty="0" err="1">
                <a:solidFill>
                  <a:srgbClr val="C00000"/>
                </a:solidFill>
                <a:latin typeface="+mn-ea"/>
              </a:rPr>
              <a:t>low,mid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)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为下一查找区间，重新赋值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high,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计算新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mid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，继续</a:t>
            </a:r>
            <a:r>
              <a:rPr lang="zh-CN" altLang="zh-CN" dirty="0">
                <a:solidFill>
                  <a:srgbClr val="C00000"/>
                </a:solidFill>
                <a:latin typeface="+mn-ea"/>
              </a:rPr>
              <a:t>；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CD8C932-1CD8-4296-84CE-99A39AB86532}"/>
              </a:ext>
            </a:extLst>
          </p:cNvPr>
          <p:cNvSpPr/>
          <p:nvPr/>
        </p:nvSpPr>
        <p:spPr>
          <a:xfrm>
            <a:off x="7846185" y="5021321"/>
            <a:ext cx="35798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C00000"/>
                </a:solidFill>
              </a:rPr>
              <a:t>直到</a:t>
            </a:r>
            <a:r>
              <a:rPr lang="en-US" altLang="zh-CN" dirty="0">
                <a:solidFill>
                  <a:srgbClr val="C00000"/>
                </a:solidFill>
              </a:rPr>
              <a:t>mid==3</a:t>
            </a:r>
            <a:r>
              <a:rPr lang="zh-CN" altLang="zh-CN" dirty="0">
                <a:solidFill>
                  <a:srgbClr val="C00000"/>
                </a:solidFill>
              </a:rPr>
              <a:t>时，</a:t>
            </a:r>
            <a:r>
              <a:rPr lang="en-US" altLang="zh-CN" dirty="0">
                <a:solidFill>
                  <a:srgbClr val="C00000"/>
                </a:solidFill>
              </a:rPr>
              <a:t>ls[mid]==x</a:t>
            </a:r>
            <a:r>
              <a:rPr lang="zh-CN" altLang="en-US" dirty="0">
                <a:solidFill>
                  <a:srgbClr val="C00000"/>
                </a:solidFill>
              </a:rPr>
              <a:t>，找到</a:t>
            </a:r>
            <a:r>
              <a:rPr lang="en-US" altLang="zh-CN" dirty="0">
                <a:solidFill>
                  <a:srgbClr val="C00000"/>
                </a:solidFill>
              </a:rPr>
              <a:t>x</a:t>
            </a:r>
            <a:endParaRPr lang="zh-CN" altLang="en-US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0691C9F-CD38-4D46-9D06-A8C62D50BB2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0360" y="4657745"/>
            <a:ext cx="6732485" cy="13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09460"/>
      </p:ext>
    </p:extLst>
  </p:cSld>
  <p:clrMapOvr>
    <a:masterClrMapping/>
  </p:clrMapOvr>
  <p:transition spd="slow"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392" y="300197"/>
            <a:ext cx="625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1E6787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4-5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srgbClr val="1E6787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3ECA4EB-10D1-4B65-B604-4032302CDAF4}"/>
              </a:ext>
            </a:extLst>
          </p:cNvPr>
          <p:cNvGrpSpPr/>
          <p:nvPr/>
        </p:nvGrpSpPr>
        <p:grpSpPr>
          <a:xfrm>
            <a:off x="170320" y="203448"/>
            <a:ext cx="504056" cy="504056"/>
            <a:chOff x="11207774" y="442662"/>
            <a:chExt cx="504056" cy="5040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372EA1-AB4F-47B1-B450-59AB8827ECD5}"/>
                </a:ext>
              </a:extLst>
            </p:cNvPr>
            <p:cNvSpPr/>
            <p:nvPr/>
          </p:nvSpPr>
          <p:spPr>
            <a:xfrm>
              <a:off x="11351790" y="601230"/>
              <a:ext cx="216024" cy="216024"/>
            </a:xfrm>
            <a:prstGeom prst="ellipse">
              <a:avLst/>
            </a:prstGeom>
            <a:solidFill>
              <a:srgbClr val="B3DF6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BEE7D95-9E9C-4C6D-91AA-6429F74B9F98}"/>
                </a:ext>
              </a:extLst>
            </p:cNvPr>
            <p:cNvSpPr/>
            <p:nvPr/>
          </p:nvSpPr>
          <p:spPr>
            <a:xfrm>
              <a:off x="11207774" y="442662"/>
              <a:ext cx="504056" cy="5040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4FBB3C1-88AA-4E76-B54C-31018E3BFAA0}"/>
              </a:ext>
            </a:extLst>
          </p:cNvPr>
          <p:cNvCxnSpPr>
            <a:cxnSpLocks/>
          </p:cNvCxnSpPr>
          <p:nvPr/>
        </p:nvCxnSpPr>
        <p:spPr>
          <a:xfrm>
            <a:off x="1712538" y="900009"/>
            <a:ext cx="1826104" cy="0"/>
          </a:xfrm>
          <a:prstGeom prst="line">
            <a:avLst/>
          </a:prstGeom>
          <a:ln>
            <a:solidFill>
              <a:srgbClr val="B3D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4">
            <a:extLst>
              <a:ext uri="{FF2B5EF4-FFF2-40B4-BE49-F238E27FC236}">
                <a16:creationId xmlns:a16="http://schemas.microsoft.com/office/drawing/2014/main" id="{83D794AA-979A-4524-AE16-917B69784756}"/>
              </a:ext>
            </a:extLst>
          </p:cNvPr>
          <p:cNvSpPr txBox="1">
            <a:spLocks/>
          </p:cNvSpPr>
          <p:nvPr/>
        </p:nvSpPr>
        <p:spPr>
          <a:xfrm>
            <a:off x="422347" y="1253337"/>
            <a:ext cx="11214595" cy="577309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dirty="0"/>
              <a:t>请用</a:t>
            </a:r>
            <a:r>
              <a:rPr lang="zh-CN" altLang="zh-CN" dirty="0"/>
              <a:t>二分查找</a:t>
            </a:r>
            <a:r>
              <a:rPr lang="zh-CN" altLang="en-US" dirty="0"/>
              <a:t>法在列表中查找指定的元素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  <a:ea typeface="微软雅黑"/>
              </a:rPr>
              <a:t>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（假设待查找元素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x=4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5BBB825-125D-4398-9155-66E614EA3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896002"/>
              </p:ext>
            </p:extLst>
          </p:nvPr>
        </p:nvGraphicFramePr>
        <p:xfrm>
          <a:off x="1062154" y="1886554"/>
          <a:ext cx="9872145" cy="496275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31285">
                  <a:extLst>
                    <a:ext uri="{9D8B030D-6E8A-4147-A177-3AD203B41FA5}">
                      <a16:colId xmlns:a16="http://schemas.microsoft.com/office/drawing/2014/main" val="1391519523"/>
                    </a:ext>
                  </a:extLst>
                </a:gridCol>
                <a:gridCol w="9340860">
                  <a:extLst>
                    <a:ext uri="{9D8B030D-6E8A-4147-A177-3AD203B41FA5}">
                      <a16:colId xmlns:a16="http://schemas.microsoft.com/office/drawing/2014/main" val="2886022491"/>
                    </a:ext>
                  </a:extLst>
                </a:gridCol>
              </a:tblGrid>
              <a:tr h="274565">
                <a:tc gridSpan="2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#</a:t>
                      </a:r>
                      <a:r>
                        <a:rPr lang="zh-CN" sz="1800" kern="100">
                          <a:effectLst/>
                        </a:rPr>
                        <a:t>二分查找</a:t>
                      </a:r>
                      <a:r>
                        <a:rPr lang="en-US" sz="1800" kern="100">
                          <a:effectLst/>
                        </a:rPr>
                        <a:t>     4-5.py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070447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ls = [34, 64, 67, 72, 73, 82, 83, 85, 87, 88, 90, 91, 96,  98]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67204677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x = int(input("</a:t>
                      </a:r>
                      <a:r>
                        <a:rPr lang="zh-CN" sz="1800" kern="100">
                          <a:effectLst/>
                        </a:rPr>
                        <a:t>请输入待查找的数</a:t>
                      </a:r>
                      <a:r>
                        <a:rPr lang="en-US" sz="1800" kern="100">
                          <a:effectLst/>
                        </a:rPr>
                        <a:t>:"))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84518248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3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12791345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4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low = 0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34193436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high = len(ls) - 1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05850611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6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30195118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7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while low &lt; high: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03474480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8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mid = (low + high) // 2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56370340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9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if ls[mid] &lt; x: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8230818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10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    low = mid + 1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7138281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11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elif ls[mid] &gt; x: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27369727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12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    high = mid - 1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0843418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13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else: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35744363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14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    print("</a:t>
                      </a:r>
                      <a:r>
                        <a:rPr lang="zh-CN" sz="1800" kern="100">
                          <a:effectLst/>
                        </a:rPr>
                        <a:t>找到</a:t>
                      </a:r>
                      <a:r>
                        <a:rPr lang="en-US" sz="1800" kern="100">
                          <a:effectLst/>
                        </a:rPr>
                        <a:t>{},</a:t>
                      </a:r>
                      <a:r>
                        <a:rPr lang="zh-CN" sz="1800" kern="100">
                          <a:effectLst/>
                        </a:rPr>
                        <a:t>索引为</a:t>
                      </a:r>
                      <a:r>
                        <a:rPr lang="en-US" sz="1800" kern="100">
                          <a:effectLst/>
                        </a:rPr>
                        <a:t>{}!".format(x,mid));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9505132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        break;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85409599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16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else: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11250136"/>
                  </a:ext>
                </a:extLst>
              </a:tr>
              <a:tr h="275776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17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print("</a:t>
                      </a:r>
                      <a:r>
                        <a:rPr lang="zh-CN" sz="1800" kern="100" dirty="0">
                          <a:effectLst/>
                        </a:rPr>
                        <a:t>没有找到</a:t>
                      </a:r>
                      <a:r>
                        <a:rPr lang="en-US" sz="1800" kern="100" dirty="0">
                          <a:effectLst/>
                        </a:rPr>
                        <a:t>{}".format(x))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87973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897895"/>
      </p:ext>
    </p:extLst>
  </p:cSld>
  <p:clrMapOvr>
    <a:masterClrMapping/>
  </p:clrMapOvr>
  <p:transition spd="slow"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vvideo/id/BV1Ca411B7T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True"/>
  <p:tag name="PROBLEMREMARK" val="List 是可变的（支持增删改，如 list.append()）。&#10;&#10;Tuple 是不可变的（创建后不能修改）。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​​">
  <a:themeElements>
    <a:clrScheme name="自定义 222">
      <a:dk1>
        <a:sysClr val="windowText" lastClr="000000"/>
      </a:dk1>
      <a:lt1>
        <a:sysClr val="window" lastClr="FFFFFF"/>
      </a:lt1>
      <a:dk2>
        <a:srgbClr val="435258"/>
      </a:dk2>
      <a:lt2>
        <a:srgbClr val="EEECE1"/>
      </a:lt2>
      <a:accent1>
        <a:srgbClr val="2A8FBD"/>
      </a:accent1>
      <a:accent2>
        <a:srgbClr val="00B0F0"/>
      </a:accent2>
      <a:accent3>
        <a:srgbClr val="435258"/>
      </a:accent3>
      <a:accent4>
        <a:srgbClr val="1E6787"/>
      </a:accent4>
      <a:accent5>
        <a:srgbClr val="2A8FBD"/>
      </a:accent5>
      <a:accent6>
        <a:srgbClr val="E44860"/>
      </a:accent6>
      <a:hlink>
        <a:srgbClr val="E44860"/>
      </a:hlink>
      <a:folHlink>
        <a:srgbClr val="435258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5788</TotalTime>
  <Words>2937</Words>
  <Application>Microsoft Office PowerPoint</Application>
  <PresentationFormat>宽屏</PresentationFormat>
  <Paragraphs>682</Paragraphs>
  <Slides>57</Slides>
  <Notes>49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9" baseType="lpstr">
      <vt:lpstr>DeepSeek-CJK-patch</vt:lpstr>
      <vt:lpstr>Helvetica Light</vt:lpstr>
      <vt:lpstr>等线</vt:lpstr>
      <vt:lpstr>微软雅黑</vt:lpstr>
      <vt:lpstr>微软雅黑</vt:lpstr>
      <vt:lpstr>造字工房尚黑（非商用）细体</vt:lpstr>
      <vt:lpstr>Arial</vt:lpstr>
      <vt:lpstr>Calibri</vt:lpstr>
      <vt:lpstr>Gill Sans MT Condensed</vt:lpstr>
      <vt:lpstr>Gill Sans Ultra Bold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ZhaoLu</dc:creator>
  <cp:lastModifiedBy>Fan Bi</cp:lastModifiedBy>
  <cp:revision>241</cp:revision>
  <dcterms:created xsi:type="dcterms:W3CDTF">2019-01-13T07:44:05Z</dcterms:created>
  <dcterms:modified xsi:type="dcterms:W3CDTF">2025-04-02T01:18:32Z</dcterms:modified>
</cp:coreProperties>
</file>