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342" r:id="rId2"/>
    <p:sldId id="260" r:id="rId3"/>
    <p:sldId id="343" r:id="rId4"/>
    <p:sldId id="318" r:id="rId5"/>
    <p:sldId id="344" r:id="rId6"/>
    <p:sldId id="345" r:id="rId7"/>
    <p:sldId id="376" r:id="rId8"/>
    <p:sldId id="427" r:id="rId9"/>
    <p:sldId id="377" r:id="rId10"/>
    <p:sldId id="346" r:id="rId11"/>
    <p:sldId id="424" r:id="rId12"/>
    <p:sldId id="378" r:id="rId13"/>
    <p:sldId id="425" r:id="rId14"/>
    <p:sldId id="426" r:id="rId15"/>
    <p:sldId id="381" r:id="rId16"/>
    <p:sldId id="348" r:id="rId17"/>
    <p:sldId id="428" r:id="rId18"/>
    <p:sldId id="349" r:id="rId19"/>
    <p:sldId id="350" r:id="rId20"/>
    <p:sldId id="382" r:id="rId21"/>
    <p:sldId id="429" r:id="rId22"/>
    <p:sldId id="383" r:id="rId23"/>
    <p:sldId id="384" r:id="rId24"/>
    <p:sldId id="385" r:id="rId25"/>
    <p:sldId id="386" r:id="rId26"/>
    <p:sldId id="430" r:id="rId27"/>
    <p:sldId id="387" r:id="rId28"/>
    <p:sldId id="388" r:id="rId29"/>
    <p:sldId id="431" r:id="rId30"/>
    <p:sldId id="432" r:id="rId31"/>
    <p:sldId id="433" r:id="rId32"/>
    <p:sldId id="434" r:id="rId33"/>
    <p:sldId id="435" r:id="rId34"/>
    <p:sldId id="389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0099"/>
    <a:srgbClr val="D38E03"/>
    <a:srgbClr val="0000CC"/>
    <a:srgbClr val="EFA003"/>
    <a:srgbClr val="007033"/>
    <a:srgbClr val="C4CEDA"/>
    <a:srgbClr val="F1F2F3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中度样式 1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3560" autoAdjust="0"/>
  </p:normalViewPr>
  <p:slideViewPr>
    <p:cSldViewPr snapToGrid="0">
      <p:cViewPr varScale="1">
        <p:scale>
          <a:sx n="72" d="100"/>
          <a:sy n="72" d="100"/>
        </p:scale>
        <p:origin x="-90" y="-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F41353-A0F4-4DD2-AF90-B2B2D232929F}" type="datetimeFigureOut">
              <a:rPr lang="zh-CN" altLang="en-US" smtClean="0"/>
              <a:t>2019/08/07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74753-AFF2-43A3-98C7-386D01E496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943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56566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19763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7389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noProof="1">
                <a:solidFill>
                  <a:srgbClr val="0033CC"/>
                </a:solidFill>
                <a:latin typeface="Palatino Linotype" panose="02040502050505030304" pitchFamily="18" charset="0"/>
                <a:ea typeface="楷体" panose="02010609060101010101" pitchFamily="49" charset="-122"/>
                <a:sym typeface="+mn-ea"/>
              </a:rPr>
              <a:t>阿法狗李世石人机大战</a:t>
            </a:r>
            <a:r>
              <a:rPr lang="en-US" altLang="zh-CN" sz="1200" noProof="1">
                <a:solidFill>
                  <a:srgbClr val="0033CC"/>
                </a:solidFill>
                <a:latin typeface="Palatino Linotype" panose="02040502050505030304" pitchFamily="18" charset="0"/>
                <a:ea typeface="楷体" panose="02010609060101010101" pitchFamily="49" charset="-122"/>
                <a:sym typeface="+mn-ea"/>
              </a:rPr>
              <a:t>,</a:t>
            </a:r>
            <a:r>
              <a:rPr lang="zh-CN" altLang="en-US" sz="1200" noProof="1">
                <a:solidFill>
                  <a:srgbClr val="0033CC"/>
                </a:solidFill>
                <a:latin typeface="Palatino Linotype" panose="02040502050505030304" pitchFamily="18" charset="0"/>
                <a:ea typeface="楷体" panose="02010609060101010101" pitchFamily="49" charset="-122"/>
                <a:sym typeface="+mn-ea"/>
              </a:rPr>
              <a:t>用于人脸识别的平均脸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7602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noProof="1">
                <a:solidFill>
                  <a:srgbClr val="0033CC"/>
                </a:solidFill>
                <a:latin typeface="Palatino Linotype" panose="02040502050505030304" pitchFamily="18" charset="0"/>
                <a:ea typeface="楷体" panose="02010609060101010101" pitchFamily="49" charset="-122"/>
                <a:sym typeface="+mn-ea"/>
              </a:rPr>
              <a:t>阿法狗李世石人机大战</a:t>
            </a:r>
            <a:r>
              <a:rPr lang="en-US" altLang="zh-CN" sz="1200" noProof="1">
                <a:solidFill>
                  <a:srgbClr val="0033CC"/>
                </a:solidFill>
                <a:latin typeface="Palatino Linotype" panose="02040502050505030304" pitchFamily="18" charset="0"/>
                <a:ea typeface="楷体" panose="02010609060101010101" pitchFamily="49" charset="-122"/>
                <a:sym typeface="+mn-ea"/>
              </a:rPr>
              <a:t>,</a:t>
            </a:r>
            <a:r>
              <a:rPr lang="zh-CN" altLang="en-US" sz="1200" noProof="1">
                <a:solidFill>
                  <a:srgbClr val="0033CC"/>
                </a:solidFill>
                <a:latin typeface="Palatino Linotype" panose="02040502050505030304" pitchFamily="18" charset="0"/>
                <a:ea typeface="楷体" panose="02010609060101010101" pitchFamily="49" charset="-122"/>
                <a:sym typeface="+mn-ea"/>
              </a:rPr>
              <a:t>用于人脸识别的平均脸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7602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noProof="1">
                <a:solidFill>
                  <a:srgbClr val="0033CC"/>
                </a:solidFill>
                <a:latin typeface="Palatino Linotype" panose="02040502050505030304" pitchFamily="18" charset="0"/>
                <a:ea typeface="楷体" panose="02010609060101010101" pitchFamily="49" charset="-122"/>
                <a:sym typeface="+mn-ea"/>
              </a:rPr>
              <a:t>阿法狗李世石人机大战</a:t>
            </a:r>
            <a:r>
              <a:rPr lang="en-US" altLang="zh-CN" sz="1200" noProof="1">
                <a:solidFill>
                  <a:srgbClr val="0033CC"/>
                </a:solidFill>
                <a:latin typeface="Palatino Linotype" panose="02040502050505030304" pitchFamily="18" charset="0"/>
                <a:ea typeface="楷体" panose="02010609060101010101" pitchFamily="49" charset="-122"/>
                <a:sym typeface="+mn-ea"/>
              </a:rPr>
              <a:t>,</a:t>
            </a:r>
            <a:r>
              <a:rPr lang="zh-CN" altLang="en-US" sz="1200" noProof="1">
                <a:solidFill>
                  <a:srgbClr val="0033CC"/>
                </a:solidFill>
                <a:latin typeface="Palatino Linotype" panose="02040502050505030304" pitchFamily="18" charset="0"/>
                <a:ea typeface="楷体" panose="02010609060101010101" pitchFamily="49" charset="-122"/>
                <a:sym typeface="+mn-ea"/>
              </a:rPr>
              <a:t>用于人脸识别的平均脸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7602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572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572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572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5727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5727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30832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30832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4863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936B7B-B83E-48FC-9145-C5D7D2DAFA4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bg>
      <p:bgPr>
        <a:pattFill prst="ltUpDiag">
          <a:fgClr>
            <a:srgbClr val="F2F2F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6967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289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/>
          <p:cNvSpPr txBox="1"/>
          <p:nvPr userDrawn="1"/>
        </p:nvSpPr>
        <p:spPr>
          <a:xfrm>
            <a:off x="-28691" y="404665"/>
            <a:ext cx="497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Teaching</a:t>
            </a:r>
            <a:r>
              <a:rPr lang="en-US" altLang="zh-CN" sz="2400" baseline="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 </a:t>
            </a:r>
            <a:r>
              <a:rPr lang="en-US" altLang="zh-CN"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analysis</a:t>
            </a: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 userDrawn="1"/>
        </p:nvGrpSpPr>
        <p:grpSpPr>
          <a:xfrm>
            <a:off x="4419649" y="-355198"/>
            <a:ext cx="1742672" cy="1397180"/>
            <a:chOff x="3314736" y="-715238"/>
            <a:chExt cx="1307004" cy="1397180"/>
          </a:xfrm>
        </p:grpSpPr>
        <p:grpSp>
          <p:nvGrpSpPr>
            <p:cNvPr id="43" name="组合 42"/>
            <p:cNvGrpSpPr/>
            <p:nvPr userDrawn="1"/>
          </p:nvGrpSpPr>
          <p:grpSpPr>
            <a:xfrm>
              <a:off x="3314736" y="-715238"/>
              <a:ext cx="1307004" cy="1397180"/>
              <a:chOff x="4227737" y="323875"/>
              <a:chExt cx="920327" cy="4473277"/>
            </a:xfrm>
          </p:grpSpPr>
          <p:sp>
            <p:nvSpPr>
              <p:cNvPr id="46" name="圆角矩形 45"/>
              <p:cNvSpPr/>
              <p:nvPr/>
            </p:nvSpPr>
            <p:spPr>
              <a:xfrm>
                <a:off x="4283968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>
                <a:off x="4227737" y="323875"/>
                <a:ext cx="879048" cy="4323744"/>
              </a:xfrm>
              <a:prstGeom prst="roundRect">
                <a:avLst/>
              </a:prstGeom>
              <a:solidFill>
                <a:srgbClr val="4352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44" name="TextBox 43"/>
            <p:cNvSpPr txBox="1"/>
            <p:nvPr userDrawn="1"/>
          </p:nvSpPr>
          <p:spPr>
            <a:xfrm>
              <a:off x="3372889" y="44624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01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45" name="TextBox 44"/>
            <p:cNvSpPr txBox="1"/>
            <p:nvPr userDrawn="1"/>
          </p:nvSpPr>
          <p:spPr>
            <a:xfrm>
              <a:off x="3372889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教学分析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717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1" y="404665"/>
            <a:ext cx="497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Teaching</a:t>
            </a:r>
            <a:r>
              <a:rPr lang="en-US" altLang="zh-CN" sz="2400" baseline="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 </a:t>
            </a:r>
            <a:r>
              <a:rPr lang="en-US" altLang="zh-CN"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rPr>
              <a:t>analysis</a:t>
            </a:r>
          </a:p>
        </p:txBody>
      </p:sp>
      <p:cxnSp>
        <p:nvCxnSpPr>
          <p:cNvPr id="35" name="直接连接符 34"/>
          <p:cNvCxnSpPr/>
          <p:nvPr userDrawn="1"/>
        </p:nvCxnSpPr>
        <p:spPr>
          <a:xfrm>
            <a:off x="75100" y="1016710"/>
            <a:ext cx="416234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 userDrawn="1"/>
        </p:nvGrpSpPr>
        <p:grpSpPr>
          <a:xfrm>
            <a:off x="4419649" y="-355198"/>
            <a:ext cx="1742672" cy="1397180"/>
            <a:chOff x="3314736" y="-715238"/>
            <a:chExt cx="1307004" cy="1397180"/>
          </a:xfrm>
        </p:grpSpPr>
        <p:grpSp>
          <p:nvGrpSpPr>
            <p:cNvPr id="43" name="组合 42"/>
            <p:cNvGrpSpPr/>
            <p:nvPr userDrawn="1"/>
          </p:nvGrpSpPr>
          <p:grpSpPr>
            <a:xfrm>
              <a:off x="3314736" y="-715238"/>
              <a:ext cx="1307004" cy="1397180"/>
              <a:chOff x="4227737" y="323875"/>
              <a:chExt cx="920327" cy="4473277"/>
            </a:xfrm>
          </p:grpSpPr>
          <p:sp>
            <p:nvSpPr>
              <p:cNvPr id="46" name="圆角矩形 45"/>
              <p:cNvSpPr/>
              <p:nvPr/>
            </p:nvSpPr>
            <p:spPr>
              <a:xfrm>
                <a:off x="4283968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47" name="圆角矩形 46"/>
              <p:cNvSpPr/>
              <p:nvPr/>
            </p:nvSpPr>
            <p:spPr>
              <a:xfrm>
                <a:off x="4227737" y="323875"/>
                <a:ext cx="879048" cy="4323744"/>
              </a:xfrm>
              <a:prstGeom prst="roundRect">
                <a:avLst/>
              </a:prstGeom>
              <a:solidFill>
                <a:srgbClr val="4352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44" name="TextBox 43"/>
            <p:cNvSpPr txBox="1"/>
            <p:nvPr userDrawn="1"/>
          </p:nvSpPr>
          <p:spPr>
            <a:xfrm>
              <a:off x="3372889" y="44624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01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45" name="TextBox 44"/>
            <p:cNvSpPr txBox="1"/>
            <p:nvPr userDrawn="1"/>
          </p:nvSpPr>
          <p:spPr>
            <a:xfrm>
              <a:off x="3372889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教学分析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3251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1" y="404665"/>
            <a:ext cx="622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/>
              <a:t>instructional strategies</a:t>
            </a:r>
          </a:p>
        </p:txBody>
      </p:sp>
      <p:grpSp>
        <p:nvGrpSpPr>
          <p:cNvPr id="60" name="组合 59"/>
          <p:cNvGrpSpPr/>
          <p:nvPr userDrawn="1"/>
        </p:nvGrpSpPr>
        <p:grpSpPr>
          <a:xfrm>
            <a:off x="6301954" y="-351838"/>
            <a:ext cx="1714296" cy="1394349"/>
            <a:chOff x="4726465" y="-711878"/>
            <a:chExt cx="1285722" cy="1394349"/>
          </a:xfrm>
        </p:grpSpPr>
        <p:grpSp>
          <p:nvGrpSpPr>
            <p:cNvPr id="61" name="组合 60"/>
            <p:cNvGrpSpPr/>
            <p:nvPr userDrawn="1"/>
          </p:nvGrpSpPr>
          <p:grpSpPr>
            <a:xfrm>
              <a:off x="4726465" y="-711878"/>
              <a:ext cx="1285722" cy="1394349"/>
              <a:chOff x="5322842" y="326129"/>
              <a:chExt cx="905342" cy="4464216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5364088" y="422268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65" name="圆角矩形 64"/>
              <p:cNvSpPr/>
              <p:nvPr/>
            </p:nvSpPr>
            <p:spPr>
              <a:xfrm>
                <a:off x="5322842" y="326129"/>
                <a:ext cx="864096" cy="4323744"/>
              </a:xfrm>
              <a:prstGeom prst="roundRect">
                <a:avLst/>
              </a:prstGeom>
              <a:solidFill>
                <a:srgbClr val="1E6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62" name="TextBox 61"/>
            <p:cNvSpPr txBox="1"/>
            <p:nvPr userDrawn="1"/>
          </p:nvSpPr>
          <p:spPr>
            <a:xfrm>
              <a:off x="4794471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02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63" name="TextBox 62"/>
            <p:cNvSpPr txBox="1"/>
            <p:nvPr userDrawn="1"/>
          </p:nvSpPr>
          <p:spPr>
            <a:xfrm>
              <a:off x="477994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教学策略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586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策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直接连接符 14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grpSp>
        <p:nvGrpSpPr>
          <p:cNvPr id="60" name="组合 59"/>
          <p:cNvGrpSpPr/>
          <p:nvPr userDrawn="1"/>
        </p:nvGrpSpPr>
        <p:grpSpPr>
          <a:xfrm>
            <a:off x="6301954" y="-351838"/>
            <a:ext cx="1714296" cy="1394349"/>
            <a:chOff x="4726465" y="-711878"/>
            <a:chExt cx="1285722" cy="1394349"/>
          </a:xfrm>
        </p:grpSpPr>
        <p:grpSp>
          <p:nvGrpSpPr>
            <p:cNvPr id="61" name="组合 60"/>
            <p:cNvGrpSpPr/>
            <p:nvPr userDrawn="1"/>
          </p:nvGrpSpPr>
          <p:grpSpPr>
            <a:xfrm>
              <a:off x="4726465" y="-711878"/>
              <a:ext cx="1285722" cy="1394349"/>
              <a:chOff x="5322842" y="326129"/>
              <a:chExt cx="905342" cy="4464216"/>
            </a:xfrm>
          </p:grpSpPr>
          <p:sp>
            <p:nvSpPr>
              <p:cNvPr id="64" name="圆角矩形 63"/>
              <p:cNvSpPr/>
              <p:nvPr/>
            </p:nvSpPr>
            <p:spPr>
              <a:xfrm>
                <a:off x="5364088" y="422268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65" name="圆角矩形 64"/>
              <p:cNvSpPr/>
              <p:nvPr/>
            </p:nvSpPr>
            <p:spPr>
              <a:xfrm>
                <a:off x="5322842" y="326129"/>
                <a:ext cx="864096" cy="4323744"/>
              </a:xfrm>
              <a:prstGeom prst="roundRect">
                <a:avLst/>
              </a:prstGeom>
              <a:solidFill>
                <a:srgbClr val="1E6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62" name="TextBox 61"/>
            <p:cNvSpPr txBox="1"/>
            <p:nvPr userDrawn="1"/>
          </p:nvSpPr>
          <p:spPr>
            <a:xfrm>
              <a:off x="4794471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02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63" name="TextBox 62"/>
            <p:cNvSpPr txBox="1"/>
            <p:nvPr userDrawn="1"/>
          </p:nvSpPr>
          <p:spPr>
            <a:xfrm>
              <a:off x="477994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教学策略</a:t>
              </a:r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-28691" y="404665"/>
            <a:ext cx="6220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/>
              <a:t>instructional strategies</a:t>
            </a:r>
          </a:p>
        </p:txBody>
      </p:sp>
    </p:spTree>
    <p:extLst>
      <p:ext uri="{BB962C8B-B14F-4D97-AF65-F5344CB8AC3E}">
        <p14:creationId xmlns:p14="http://schemas.microsoft.com/office/powerpoint/2010/main" val="18832800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直接连接符 13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1" y="404665"/>
            <a:ext cx="497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/>
              <a:t>teaching process</a:t>
            </a:r>
          </a:p>
        </p:txBody>
      </p:sp>
      <p:grpSp>
        <p:nvGrpSpPr>
          <p:cNvPr id="48" name="组合 47"/>
          <p:cNvGrpSpPr/>
          <p:nvPr userDrawn="1"/>
        </p:nvGrpSpPr>
        <p:grpSpPr>
          <a:xfrm>
            <a:off x="8210957" y="-348031"/>
            <a:ext cx="1714191" cy="1393350"/>
            <a:chOff x="6158217" y="-708071"/>
            <a:chExt cx="1285643" cy="1393350"/>
          </a:xfrm>
        </p:grpSpPr>
        <p:grpSp>
          <p:nvGrpSpPr>
            <p:cNvPr id="49" name="组合 48"/>
            <p:cNvGrpSpPr/>
            <p:nvPr userDrawn="1"/>
          </p:nvGrpSpPr>
          <p:grpSpPr>
            <a:xfrm>
              <a:off x="6158217" y="-708071"/>
              <a:ext cx="1285643" cy="1393350"/>
              <a:chOff x="6475026" y="329329"/>
              <a:chExt cx="905286" cy="4461015"/>
            </a:xfrm>
          </p:grpSpPr>
          <p:sp>
            <p:nvSpPr>
              <p:cNvPr id="52" name="圆角矩形 51"/>
              <p:cNvSpPr/>
              <p:nvPr/>
            </p:nvSpPr>
            <p:spPr>
              <a:xfrm>
                <a:off x="6516216" y="422267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3" name="圆角矩形 52"/>
              <p:cNvSpPr/>
              <p:nvPr/>
            </p:nvSpPr>
            <p:spPr>
              <a:xfrm>
                <a:off x="6475026" y="329329"/>
                <a:ext cx="864096" cy="4323744"/>
              </a:xfrm>
              <a:prstGeom prst="roundRect">
                <a:avLst/>
              </a:prstGeom>
              <a:solidFill>
                <a:srgbClr val="2A8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0" name="TextBox 49"/>
            <p:cNvSpPr txBox="1"/>
            <p:nvPr userDrawn="1"/>
          </p:nvSpPr>
          <p:spPr>
            <a:xfrm>
              <a:off x="6226223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03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1" name="TextBox 50"/>
            <p:cNvSpPr txBox="1"/>
            <p:nvPr userDrawn="1"/>
          </p:nvSpPr>
          <p:spPr>
            <a:xfrm>
              <a:off x="620951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教学过程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23081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过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接连接符 12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1" y="404665"/>
            <a:ext cx="4972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/>
              <a:t>teaching process</a:t>
            </a:r>
          </a:p>
        </p:txBody>
      </p:sp>
      <p:grpSp>
        <p:nvGrpSpPr>
          <p:cNvPr id="48" name="组合 47"/>
          <p:cNvGrpSpPr/>
          <p:nvPr userDrawn="1"/>
        </p:nvGrpSpPr>
        <p:grpSpPr>
          <a:xfrm>
            <a:off x="8210957" y="-348031"/>
            <a:ext cx="1714191" cy="1393350"/>
            <a:chOff x="6158217" y="-708071"/>
            <a:chExt cx="1285643" cy="1393350"/>
          </a:xfrm>
        </p:grpSpPr>
        <p:grpSp>
          <p:nvGrpSpPr>
            <p:cNvPr id="49" name="组合 48"/>
            <p:cNvGrpSpPr/>
            <p:nvPr userDrawn="1"/>
          </p:nvGrpSpPr>
          <p:grpSpPr>
            <a:xfrm>
              <a:off x="6158217" y="-708071"/>
              <a:ext cx="1285643" cy="1393350"/>
              <a:chOff x="6475026" y="329329"/>
              <a:chExt cx="905286" cy="4461015"/>
            </a:xfrm>
          </p:grpSpPr>
          <p:sp>
            <p:nvSpPr>
              <p:cNvPr id="52" name="圆角矩形 51"/>
              <p:cNvSpPr/>
              <p:nvPr/>
            </p:nvSpPr>
            <p:spPr>
              <a:xfrm>
                <a:off x="6516216" y="422267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3" name="圆角矩形 52"/>
              <p:cNvSpPr/>
              <p:nvPr/>
            </p:nvSpPr>
            <p:spPr>
              <a:xfrm>
                <a:off x="6475026" y="329329"/>
                <a:ext cx="864096" cy="4323744"/>
              </a:xfrm>
              <a:prstGeom prst="roundRect">
                <a:avLst/>
              </a:prstGeom>
              <a:solidFill>
                <a:srgbClr val="2A8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0" name="TextBox 49"/>
            <p:cNvSpPr txBox="1"/>
            <p:nvPr userDrawn="1"/>
          </p:nvSpPr>
          <p:spPr>
            <a:xfrm>
              <a:off x="6226223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03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1" name="TextBox 50"/>
            <p:cNvSpPr txBox="1"/>
            <p:nvPr userDrawn="1"/>
          </p:nvSpPr>
          <p:spPr>
            <a:xfrm>
              <a:off x="620951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教学过程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20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0" y="404665"/>
            <a:ext cx="4108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/>
              <a:t>Teaching effect</a:t>
            </a: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10128745" y="-340367"/>
            <a:ext cx="1705296" cy="1393103"/>
            <a:chOff x="7596559" y="-700407"/>
            <a:chExt cx="1278972" cy="1393103"/>
          </a:xfrm>
        </p:grpSpPr>
        <p:grpSp>
          <p:nvGrpSpPr>
            <p:cNvPr id="55" name="组合 54"/>
            <p:cNvGrpSpPr/>
            <p:nvPr userDrawn="1"/>
          </p:nvGrpSpPr>
          <p:grpSpPr>
            <a:xfrm>
              <a:off x="7596559" y="-700407"/>
              <a:ext cx="1278972" cy="1393103"/>
              <a:chOff x="7631852" y="336928"/>
              <a:chExt cx="900588" cy="4460224"/>
            </a:xfrm>
          </p:grpSpPr>
          <p:sp>
            <p:nvSpPr>
              <p:cNvPr id="58" name="圆角矩形 57"/>
              <p:cNvSpPr/>
              <p:nvPr/>
            </p:nvSpPr>
            <p:spPr>
              <a:xfrm>
                <a:off x="7668344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9" name="圆角矩形 58"/>
              <p:cNvSpPr/>
              <p:nvPr/>
            </p:nvSpPr>
            <p:spPr>
              <a:xfrm>
                <a:off x="7631852" y="336928"/>
                <a:ext cx="864096" cy="4323744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6" name="TextBox 55"/>
            <p:cNvSpPr txBox="1"/>
            <p:nvPr userDrawn="1"/>
          </p:nvSpPr>
          <p:spPr>
            <a:xfrm>
              <a:off x="7692665" y="67741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04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7" name="TextBox 56"/>
            <p:cNvSpPr txBox="1"/>
            <p:nvPr userDrawn="1"/>
          </p:nvSpPr>
          <p:spPr>
            <a:xfrm>
              <a:off x="769908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教学效果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14569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教学效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E:\000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86" t="44113" r="8772" b="31887"/>
          <a:stretch/>
        </p:blipFill>
        <p:spPr bwMode="auto">
          <a:xfrm flipH="1">
            <a:off x="-169512" y="846606"/>
            <a:ext cx="12386980" cy="90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/>
          <p:cNvCxnSpPr/>
          <p:nvPr userDrawn="1"/>
        </p:nvCxnSpPr>
        <p:spPr>
          <a:xfrm>
            <a:off x="-25478" y="980728"/>
            <a:ext cx="12242946" cy="0"/>
          </a:xfrm>
          <a:prstGeom prst="line">
            <a:avLst/>
          </a:prstGeom>
          <a:ln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 userDrawn="1"/>
        </p:nvSpPr>
        <p:spPr>
          <a:xfrm>
            <a:off x="-28690" y="404665"/>
            <a:ext cx="4108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>
              <a:defRPr sz="2400">
                <a:solidFill>
                  <a:schemeClr val="bg1">
                    <a:lumMod val="85000"/>
                  </a:schemeClr>
                </a:solidFill>
                <a:latin typeface="Helvetica Light" pitchFamily="50" charset="0"/>
              </a:defRPr>
            </a:lvl1pPr>
          </a:lstStyle>
          <a:p>
            <a:pPr lvl="0"/>
            <a:r>
              <a:rPr lang="en-US" altLang="zh-CN" sz="2400"/>
              <a:t>Teaching effect</a:t>
            </a:r>
          </a:p>
        </p:txBody>
      </p:sp>
      <p:grpSp>
        <p:nvGrpSpPr>
          <p:cNvPr id="54" name="组合 53"/>
          <p:cNvGrpSpPr/>
          <p:nvPr userDrawn="1"/>
        </p:nvGrpSpPr>
        <p:grpSpPr>
          <a:xfrm>
            <a:off x="10128745" y="-340367"/>
            <a:ext cx="1705296" cy="1393103"/>
            <a:chOff x="7596559" y="-700407"/>
            <a:chExt cx="1278972" cy="1393103"/>
          </a:xfrm>
        </p:grpSpPr>
        <p:grpSp>
          <p:nvGrpSpPr>
            <p:cNvPr id="55" name="组合 54"/>
            <p:cNvGrpSpPr/>
            <p:nvPr userDrawn="1"/>
          </p:nvGrpSpPr>
          <p:grpSpPr>
            <a:xfrm>
              <a:off x="7596559" y="-700407"/>
              <a:ext cx="1278972" cy="1393103"/>
              <a:chOff x="7631852" y="336928"/>
              <a:chExt cx="900588" cy="4460224"/>
            </a:xfrm>
          </p:grpSpPr>
          <p:sp>
            <p:nvSpPr>
              <p:cNvPr id="58" name="圆角矩形 57"/>
              <p:cNvSpPr/>
              <p:nvPr/>
            </p:nvSpPr>
            <p:spPr>
              <a:xfrm>
                <a:off x="7668344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9" name="圆角矩形 58"/>
              <p:cNvSpPr/>
              <p:nvPr/>
            </p:nvSpPr>
            <p:spPr>
              <a:xfrm>
                <a:off x="7631852" y="336928"/>
                <a:ext cx="864096" cy="4323744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6" name="TextBox 55"/>
            <p:cNvSpPr txBox="1"/>
            <p:nvPr userDrawn="1"/>
          </p:nvSpPr>
          <p:spPr>
            <a:xfrm>
              <a:off x="7692665" y="67741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04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7" name="TextBox 56"/>
            <p:cNvSpPr txBox="1"/>
            <p:nvPr userDrawn="1"/>
          </p:nvSpPr>
          <p:spPr>
            <a:xfrm>
              <a:off x="769908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教学效果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5756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 hidden="1"/>
          <p:cNvSpPr txBox="1"/>
          <p:nvPr userDrawn="1"/>
        </p:nvSpPr>
        <p:spPr>
          <a:xfrm>
            <a:off x="25138" y="-14371"/>
            <a:ext cx="2299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>
                <a:solidFill>
                  <a:srgbClr val="333333"/>
                </a:solidFill>
                <a:latin typeface="Gill Sans Ultra Bold" pitchFamily="34" charset="0"/>
              </a:rPr>
              <a:t>LOGO</a:t>
            </a:r>
            <a:endParaRPr lang="zh-CN" altLang="en-US" sz="3200">
              <a:solidFill>
                <a:srgbClr val="333333"/>
              </a:solidFill>
              <a:latin typeface="Gill Sans Ultra Bold" pitchFamily="34" charset="0"/>
            </a:endParaRPr>
          </a:p>
        </p:txBody>
      </p:sp>
      <p:grpSp>
        <p:nvGrpSpPr>
          <p:cNvPr id="59" name="组合 58"/>
          <p:cNvGrpSpPr/>
          <p:nvPr userDrawn="1"/>
        </p:nvGrpSpPr>
        <p:grpSpPr>
          <a:xfrm>
            <a:off x="4419649" y="-715238"/>
            <a:ext cx="1742672" cy="1397180"/>
            <a:chOff x="3314736" y="-715238"/>
            <a:chExt cx="1307004" cy="1397180"/>
          </a:xfrm>
        </p:grpSpPr>
        <p:grpSp>
          <p:nvGrpSpPr>
            <p:cNvPr id="34" name="组合 33"/>
            <p:cNvGrpSpPr/>
            <p:nvPr userDrawn="1"/>
          </p:nvGrpSpPr>
          <p:grpSpPr>
            <a:xfrm>
              <a:off x="3314736" y="-715238"/>
              <a:ext cx="1307004" cy="1397180"/>
              <a:chOff x="4227737" y="323875"/>
              <a:chExt cx="920327" cy="4473277"/>
            </a:xfrm>
          </p:grpSpPr>
          <p:sp>
            <p:nvSpPr>
              <p:cNvPr id="37" name="圆角矩形 36"/>
              <p:cNvSpPr/>
              <p:nvPr/>
            </p:nvSpPr>
            <p:spPr>
              <a:xfrm>
                <a:off x="4283968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38" name="圆角矩形 37"/>
              <p:cNvSpPr/>
              <p:nvPr/>
            </p:nvSpPr>
            <p:spPr>
              <a:xfrm>
                <a:off x="4227737" y="323875"/>
                <a:ext cx="879048" cy="4323744"/>
              </a:xfrm>
              <a:prstGeom prst="roundRect">
                <a:avLst/>
              </a:prstGeom>
              <a:solidFill>
                <a:srgbClr val="43525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35" name="TextBox 34"/>
            <p:cNvSpPr txBox="1"/>
            <p:nvPr userDrawn="1"/>
          </p:nvSpPr>
          <p:spPr>
            <a:xfrm>
              <a:off x="3372889" y="44624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01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36" name="TextBox 35"/>
            <p:cNvSpPr txBox="1"/>
            <p:nvPr userDrawn="1"/>
          </p:nvSpPr>
          <p:spPr>
            <a:xfrm>
              <a:off x="3372889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教学分析</a:t>
              </a:r>
            </a:p>
          </p:txBody>
        </p:sp>
      </p:grpSp>
      <p:grpSp>
        <p:nvGrpSpPr>
          <p:cNvPr id="61" name="组合 60"/>
          <p:cNvGrpSpPr/>
          <p:nvPr userDrawn="1"/>
        </p:nvGrpSpPr>
        <p:grpSpPr>
          <a:xfrm>
            <a:off x="8210957" y="-708071"/>
            <a:ext cx="1714191" cy="1393350"/>
            <a:chOff x="6158217" y="-708071"/>
            <a:chExt cx="1285643" cy="1393350"/>
          </a:xfrm>
        </p:grpSpPr>
        <p:grpSp>
          <p:nvGrpSpPr>
            <p:cNvPr id="40" name="组合 39"/>
            <p:cNvGrpSpPr/>
            <p:nvPr userDrawn="1"/>
          </p:nvGrpSpPr>
          <p:grpSpPr>
            <a:xfrm>
              <a:off x="6158217" y="-708071"/>
              <a:ext cx="1285643" cy="1393350"/>
              <a:chOff x="6475026" y="329329"/>
              <a:chExt cx="905286" cy="4461015"/>
            </a:xfrm>
          </p:grpSpPr>
          <p:sp>
            <p:nvSpPr>
              <p:cNvPr id="43" name="圆角矩形 42"/>
              <p:cNvSpPr/>
              <p:nvPr/>
            </p:nvSpPr>
            <p:spPr>
              <a:xfrm>
                <a:off x="6516216" y="422267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44" name="圆角矩形 43"/>
              <p:cNvSpPr/>
              <p:nvPr/>
            </p:nvSpPr>
            <p:spPr>
              <a:xfrm>
                <a:off x="6475026" y="329329"/>
                <a:ext cx="864096" cy="4323744"/>
              </a:xfrm>
              <a:prstGeom prst="roundRect">
                <a:avLst/>
              </a:prstGeom>
              <a:solidFill>
                <a:srgbClr val="2A8F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41" name="TextBox 40"/>
            <p:cNvSpPr txBox="1"/>
            <p:nvPr userDrawn="1"/>
          </p:nvSpPr>
          <p:spPr>
            <a:xfrm>
              <a:off x="6226223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03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42" name="TextBox 41"/>
            <p:cNvSpPr txBox="1"/>
            <p:nvPr userDrawn="1"/>
          </p:nvSpPr>
          <p:spPr>
            <a:xfrm>
              <a:off x="620951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教学过程</a:t>
              </a:r>
            </a:p>
          </p:txBody>
        </p:sp>
      </p:grpSp>
      <p:grpSp>
        <p:nvGrpSpPr>
          <p:cNvPr id="62" name="组合 61"/>
          <p:cNvGrpSpPr/>
          <p:nvPr userDrawn="1"/>
        </p:nvGrpSpPr>
        <p:grpSpPr>
          <a:xfrm>
            <a:off x="10128745" y="-700407"/>
            <a:ext cx="1705296" cy="1393103"/>
            <a:chOff x="7596559" y="-700407"/>
            <a:chExt cx="1278972" cy="1393103"/>
          </a:xfrm>
        </p:grpSpPr>
        <p:grpSp>
          <p:nvGrpSpPr>
            <p:cNvPr id="46" name="组合 45"/>
            <p:cNvGrpSpPr/>
            <p:nvPr userDrawn="1"/>
          </p:nvGrpSpPr>
          <p:grpSpPr>
            <a:xfrm>
              <a:off x="7596559" y="-700407"/>
              <a:ext cx="1278972" cy="1393103"/>
              <a:chOff x="7631852" y="336928"/>
              <a:chExt cx="900588" cy="4460224"/>
            </a:xfrm>
          </p:grpSpPr>
          <p:sp>
            <p:nvSpPr>
              <p:cNvPr id="49" name="圆角矩形 48"/>
              <p:cNvSpPr/>
              <p:nvPr/>
            </p:nvSpPr>
            <p:spPr>
              <a:xfrm>
                <a:off x="7668344" y="429075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0" name="圆角矩形 49"/>
              <p:cNvSpPr/>
              <p:nvPr/>
            </p:nvSpPr>
            <p:spPr>
              <a:xfrm>
                <a:off x="7631852" y="336928"/>
                <a:ext cx="864096" cy="4323744"/>
              </a:xfrm>
              <a:prstGeom prst="round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47" name="TextBox 46"/>
            <p:cNvSpPr txBox="1"/>
            <p:nvPr userDrawn="1"/>
          </p:nvSpPr>
          <p:spPr>
            <a:xfrm>
              <a:off x="7692665" y="67741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04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48" name="TextBox 47"/>
            <p:cNvSpPr txBox="1"/>
            <p:nvPr userDrawn="1"/>
          </p:nvSpPr>
          <p:spPr>
            <a:xfrm>
              <a:off x="769908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教学效果</a:t>
              </a:r>
            </a:p>
          </p:txBody>
        </p:sp>
      </p:grpSp>
      <p:grpSp>
        <p:nvGrpSpPr>
          <p:cNvPr id="60" name="组合 59"/>
          <p:cNvGrpSpPr/>
          <p:nvPr userDrawn="1"/>
        </p:nvGrpSpPr>
        <p:grpSpPr>
          <a:xfrm>
            <a:off x="6301954" y="-711878"/>
            <a:ext cx="1714296" cy="1394349"/>
            <a:chOff x="4726465" y="-711878"/>
            <a:chExt cx="1285722" cy="1394349"/>
          </a:xfrm>
        </p:grpSpPr>
        <p:grpSp>
          <p:nvGrpSpPr>
            <p:cNvPr id="52" name="组合 51"/>
            <p:cNvGrpSpPr/>
            <p:nvPr userDrawn="1"/>
          </p:nvGrpSpPr>
          <p:grpSpPr>
            <a:xfrm>
              <a:off x="4726465" y="-711878"/>
              <a:ext cx="1285722" cy="1394349"/>
              <a:chOff x="5322842" y="326129"/>
              <a:chExt cx="905342" cy="4464216"/>
            </a:xfrm>
          </p:grpSpPr>
          <p:sp>
            <p:nvSpPr>
              <p:cNvPr id="55" name="圆角矩形 54"/>
              <p:cNvSpPr/>
              <p:nvPr/>
            </p:nvSpPr>
            <p:spPr>
              <a:xfrm>
                <a:off x="5364088" y="422268"/>
                <a:ext cx="864096" cy="4368077"/>
              </a:xfrm>
              <a:prstGeom prst="roundRect">
                <a:avLst/>
              </a:prstGeom>
              <a:solidFill>
                <a:srgbClr val="BCBCB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  <p:sp>
            <p:nvSpPr>
              <p:cNvPr id="56" name="圆角矩形 55"/>
              <p:cNvSpPr/>
              <p:nvPr/>
            </p:nvSpPr>
            <p:spPr>
              <a:xfrm>
                <a:off x="5322842" y="326129"/>
                <a:ext cx="864096" cy="4323744"/>
              </a:xfrm>
              <a:prstGeom prst="roundRect">
                <a:avLst/>
              </a:prstGeom>
              <a:solidFill>
                <a:srgbClr val="1E6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800"/>
              </a:p>
            </p:txBody>
          </p:sp>
        </p:grpSp>
        <p:sp>
          <p:nvSpPr>
            <p:cNvPr id="53" name="TextBox 52"/>
            <p:cNvSpPr txBox="1"/>
            <p:nvPr userDrawn="1"/>
          </p:nvSpPr>
          <p:spPr>
            <a:xfrm>
              <a:off x="4794471" y="56183"/>
              <a:ext cx="5337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>
                  <a:solidFill>
                    <a:schemeClr val="bg1"/>
                  </a:solidFill>
                  <a:latin typeface="Gill Sans MT Condensed" pitchFamily="34" charset="0"/>
                  <a:ea typeface="Arial Unicode MS" pitchFamily="34" charset="-122"/>
                  <a:cs typeface="Arial Unicode MS" pitchFamily="34" charset="-122"/>
                </a:rPr>
                <a:t>02</a:t>
              </a:r>
              <a:endParaRPr lang="zh-CN" altLang="en-US" sz="1800" b="1">
                <a:solidFill>
                  <a:schemeClr val="bg1"/>
                </a:solidFill>
                <a:latin typeface="Gill Sans MT Condensed" pitchFamily="34" charset="0"/>
                <a:ea typeface="Arial Unicode MS" pitchFamily="34" charset="-122"/>
                <a:cs typeface="Arial Unicode MS" pitchFamily="34" charset="-122"/>
              </a:endParaRPr>
            </a:p>
          </p:txBody>
        </p:sp>
        <p:sp>
          <p:nvSpPr>
            <p:cNvPr id="54" name="TextBox 53"/>
            <p:cNvSpPr txBox="1"/>
            <p:nvPr userDrawn="1"/>
          </p:nvSpPr>
          <p:spPr>
            <a:xfrm>
              <a:off x="4779942" y="278230"/>
              <a:ext cx="11472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800" b="1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  <a:cs typeface="Arial Unicode MS" pitchFamily="34" charset="-122"/>
                </a:rPr>
                <a:t>教学策略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5425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=""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-31693"/>
            <a:ext cx="12192001" cy="6870567"/>
          </a:xfrm>
          <a:prstGeom prst="rect">
            <a:avLst/>
          </a:prstGeom>
        </p:spPr>
      </p:pic>
      <p:cxnSp>
        <p:nvCxnSpPr>
          <p:cNvPr id="24" name="直接连接符 23">
            <a:extLst>
              <a:ext uri="{FF2B5EF4-FFF2-40B4-BE49-F238E27FC236}">
                <a16:creationId xmlns="" xmlns:a16="http://schemas.microsoft.com/office/drawing/2014/main" id="{3AF7CF07-C3D1-48FA-AC1F-1CC74323FA7E}"/>
              </a:ext>
            </a:extLst>
          </p:cNvPr>
          <p:cNvCxnSpPr>
            <a:cxnSpLocks/>
          </p:cNvCxnSpPr>
          <p:nvPr/>
        </p:nvCxnSpPr>
        <p:spPr>
          <a:xfrm>
            <a:off x="2149057" y="3429000"/>
            <a:ext cx="7342288" cy="0"/>
          </a:xfrm>
          <a:prstGeom prst="line">
            <a:avLst/>
          </a:prstGeom>
          <a:ln w="25400">
            <a:solidFill>
              <a:schemeClr val="bg1"/>
            </a:solidFill>
          </a:ln>
          <a:effectLst>
            <a:outerShdw dist="254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Freeform 284">
            <a:extLst>
              <a:ext uri="{FF2B5EF4-FFF2-40B4-BE49-F238E27FC236}">
                <a16:creationId xmlns="" xmlns:a16="http://schemas.microsoft.com/office/drawing/2014/main" id="{F0A56CFD-663E-4AFB-BF60-D093C87FDC59}"/>
              </a:ext>
            </a:extLst>
          </p:cNvPr>
          <p:cNvSpPr>
            <a:spLocks noEditPoints="1"/>
          </p:cNvSpPr>
          <p:nvPr/>
        </p:nvSpPr>
        <p:spPr bwMode="auto">
          <a:xfrm>
            <a:off x="8933349" y="4285049"/>
            <a:ext cx="1914405" cy="1419137"/>
          </a:xfrm>
          <a:custGeom>
            <a:avLst/>
            <a:gdLst>
              <a:gd name="T0" fmla="*/ 1 w 85"/>
              <a:gd name="T1" fmla="*/ 0 h 63"/>
              <a:gd name="T2" fmla="*/ 0 w 85"/>
              <a:gd name="T3" fmla="*/ 62 h 63"/>
              <a:gd name="T4" fmla="*/ 16 w 85"/>
              <a:gd name="T5" fmla="*/ 63 h 63"/>
              <a:gd name="T6" fmla="*/ 18 w 85"/>
              <a:gd name="T7" fmla="*/ 1 h 63"/>
              <a:gd name="T8" fmla="*/ 2 w 85"/>
              <a:gd name="T9" fmla="*/ 5 h 63"/>
              <a:gd name="T10" fmla="*/ 14 w 85"/>
              <a:gd name="T11" fmla="*/ 4 h 63"/>
              <a:gd name="T12" fmla="*/ 16 w 85"/>
              <a:gd name="T13" fmla="*/ 28 h 63"/>
              <a:gd name="T14" fmla="*/ 3 w 85"/>
              <a:gd name="T15" fmla="*/ 29 h 63"/>
              <a:gd name="T16" fmla="*/ 2 w 85"/>
              <a:gd name="T17" fmla="*/ 5 h 63"/>
              <a:gd name="T18" fmla="*/ 2 w 85"/>
              <a:gd name="T19" fmla="*/ 56 h 63"/>
              <a:gd name="T20" fmla="*/ 2 w 85"/>
              <a:gd name="T21" fmla="*/ 55 h 63"/>
              <a:gd name="T22" fmla="*/ 16 w 85"/>
              <a:gd name="T23" fmla="*/ 56 h 63"/>
              <a:gd name="T24" fmla="*/ 16 w 85"/>
              <a:gd name="T25" fmla="*/ 52 h 63"/>
              <a:gd name="T26" fmla="*/ 2 w 85"/>
              <a:gd name="T27" fmla="*/ 52 h 63"/>
              <a:gd name="T28" fmla="*/ 16 w 85"/>
              <a:gd name="T29" fmla="*/ 51 h 63"/>
              <a:gd name="T30" fmla="*/ 16 w 85"/>
              <a:gd name="T31" fmla="*/ 52 h 63"/>
              <a:gd name="T32" fmla="*/ 21 w 85"/>
              <a:gd name="T33" fmla="*/ 0 h 63"/>
              <a:gd name="T34" fmla="*/ 19 w 85"/>
              <a:gd name="T35" fmla="*/ 62 h 63"/>
              <a:gd name="T36" fmla="*/ 36 w 85"/>
              <a:gd name="T37" fmla="*/ 63 h 63"/>
              <a:gd name="T38" fmla="*/ 38 w 85"/>
              <a:gd name="T39" fmla="*/ 1 h 63"/>
              <a:gd name="T40" fmla="*/ 22 w 85"/>
              <a:gd name="T41" fmla="*/ 5 h 63"/>
              <a:gd name="T42" fmla="*/ 34 w 85"/>
              <a:gd name="T43" fmla="*/ 4 h 63"/>
              <a:gd name="T44" fmla="*/ 35 w 85"/>
              <a:gd name="T45" fmla="*/ 28 h 63"/>
              <a:gd name="T46" fmla="*/ 23 w 85"/>
              <a:gd name="T47" fmla="*/ 29 h 63"/>
              <a:gd name="T48" fmla="*/ 22 w 85"/>
              <a:gd name="T49" fmla="*/ 5 h 63"/>
              <a:gd name="T50" fmla="*/ 22 w 85"/>
              <a:gd name="T51" fmla="*/ 56 h 63"/>
              <a:gd name="T52" fmla="*/ 22 w 85"/>
              <a:gd name="T53" fmla="*/ 55 h 63"/>
              <a:gd name="T54" fmla="*/ 36 w 85"/>
              <a:gd name="T55" fmla="*/ 56 h 63"/>
              <a:gd name="T56" fmla="*/ 35 w 85"/>
              <a:gd name="T57" fmla="*/ 52 h 63"/>
              <a:gd name="T58" fmla="*/ 21 w 85"/>
              <a:gd name="T59" fmla="*/ 52 h 63"/>
              <a:gd name="T60" fmla="*/ 35 w 85"/>
              <a:gd name="T61" fmla="*/ 51 h 63"/>
              <a:gd name="T62" fmla="*/ 35 w 85"/>
              <a:gd name="T63" fmla="*/ 52 h 63"/>
              <a:gd name="T64" fmla="*/ 53 w 85"/>
              <a:gd name="T65" fmla="*/ 1 h 63"/>
              <a:gd name="T66" fmla="*/ 38 w 85"/>
              <a:gd name="T67" fmla="*/ 9 h 63"/>
              <a:gd name="T68" fmla="*/ 69 w 85"/>
              <a:gd name="T69" fmla="*/ 62 h 63"/>
              <a:gd name="T70" fmla="*/ 84 w 85"/>
              <a:gd name="T71" fmla="*/ 55 h 63"/>
              <a:gd name="T72" fmla="*/ 64 w 85"/>
              <a:gd name="T73" fmla="*/ 27 h 63"/>
              <a:gd name="T74" fmla="*/ 53 w 85"/>
              <a:gd name="T75" fmla="*/ 32 h 63"/>
              <a:gd name="T76" fmla="*/ 42 w 85"/>
              <a:gd name="T77" fmla="*/ 11 h 63"/>
              <a:gd name="T78" fmla="*/ 53 w 85"/>
              <a:gd name="T79" fmla="*/ 6 h 63"/>
              <a:gd name="T80" fmla="*/ 64 w 85"/>
              <a:gd name="T81" fmla="*/ 27 h 63"/>
              <a:gd name="T82" fmla="*/ 66 w 85"/>
              <a:gd name="T83" fmla="*/ 52 h 63"/>
              <a:gd name="T84" fmla="*/ 78 w 85"/>
              <a:gd name="T85" fmla="*/ 46 h 63"/>
              <a:gd name="T86" fmla="*/ 66 w 85"/>
              <a:gd name="T87" fmla="*/ 53 h 63"/>
              <a:gd name="T88" fmla="*/ 80 w 85"/>
              <a:gd name="T89" fmla="*/ 49 h 63"/>
              <a:gd name="T90" fmla="*/ 68 w 85"/>
              <a:gd name="T91" fmla="*/ 56 h 63"/>
              <a:gd name="T92" fmla="*/ 79 w 85"/>
              <a:gd name="T93" fmla="*/ 49 h 63"/>
              <a:gd name="T94" fmla="*/ 80 w 85"/>
              <a:gd name="T95" fmla="*/ 4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5" h="63">
                <a:moveTo>
                  <a:pt x="16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0" y="1"/>
                  <a:pt x="0" y="1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62"/>
                  <a:pt x="1" y="63"/>
                  <a:pt x="1" y="63"/>
                </a:cubicBezTo>
                <a:cubicBezTo>
                  <a:pt x="16" y="63"/>
                  <a:pt x="16" y="63"/>
                  <a:pt x="16" y="63"/>
                </a:cubicBezTo>
                <a:cubicBezTo>
                  <a:pt x="17" y="63"/>
                  <a:pt x="18" y="62"/>
                  <a:pt x="18" y="62"/>
                </a:cubicBezTo>
                <a:cubicBezTo>
                  <a:pt x="18" y="1"/>
                  <a:pt x="18" y="1"/>
                  <a:pt x="18" y="1"/>
                </a:cubicBezTo>
                <a:cubicBezTo>
                  <a:pt x="18" y="1"/>
                  <a:pt x="17" y="0"/>
                  <a:pt x="16" y="0"/>
                </a:cubicBezTo>
                <a:close/>
                <a:moveTo>
                  <a:pt x="2" y="5"/>
                </a:moveTo>
                <a:cubicBezTo>
                  <a:pt x="2" y="4"/>
                  <a:pt x="3" y="4"/>
                  <a:pt x="3" y="4"/>
                </a:cubicBezTo>
                <a:cubicBezTo>
                  <a:pt x="14" y="4"/>
                  <a:pt x="14" y="4"/>
                  <a:pt x="14" y="4"/>
                </a:cubicBezTo>
                <a:cubicBezTo>
                  <a:pt x="15" y="4"/>
                  <a:pt x="16" y="4"/>
                  <a:pt x="16" y="5"/>
                </a:cubicBezTo>
                <a:cubicBezTo>
                  <a:pt x="16" y="28"/>
                  <a:pt x="16" y="28"/>
                  <a:pt x="16" y="28"/>
                </a:cubicBezTo>
                <a:cubicBezTo>
                  <a:pt x="16" y="28"/>
                  <a:pt x="15" y="29"/>
                  <a:pt x="14" y="29"/>
                </a:cubicBezTo>
                <a:cubicBezTo>
                  <a:pt x="3" y="29"/>
                  <a:pt x="3" y="29"/>
                  <a:pt x="3" y="29"/>
                </a:cubicBezTo>
                <a:cubicBezTo>
                  <a:pt x="3" y="29"/>
                  <a:pt x="2" y="28"/>
                  <a:pt x="2" y="28"/>
                </a:cubicBezTo>
                <a:lnTo>
                  <a:pt x="2" y="5"/>
                </a:lnTo>
                <a:close/>
                <a:moveTo>
                  <a:pt x="16" y="56"/>
                </a:moveTo>
                <a:cubicBezTo>
                  <a:pt x="2" y="56"/>
                  <a:pt x="2" y="56"/>
                  <a:pt x="2" y="56"/>
                </a:cubicBezTo>
                <a:cubicBezTo>
                  <a:pt x="2" y="56"/>
                  <a:pt x="2" y="56"/>
                  <a:pt x="2" y="56"/>
                </a:cubicBezTo>
                <a:cubicBezTo>
                  <a:pt x="2" y="55"/>
                  <a:pt x="2" y="55"/>
                  <a:pt x="2" y="55"/>
                </a:cubicBezTo>
                <a:cubicBezTo>
                  <a:pt x="16" y="55"/>
                  <a:pt x="16" y="55"/>
                  <a:pt x="16" y="55"/>
                </a:cubicBezTo>
                <a:cubicBezTo>
                  <a:pt x="16" y="55"/>
                  <a:pt x="16" y="55"/>
                  <a:pt x="16" y="56"/>
                </a:cubicBezTo>
                <a:cubicBezTo>
                  <a:pt x="16" y="56"/>
                  <a:pt x="16" y="56"/>
                  <a:pt x="16" y="56"/>
                </a:cubicBezTo>
                <a:close/>
                <a:moveTo>
                  <a:pt x="16" y="52"/>
                </a:moveTo>
                <a:cubicBezTo>
                  <a:pt x="2" y="52"/>
                  <a:pt x="2" y="52"/>
                  <a:pt x="2" y="52"/>
                </a:cubicBezTo>
                <a:cubicBezTo>
                  <a:pt x="2" y="52"/>
                  <a:pt x="2" y="52"/>
                  <a:pt x="2" y="52"/>
                </a:cubicBezTo>
                <a:cubicBezTo>
                  <a:pt x="2" y="52"/>
                  <a:pt x="2" y="51"/>
                  <a:pt x="2" y="51"/>
                </a:cubicBezTo>
                <a:cubicBezTo>
                  <a:pt x="16" y="51"/>
                  <a:pt x="16" y="51"/>
                  <a:pt x="16" y="51"/>
                </a:cubicBezTo>
                <a:cubicBezTo>
                  <a:pt x="16" y="51"/>
                  <a:pt x="16" y="52"/>
                  <a:pt x="16" y="52"/>
                </a:cubicBezTo>
                <a:cubicBezTo>
                  <a:pt x="16" y="52"/>
                  <a:pt x="16" y="52"/>
                  <a:pt x="16" y="52"/>
                </a:cubicBezTo>
                <a:close/>
                <a:moveTo>
                  <a:pt x="36" y="0"/>
                </a:moveTo>
                <a:cubicBezTo>
                  <a:pt x="21" y="0"/>
                  <a:pt x="21" y="0"/>
                  <a:pt x="21" y="0"/>
                </a:cubicBezTo>
                <a:cubicBezTo>
                  <a:pt x="20" y="0"/>
                  <a:pt x="19" y="1"/>
                  <a:pt x="19" y="1"/>
                </a:cubicBezTo>
                <a:cubicBezTo>
                  <a:pt x="19" y="62"/>
                  <a:pt x="19" y="62"/>
                  <a:pt x="19" y="62"/>
                </a:cubicBezTo>
                <a:cubicBezTo>
                  <a:pt x="19" y="62"/>
                  <a:pt x="20" y="63"/>
                  <a:pt x="21" y="63"/>
                </a:cubicBezTo>
                <a:cubicBezTo>
                  <a:pt x="36" y="63"/>
                  <a:pt x="36" y="63"/>
                  <a:pt x="36" y="63"/>
                </a:cubicBezTo>
                <a:cubicBezTo>
                  <a:pt x="37" y="63"/>
                  <a:pt x="38" y="62"/>
                  <a:pt x="38" y="62"/>
                </a:cubicBezTo>
                <a:cubicBezTo>
                  <a:pt x="38" y="1"/>
                  <a:pt x="38" y="1"/>
                  <a:pt x="38" y="1"/>
                </a:cubicBezTo>
                <a:cubicBezTo>
                  <a:pt x="38" y="1"/>
                  <a:pt x="37" y="0"/>
                  <a:pt x="36" y="0"/>
                </a:cubicBezTo>
                <a:close/>
                <a:moveTo>
                  <a:pt x="22" y="5"/>
                </a:moveTo>
                <a:cubicBezTo>
                  <a:pt x="22" y="4"/>
                  <a:pt x="22" y="4"/>
                  <a:pt x="23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5"/>
                </a:cubicBezTo>
                <a:cubicBezTo>
                  <a:pt x="35" y="28"/>
                  <a:pt x="35" y="28"/>
                  <a:pt x="35" y="28"/>
                </a:cubicBezTo>
                <a:cubicBezTo>
                  <a:pt x="35" y="28"/>
                  <a:pt x="35" y="29"/>
                  <a:pt x="34" y="29"/>
                </a:cubicBezTo>
                <a:cubicBezTo>
                  <a:pt x="23" y="29"/>
                  <a:pt x="23" y="29"/>
                  <a:pt x="23" y="29"/>
                </a:cubicBezTo>
                <a:cubicBezTo>
                  <a:pt x="22" y="29"/>
                  <a:pt x="22" y="28"/>
                  <a:pt x="22" y="28"/>
                </a:cubicBezTo>
                <a:lnTo>
                  <a:pt x="22" y="5"/>
                </a:lnTo>
                <a:close/>
                <a:moveTo>
                  <a:pt x="35" y="56"/>
                </a:moveTo>
                <a:cubicBezTo>
                  <a:pt x="22" y="56"/>
                  <a:pt x="22" y="56"/>
                  <a:pt x="22" y="56"/>
                </a:cubicBezTo>
                <a:cubicBezTo>
                  <a:pt x="22" y="56"/>
                  <a:pt x="21" y="56"/>
                  <a:pt x="21" y="56"/>
                </a:cubicBezTo>
                <a:cubicBezTo>
                  <a:pt x="21" y="55"/>
                  <a:pt x="22" y="55"/>
                  <a:pt x="22" y="55"/>
                </a:cubicBezTo>
                <a:cubicBezTo>
                  <a:pt x="35" y="55"/>
                  <a:pt x="35" y="55"/>
                  <a:pt x="35" y="55"/>
                </a:cubicBezTo>
                <a:cubicBezTo>
                  <a:pt x="35" y="55"/>
                  <a:pt x="36" y="55"/>
                  <a:pt x="36" y="56"/>
                </a:cubicBezTo>
                <a:cubicBezTo>
                  <a:pt x="36" y="56"/>
                  <a:pt x="35" y="56"/>
                  <a:pt x="35" y="56"/>
                </a:cubicBezTo>
                <a:close/>
                <a:moveTo>
                  <a:pt x="35" y="52"/>
                </a:moveTo>
                <a:cubicBezTo>
                  <a:pt x="22" y="52"/>
                  <a:pt x="22" y="52"/>
                  <a:pt x="22" y="52"/>
                </a:cubicBezTo>
                <a:cubicBezTo>
                  <a:pt x="22" y="52"/>
                  <a:pt x="21" y="52"/>
                  <a:pt x="21" y="52"/>
                </a:cubicBezTo>
                <a:cubicBezTo>
                  <a:pt x="21" y="52"/>
                  <a:pt x="22" y="51"/>
                  <a:pt x="22" y="51"/>
                </a:cubicBezTo>
                <a:cubicBezTo>
                  <a:pt x="35" y="51"/>
                  <a:pt x="35" y="51"/>
                  <a:pt x="35" y="51"/>
                </a:cubicBezTo>
                <a:cubicBezTo>
                  <a:pt x="35" y="51"/>
                  <a:pt x="36" y="52"/>
                  <a:pt x="36" y="52"/>
                </a:cubicBezTo>
                <a:cubicBezTo>
                  <a:pt x="36" y="52"/>
                  <a:pt x="35" y="52"/>
                  <a:pt x="35" y="52"/>
                </a:cubicBezTo>
                <a:close/>
                <a:moveTo>
                  <a:pt x="85" y="53"/>
                </a:moveTo>
                <a:cubicBezTo>
                  <a:pt x="53" y="1"/>
                  <a:pt x="53" y="1"/>
                  <a:pt x="53" y="1"/>
                </a:cubicBezTo>
                <a:cubicBezTo>
                  <a:pt x="53" y="1"/>
                  <a:pt x="52" y="1"/>
                  <a:pt x="51" y="1"/>
                </a:cubicBezTo>
                <a:cubicBezTo>
                  <a:pt x="38" y="9"/>
                  <a:pt x="38" y="9"/>
                  <a:pt x="38" y="9"/>
                </a:cubicBezTo>
                <a:cubicBezTo>
                  <a:pt x="38" y="10"/>
                  <a:pt x="37" y="10"/>
                  <a:pt x="38" y="11"/>
                </a:cubicBezTo>
                <a:cubicBezTo>
                  <a:pt x="69" y="62"/>
                  <a:pt x="69" y="62"/>
                  <a:pt x="69" y="62"/>
                </a:cubicBezTo>
                <a:cubicBezTo>
                  <a:pt x="70" y="63"/>
                  <a:pt x="70" y="63"/>
                  <a:pt x="71" y="62"/>
                </a:cubicBezTo>
                <a:cubicBezTo>
                  <a:pt x="84" y="55"/>
                  <a:pt x="84" y="55"/>
                  <a:pt x="84" y="55"/>
                </a:cubicBezTo>
                <a:cubicBezTo>
                  <a:pt x="85" y="54"/>
                  <a:pt x="85" y="53"/>
                  <a:pt x="85" y="53"/>
                </a:cubicBezTo>
                <a:close/>
                <a:moveTo>
                  <a:pt x="64" y="27"/>
                </a:moveTo>
                <a:cubicBezTo>
                  <a:pt x="55" y="32"/>
                  <a:pt x="55" y="32"/>
                  <a:pt x="55" y="32"/>
                </a:cubicBezTo>
                <a:cubicBezTo>
                  <a:pt x="54" y="33"/>
                  <a:pt x="54" y="33"/>
                  <a:pt x="53" y="32"/>
                </a:cubicBezTo>
                <a:cubicBezTo>
                  <a:pt x="42" y="13"/>
                  <a:pt x="42" y="13"/>
                  <a:pt x="42" y="13"/>
                </a:cubicBezTo>
                <a:cubicBezTo>
                  <a:pt x="41" y="12"/>
                  <a:pt x="41" y="11"/>
                  <a:pt x="42" y="11"/>
                </a:cubicBezTo>
                <a:cubicBezTo>
                  <a:pt x="51" y="5"/>
                  <a:pt x="51" y="5"/>
                  <a:pt x="51" y="5"/>
                </a:cubicBezTo>
                <a:cubicBezTo>
                  <a:pt x="52" y="5"/>
                  <a:pt x="53" y="5"/>
                  <a:pt x="53" y="6"/>
                </a:cubicBezTo>
                <a:cubicBezTo>
                  <a:pt x="65" y="25"/>
                  <a:pt x="65" y="25"/>
                  <a:pt x="65" y="25"/>
                </a:cubicBezTo>
                <a:cubicBezTo>
                  <a:pt x="65" y="26"/>
                  <a:pt x="65" y="26"/>
                  <a:pt x="64" y="27"/>
                </a:cubicBezTo>
                <a:close/>
                <a:moveTo>
                  <a:pt x="66" y="53"/>
                </a:moveTo>
                <a:cubicBezTo>
                  <a:pt x="66" y="53"/>
                  <a:pt x="66" y="53"/>
                  <a:pt x="66" y="52"/>
                </a:cubicBezTo>
                <a:cubicBezTo>
                  <a:pt x="77" y="45"/>
                  <a:pt x="77" y="45"/>
                  <a:pt x="77" y="45"/>
                </a:cubicBezTo>
                <a:cubicBezTo>
                  <a:pt x="78" y="45"/>
                  <a:pt x="78" y="45"/>
                  <a:pt x="78" y="46"/>
                </a:cubicBezTo>
                <a:cubicBezTo>
                  <a:pt x="78" y="46"/>
                  <a:pt x="78" y="46"/>
                  <a:pt x="78" y="46"/>
                </a:cubicBezTo>
                <a:cubicBezTo>
                  <a:pt x="66" y="53"/>
                  <a:pt x="66" y="53"/>
                  <a:pt x="66" y="53"/>
                </a:cubicBezTo>
                <a:cubicBezTo>
                  <a:pt x="66" y="53"/>
                  <a:pt x="66" y="53"/>
                  <a:pt x="66" y="53"/>
                </a:cubicBezTo>
                <a:close/>
                <a:moveTo>
                  <a:pt x="80" y="49"/>
                </a:moveTo>
                <a:cubicBezTo>
                  <a:pt x="68" y="56"/>
                  <a:pt x="68" y="56"/>
                  <a:pt x="68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79" y="49"/>
                  <a:pt x="79" y="49"/>
                  <a:pt x="79" y="49"/>
                </a:cubicBezTo>
                <a:cubicBezTo>
                  <a:pt x="80" y="48"/>
                  <a:pt x="80" y="49"/>
                  <a:pt x="80" y="49"/>
                </a:cubicBezTo>
                <a:cubicBezTo>
                  <a:pt x="80" y="49"/>
                  <a:pt x="80" y="49"/>
                  <a:pt x="80" y="49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74" name="组合 73">
            <a:extLst>
              <a:ext uri="{FF2B5EF4-FFF2-40B4-BE49-F238E27FC236}">
                <a16:creationId xmlns="" xmlns:a16="http://schemas.microsoft.com/office/drawing/2014/main" id="{3D44ABC1-E21D-46A6-AF90-9746A111A621}"/>
              </a:ext>
            </a:extLst>
          </p:cNvPr>
          <p:cNvGrpSpPr/>
          <p:nvPr/>
        </p:nvGrpSpPr>
        <p:grpSpPr>
          <a:xfrm>
            <a:off x="-17094" y="-399144"/>
            <a:ext cx="863598" cy="7656288"/>
            <a:chOff x="-11273" y="-594773"/>
            <a:chExt cx="719786" cy="7462505"/>
          </a:xfrm>
        </p:grpSpPr>
        <p:sp>
          <p:nvSpPr>
            <p:cNvPr id="75" name="等腰三角形 74">
              <a:extLst>
                <a:ext uri="{FF2B5EF4-FFF2-40B4-BE49-F238E27FC236}">
                  <a16:creationId xmlns="" xmlns:a16="http://schemas.microsoft.com/office/drawing/2014/main" id="{9D978FFE-21AB-4973-AC5C-6DDD0B0417D6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="" xmlns:a16="http://schemas.microsoft.com/office/drawing/2014/main" id="{5920837E-20BF-4C1A-AB52-C42C213E6CEF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="" xmlns:a16="http://schemas.microsoft.com/office/drawing/2014/main" id="{2E2B046E-4F44-45B0-81C6-0C98BE11AEBD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="" xmlns:a16="http://schemas.microsoft.com/office/drawing/2014/main" id="{54F5B9E1-B9C4-4E6A-BAC8-B698C4D76C19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="" xmlns:a16="http://schemas.microsoft.com/office/drawing/2014/main" id="{A05BE209-FBDF-4191-8712-F6215DE4CD3A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0" name="等腰三角形 79">
              <a:extLst>
                <a:ext uri="{FF2B5EF4-FFF2-40B4-BE49-F238E27FC236}">
                  <a16:creationId xmlns="" xmlns:a16="http://schemas.microsoft.com/office/drawing/2014/main" id="{7315F6CE-D3BC-4B15-B5E6-653ED8A8DBA5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1" name="等腰三角形 80">
              <a:extLst>
                <a:ext uri="{FF2B5EF4-FFF2-40B4-BE49-F238E27FC236}">
                  <a16:creationId xmlns="" xmlns:a16="http://schemas.microsoft.com/office/drawing/2014/main" id="{8A69D79C-1A42-4021-82FC-6331F9AA87D6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2" name="等腰三角形 81">
              <a:extLst>
                <a:ext uri="{FF2B5EF4-FFF2-40B4-BE49-F238E27FC236}">
                  <a16:creationId xmlns="" xmlns:a16="http://schemas.microsoft.com/office/drawing/2014/main" id="{ABB0925A-C905-4AEB-A7B9-2A4A52B649B8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83" name="等腰三角形 82">
              <a:extLst>
                <a:ext uri="{FF2B5EF4-FFF2-40B4-BE49-F238E27FC236}">
                  <a16:creationId xmlns="" xmlns:a16="http://schemas.microsoft.com/office/drawing/2014/main" id="{8AAF126E-DD1E-4E03-AA7D-C0E9D162295B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95" name="TextBox 1">
            <a:extLst>
              <a:ext uri="{FF2B5EF4-FFF2-40B4-BE49-F238E27FC236}">
                <a16:creationId xmlns="" xmlns:a16="http://schemas.microsoft.com/office/drawing/2014/main" id="{9CD66783-D6B8-4855-929A-848959D1A623}"/>
              </a:ext>
            </a:extLst>
          </p:cNvPr>
          <p:cNvSpPr txBox="1"/>
          <p:nvPr/>
        </p:nvSpPr>
        <p:spPr>
          <a:xfrm>
            <a:off x="1525678" y="2431002"/>
            <a:ext cx="93746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第</a:t>
            </a:r>
            <a:r>
              <a:rPr lang="en-US" altLang="zh-CN" sz="48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10</a:t>
            </a:r>
            <a:r>
              <a:rPr lang="zh-CN" altLang="en-US" sz="48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章  数据分析</a:t>
            </a:r>
            <a:r>
              <a:rPr lang="zh-CN" altLang="en-US" sz="48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利器 </a:t>
            </a:r>
            <a:r>
              <a:rPr lang="en-US" altLang="zh-CN" sz="48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: </a:t>
            </a:r>
            <a:r>
              <a:rPr lang="en-US" altLang="zh-CN" sz="54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  <a:ea typeface="华文琥珀" panose="02010800040101010101" pitchFamily="2" charset="-122"/>
              </a:rPr>
              <a:t>pandas</a:t>
            </a:r>
          </a:p>
        </p:txBody>
      </p:sp>
    </p:spTree>
    <p:extLst>
      <p:ext uri="{BB962C8B-B14F-4D97-AF65-F5344CB8AC3E}">
        <p14:creationId xmlns:p14="http://schemas.microsoft.com/office/powerpoint/2010/main" val="1960538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800" tmFilter="0,0; .5, 1; 1, 1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  <p:bldP spid="9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椭圆 7">
            <a:extLst>
              <a:ext uri="{FF2B5EF4-FFF2-40B4-BE49-F238E27FC236}">
                <a16:creationId xmlns="" xmlns:a16="http://schemas.microsoft.com/office/drawing/2014/main" id="{3A8C2EE4-2B9A-42DB-AD7B-7A8932BB106A}"/>
              </a:ext>
            </a:extLst>
          </p:cNvPr>
          <p:cNvSpPr/>
          <p:nvPr/>
        </p:nvSpPr>
        <p:spPr>
          <a:xfrm rot="5400000">
            <a:off x="1624856" y="3245736"/>
            <a:ext cx="3917626" cy="1075002"/>
          </a:xfrm>
          <a:custGeom>
            <a:avLst/>
            <a:gdLst>
              <a:gd name="connsiteX0" fmla="*/ 5141438 w 5232878"/>
              <a:gd name="connsiteY0" fmla="*/ 0 h 1208638"/>
              <a:gd name="connsiteX1" fmla="*/ 2570719 w 5232878"/>
              <a:gd name="connsiteY1" fmla="*/ 1208638 h 1208638"/>
              <a:gd name="connsiteX2" fmla="*/ 0 w 5232878"/>
              <a:gd name="connsiteY2" fmla="*/ 0 h 1208638"/>
              <a:gd name="connsiteX3" fmla="*/ 5232878 w 5232878"/>
              <a:gd name="connsiteY3" fmla="*/ 91440 h 1208638"/>
              <a:gd name="connsiteX0-1" fmla="*/ 5141438 w 5141438"/>
              <a:gd name="connsiteY0-2" fmla="*/ 0 h 1208638"/>
              <a:gd name="connsiteX1-3" fmla="*/ 2570719 w 5141438"/>
              <a:gd name="connsiteY1-4" fmla="*/ 1208638 h 1208638"/>
              <a:gd name="connsiteX2-5" fmla="*/ 0 w 5141438"/>
              <a:gd name="connsiteY2-6" fmla="*/ 0 h 12086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141438" h="1208638">
                <a:moveTo>
                  <a:pt x="5141438" y="0"/>
                </a:moveTo>
                <a:cubicBezTo>
                  <a:pt x="4741027" y="708082"/>
                  <a:pt x="3740838" y="1208638"/>
                  <a:pt x="2570719" y="1208638"/>
                </a:cubicBezTo>
                <a:cubicBezTo>
                  <a:pt x="1400600" y="1208638"/>
                  <a:pt x="400411" y="708082"/>
                  <a:pt x="0" y="0"/>
                </a:cubicBezTo>
              </a:path>
            </a:pathLst>
          </a:cu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4" rIns="91428" bIns="45714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2354994" cy="504056"/>
            <a:chOff x="169526" y="203448"/>
            <a:chExt cx="2354994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17433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本 章 提 要</a:t>
              </a: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椭圆 7">
            <a:extLst>
              <a:ext uri="{FF2B5EF4-FFF2-40B4-BE49-F238E27FC236}">
                <a16:creationId xmlns="" xmlns:a16="http://schemas.microsoft.com/office/drawing/2014/main" id="{3C7760C4-4887-47A5-8107-41BE4B705798}"/>
              </a:ext>
            </a:extLst>
          </p:cNvPr>
          <p:cNvSpPr/>
          <p:nvPr/>
        </p:nvSpPr>
        <p:spPr>
          <a:xfrm rot="5400000" flipV="1">
            <a:off x="6097390" y="3157532"/>
            <a:ext cx="3917624" cy="1148198"/>
          </a:xfrm>
          <a:custGeom>
            <a:avLst/>
            <a:gdLst>
              <a:gd name="connsiteX0" fmla="*/ 5141438 w 5232878"/>
              <a:gd name="connsiteY0" fmla="*/ 0 h 1208638"/>
              <a:gd name="connsiteX1" fmla="*/ 2570719 w 5232878"/>
              <a:gd name="connsiteY1" fmla="*/ 1208638 h 1208638"/>
              <a:gd name="connsiteX2" fmla="*/ 0 w 5232878"/>
              <a:gd name="connsiteY2" fmla="*/ 0 h 1208638"/>
              <a:gd name="connsiteX3" fmla="*/ 5232878 w 5232878"/>
              <a:gd name="connsiteY3" fmla="*/ 91440 h 1208638"/>
              <a:gd name="connsiteX0-1" fmla="*/ 5141438 w 5141438"/>
              <a:gd name="connsiteY0-2" fmla="*/ 0 h 1208638"/>
              <a:gd name="connsiteX1-3" fmla="*/ 2570719 w 5141438"/>
              <a:gd name="connsiteY1-4" fmla="*/ 1208638 h 1208638"/>
              <a:gd name="connsiteX2-5" fmla="*/ 0 w 5141438"/>
              <a:gd name="connsiteY2-6" fmla="*/ 0 h 120863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5141438" h="1208638">
                <a:moveTo>
                  <a:pt x="5141438" y="0"/>
                </a:moveTo>
                <a:cubicBezTo>
                  <a:pt x="4741027" y="708082"/>
                  <a:pt x="3740838" y="1208638"/>
                  <a:pt x="2570719" y="1208638"/>
                </a:cubicBezTo>
                <a:cubicBezTo>
                  <a:pt x="1400600" y="1208638"/>
                  <a:pt x="400411" y="708082"/>
                  <a:pt x="0" y="0"/>
                </a:cubicBezTo>
              </a:path>
            </a:pathLst>
          </a:cu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4" rIns="91428" bIns="45714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4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连接符 59">
            <a:extLst>
              <a:ext uri="{FF2B5EF4-FFF2-40B4-BE49-F238E27FC236}">
                <a16:creationId xmlns="" xmlns:a16="http://schemas.microsoft.com/office/drawing/2014/main" id="{6976B71A-242C-4AF1-B19D-79D1C50C26F9}"/>
              </a:ext>
            </a:extLst>
          </p:cNvPr>
          <p:cNvCxnSpPr>
            <a:cxnSpLocks/>
          </p:cNvCxnSpPr>
          <p:nvPr/>
        </p:nvCxnSpPr>
        <p:spPr>
          <a:xfrm>
            <a:off x="3336219" y="3696928"/>
            <a:ext cx="4949613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40">
            <a:extLst>
              <a:ext uri="{FF2B5EF4-FFF2-40B4-BE49-F238E27FC236}">
                <a16:creationId xmlns="" xmlns:a16="http://schemas.microsoft.com/office/drawing/2014/main" id="{F869DB1D-BA19-4502-A7B4-B36F519E1637}"/>
              </a:ext>
            </a:extLst>
          </p:cNvPr>
          <p:cNvSpPr txBox="1"/>
          <p:nvPr/>
        </p:nvSpPr>
        <p:spPr>
          <a:xfrm>
            <a:off x="678233" y="2148349"/>
            <a:ext cx="1943963" cy="417346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1.pandas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库简介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41">
            <a:extLst>
              <a:ext uri="{FF2B5EF4-FFF2-40B4-BE49-F238E27FC236}">
                <a16:creationId xmlns="" xmlns:a16="http://schemas.microsoft.com/office/drawing/2014/main" id="{38503611-A151-4383-BC43-5D22E53A63B2}"/>
              </a:ext>
            </a:extLst>
          </p:cNvPr>
          <p:cNvSpPr txBox="1"/>
          <p:nvPr/>
        </p:nvSpPr>
        <p:spPr>
          <a:xfrm>
            <a:off x="875008" y="4253389"/>
            <a:ext cx="1988146" cy="417346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2.Series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TextBox 42">
            <a:extLst>
              <a:ext uri="{FF2B5EF4-FFF2-40B4-BE49-F238E27FC236}">
                <a16:creationId xmlns="" xmlns:a16="http://schemas.microsoft.com/office/drawing/2014/main" id="{A2FEA3FD-41CA-4442-8F40-F5E012005257}"/>
              </a:ext>
            </a:extLst>
          </p:cNvPr>
          <p:cNvSpPr txBox="1"/>
          <p:nvPr/>
        </p:nvSpPr>
        <p:spPr>
          <a:xfrm>
            <a:off x="9097930" y="4218664"/>
            <a:ext cx="2326283" cy="812518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4.DataFrame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实例：手机数据分析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TextBox 43">
            <a:extLst>
              <a:ext uri="{FF2B5EF4-FFF2-40B4-BE49-F238E27FC236}">
                <a16:creationId xmlns="" xmlns:a16="http://schemas.microsoft.com/office/drawing/2014/main" id="{C119E0E4-E4B1-453F-86AD-10A64C128094}"/>
              </a:ext>
            </a:extLst>
          </p:cNvPr>
          <p:cNvSpPr txBox="1"/>
          <p:nvPr/>
        </p:nvSpPr>
        <p:spPr>
          <a:xfrm>
            <a:off x="9069547" y="1920811"/>
            <a:ext cx="2140000" cy="417346"/>
          </a:xfrm>
          <a:prstGeom prst="rect">
            <a:avLst/>
          </a:prstGeom>
          <a:noFill/>
        </p:spPr>
        <p:txBody>
          <a:bodyPr wrap="square" lIns="91428" tIns="45714" rIns="91428" bIns="45714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3.DataFrame</a:t>
            </a:r>
            <a:r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  <a:endParaRPr lang="en-US" altLang="zh-CN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="" xmlns:a16="http://schemas.microsoft.com/office/drawing/2014/main" id="{6215802A-6EDC-4541-A486-8F58F9CBFAE8}"/>
              </a:ext>
            </a:extLst>
          </p:cNvPr>
          <p:cNvGrpSpPr/>
          <p:nvPr/>
        </p:nvGrpSpPr>
        <p:grpSpPr>
          <a:xfrm>
            <a:off x="4854554" y="2650555"/>
            <a:ext cx="1912944" cy="1912942"/>
            <a:chOff x="2690253" y="1702153"/>
            <a:chExt cx="4123259" cy="4123256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grpSp>
          <p:nvGrpSpPr>
            <p:cNvPr id="76" name="组合 75">
              <a:extLst>
                <a:ext uri="{FF2B5EF4-FFF2-40B4-BE49-F238E27FC236}">
                  <a16:creationId xmlns="" xmlns:a16="http://schemas.microsoft.com/office/drawing/2014/main" id="{FA34BCC7-2EA8-43D4-9B32-E46D07E5EEE4}"/>
                </a:ext>
              </a:extLst>
            </p:cNvPr>
            <p:cNvGrpSpPr/>
            <p:nvPr/>
          </p:nvGrpSpPr>
          <p:grpSpPr>
            <a:xfrm>
              <a:off x="2690253" y="1702153"/>
              <a:ext cx="4123259" cy="4123256"/>
              <a:chOff x="2690253" y="1702153"/>
              <a:chExt cx="4123259" cy="4123256"/>
            </a:xfrm>
          </p:grpSpPr>
          <p:sp>
            <p:nvSpPr>
              <p:cNvPr id="78" name="椭圆 77">
                <a:extLst>
                  <a:ext uri="{FF2B5EF4-FFF2-40B4-BE49-F238E27FC236}">
                    <a16:creationId xmlns="" xmlns:a16="http://schemas.microsoft.com/office/drawing/2014/main" id="{142BCF96-0059-4A7D-BF41-A28F1DFBBB39}"/>
                  </a:ext>
                </a:extLst>
              </p:cNvPr>
              <p:cNvSpPr/>
              <p:nvPr/>
            </p:nvSpPr>
            <p:spPr>
              <a:xfrm>
                <a:off x="2690253" y="1702153"/>
                <a:ext cx="4123259" cy="412325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="" xmlns:a16="http://schemas.microsoft.com/office/drawing/2014/main" id="{5E7E5D62-7BF7-49F1-B86A-D60E934BA3E1}"/>
                  </a:ext>
                </a:extLst>
              </p:cNvPr>
              <p:cNvSpPr/>
              <p:nvPr/>
            </p:nvSpPr>
            <p:spPr>
              <a:xfrm>
                <a:off x="2936823" y="1948721"/>
                <a:ext cx="3630119" cy="3630119"/>
              </a:xfrm>
              <a:prstGeom prst="ellipse">
                <a:avLst/>
              </a:prstGeom>
              <a:solidFill>
                <a:srgbClr val="1E678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7" name="文本框 91">
              <a:extLst>
                <a:ext uri="{FF2B5EF4-FFF2-40B4-BE49-F238E27FC236}">
                  <a16:creationId xmlns="" xmlns:a16="http://schemas.microsoft.com/office/drawing/2014/main" id="{42FBEE05-2DB2-4082-BF2A-3E7EA5E121B7}"/>
                </a:ext>
              </a:extLst>
            </p:cNvPr>
            <p:cNvSpPr txBox="1"/>
            <p:nvPr/>
          </p:nvSpPr>
          <p:spPr>
            <a:xfrm>
              <a:off x="3786397" y="2727750"/>
              <a:ext cx="1945966" cy="20565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本章</a:t>
              </a:r>
              <a:endParaRPr lang="en-US" altLang="zh-CN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2800" b="1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提要</a:t>
              </a:r>
              <a:endParaRPr lang="en-US" altLang="zh-CN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="" xmlns:a16="http://schemas.microsoft.com/office/drawing/2014/main" id="{661A192E-E421-4112-882F-5682C87F73CB}"/>
              </a:ext>
            </a:extLst>
          </p:cNvPr>
          <p:cNvGrpSpPr/>
          <p:nvPr/>
        </p:nvGrpSpPr>
        <p:grpSpPr>
          <a:xfrm>
            <a:off x="2584902" y="2036744"/>
            <a:ext cx="1075004" cy="1075004"/>
            <a:chOff x="3724322" y="1908536"/>
            <a:chExt cx="1329153" cy="1329153"/>
          </a:xfrm>
        </p:grpSpPr>
        <p:sp>
          <p:nvSpPr>
            <p:cNvPr id="83" name="椭圆 82">
              <a:extLst>
                <a:ext uri="{FF2B5EF4-FFF2-40B4-BE49-F238E27FC236}">
                  <a16:creationId xmlns="" xmlns:a16="http://schemas.microsoft.com/office/drawing/2014/main" id="{6FE42C3E-1386-4CBD-967B-077E22415C23}"/>
                </a:ext>
              </a:extLst>
            </p:cNvPr>
            <p:cNvSpPr/>
            <p:nvPr/>
          </p:nvSpPr>
          <p:spPr>
            <a:xfrm>
              <a:off x="3724322" y="1908536"/>
              <a:ext cx="1329153" cy="132915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椭圆 83">
              <a:extLst>
                <a:ext uri="{FF2B5EF4-FFF2-40B4-BE49-F238E27FC236}">
                  <a16:creationId xmlns="" xmlns:a16="http://schemas.microsoft.com/office/drawing/2014/main" id="{487DB677-506C-4636-95E5-952F8B43EB1E}"/>
                </a:ext>
              </a:extLst>
            </p:cNvPr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rgbClr val="B3DF63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="" xmlns:a16="http://schemas.microsoft.com/office/drawing/2014/main" id="{CEDE32A8-4D89-4249-AD42-F25BA10942DD}"/>
              </a:ext>
            </a:extLst>
          </p:cNvPr>
          <p:cNvGrpSpPr/>
          <p:nvPr/>
        </p:nvGrpSpPr>
        <p:grpSpPr>
          <a:xfrm>
            <a:off x="2641669" y="4171535"/>
            <a:ext cx="1075004" cy="1075004"/>
            <a:chOff x="3724322" y="1908536"/>
            <a:chExt cx="1329153" cy="1329153"/>
          </a:xfrm>
        </p:grpSpPr>
        <p:sp>
          <p:nvSpPr>
            <p:cNvPr id="88" name="椭圆 87">
              <a:extLst>
                <a:ext uri="{FF2B5EF4-FFF2-40B4-BE49-F238E27FC236}">
                  <a16:creationId xmlns="" xmlns:a16="http://schemas.microsoft.com/office/drawing/2014/main" id="{9D4791D8-DE6A-4A95-A9FA-6C3168D0AC7B}"/>
                </a:ext>
              </a:extLst>
            </p:cNvPr>
            <p:cNvSpPr/>
            <p:nvPr/>
          </p:nvSpPr>
          <p:spPr>
            <a:xfrm>
              <a:off x="3724322" y="1908536"/>
              <a:ext cx="1329153" cy="132915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椭圆 88">
              <a:extLst>
                <a:ext uri="{FF2B5EF4-FFF2-40B4-BE49-F238E27FC236}">
                  <a16:creationId xmlns="" xmlns:a16="http://schemas.microsoft.com/office/drawing/2014/main" id="{519FBF7B-0931-42FF-888B-E761129BC34F}"/>
                </a:ext>
              </a:extLst>
            </p:cNvPr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rgbClr val="1E6787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="" xmlns:a16="http://schemas.microsoft.com/office/drawing/2014/main" id="{35FD89B6-5181-4F6A-A928-875CB9000AA6}"/>
              </a:ext>
            </a:extLst>
          </p:cNvPr>
          <p:cNvGrpSpPr/>
          <p:nvPr/>
        </p:nvGrpSpPr>
        <p:grpSpPr>
          <a:xfrm>
            <a:off x="7930326" y="4116265"/>
            <a:ext cx="1075004" cy="1075004"/>
            <a:chOff x="3724322" y="1908536"/>
            <a:chExt cx="1329153" cy="1329153"/>
          </a:xfrm>
        </p:grpSpPr>
        <p:sp>
          <p:nvSpPr>
            <p:cNvPr id="93" name="椭圆 92">
              <a:extLst>
                <a:ext uri="{FF2B5EF4-FFF2-40B4-BE49-F238E27FC236}">
                  <a16:creationId xmlns="" xmlns:a16="http://schemas.microsoft.com/office/drawing/2014/main" id="{92B14FA6-06C5-4841-A835-2E7C3D5D3B4C}"/>
                </a:ext>
              </a:extLst>
            </p:cNvPr>
            <p:cNvSpPr/>
            <p:nvPr/>
          </p:nvSpPr>
          <p:spPr>
            <a:xfrm>
              <a:off x="3724322" y="1908536"/>
              <a:ext cx="1329153" cy="132915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="" xmlns:a16="http://schemas.microsoft.com/office/drawing/2014/main" id="{9D2A4DB5-C452-4DAF-9F6B-B08CA8C50CA4}"/>
                </a:ext>
              </a:extLst>
            </p:cNvPr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rgbClr val="B3DF63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6" name="组合 95">
            <a:extLst>
              <a:ext uri="{FF2B5EF4-FFF2-40B4-BE49-F238E27FC236}">
                <a16:creationId xmlns="" xmlns:a16="http://schemas.microsoft.com/office/drawing/2014/main" id="{A6BDEFAF-0EC8-4F6B-A627-8B584F4F4C33}"/>
              </a:ext>
            </a:extLst>
          </p:cNvPr>
          <p:cNvGrpSpPr/>
          <p:nvPr/>
        </p:nvGrpSpPr>
        <p:grpSpPr>
          <a:xfrm>
            <a:off x="7930326" y="2051366"/>
            <a:ext cx="1075004" cy="1075004"/>
            <a:chOff x="3724322" y="1908536"/>
            <a:chExt cx="1329153" cy="1329153"/>
          </a:xfrm>
        </p:grpSpPr>
        <p:sp>
          <p:nvSpPr>
            <p:cNvPr id="98" name="椭圆 97">
              <a:extLst>
                <a:ext uri="{FF2B5EF4-FFF2-40B4-BE49-F238E27FC236}">
                  <a16:creationId xmlns="" xmlns:a16="http://schemas.microsoft.com/office/drawing/2014/main" id="{C09D814B-D105-406C-BA26-E1FBA153853C}"/>
                </a:ext>
              </a:extLst>
            </p:cNvPr>
            <p:cNvSpPr/>
            <p:nvPr/>
          </p:nvSpPr>
          <p:spPr>
            <a:xfrm>
              <a:off x="3724322" y="1908536"/>
              <a:ext cx="1329153" cy="1329153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椭圆 98">
              <a:extLst>
                <a:ext uri="{FF2B5EF4-FFF2-40B4-BE49-F238E27FC236}">
                  <a16:creationId xmlns="" xmlns:a16="http://schemas.microsoft.com/office/drawing/2014/main" id="{B26D371A-687A-4755-9DE7-17D904BA3BEA}"/>
                </a:ext>
              </a:extLst>
            </p:cNvPr>
            <p:cNvSpPr/>
            <p:nvPr/>
          </p:nvSpPr>
          <p:spPr>
            <a:xfrm>
              <a:off x="3839838" y="2024052"/>
              <a:ext cx="1098122" cy="1098122"/>
            </a:xfrm>
            <a:prstGeom prst="ellipse">
              <a:avLst/>
            </a:prstGeom>
            <a:solidFill>
              <a:srgbClr val="1E6787"/>
            </a:solidFill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24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="" xmlns:a16="http://schemas.microsoft.com/office/drawing/2014/main" id="{A189FCAB-68BA-40F7-9EFB-BFB95E60AC66}"/>
              </a:ext>
            </a:extLst>
          </p:cNvPr>
          <p:cNvGrpSpPr/>
          <p:nvPr/>
        </p:nvGrpSpPr>
        <p:grpSpPr>
          <a:xfrm>
            <a:off x="2823488" y="2373761"/>
            <a:ext cx="504825" cy="430213"/>
            <a:chOff x="3898900" y="152401"/>
            <a:chExt cx="504825" cy="43021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3" name="Freeform 92">
              <a:extLst>
                <a:ext uri="{FF2B5EF4-FFF2-40B4-BE49-F238E27FC236}">
                  <a16:creationId xmlns="" xmlns:a16="http://schemas.microsoft.com/office/drawing/2014/main" id="{81214D62-709E-4C10-A2AD-41123A6E0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825" y="481013"/>
              <a:ext cx="179388" cy="61913"/>
            </a:xfrm>
            <a:custGeom>
              <a:avLst/>
              <a:gdLst>
                <a:gd name="T0" fmla="*/ 3 w 113"/>
                <a:gd name="T1" fmla="*/ 0 h 39"/>
                <a:gd name="T2" fmla="*/ 0 w 113"/>
                <a:gd name="T3" fmla="*/ 39 h 39"/>
                <a:gd name="T4" fmla="*/ 113 w 113"/>
                <a:gd name="T5" fmla="*/ 39 h 39"/>
                <a:gd name="T6" fmla="*/ 111 w 113"/>
                <a:gd name="T7" fmla="*/ 0 h 39"/>
                <a:gd name="T8" fmla="*/ 3 w 113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39">
                  <a:moveTo>
                    <a:pt x="3" y="0"/>
                  </a:moveTo>
                  <a:lnTo>
                    <a:pt x="0" y="39"/>
                  </a:lnTo>
                  <a:lnTo>
                    <a:pt x="113" y="39"/>
                  </a:lnTo>
                  <a:lnTo>
                    <a:pt x="111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93">
              <a:extLst>
                <a:ext uri="{FF2B5EF4-FFF2-40B4-BE49-F238E27FC236}">
                  <a16:creationId xmlns="" xmlns:a16="http://schemas.microsoft.com/office/drawing/2014/main" id="{9EABBAE3-6690-47C2-B58E-B08101D3B7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98900" y="152401"/>
              <a:ext cx="504825" cy="312738"/>
            </a:xfrm>
            <a:custGeom>
              <a:avLst/>
              <a:gdLst>
                <a:gd name="T0" fmla="*/ 213 w 318"/>
                <a:gd name="T1" fmla="*/ 197 h 197"/>
                <a:gd name="T2" fmla="*/ 318 w 318"/>
                <a:gd name="T3" fmla="*/ 197 h 197"/>
                <a:gd name="T4" fmla="*/ 318 w 318"/>
                <a:gd name="T5" fmla="*/ 0 h 197"/>
                <a:gd name="T6" fmla="*/ 0 w 318"/>
                <a:gd name="T7" fmla="*/ 0 h 197"/>
                <a:gd name="T8" fmla="*/ 0 w 318"/>
                <a:gd name="T9" fmla="*/ 197 h 197"/>
                <a:gd name="T10" fmla="*/ 105 w 318"/>
                <a:gd name="T11" fmla="*/ 197 h 197"/>
                <a:gd name="T12" fmla="*/ 213 w 318"/>
                <a:gd name="T13" fmla="*/ 197 h 197"/>
                <a:gd name="T14" fmla="*/ 28 w 318"/>
                <a:gd name="T15" fmla="*/ 174 h 197"/>
                <a:gd name="T16" fmla="*/ 28 w 318"/>
                <a:gd name="T17" fmla="*/ 25 h 197"/>
                <a:gd name="T18" fmla="*/ 288 w 318"/>
                <a:gd name="T19" fmla="*/ 25 h 197"/>
                <a:gd name="T20" fmla="*/ 288 w 318"/>
                <a:gd name="T21" fmla="*/ 174 h 197"/>
                <a:gd name="T22" fmla="*/ 212 w 318"/>
                <a:gd name="T23" fmla="*/ 174 h 197"/>
                <a:gd name="T24" fmla="*/ 106 w 318"/>
                <a:gd name="T25" fmla="*/ 174 h 197"/>
                <a:gd name="T26" fmla="*/ 28 w 318"/>
                <a:gd name="T27" fmla="*/ 17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8" h="197">
                  <a:moveTo>
                    <a:pt x="213" y="197"/>
                  </a:moveTo>
                  <a:lnTo>
                    <a:pt x="318" y="197"/>
                  </a:lnTo>
                  <a:lnTo>
                    <a:pt x="318" y="0"/>
                  </a:lnTo>
                  <a:lnTo>
                    <a:pt x="0" y="0"/>
                  </a:lnTo>
                  <a:lnTo>
                    <a:pt x="0" y="197"/>
                  </a:lnTo>
                  <a:lnTo>
                    <a:pt x="105" y="197"/>
                  </a:lnTo>
                  <a:lnTo>
                    <a:pt x="213" y="197"/>
                  </a:lnTo>
                  <a:close/>
                  <a:moveTo>
                    <a:pt x="28" y="174"/>
                  </a:moveTo>
                  <a:lnTo>
                    <a:pt x="28" y="25"/>
                  </a:lnTo>
                  <a:lnTo>
                    <a:pt x="288" y="25"/>
                  </a:lnTo>
                  <a:lnTo>
                    <a:pt x="288" y="174"/>
                  </a:lnTo>
                  <a:lnTo>
                    <a:pt x="212" y="174"/>
                  </a:lnTo>
                  <a:lnTo>
                    <a:pt x="106" y="174"/>
                  </a:lnTo>
                  <a:lnTo>
                    <a:pt x="28" y="1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94">
              <a:extLst>
                <a:ext uri="{FF2B5EF4-FFF2-40B4-BE49-F238E27FC236}">
                  <a16:creationId xmlns="" xmlns:a16="http://schemas.microsoft.com/office/drawing/2014/main" id="{21C427F7-DB37-4571-B957-AA639A9BC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488" y="558801"/>
              <a:ext cx="247650" cy="23813"/>
            </a:xfrm>
            <a:custGeom>
              <a:avLst/>
              <a:gdLst>
                <a:gd name="T0" fmla="*/ 0 w 156"/>
                <a:gd name="T1" fmla="*/ 0 h 15"/>
                <a:gd name="T2" fmla="*/ 0 w 156"/>
                <a:gd name="T3" fmla="*/ 15 h 15"/>
                <a:gd name="T4" fmla="*/ 156 w 156"/>
                <a:gd name="T5" fmla="*/ 15 h 15"/>
                <a:gd name="T6" fmla="*/ 156 w 156"/>
                <a:gd name="T7" fmla="*/ 0 h 15"/>
                <a:gd name="T8" fmla="*/ 134 w 156"/>
                <a:gd name="T9" fmla="*/ 0 h 15"/>
                <a:gd name="T10" fmla="*/ 21 w 156"/>
                <a:gd name="T11" fmla="*/ 0 h 15"/>
                <a:gd name="T12" fmla="*/ 0 w 156"/>
                <a:gd name="T1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6" h="15">
                  <a:moveTo>
                    <a:pt x="0" y="0"/>
                  </a:moveTo>
                  <a:lnTo>
                    <a:pt x="0" y="15"/>
                  </a:lnTo>
                  <a:lnTo>
                    <a:pt x="156" y="15"/>
                  </a:lnTo>
                  <a:lnTo>
                    <a:pt x="156" y="0"/>
                  </a:lnTo>
                  <a:lnTo>
                    <a:pt x="134" y="0"/>
                  </a:lnTo>
                  <a:lnTo>
                    <a:pt x="2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46" name="Freeform 50">
            <a:extLst>
              <a:ext uri="{FF2B5EF4-FFF2-40B4-BE49-F238E27FC236}">
                <a16:creationId xmlns="" xmlns:a16="http://schemas.microsoft.com/office/drawing/2014/main" id="{02332D00-66BD-47AA-9128-70307C6C8BC7}"/>
              </a:ext>
            </a:extLst>
          </p:cNvPr>
          <p:cNvSpPr>
            <a:spLocks noEditPoints="1"/>
          </p:cNvSpPr>
          <p:nvPr/>
        </p:nvSpPr>
        <p:spPr bwMode="auto">
          <a:xfrm>
            <a:off x="2952158" y="4444852"/>
            <a:ext cx="454025" cy="549275"/>
          </a:xfrm>
          <a:custGeom>
            <a:avLst/>
            <a:gdLst>
              <a:gd name="T0" fmla="*/ 0 w 195"/>
              <a:gd name="T1" fmla="*/ 235 h 235"/>
              <a:gd name="T2" fmla="*/ 48 w 195"/>
              <a:gd name="T3" fmla="*/ 183 h 235"/>
              <a:gd name="T4" fmla="*/ 195 w 195"/>
              <a:gd name="T5" fmla="*/ 183 h 235"/>
              <a:gd name="T6" fmla="*/ 195 w 195"/>
              <a:gd name="T7" fmla="*/ 0 h 235"/>
              <a:gd name="T8" fmla="*/ 0 w 195"/>
              <a:gd name="T9" fmla="*/ 0 h 235"/>
              <a:gd name="T10" fmla="*/ 0 w 195"/>
              <a:gd name="T11" fmla="*/ 235 h 235"/>
              <a:gd name="T12" fmla="*/ 150 w 195"/>
              <a:gd name="T13" fmla="*/ 77 h 235"/>
              <a:gd name="T14" fmla="*/ 167 w 195"/>
              <a:gd name="T15" fmla="*/ 93 h 235"/>
              <a:gd name="T16" fmla="*/ 150 w 195"/>
              <a:gd name="T17" fmla="*/ 110 h 235"/>
              <a:gd name="T18" fmla="*/ 134 w 195"/>
              <a:gd name="T19" fmla="*/ 93 h 235"/>
              <a:gd name="T20" fmla="*/ 150 w 195"/>
              <a:gd name="T21" fmla="*/ 77 h 235"/>
              <a:gd name="T22" fmla="*/ 97 w 195"/>
              <a:gd name="T23" fmla="*/ 77 h 235"/>
              <a:gd name="T24" fmla="*/ 114 w 195"/>
              <a:gd name="T25" fmla="*/ 93 h 235"/>
              <a:gd name="T26" fmla="*/ 97 w 195"/>
              <a:gd name="T27" fmla="*/ 110 h 235"/>
              <a:gd name="T28" fmla="*/ 81 w 195"/>
              <a:gd name="T29" fmla="*/ 93 h 235"/>
              <a:gd name="T30" fmla="*/ 97 w 195"/>
              <a:gd name="T31" fmla="*/ 77 h 235"/>
              <a:gd name="T32" fmla="*/ 45 w 195"/>
              <a:gd name="T33" fmla="*/ 77 h 235"/>
              <a:gd name="T34" fmla="*/ 61 w 195"/>
              <a:gd name="T35" fmla="*/ 93 h 235"/>
              <a:gd name="T36" fmla="*/ 45 w 195"/>
              <a:gd name="T37" fmla="*/ 110 h 235"/>
              <a:gd name="T38" fmla="*/ 28 w 195"/>
              <a:gd name="T39" fmla="*/ 93 h 235"/>
              <a:gd name="T40" fmla="*/ 45 w 195"/>
              <a:gd name="T41" fmla="*/ 77 h 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95" h="235">
                <a:moveTo>
                  <a:pt x="0" y="235"/>
                </a:moveTo>
                <a:cubicBezTo>
                  <a:pt x="48" y="183"/>
                  <a:pt x="48" y="183"/>
                  <a:pt x="48" y="183"/>
                </a:cubicBezTo>
                <a:cubicBezTo>
                  <a:pt x="195" y="183"/>
                  <a:pt x="195" y="183"/>
                  <a:pt x="195" y="183"/>
                </a:cubicBezTo>
                <a:cubicBezTo>
                  <a:pt x="195" y="0"/>
                  <a:pt x="195" y="0"/>
                  <a:pt x="195" y="0"/>
                </a:cubicBezTo>
                <a:cubicBezTo>
                  <a:pt x="0" y="0"/>
                  <a:pt x="0" y="0"/>
                  <a:pt x="0" y="0"/>
                </a:cubicBezTo>
                <a:lnTo>
                  <a:pt x="0" y="235"/>
                </a:lnTo>
                <a:close/>
                <a:moveTo>
                  <a:pt x="150" y="77"/>
                </a:moveTo>
                <a:cubicBezTo>
                  <a:pt x="159" y="77"/>
                  <a:pt x="167" y="84"/>
                  <a:pt x="167" y="93"/>
                </a:cubicBezTo>
                <a:cubicBezTo>
                  <a:pt x="167" y="102"/>
                  <a:pt x="159" y="110"/>
                  <a:pt x="150" y="110"/>
                </a:cubicBezTo>
                <a:cubicBezTo>
                  <a:pt x="141" y="110"/>
                  <a:pt x="134" y="102"/>
                  <a:pt x="134" y="93"/>
                </a:cubicBezTo>
                <a:cubicBezTo>
                  <a:pt x="134" y="84"/>
                  <a:pt x="141" y="77"/>
                  <a:pt x="150" y="77"/>
                </a:cubicBezTo>
                <a:close/>
                <a:moveTo>
                  <a:pt x="97" y="77"/>
                </a:moveTo>
                <a:cubicBezTo>
                  <a:pt x="107" y="77"/>
                  <a:pt x="114" y="84"/>
                  <a:pt x="114" y="93"/>
                </a:cubicBezTo>
                <a:cubicBezTo>
                  <a:pt x="114" y="102"/>
                  <a:pt x="107" y="110"/>
                  <a:pt x="97" y="110"/>
                </a:cubicBezTo>
                <a:cubicBezTo>
                  <a:pt x="88" y="110"/>
                  <a:pt x="81" y="102"/>
                  <a:pt x="81" y="93"/>
                </a:cubicBezTo>
                <a:cubicBezTo>
                  <a:pt x="81" y="84"/>
                  <a:pt x="88" y="77"/>
                  <a:pt x="97" y="77"/>
                </a:cubicBezTo>
                <a:close/>
                <a:moveTo>
                  <a:pt x="45" y="77"/>
                </a:moveTo>
                <a:cubicBezTo>
                  <a:pt x="54" y="77"/>
                  <a:pt x="61" y="84"/>
                  <a:pt x="61" y="93"/>
                </a:cubicBezTo>
                <a:cubicBezTo>
                  <a:pt x="61" y="102"/>
                  <a:pt x="54" y="110"/>
                  <a:pt x="45" y="110"/>
                </a:cubicBezTo>
                <a:cubicBezTo>
                  <a:pt x="36" y="110"/>
                  <a:pt x="28" y="102"/>
                  <a:pt x="28" y="93"/>
                </a:cubicBezTo>
                <a:cubicBezTo>
                  <a:pt x="28" y="84"/>
                  <a:pt x="36" y="77"/>
                  <a:pt x="45" y="77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47" name="组合 46">
            <a:extLst>
              <a:ext uri="{FF2B5EF4-FFF2-40B4-BE49-F238E27FC236}">
                <a16:creationId xmlns="" xmlns:a16="http://schemas.microsoft.com/office/drawing/2014/main" id="{89566DB8-5D23-4823-869D-1EFF0D9E9582}"/>
              </a:ext>
            </a:extLst>
          </p:cNvPr>
          <p:cNvGrpSpPr/>
          <p:nvPr/>
        </p:nvGrpSpPr>
        <p:grpSpPr>
          <a:xfrm>
            <a:off x="8229953" y="4366971"/>
            <a:ext cx="485776" cy="523876"/>
            <a:chOff x="3908425" y="1887538"/>
            <a:chExt cx="485776" cy="523876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48" name="Freeform 14">
              <a:extLst>
                <a:ext uri="{FF2B5EF4-FFF2-40B4-BE49-F238E27FC236}">
                  <a16:creationId xmlns="" xmlns:a16="http://schemas.microsoft.com/office/drawing/2014/main" id="{7169A6C1-22C4-490D-8C31-2E85ABEAB0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08425" y="1887538"/>
              <a:ext cx="236538" cy="523875"/>
            </a:xfrm>
            <a:custGeom>
              <a:avLst/>
              <a:gdLst>
                <a:gd name="T0" fmla="*/ 2 w 101"/>
                <a:gd name="T1" fmla="*/ 219 h 225"/>
                <a:gd name="T2" fmla="*/ 50 w 101"/>
                <a:gd name="T3" fmla="*/ 195 h 225"/>
                <a:gd name="T4" fmla="*/ 99 w 101"/>
                <a:gd name="T5" fmla="*/ 219 h 225"/>
                <a:gd name="T6" fmla="*/ 100 w 101"/>
                <a:gd name="T7" fmla="*/ 219 h 225"/>
                <a:gd name="T8" fmla="*/ 100 w 101"/>
                <a:gd name="T9" fmla="*/ 59 h 225"/>
                <a:gd name="T10" fmla="*/ 98 w 101"/>
                <a:gd name="T11" fmla="*/ 35 h 225"/>
                <a:gd name="T12" fmla="*/ 84 w 101"/>
                <a:gd name="T13" fmla="*/ 19 h 225"/>
                <a:gd name="T14" fmla="*/ 84 w 101"/>
                <a:gd name="T15" fmla="*/ 6 h 225"/>
                <a:gd name="T16" fmla="*/ 84 w 101"/>
                <a:gd name="T17" fmla="*/ 0 h 225"/>
                <a:gd name="T18" fmla="*/ 79 w 101"/>
                <a:gd name="T19" fmla="*/ 0 h 225"/>
                <a:gd name="T20" fmla="*/ 22 w 101"/>
                <a:gd name="T21" fmla="*/ 0 h 225"/>
                <a:gd name="T22" fmla="*/ 16 w 101"/>
                <a:gd name="T23" fmla="*/ 0 h 225"/>
                <a:gd name="T24" fmla="*/ 16 w 101"/>
                <a:gd name="T25" fmla="*/ 6 h 225"/>
                <a:gd name="T26" fmla="*/ 16 w 101"/>
                <a:gd name="T27" fmla="*/ 19 h 225"/>
                <a:gd name="T28" fmla="*/ 2 w 101"/>
                <a:gd name="T29" fmla="*/ 35 h 225"/>
                <a:gd name="T30" fmla="*/ 0 w 101"/>
                <a:gd name="T31" fmla="*/ 59 h 225"/>
                <a:gd name="T32" fmla="*/ 0 w 101"/>
                <a:gd name="T33" fmla="*/ 219 h 225"/>
                <a:gd name="T34" fmla="*/ 2 w 101"/>
                <a:gd name="T35" fmla="*/ 219 h 225"/>
                <a:gd name="T36" fmla="*/ 22 w 101"/>
                <a:gd name="T37" fmla="*/ 17 h 225"/>
                <a:gd name="T38" fmla="*/ 22 w 101"/>
                <a:gd name="T39" fmla="*/ 6 h 225"/>
                <a:gd name="T40" fmla="*/ 79 w 101"/>
                <a:gd name="T41" fmla="*/ 6 h 225"/>
                <a:gd name="T42" fmla="*/ 79 w 101"/>
                <a:gd name="T43" fmla="*/ 17 h 225"/>
                <a:gd name="T44" fmla="*/ 79 w 101"/>
                <a:gd name="T45" fmla="*/ 95 h 225"/>
                <a:gd name="T46" fmla="*/ 51 w 101"/>
                <a:gd name="T47" fmla="*/ 65 h 225"/>
                <a:gd name="T48" fmla="*/ 22 w 101"/>
                <a:gd name="T49" fmla="*/ 95 h 225"/>
                <a:gd name="T50" fmla="*/ 22 w 101"/>
                <a:gd name="T51" fmla="*/ 17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01" h="225">
                  <a:moveTo>
                    <a:pt x="2" y="219"/>
                  </a:moveTo>
                  <a:cubicBezTo>
                    <a:pt x="7" y="200"/>
                    <a:pt x="27" y="195"/>
                    <a:pt x="50" y="195"/>
                  </a:cubicBezTo>
                  <a:cubicBezTo>
                    <a:pt x="74" y="195"/>
                    <a:pt x="93" y="200"/>
                    <a:pt x="99" y="219"/>
                  </a:cubicBezTo>
                  <a:cubicBezTo>
                    <a:pt x="101" y="225"/>
                    <a:pt x="100" y="225"/>
                    <a:pt x="100" y="219"/>
                  </a:cubicBezTo>
                  <a:cubicBezTo>
                    <a:pt x="100" y="186"/>
                    <a:pt x="100" y="92"/>
                    <a:pt x="100" y="59"/>
                  </a:cubicBezTo>
                  <a:cubicBezTo>
                    <a:pt x="100" y="52"/>
                    <a:pt x="100" y="42"/>
                    <a:pt x="98" y="35"/>
                  </a:cubicBezTo>
                  <a:cubicBezTo>
                    <a:pt x="96" y="28"/>
                    <a:pt x="91" y="23"/>
                    <a:pt x="84" y="19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9" y="23"/>
                    <a:pt x="5" y="28"/>
                    <a:pt x="2" y="35"/>
                  </a:cubicBezTo>
                  <a:cubicBezTo>
                    <a:pt x="0" y="42"/>
                    <a:pt x="0" y="52"/>
                    <a:pt x="0" y="59"/>
                  </a:cubicBezTo>
                  <a:cubicBezTo>
                    <a:pt x="0" y="92"/>
                    <a:pt x="0" y="186"/>
                    <a:pt x="0" y="219"/>
                  </a:cubicBezTo>
                  <a:cubicBezTo>
                    <a:pt x="0" y="225"/>
                    <a:pt x="0" y="225"/>
                    <a:pt x="2" y="219"/>
                  </a:cubicBezTo>
                  <a:close/>
                  <a:moveTo>
                    <a:pt x="22" y="17"/>
                  </a:moveTo>
                  <a:cubicBezTo>
                    <a:pt x="22" y="6"/>
                    <a:pt x="22" y="6"/>
                    <a:pt x="22" y="6"/>
                  </a:cubicBezTo>
                  <a:cubicBezTo>
                    <a:pt x="79" y="6"/>
                    <a:pt x="79" y="6"/>
                    <a:pt x="79" y="6"/>
                  </a:cubicBezTo>
                  <a:cubicBezTo>
                    <a:pt x="79" y="17"/>
                    <a:pt x="79" y="17"/>
                    <a:pt x="79" y="17"/>
                  </a:cubicBezTo>
                  <a:cubicBezTo>
                    <a:pt x="79" y="95"/>
                    <a:pt x="79" y="95"/>
                    <a:pt x="79" y="95"/>
                  </a:cubicBezTo>
                  <a:cubicBezTo>
                    <a:pt x="51" y="65"/>
                    <a:pt x="51" y="65"/>
                    <a:pt x="51" y="65"/>
                  </a:cubicBezTo>
                  <a:cubicBezTo>
                    <a:pt x="22" y="95"/>
                    <a:pt x="22" y="95"/>
                    <a:pt x="22" y="95"/>
                  </a:cubicBezTo>
                  <a:cubicBezTo>
                    <a:pt x="22" y="17"/>
                    <a:pt x="22" y="17"/>
                    <a:pt x="22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15">
              <a:extLst>
                <a:ext uri="{FF2B5EF4-FFF2-40B4-BE49-F238E27FC236}">
                  <a16:creationId xmlns="" xmlns:a16="http://schemas.microsoft.com/office/drawing/2014/main" id="{F97953CE-BCC2-4BFD-BC0A-8ADE46335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7663" y="1917701"/>
              <a:ext cx="236538" cy="493713"/>
            </a:xfrm>
            <a:custGeom>
              <a:avLst/>
              <a:gdLst>
                <a:gd name="T0" fmla="*/ 2 w 101"/>
                <a:gd name="T1" fmla="*/ 206 h 212"/>
                <a:gd name="T2" fmla="*/ 50 w 101"/>
                <a:gd name="T3" fmla="*/ 182 h 212"/>
                <a:gd name="T4" fmla="*/ 99 w 101"/>
                <a:gd name="T5" fmla="*/ 206 h 212"/>
                <a:gd name="T6" fmla="*/ 100 w 101"/>
                <a:gd name="T7" fmla="*/ 206 h 212"/>
                <a:gd name="T8" fmla="*/ 100 w 101"/>
                <a:gd name="T9" fmla="*/ 46 h 212"/>
                <a:gd name="T10" fmla="*/ 98 w 101"/>
                <a:gd name="T11" fmla="*/ 23 h 212"/>
                <a:gd name="T12" fmla="*/ 50 w 101"/>
                <a:gd name="T13" fmla="*/ 0 h 212"/>
                <a:gd name="T14" fmla="*/ 2 w 101"/>
                <a:gd name="T15" fmla="*/ 22 h 212"/>
                <a:gd name="T16" fmla="*/ 0 w 101"/>
                <a:gd name="T17" fmla="*/ 46 h 212"/>
                <a:gd name="T18" fmla="*/ 0 w 101"/>
                <a:gd name="T19" fmla="*/ 206 h 212"/>
                <a:gd name="T20" fmla="*/ 2 w 101"/>
                <a:gd name="T21" fmla="*/ 206 h 2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1" h="212">
                  <a:moveTo>
                    <a:pt x="2" y="206"/>
                  </a:moveTo>
                  <a:cubicBezTo>
                    <a:pt x="7" y="187"/>
                    <a:pt x="27" y="182"/>
                    <a:pt x="50" y="182"/>
                  </a:cubicBezTo>
                  <a:cubicBezTo>
                    <a:pt x="74" y="182"/>
                    <a:pt x="93" y="187"/>
                    <a:pt x="99" y="206"/>
                  </a:cubicBezTo>
                  <a:cubicBezTo>
                    <a:pt x="101" y="212"/>
                    <a:pt x="100" y="212"/>
                    <a:pt x="100" y="206"/>
                  </a:cubicBezTo>
                  <a:cubicBezTo>
                    <a:pt x="100" y="173"/>
                    <a:pt x="100" y="79"/>
                    <a:pt x="100" y="46"/>
                  </a:cubicBezTo>
                  <a:cubicBezTo>
                    <a:pt x="100" y="39"/>
                    <a:pt x="101" y="29"/>
                    <a:pt x="98" y="23"/>
                  </a:cubicBezTo>
                  <a:cubicBezTo>
                    <a:pt x="92" y="5"/>
                    <a:pt x="73" y="0"/>
                    <a:pt x="50" y="0"/>
                  </a:cubicBezTo>
                  <a:cubicBezTo>
                    <a:pt x="27" y="0"/>
                    <a:pt x="8" y="5"/>
                    <a:pt x="2" y="22"/>
                  </a:cubicBezTo>
                  <a:cubicBezTo>
                    <a:pt x="0" y="29"/>
                    <a:pt x="0" y="39"/>
                    <a:pt x="0" y="46"/>
                  </a:cubicBezTo>
                  <a:cubicBezTo>
                    <a:pt x="0" y="79"/>
                    <a:pt x="0" y="173"/>
                    <a:pt x="0" y="206"/>
                  </a:cubicBezTo>
                  <a:cubicBezTo>
                    <a:pt x="0" y="212"/>
                    <a:pt x="0" y="212"/>
                    <a:pt x="2" y="2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50" name="Freeform 30">
            <a:extLst>
              <a:ext uri="{FF2B5EF4-FFF2-40B4-BE49-F238E27FC236}">
                <a16:creationId xmlns="" xmlns:a16="http://schemas.microsoft.com/office/drawing/2014/main" id="{495061B8-7976-4AFA-A014-4176F5233C41}"/>
              </a:ext>
            </a:extLst>
          </p:cNvPr>
          <p:cNvSpPr>
            <a:spLocks noEditPoints="1"/>
          </p:cNvSpPr>
          <p:nvPr/>
        </p:nvSpPr>
        <p:spPr bwMode="auto">
          <a:xfrm>
            <a:off x="8229953" y="2284289"/>
            <a:ext cx="509509" cy="556063"/>
          </a:xfrm>
          <a:custGeom>
            <a:avLst/>
            <a:gdLst>
              <a:gd name="T0" fmla="*/ 0 w 512"/>
              <a:gd name="T1" fmla="*/ 437 h 517"/>
              <a:gd name="T2" fmla="*/ 75 w 512"/>
              <a:gd name="T3" fmla="*/ 512 h 517"/>
              <a:gd name="T4" fmla="*/ 128 w 512"/>
              <a:gd name="T5" fmla="*/ 491 h 517"/>
              <a:gd name="T6" fmla="*/ 264 w 512"/>
              <a:gd name="T7" fmla="*/ 354 h 517"/>
              <a:gd name="T8" fmla="*/ 301 w 512"/>
              <a:gd name="T9" fmla="*/ 391 h 517"/>
              <a:gd name="T10" fmla="*/ 315 w 512"/>
              <a:gd name="T11" fmla="*/ 443 h 517"/>
              <a:gd name="T12" fmla="*/ 367 w 512"/>
              <a:gd name="T13" fmla="*/ 496 h 517"/>
              <a:gd name="T14" fmla="*/ 443 w 512"/>
              <a:gd name="T15" fmla="*/ 497 h 517"/>
              <a:gd name="T16" fmla="*/ 443 w 512"/>
              <a:gd name="T17" fmla="*/ 421 h 517"/>
              <a:gd name="T18" fmla="*/ 390 w 512"/>
              <a:gd name="T19" fmla="*/ 368 h 517"/>
              <a:gd name="T20" fmla="*/ 338 w 512"/>
              <a:gd name="T21" fmla="*/ 354 h 517"/>
              <a:gd name="T22" fmla="*/ 301 w 512"/>
              <a:gd name="T23" fmla="*/ 318 h 517"/>
              <a:gd name="T24" fmla="*/ 325 w 512"/>
              <a:gd name="T25" fmla="*/ 294 h 517"/>
              <a:gd name="T26" fmla="*/ 468 w 512"/>
              <a:gd name="T27" fmla="*/ 255 h 517"/>
              <a:gd name="T28" fmla="*/ 512 w 512"/>
              <a:gd name="T29" fmla="*/ 161 h 517"/>
              <a:gd name="T30" fmla="*/ 512 w 512"/>
              <a:gd name="T31" fmla="*/ 160 h 517"/>
              <a:gd name="T32" fmla="*/ 491 w 512"/>
              <a:gd name="T33" fmla="*/ 139 h 517"/>
              <a:gd name="T34" fmla="*/ 475 w 512"/>
              <a:gd name="T35" fmla="*/ 145 h 517"/>
              <a:gd name="T36" fmla="*/ 469 w 512"/>
              <a:gd name="T37" fmla="*/ 151 h 517"/>
              <a:gd name="T38" fmla="*/ 448 w 512"/>
              <a:gd name="T39" fmla="*/ 172 h 517"/>
              <a:gd name="T40" fmla="*/ 394 w 512"/>
              <a:gd name="T41" fmla="*/ 193 h 517"/>
              <a:gd name="T42" fmla="*/ 341 w 512"/>
              <a:gd name="T43" fmla="*/ 171 h 517"/>
              <a:gd name="T44" fmla="*/ 319 w 512"/>
              <a:gd name="T45" fmla="*/ 118 h 517"/>
              <a:gd name="T46" fmla="*/ 340 w 512"/>
              <a:gd name="T47" fmla="*/ 64 h 517"/>
              <a:gd name="T48" fmla="*/ 361 w 512"/>
              <a:gd name="T49" fmla="*/ 43 h 517"/>
              <a:gd name="T50" fmla="*/ 367 w 512"/>
              <a:gd name="T51" fmla="*/ 37 h 517"/>
              <a:gd name="T52" fmla="*/ 373 w 512"/>
              <a:gd name="T53" fmla="*/ 21 h 517"/>
              <a:gd name="T54" fmla="*/ 352 w 512"/>
              <a:gd name="T55" fmla="*/ 0 h 517"/>
              <a:gd name="T56" fmla="*/ 351 w 512"/>
              <a:gd name="T57" fmla="*/ 0 h 517"/>
              <a:gd name="T58" fmla="*/ 257 w 512"/>
              <a:gd name="T59" fmla="*/ 44 h 517"/>
              <a:gd name="T60" fmla="*/ 218 w 512"/>
              <a:gd name="T61" fmla="*/ 187 h 517"/>
              <a:gd name="T62" fmla="*/ 194 w 512"/>
              <a:gd name="T63" fmla="*/ 211 h 517"/>
              <a:gd name="T64" fmla="*/ 96 w 512"/>
              <a:gd name="T65" fmla="*/ 112 h 517"/>
              <a:gd name="T66" fmla="*/ 96 w 512"/>
              <a:gd name="T67" fmla="*/ 85 h 517"/>
              <a:gd name="T68" fmla="*/ 32 w 512"/>
              <a:gd name="T69" fmla="*/ 53 h 517"/>
              <a:gd name="T70" fmla="*/ 0 w 512"/>
              <a:gd name="T71" fmla="*/ 85 h 517"/>
              <a:gd name="T72" fmla="*/ 32 w 512"/>
              <a:gd name="T73" fmla="*/ 149 h 517"/>
              <a:gd name="T74" fmla="*/ 59 w 512"/>
              <a:gd name="T75" fmla="*/ 149 h 517"/>
              <a:gd name="T76" fmla="*/ 157 w 512"/>
              <a:gd name="T77" fmla="*/ 248 h 517"/>
              <a:gd name="T78" fmla="*/ 21 w 512"/>
              <a:gd name="T79" fmla="*/ 384 h 517"/>
              <a:gd name="T80" fmla="*/ 0 w 512"/>
              <a:gd name="T81" fmla="*/ 437 h 517"/>
              <a:gd name="T82" fmla="*/ 53 w 512"/>
              <a:gd name="T83" fmla="*/ 432 h 517"/>
              <a:gd name="T84" fmla="*/ 80 w 512"/>
              <a:gd name="T85" fmla="*/ 405 h 517"/>
              <a:gd name="T86" fmla="*/ 107 w 512"/>
              <a:gd name="T87" fmla="*/ 432 h 517"/>
              <a:gd name="T88" fmla="*/ 80 w 512"/>
              <a:gd name="T89" fmla="*/ 459 h 517"/>
              <a:gd name="T90" fmla="*/ 53 w 512"/>
              <a:gd name="T91" fmla="*/ 432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12" h="517">
                <a:moveTo>
                  <a:pt x="0" y="437"/>
                </a:moveTo>
                <a:cubicBezTo>
                  <a:pt x="0" y="479"/>
                  <a:pt x="33" y="512"/>
                  <a:pt x="75" y="512"/>
                </a:cubicBezTo>
                <a:cubicBezTo>
                  <a:pt x="95" y="512"/>
                  <a:pt x="114" y="504"/>
                  <a:pt x="128" y="491"/>
                </a:cubicBezTo>
                <a:cubicBezTo>
                  <a:pt x="264" y="354"/>
                  <a:pt x="264" y="354"/>
                  <a:pt x="264" y="354"/>
                </a:cubicBezTo>
                <a:cubicBezTo>
                  <a:pt x="301" y="391"/>
                  <a:pt x="301" y="391"/>
                  <a:pt x="301" y="391"/>
                </a:cubicBezTo>
                <a:cubicBezTo>
                  <a:pt x="296" y="409"/>
                  <a:pt x="300" y="429"/>
                  <a:pt x="315" y="443"/>
                </a:cubicBezTo>
                <a:cubicBezTo>
                  <a:pt x="367" y="496"/>
                  <a:pt x="367" y="496"/>
                  <a:pt x="367" y="496"/>
                </a:cubicBezTo>
                <a:cubicBezTo>
                  <a:pt x="389" y="517"/>
                  <a:pt x="422" y="517"/>
                  <a:pt x="443" y="497"/>
                </a:cubicBezTo>
                <a:cubicBezTo>
                  <a:pt x="464" y="476"/>
                  <a:pt x="464" y="442"/>
                  <a:pt x="443" y="421"/>
                </a:cubicBezTo>
                <a:cubicBezTo>
                  <a:pt x="390" y="368"/>
                  <a:pt x="390" y="368"/>
                  <a:pt x="390" y="368"/>
                </a:cubicBezTo>
                <a:cubicBezTo>
                  <a:pt x="376" y="354"/>
                  <a:pt x="356" y="349"/>
                  <a:pt x="338" y="354"/>
                </a:cubicBezTo>
                <a:cubicBezTo>
                  <a:pt x="301" y="318"/>
                  <a:pt x="301" y="318"/>
                  <a:pt x="301" y="318"/>
                </a:cubicBezTo>
                <a:cubicBezTo>
                  <a:pt x="325" y="294"/>
                  <a:pt x="325" y="294"/>
                  <a:pt x="325" y="294"/>
                </a:cubicBezTo>
                <a:cubicBezTo>
                  <a:pt x="375" y="307"/>
                  <a:pt x="430" y="294"/>
                  <a:pt x="468" y="255"/>
                </a:cubicBezTo>
                <a:cubicBezTo>
                  <a:pt x="495" y="229"/>
                  <a:pt x="510" y="196"/>
                  <a:pt x="512" y="161"/>
                </a:cubicBezTo>
                <a:cubicBezTo>
                  <a:pt x="512" y="160"/>
                  <a:pt x="512" y="160"/>
                  <a:pt x="512" y="160"/>
                </a:cubicBezTo>
                <a:cubicBezTo>
                  <a:pt x="512" y="148"/>
                  <a:pt x="502" y="139"/>
                  <a:pt x="491" y="139"/>
                </a:cubicBezTo>
                <a:cubicBezTo>
                  <a:pt x="485" y="139"/>
                  <a:pt x="479" y="141"/>
                  <a:pt x="475" y="145"/>
                </a:cubicBezTo>
                <a:cubicBezTo>
                  <a:pt x="469" y="151"/>
                  <a:pt x="469" y="151"/>
                  <a:pt x="469" y="151"/>
                </a:cubicBezTo>
                <a:cubicBezTo>
                  <a:pt x="448" y="172"/>
                  <a:pt x="448" y="172"/>
                  <a:pt x="448" y="172"/>
                </a:cubicBezTo>
                <a:cubicBezTo>
                  <a:pt x="434" y="185"/>
                  <a:pt x="415" y="193"/>
                  <a:pt x="394" y="193"/>
                </a:cubicBezTo>
                <a:cubicBezTo>
                  <a:pt x="373" y="193"/>
                  <a:pt x="355" y="184"/>
                  <a:pt x="341" y="171"/>
                </a:cubicBezTo>
                <a:cubicBezTo>
                  <a:pt x="328" y="157"/>
                  <a:pt x="319" y="139"/>
                  <a:pt x="319" y="118"/>
                </a:cubicBezTo>
                <a:cubicBezTo>
                  <a:pt x="319" y="97"/>
                  <a:pt x="327" y="78"/>
                  <a:pt x="340" y="64"/>
                </a:cubicBezTo>
                <a:cubicBezTo>
                  <a:pt x="361" y="43"/>
                  <a:pt x="361" y="43"/>
                  <a:pt x="361" y="43"/>
                </a:cubicBezTo>
                <a:cubicBezTo>
                  <a:pt x="367" y="37"/>
                  <a:pt x="367" y="37"/>
                  <a:pt x="367" y="37"/>
                </a:cubicBezTo>
                <a:cubicBezTo>
                  <a:pt x="371" y="33"/>
                  <a:pt x="373" y="27"/>
                  <a:pt x="373" y="21"/>
                </a:cubicBezTo>
                <a:cubicBezTo>
                  <a:pt x="373" y="10"/>
                  <a:pt x="364" y="0"/>
                  <a:pt x="352" y="0"/>
                </a:cubicBezTo>
                <a:cubicBezTo>
                  <a:pt x="351" y="0"/>
                  <a:pt x="351" y="0"/>
                  <a:pt x="351" y="0"/>
                </a:cubicBezTo>
                <a:cubicBezTo>
                  <a:pt x="316" y="2"/>
                  <a:pt x="283" y="17"/>
                  <a:pt x="257" y="44"/>
                </a:cubicBezTo>
                <a:cubicBezTo>
                  <a:pt x="218" y="82"/>
                  <a:pt x="205" y="138"/>
                  <a:pt x="218" y="187"/>
                </a:cubicBezTo>
                <a:cubicBezTo>
                  <a:pt x="194" y="211"/>
                  <a:pt x="194" y="211"/>
                  <a:pt x="194" y="211"/>
                </a:cubicBezTo>
                <a:cubicBezTo>
                  <a:pt x="96" y="112"/>
                  <a:pt x="96" y="112"/>
                  <a:pt x="96" y="112"/>
                </a:cubicBezTo>
                <a:cubicBezTo>
                  <a:pt x="96" y="85"/>
                  <a:pt x="96" y="85"/>
                  <a:pt x="96" y="85"/>
                </a:cubicBezTo>
                <a:cubicBezTo>
                  <a:pt x="32" y="53"/>
                  <a:pt x="32" y="53"/>
                  <a:pt x="32" y="53"/>
                </a:cubicBezTo>
                <a:cubicBezTo>
                  <a:pt x="0" y="85"/>
                  <a:pt x="0" y="85"/>
                  <a:pt x="0" y="85"/>
                </a:cubicBezTo>
                <a:cubicBezTo>
                  <a:pt x="32" y="149"/>
                  <a:pt x="32" y="149"/>
                  <a:pt x="32" y="149"/>
                </a:cubicBezTo>
                <a:cubicBezTo>
                  <a:pt x="59" y="149"/>
                  <a:pt x="59" y="149"/>
                  <a:pt x="59" y="149"/>
                </a:cubicBezTo>
                <a:cubicBezTo>
                  <a:pt x="157" y="248"/>
                  <a:pt x="157" y="248"/>
                  <a:pt x="157" y="248"/>
                </a:cubicBezTo>
                <a:cubicBezTo>
                  <a:pt x="21" y="384"/>
                  <a:pt x="21" y="384"/>
                  <a:pt x="21" y="384"/>
                </a:cubicBezTo>
                <a:cubicBezTo>
                  <a:pt x="8" y="398"/>
                  <a:pt x="0" y="417"/>
                  <a:pt x="0" y="437"/>
                </a:cubicBezTo>
                <a:close/>
                <a:moveTo>
                  <a:pt x="53" y="432"/>
                </a:moveTo>
                <a:cubicBezTo>
                  <a:pt x="53" y="417"/>
                  <a:pt x="65" y="405"/>
                  <a:pt x="80" y="405"/>
                </a:cubicBezTo>
                <a:cubicBezTo>
                  <a:pt x="95" y="405"/>
                  <a:pt x="107" y="417"/>
                  <a:pt x="107" y="432"/>
                </a:cubicBezTo>
                <a:cubicBezTo>
                  <a:pt x="107" y="447"/>
                  <a:pt x="95" y="459"/>
                  <a:pt x="80" y="459"/>
                </a:cubicBezTo>
                <a:cubicBezTo>
                  <a:pt x="65" y="459"/>
                  <a:pt x="53" y="447"/>
                  <a:pt x="53" y="4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x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zh-CN" altLang="en-US" sz="1350">
              <a:solidFill>
                <a:srgbClr val="2E2E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7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>
        <p:random/>
      </p:transition>
    </mc:Choice>
    <mc:Fallback xmlns="">
      <p:transition spd="slow" advClick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nimBg="1"/>
      <p:bldP spid="59" grpId="0" animBg="1"/>
      <p:bldP spid="61" grpId="0"/>
      <p:bldP spid="62" grpId="0"/>
      <p:bldP spid="73" grpId="0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=""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" y="0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=""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2832370" y="2721873"/>
            <a:ext cx="57143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Arial Black" panose="020B0A04020102020204" pitchFamily="34" charset="0"/>
                <a:ea typeface="华文琥珀" panose="02010800040101010101" pitchFamily="2" charset="-122"/>
              </a:rPr>
              <a:t>pandas</a:t>
            </a:r>
            <a:r>
              <a:rPr lang="zh-CN" altLang="en-US" sz="54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库简介</a:t>
            </a:r>
            <a:endParaRPr lang="zh-CN" altLang="en-US" sz="5400">
              <a:ln w="12700">
                <a:noFill/>
                <a:prstDash val="solid"/>
              </a:ln>
              <a:solidFill>
                <a:prstClr val="white"/>
              </a:solidFill>
              <a:effectLst>
                <a:outerShdw dist="50800" dir="4800000" algn="tl" rotWithShape="0">
                  <a:srgbClr val="000000">
                    <a:alpha val="40000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=""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=""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=""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=""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=""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=""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=""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=""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=""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=""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=""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=""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=""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=""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=""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=""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=""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=""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=""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=""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=""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=""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=""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=""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=""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=""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=""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=""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=""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=""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=""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=""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=""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=""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=""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=""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=""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=""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=""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=""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=""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=""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=""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=""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=""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=""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=""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48919" y="1589269"/>
              <a:ext cx="140936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smtClean="0">
                  <a:ln w="12700">
                    <a:noFill/>
                    <a:prstDash val="solid"/>
                  </a:ln>
                  <a:solidFill>
                    <a:srgbClr val="FFFF00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Adobe Gothic Std B" pitchFamily="34" charset="-128"/>
                  <a:ea typeface="Adobe Gothic Std B" pitchFamily="34" charset="-128"/>
                </a:rPr>
                <a:t>10.1</a:t>
              </a:r>
              <a:endParaRPr lang="zh-CN" altLang="en-US" sz="4800" b="1">
                <a:ln w="12700">
                  <a:noFill/>
                  <a:prstDash val="solid"/>
                </a:ln>
                <a:solidFill>
                  <a:srgbClr val="FFFF00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Adobe Gothic Std B" pitchFamily="34" charset="-128"/>
                <a:ea typeface="+mj-ea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=""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=""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=""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=""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=""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=""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=""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=""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=""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=""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4223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4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3011876" cy="504056"/>
            <a:chOff x="169526" y="203448"/>
            <a:chExt cx="3011876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2400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pandas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库简介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1295044" y="1188160"/>
            <a:ext cx="922718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2000" smtClean="0"/>
              <a:t>pandas</a:t>
            </a:r>
            <a:r>
              <a:rPr lang="zh-CN" altLang="en-US" sz="2000" smtClean="0"/>
              <a:t>是一个开源的</a:t>
            </a:r>
            <a:r>
              <a:rPr lang="en-US" altLang="zh-CN" sz="2000" smtClean="0"/>
              <a:t>Python</a:t>
            </a:r>
            <a:r>
              <a:rPr lang="zh-CN" altLang="en-US" sz="2000"/>
              <a:t>第三方</a:t>
            </a:r>
            <a:r>
              <a:rPr lang="zh-CN" altLang="en-US" sz="2000" smtClean="0"/>
              <a:t>库，诞生于</a:t>
            </a:r>
            <a:r>
              <a:rPr lang="en-US" altLang="zh-CN" sz="2000" smtClean="0"/>
              <a:t>2008</a:t>
            </a:r>
            <a:r>
              <a:rPr lang="zh-CN" altLang="en-US" sz="2000" smtClean="0"/>
              <a:t>年，最初是作为一种金融数据分析工具被开发出来。</a:t>
            </a:r>
            <a:endParaRPr lang="en-US" altLang="zh-CN" sz="2000" smtClean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2000" smtClean="0"/>
              <a:t>pandas </a:t>
            </a:r>
            <a:r>
              <a:rPr lang="zh-CN" altLang="en-US" sz="2000" smtClean="0"/>
              <a:t>名称的由来：</a:t>
            </a:r>
            <a:endParaRPr lang="en-US" altLang="zh-CN" sz="2000"/>
          </a:p>
          <a:p>
            <a:pPr>
              <a:lnSpc>
                <a:spcPct val="200000"/>
              </a:lnSpc>
            </a:pPr>
            <a:r>
              <a:rPr lang="en-US" altLang="zh-CN" sz="2000"/>
              <a:t>	</a:t>
            </a:r>
            <a:r>
              <a:rPr lang="en-US" altLang="zh-CN" sz="2000" smtClean="0"/>
              <a:t>Panel Data</a:t>
            </a:r>
            <a:r>
              <a:rPr lang="zh-CN" altLang="en-US" sz="2000" smtClean="0"/>
              <a:t>（多维面板数据）</a:t>
            </a:r>
            <a:r>
              <a:rPr lang="en-US" altLang="zh-CN" sz="2000" smtClean="0"/>
              <a:t> +  Data Analysis</a:t>
            </a:r>
            <a:r>
              <a:rPr lang="zh-CN" altLang="en-US" sz="2000" smtClean="0"/>
              <a:t>（数据分析）</a:t>
            </a:r>
            <a:endParaRPr lang="en-US" altLang="zh-CN" sz="2000" smtClean="0"/>
          </a:p>
          <a:p>
            <a:pPr marL="457200" indent="-4572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000" smtClean="0"/>
              <a:t>主要应用方向：</a:t>
            </a:r>
            <a:endParaRPr lang="en-US" altLang="zh-CN" sz="2000" smtClean="0"/>
          </a:p>
          <a:p>
            <a:pPr lvl="1">
              <a:lnSpc>
                <a:spcPct val="200000"/>
              </a:lnSpc>
            </a:pPr>
            <a:r>
              <a:rPr lang="en-US" altLang="zh-CN" sz="2000" smtClean="0"/>
              <a:t>pandas</a:t>
            </a:r>
            <a:r>
              <a:rPr lang="zh-CN" altLang="en-US" sz="2000"/>
              <a:t>库是以</a:t>
            </a:r>
            <a:r>
              <a:rPr lang="en-US" altLang="zh-CN" sz="2000"/>
              <a:t>numpy</a:t>
            </a:r>
            <a:r>
              <a:rPr lang="zh-CN" altLang="en-US" sz="2000"/>
              <a:t>库为基础构建的</a:t>
            </a:r>
            <a:r>
              <a:rPr lang="zh-CN" altLang="en-US" sz="2000" smtClean="0"/>
              <a:t>，通常用来分析处理多维结构化（表格型）数据集，或跟时间序列相关的数据集，</a:t>
            </a:r>
            <a:r>
              <a:rPr lang="zh-CN" altLang="en-US" sz="2000"/>
              <a:t>广泛应用于各商业及科学计算领域</a:t>
            </a:r>
            <a:r>
              <a:rPr lang="zh-CN" altLang="en-US" sz="2000" smtClean="0"/>
              <a:t>。</a:t>
            </a:r>
            <a:endParaRPr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151992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3011876" cy="504056"/>
            <a:chOff x="169526" y="203448"/>
            <a:chExt cx="3011876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2400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pandas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的优点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/>
          <p:cNvSpPr txBox="1"/>
          <p:nvPr/>
        </p:nvSpPr>
        <p:spPr>
          <a:xfrm>
            <a:off x="1295044" y="1166795"/>
            <a:ext cx="922718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000" smtClean="0"/>
              <a:t>pandas</a:t>
            </a:r>
            <a:r>
              <a:rPr lang="zh-CN" altLang="en-US" sz="2000"/>
              <a:t>提供了快速高效的</a:t>
            </a:r>
            <a:r>
              <a:rPr lang="en-US" altLang="zh-CN" sz="2000"/>
              <a:t>DataFrame</a:t>
            </a:r>
            <a:r>
              <a:rPr lang="zh-CN" altLang="en-US" sz="2000"/>
              <a:t>对象，可用于集成索引的数据集操作；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smtClean="0"/>
              <a:t>提供</a:t>
            </a:r>
            <a:r>
              <a:rPr lang="zh-CN" altLang="en-US" sz="2000"/>
              <a:t>了对各种格式数据的</a:t>
            </a:r>
            <a:r>
              <a:rPr lang="zh-CN" altLang="en-US" sz="2000" smtClean="0"/>
              <a:t>读写工具，例如：</a:t>
            </a:r>
            <a:r>
              <a:rPr lang="en-US" altLang="zh-CN" sz="2000" smtClean="0"/>
              <a:t>CSV</a:t>
            </a:r>
            <a:r>
              <a:rPr lang="zh-CN" altLang="en-US" sz="2000" smtClean="0"/>
              <a:t>文件、</a:t>
            </a:r>
            <a:r>
              <a:rPr lang="en-US" altLang="zh-CN" sz="2000" smtClean="0"/>
              <a:t>Excel</a:t>
            </a:r>
            <a:r>
              <a:rPr lang="zh-CN" altLang="en-US" sz="2000"/>
              <a:t>、</a:t>
            </a:r>
            <a:r>
              <a:rPr lang="en-US" altLang="zh-CN" sz="2000"/>
              <a:t>SQL</a:t>
            </a:r>
            <a:r>
              <a:rPr lang="zh-CN" altLang="en-US" sz="2000" smtClean="0"/>
              <a:t>数据库等</a:t>
            </a:r>
            <a:r>
              <a:rPr lang="zh-CN" altLang="en-US" sz="2000"/>
              <a:t>；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smtClean="0"/>
              <a:t>智能</a:t>
            </a:r>
            <a:r>
              <a:rPr lang="zh-CN" altLang="en-US" sz="2000"/>
              <a:t>的数据对齐和缺失数据处理方式</a:t>
            </a:r>
            <a:r>
              <a:rPr lang="zh-CN" altLang="en-US" sz="2000" smtClean="0"/>
              <a:t>，方便将凌乱数据处理</a:t>
            </a:r>
            <a:r>
              <a:rPr lang="zh-CN" altLang="en-US" sz="2000"/>
              <a:t>成有序的形式；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smtClean="0"/>
              <a:t>可以</a:t>
            </a:r>
            <a:r>
              <a:rPr lang="zh-CN" altLang="en-US" sz="2000"/>
              <a:t>很灵活的进行数据集的维度</a:t>
            </a:r>
            <a:r>
              <a:rPr lang="zh-CN" altLang="en-US" sz="2000" smtClean="0"/>
              <a:t>变换、切片</a:t>
            </a:r>
            <a:r>
              <a:rPr lang="zh-CN" altLang="en-US" sz="2000"/>
              <a:t>、花式</a:t>
            </a:r>
            <a:r>
              <a:rPr lang="zh-CN" altLang="en-US" sz="2000" smtClean="0"/>
              <a:t>索引、大</a:t>
            </a:r>
            <a:r>
              <a:rPr lang="zh-CN" altLang="en-US" sz="2000"/>
              <a:t>数据</a:t>
            </a:r>
            <a:r>
              <a:rPr lang="zh-CN" altLang="en-US" sz="2000" smtClean="0"/>
              <a:t>集的拆分、数据列的添加</a:t>
            </a:r>
            <a:r>
              <a:rPr lang="zh-CN" altLang="en-US" sz="2000"/>
              <a:t>和删除；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000" smtClean="0"/>
              <a:t>pandas</a:t>
            </a:r>
            <a:r>
              <a:rPr lang="zh-CN" altLang="en-US" sz="2000"/>
              <a:t>提供了强大的分组引擎，可以对分组数据集进行拆分、应用、组合等操作，也可以方便的对数据集进行</a:t>
            </a:r>
            <a:r>
              <a:rPr lang="zh-CN" altLang="en-US" sz="2000" smtClean="0"/>
              <a:t>汇总、统计、合并、连接；</a:t>
            </a:r>
            <a:endParaRPr lang="zh-CN" altLang="en-US" sz="200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000" smtClean="0"/>
              <a:t>分层</a:t>
            </a:r>
            <a:r>
              <a:rPr lang="zh-CN" altLang="en-US" sz="2000"/>
              <a:t>轴索引提供了在低维数据结构中处理高维数据的直观</a:t>
            </a:r>
            <a:r>
              <a:rPr lang="zh-CN" altLang="en-US" sz="2000" smtClean="0"/>
              <a:t>方式，也提供了时间序列</a:t>
            </a:r>
            <a:r>
              <a:rPr lang="zh-CN" altLang="en-US" sz="2000"/>
              <a:t>操作</a:t>
            </a:r>
            <a:r>
              <a:rPr lang="zh-CN" altLang="en-US" sz="2000" smtClean="0"/>
              <a:t>功能；</a:t>
            </a:r>
            <a:endParaRPr lang="zh-CN" altLang="en-US" sz="2000"/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000" smtClean="0"/>
              <a:t>pandas</a:t>
            </a:r>
            <a:r>
              <a:rPr lang="zh-CN" altLang="en-US" sz="2000"/>
              <a:t>经过了高度的性能优化</a:t>
            </a:r>
            <a:r>
              <a:rPr lang="zh-CN" altLang="en-US" sz="2000" smtClean="0"/>
              <a:t>，执行</a:t>
            </a:r>
            <a:r>
              <a:rPr lang="zh-CN" altLang="en-US" sz="2000"/>
              <a:t>效率高； </a:t>
            </a:r>
          </a:p>
        </p:txBody>
      </p:sp>
    </p:spTree>
    <p:extLst>
      <p:ext uri="{BB962C8B-B14F-4D97-AF65-F5344CB8AC3E}">
        <p14:creationId xmlns:p14="http://schemas.microsoft.com/office/powerpoint/2010/main" val="846904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3011876" cy="504056"/>
            <a:chOff x="169526" y="203448"/>
            <a:chExt cx="3011876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2400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导入库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1193423" y="1567687"/>
            <a:ext cx="9315550" cy="1884618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smtClean="0">
                <a:latin typeface="+mj-ea"/>
                <a:ea typeface="+mj-ea"/>
              </a:rPr>
              <a:t>pandas</a:t>
            </a:r>
            <a:r>
              <a:rPr lang="zh-CN" altLang="en-US" sz="2000">
                <a:latin typeface="+mj-ea"/>
                <a:ea typeface="+mj-ea"/>
              </a:rPr>
              <a:t>之前需要先</a:t>
            </a:r>
            <a:r>
              <a:rPr lang="zh-CN" altLang="en-US" sz="2000" smtClean="0">
                <a:latin typeface="+mj-ea"/>
                <a:ea typeface="+mj-ea"/>
              </a:rPr>
              <a:t>安装，并</a:t>
            </a:r>
            <a:r>
              <a:rPr lang="zh-CN" altLang="en-US" sz="2000">
                <a:latin typeface="+mj-ea"/>
                <a:ea typeface="+mj-ea"/>
              </a:rPr>
              <a:t>在程序中导入该库，在做数据分析时也会经常用到</a:t>
            </a:r>
            <a:r>
              <a:rPr lang="en-US" altLang="zh-CN" sz="2000">
                <a:latin typeface="+mj-ea"/>
                <a:ea typeface="+mj-ea"/>
              </a:rPr>
              <a:t>numpy</a:t>
            </a:r>
            <a:r>
              <a:rPr lang="zh-CN" altLang="en-US" sz="2000">
                <a:latin typeface="+mj-ea"/>
                <a:ea typeface="+mj-ea"/>
              </a:rPr>
              <a:t>库的函数，以及</a:t>
            </a:r>
            <a:r>
              <a:rPr lang="en-US" altLang="zh-CN" sz="2000">
                <a:latin typeface="+mj-ea"/>
                <a:ea typeface="+mj-ea"/>
              </a:rPr>
              <a:t>matplotlib</a:t>
            </a:r>
            <a:r>
              <a:rPr lang="zh-CN" altLang="en-US" sz="2000">
                <a:latin typeface="+mj-ea"/>
                <a:ea typeface="+mj-ea"/>
              </a:rPr>
              <a:t>库的绘图功能，所以</a:t>
            </a:r>
            <a:r>
              <a:rPr lang="zh-CN" altLang="en-US" sz="2000" smtClean="0">
                <a:latin typeface="+mj-ea"/>
                <a:ea typeface="+mj-ea"/>
              </a:rPr>
              <a:t>我们通常会同时导</a:t>
            </a:r>
            <a:r>
              <a:rPr lang="zh-CN" altLang="en-US" sz="2000">
                <a:latin typeface="+mj-ea"/>
                <a:ea typeface="+mj-ea"/>
              </a:rPr>
              <a:t>入这几个</a:t>
            </a:r>
            <a:r>
              <a:rPr lang="zh-CN" altLang="en-US" sz="2000" smtClean="0">
                <a:latin typeface="+mj-ea"/>
                <a:ea typeface="+mj-ea"/>
              </a:rPr>
              <a:t>库：</a:t>
            </a:r>
            <a:endParaRPr lang="en-US" altLang="zh-CN" sz="2000" smtClean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zh-CN" sz="2000" smtClean="0">
              <a:latin typeface="+mj-ea"/>
              <a:ea typeface="+mj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93423" y="3880194"/>
            <a:ext cx="7195203" cy="1754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marL="342900" indent="-342900"/>
            <a:endParaRPr lang="en-US" sz="2400" b="1">
              <a:solidFill>
                <a:srgbClr val="C00000"/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pPr marL="342900" indent="-342900"/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import </a:t>
            </a:r>
            <a:r>
              <a:rPr lang="en-US" sz="2000" b="1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numpy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as </a:t>
            </a:r>
            <a:r>
              <a:rPr lang="en-US" sz="2000" b="1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np</a:t>
            </a:r>
            <a:endParaRPr lang="zh-CN" sz="2000" b="1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pPr marL="342900" indent="-342900"/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import </a:t>
            </a:r>
            <a:r>
              <a:rPr lang="en-US" sz="2000" b="1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pandas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as </a:t>
            </a:r>
            <a:r>
              <a:rPr lang="en-US" sz="2000" b="1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pd</a:t>
            </a:r>
            <a:endParaRPr lang="zh-CN" sz="2000" b="1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pPr marL="342900" indent="-342900"/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import </a:t>
            </a:r>
            <a:r>
              <a:rPr lang="en-US" sz="2000" b="1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matplotlib.pyplot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as </a:t>
            </a:r>
            <a:r>
              <a:rPr lang="en-US" sz="2000" b="1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plt</a:t>
            </a:r>
          </a:p>
          <a:p>
            <a:pPr marL="342900" indent="-342900"/>
            <a:endParaRPr lang="zh-CN" sz="2400" b="1">
              <a:solidFill>
                <a:srgbClr val="C00000"/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072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3011876" cy="504056"/>
            <a:chOff x="169526" y="203448"/>
            <a:chExt cx="3011876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2400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两种数据对象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1179442" y="1111875"/>
            <a:ext cx="9037983" cy="4524315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>
                <a:latin typeface="+mn-ea"/>
              </a:rPr>
              <a:t> </a:t>
            </a:r>
            <a:r>
              <a:rPr lang="en-US" altLang="zh-CN" sz="2400" smtClean="0">
                <a:latin typeface="+mn-ea"/>
              </a:rPr>
              <a:t>    pandas</a:t>
            </a:r>
            <a:r>
              <a:rPr lang="zh-CN" altLang="en-US" sz="2400">
                <a:latin typeface="+mn-ea"/>
              </a:rPr>
              <a:t>有</a:t>
            </a:r>
            <a:r>
              <a:rPr lang="zh-CN" altLang="en-US" sz="2400" smtClean="0">
                <a:latin typeface="+mn-ea"/>
              </a:rPr>
              <a:t>两个最主要</a:t>
            </a:r>
            <a:r>
              <a:rPr lang="zh-CN" altLang="en-US" sz="2400">
                <a:latin typeface="+mn-ea"/>
              </a:rPr>
              <a:t>的</a:t>
            </a:r>
            <a:r>
              <a:rPr lang="zh-CN" altLang="en-US" sz="2400" smtClean="0">
                <a:latin typeface="+mn-ea"/>
              </a:rPr>
              <a:t>数据结构对象：</a:t>
            </a:r>
            <a:endParaRPr lang="en-US" altLang="zh-CN" sz="240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>
                <a:solidFill>
                  <a:srgbClr val="000099"/>
                </a:solidFill>
                <a:latin typeface="+mn-ea"/>
              </a:rPr>
              <a:t> Series</a:t>
            </a:r>
            <a:r>
              <a:rPr lang="zh-CN" altLang="en-US" sz="2400">
                <a:solidFill>
                  <a:srgbClr val="000099"/>
                </a:solidFill>
                <a:latin typeface="+mn-ea"/>
              </a:rPr>
              <a:t>对象</a:t>
            </a:r>
            <a:endParaRPr lang="en-US" altLang="zh-CN" sz="2400">
              <a:solidFill>
                <a:srgbClr val="000099"/>
              </a:solidFill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2400">
                <a:solidFill>
                  <a:srgbClr val="000099"/>
                </a:solidFill>
                <a:latin typeface="+mn-ea"/>
              </a:rPr>
              <a:t> DataFrame</a:t>
            </a:r>
            <a:r>
              <a:rPr lang="zh-CN" altLang="en-US" sz="2400" smtClean="0">
                <a:solidFill>
                  <a:srgbClr val="000099"/>
                </a:solidFill>
                <a:latin typeface="+mn-ea"/>
              </a:rPr>
              <a:t>对象</a:t>
            </a:r>
            <a:endParaRPr lang="en-US" altLang="zh-CN" sz="2400" smtClean="0">
              <a:solidFill>
                <a:srgbClr val="000099"/>
              </a:solidFill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en-US" altLang="zh-CN" sz="2400">
              <a:solidFill>
                <a:srgbClr val="000099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smtClean="0">
                <a:latin typeface="+mn-ea"/>
              </a:rPr>
              <a:t>     </a:t>
            </a:r>
            <a:r>
              <a:rPr lang="en-US" altLang="zh-CN" sz="2400" smtClean="0">
                <a:latin typeface="+mn-ea"/>
              </a:rPr>
              <a:t>pandas</a:t>
            </a:r>
            <a:r>
              <a:rPr lang="zh-CN" altLang="en-US" sz="2400" smtClean="0">
                <a:latin typeface="+mn-ea"/>
              </a:rPr>
              <a:t>对于数据的绝大多数处理功能是在这两种对象之上构建出来的，因此对于这两种对象的熟练掌握尤其重要，我们首先来学习第一个对象：</a:t>
            </a:r>
            <a:r>
              <a:rPr lang="en-US" altLang="zh-CN" sz="2400" smtClean="0">
                <a:latin typeface="+mn-ea"/>
              </a:rPr>
              <a:t>Series</a:t>
            </a:r>
            <a:r>
              <a:rPr lang="zh-CN" altLang="en-US" sz="2400" smtClean="0">
                <a:latin typeface="+mn-ea"/>
              </a:rPr>
              <a:t>。</a:t>
            </a:r>
            <a:endParaRPr lang="en-US" altLang="zh-CN" sz="2400" smtClean="0"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en-US" altLang="zh-CN" sz="240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0507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=""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0187" y="26345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=""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2505798" y="2721873"/>
            <a:ext cx="6938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Adobe Gothic Std B" pitchFamily="34" charset="-128"/>
                <a:ea typeface="Adobe Gothic Std B" pitchFamily="34" charset="-128"/>
              </a:rPr>
              <a:t>Series </a:t>
            </a:r>
            <a:r>
              <a:rPr lang="zh-CN" altLang="en-US" sz="54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对象</a:t>
            </a:r>
            <a:endParaRPr lang="zh-CN" altLang="en-US" sz="5400">
              <a:ln w="12700">
                <a:noFill/>
                <a:prstDash val="solid"/>
              </a:ln>
              <a:solidFill>
                <a:prstClr val="white"/>
              </a:solidFill>
              <a:effectLst>
                <a:outerShdw dist="50800" dir="4800000" algn="tl" rotWithShape="0">
                  <a:srgbClr val="000000">
                    <a:alpha val="40000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=""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=""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=""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=""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=""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=""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=""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=""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=""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=""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=""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=""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=""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=""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=""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=""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=""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=""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=""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=""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=""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=""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=""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=""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=""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=""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=""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=""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=""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=""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=""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=""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=""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=""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=""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=""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=""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=""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=""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=""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=""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=""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=""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=""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=""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=""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=""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08727" y="1589269"/>
              <a:ext cx="140936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smtClean="0">
                  <a:ln w="12700">
                    <a:noFill/>
                    <a:prstDash val="solid"/>
                  </a:ln>
                  <a:solidFill>
                    <a:srgbClr val="FFFF00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Adobe Gothic Std B" pitchFamily="34" charset="-128"/>
                  <a:ea typeface="Adobe Gothic Std B" pitchFamily="34" charset="-128"/>
                </a:rPr>
                <a:t>10.2</a:t>
              </a:r>
              <a:endParaRPr lang="zh-CN" altLang="en-US" sz="4800" b="1">
                <a:ln w="12700">
                  <a:noFill/>
                  <a:prstDash val="solid"/>
                </a:ln>
                <a:solidFill>
                  <a:srgbClr val="FFFF00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Adobe Gothic Std B" pitchFamily="34" charset="-128"/>
                <a:ea typeface="+mj-ea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=""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=""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=""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=""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=""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=""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=""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=""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=""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=""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6932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3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3011876" cy="504056"/>
            <a:chOff x="169526" y="203448"/>
            <a:chExt cx="3011876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2400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Series</a:t>
              </a:r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对象</a:t>
              </a: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1346480" y="1110271"/>
            <a:ext cx="9385160" cy="1200329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lvl="1" indent="457200">
              <a:lnSpc>
                <a:spcPct val="150000"/>
              </a:lnSpc>
            </a:pPr>
            <a:r>
              <a:rPr lang="en-US" altLang="zh-CN" sz="2400" smtClean="0"/>
              <a:t>Series</a:t>
            </a:r>
            <a:r>
              <a:rPr lang="zh-CN" altLang="zh-CN" sz="2400"/>
              <a:t>对象有着与一维数组相似的结构，由一组数据及其对应的标签（即索引）所</a:t>
            </a:r>
            <a:r>
              <a:rPr lang="zh-CN" altLang="zh-CN" sz="2400" smtClean="0"/>
              <a:t>组成</a:t>
            </a:r>
            <a:r>
              <a:rPr lang="zh-CN" altLang="en-US" sz="2400" smtClean="0"/>
              <a:t>，结构示意图如下：</a:t>
            </a:r>
            <a:endParaRPr lang="en-US" altLang="zh-CN" sz="2000" smtClean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192191"/>
              </p:ext>
            </p:extLst>
          </p:nvPr>
        </p:nvGraphicFramePr>
        <p:xfrm>
          <a:off x="3536879" y="2822388"/>
          <a:ext cx="4666217" cy="3273611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231670"/>
                <a:gridCol w="2434547"/>
              </a:tblGrid>
              <a:tr h="487559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</a:rPr>
                        <a:t>Series</a:t>
                      </a:r>
                      <a:r>
                        <a:rPr lang="zh-CN" sz="2000" kern="100">
                          <a:effectLst/>
                        </a:rPr>
                        <a:t>对象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</a:tr>
              <a:tr h="4643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</a:rPr>
                        <a:t>索引</a:t>
                      </a:r>
                      <a:endParaRPr lang="zh-CN" sz="200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</a:rPr>
                        <a:t>数据</a:t>
                      </a:r>
                      <a:endParaRPr lang="zh-CN" sz="200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</a:tr>
              <a:tr h="4643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index 1</a:t>
                      </a:r>
                      <a:endParaRPr lang="zh-CN" sz="200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value 1</a:t>
                      </a:r>
                      <a:endParaRPr lang="zh-CN" sz="200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3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index 2</a:t>
                      </a:r>
                      <a:endParaRPr lang="zh-CN" sz="200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value 2</a:t>
                      </a:r>
                      <a:endParaRPr lang="zh-CN" sz="200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3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…</a:t>
                      </a:r>
                      <a:endParaRPr lang="zh-CN" sz="200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…</a:t>
                      </a:r>
                      <a:endParaRPr lang="zh-CN" sz="200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3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…</a:t>
                      </a:r>
                      <a:endParaRPr lang="zh-CN" sz="200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…</a:t>
                      </a:r>
                      <a:endParaRPr lang="zh-CN" sz="200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34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index n</a:t>
                      </a:r>
                      <a:endParaRPr lang="zh-CN" sz="200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effectLst/>
                        </a:rPr>
                        <a:t>value n</a:t>
                      </a:r>
                      <a:endParaRPr lang="zh-CN" sz="2000" b="1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716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3011876" cy="504056"/>
            <a:chOff x="169526" y="203448"/>
            <a:chExt cx="3011876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2400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Series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的创建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776097" y="960747"/>
            <a:ext cx="9547346" cy="646331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smtClean="0"/>
              <a:t>  创建</a:t>
            </a:r>
            <a:r>
              <a:rPr lang="en-US" altLang="zh-CN" sz="2400" smtClean="0"/>
              <a:t>Series</a:t>
            </a:r>
            <a:r>
              <a:rPr lang="zh-CN" altLang="en-US" sz="2400" smtClean="0"/>
              <a:t>对象时，</a:t>
            </a:r>
            <a:r>
              <a:rPr lang="zh-CN" altLang="zh-CN" sz="2400"/>
              <a:t>可以使用</a:t>
            </a:r>
            <a:r>
              <a:rPr lang="en-US" altLang="zh-CN" sz="2400"/>
              <a:t>index</a:t>
            </a:r>
            <a:r>
              <a:rPr lang="zh-CN" altLang="zh-CN" sz="2400"/>
              <a:t>参数为对象指定字符串类型的</a:t>
            </a:r>
            <a:r>
              <a:rPr lang="zh-CN" altLang="zh-CN" sz="2400" smtClean="0"/>
              <a:t>索引</a:t>
            </a:r>
            <a:r>
              <a:rPr lang="zh-CN" altLang="en-US" sz="2400" smtClean="0"/>
              <a:t>。</a:t>
            </a:r>
            <a:endParaRPr lang="zh-CN" altLang="zh-CN" sz="2800"/>
          </a:p>
        </p:txBody>
      </p:sp>
      <p:sp>
        <p:nvSpPr>
          <p:cNvPr id="11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096" y="2128002"/>
            <a:ext cx="5306651" cy="255454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/>
              <a:t>&gt;&gt;&gt; ls = ['a','b','c','d']</a:t>
            </a:r>
          </a:p>
          <a:p>
            <a:r>
              <a:rPr lang="en-US" altLang="zh-CN" sz="2000"/>
              <a:t>&gt;&gt;&gt; s2 = pd.Series([10, 20, 30, 10], index=ls)</a:t>
            </a:r>
          </a:p>
          <a:p>
            <a:r>
              <a:rPr lang="en-US" altLang="zh-CN" sz="2000"/>
              <a:t>&gt;&gt;&gt; s2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a    10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b    20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c    30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d    10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dtype: int64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6688" y="2219962"/>
            <a:ext cx="4418755" cy="163121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/>
              <a:t>&gt;&gt;&gt; s1.values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array([2, 4, 6, 8], dtype=int64</a:t>
            </a:r>
            <a:r>
              <a:rPr lang="en-US" altLang="zh-CN" sz="2000" smtClean="0">
                <a:solidFill>
                  <a:srgbClr val="0000FF"/>
                </a:solidFill>
              </a:rPr>
              <a:t>)</a:t>
            </a:r>
          </a:p>
          <a:p>
            <a:endParaRPr lang="en-US" altLang="zh-CN" sz="2000"/>
          </a:p>
          <a:p>
            <a:r>
              <a:rPr lang="en-US" altLang="zh-CN" sz="2000"/>
              <a:t>&gt;&gt;&gt; s1.index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RangeIndex(start=0, stop=4, step=1)</a:t>
            </a:r>
          </a:p>
        </p:txBody>
      </p:sp>
    </p:spTree>
    <p:extLst>
      <p:ext uri="{BB962C8B-B14F-4D97-AF65-F5344CB8AC3E}">
        <p14:creationId xmlns:p14="http://schemas.microsoft.com/office/powerpoint/2010/main" val="1399437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3011876" cy="504056"/>
            <a:chOff x="169526" y="203448"/>
            <a:chExt cx="3011876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4" y="245839"/>
              <a:ext cx="24002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Series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的创建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781968" y="790381"/>
            <a:ext cx="9547346" cy="1200329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/>
              <a:t>以使用</a:t>
            </a:r>
            <a:r>
              <a:rPr lang="en-US" altLang="zh-CN" sz="2400"/>
              <a:t>index</a:t>
            </a:r>
            <a:r>
              <a:rPr lang="zh-CN" altLang="en-US" sz="2400"/>
              <a:t>参数为对象指定字符串类型的</a:t>
            </a:r>
            <a:r>
              <a:rPr lang="zh-CN" altLang="en-US" sz="2400" smtClean="0"/>
              <a:t>索引，</a:t>
            </a:r>
            <a:r>
              <a:rPr lang="zh-CN" altLang="zh-CN" sz="2400"/>
              <a:t>以在对象上做常见的数组运算，例如标量乘法、数据过滤、应用数学函数</a:t>
            </a:r>
            <a:r>
              <a:rPr lang="zh-CN" altLang="zh-CN" sz="2400" smtClean="0"/>
              <a:t>等</a:t>
            </a:r>
            <a:r>
              <a:rPr lang="zh-CN" altLang="en-US" sz="2400"/>
              <a:t>。</a:t>
            </a:r>
            <a:endParaRPr lang="zh-CN" altLang="zh-CN" sz="2800"/>
          </a:p>
        </p:txBody>
      </p:sp>
      <p:sp>
        <p:nvSpPr>
          <p:cNvPr id="11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097" y="2169651"/>
            <a:ext cx="5486309" cy="255454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/>
              <a:t>&gt;&gt;&gt; ls = ['a','b','c','d']</a:t>
            </a:r>
          </a:p>
          <a:p>
            <a:r>
              <a:rPr lang="en-US" altLang="zh-CN" sz="2000"/>
              <a:t>&gt;&gt;&gt; s2 = pd.Series([10, 20, 30, 10], index=ls)</a:t>
            </a:r>
          </a:p>
          <a:p>
            <a:r>
              <a:rPr lang="en-US" altLang="zh-CN" sz="2000"/>
              <a:t>&gt;&gt;&gt; s2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a    10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b    20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c    30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d    10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dtype: int64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968" y="5032911"/>
            <a:ext cx="5480438" cy="1323439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/>
              <a:t>&gt;&gt;&gt; s2[s2&gt;10]	</a:t>
            </a:r>
            <a:endParaRPr lang="zh-CN" altLang="zh-CN" sz="2000"/>
          </a:p>
          <a:p>
            <a:r>
              <a:rPr lang="en-US" altLang="zh-CN" sz="2000">
                <a:solidFill>
                  <a:srgbClr val="0000FF"/>
                </a:solidFill>
              </a:rPr>
              <a:t>b    20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en-US" altLang="zh-CN" sz="2000">
                <a:solidFill>
                  <a:srgbClr val="0000FF"/>
                </a:solidFill>
              </a:rPr>
              <a:t>c    30	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en-US" altLang="zh-CN" sz="2000">
                <a:solidFill>
                  <a:srgbClr val="0000FF"/>
                </a:solidFill>
              </a:rPr>
              <a:t>dtype: </a:t>
            </a:r>
            <a:r>
              <a:rPr lang="en-US" altLang="zh-CN" sz="2000" smtClean="0">
                <a:solidFill>
                  <a:srgbClr val="0000FF"/>
                </a:solidFill>
              </a:rPr>
              <a:t>int64</a:t>
            </a:r>
            <a:endParaRPr lang="zh-CN" altLang="zh-CN" sz="2000">
              <a:solidFill>
                <a:srgbClr val="0000FF"/>
              </a:solidFill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5202" y="2169651"/>
            <a:ext cx="3657511" cy="2246769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/>
              <a:t>&gt;&gt;&gt; s2 ** 2</a:t>
            </a:r>
            <a:endParaRPr lang="zh-CN" altLang="zh-CN" sz="2000"/>
          </a:p>
          <a:p>
            <a:r>
              <a:rPr lang="en-US" altLang="zh-CN" sz="2000">
                <a:solidFill>
                  <a:srgbClr val="0000FF"/>
                </a:solidFill>
              </a:rPr>
              <a:t>a    100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en-US" altLang="zh-CN" sz="2000">
                <a:solidFill>
                  <a:srgbClr val="0000FF"/>
                </a:solidFill>
              </a:rPr>
              <a:t>b    400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en-US" altLang="zh-CN" sz="2000">
                <a:solidFill>
                  <a:srgbClr val="0000FF"/>
                </a:solidFill>
              </a:rPr>
              <a:t>c    900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en-US" altLang="zh-CN" sz="2000">
                <a:solidFill>
                  <a:srgbClr val="0000FF"/>
                </a:solidFill>
              </a:rPr>
              <a:t>d    100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en-US" altLang="zh-CN" sz="2000">
                <a:solidFill>
                  <a:srgbClr val="0000FF"/>
                </a:solidFill>
              </a:rPr>
              <a:t>dtype: </a:t>
            </a:r>
            <a:r>
              <a:rPr lang="en-US" altLang="zh-CN" sz="2000" smtClean="0">
                <a:solidFill>
                  <a:srgbClr val="0000FF"/>
                </a:solidFill>
              </a:rPr>
              <a:t>int64</a:t>
            </a:r>
          </a:p>
          <a:p>
            <a:endParaRPr lang="zh-CN" altLang="zh-CN" sz="2000"/>
          </a:p>
        </p:txBody>
      </p:sp>
      <p:sp>
        <p:nvSpPr>
          <p:cNvPr id="15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2039" y="4567727"/>
            <a:ext cx="3657510" cy="193899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/>
              <a:t>&gt;&gt;&gt; np.sqrt(s2)</a:t>
            </a:r>
            <a:endParaRPr lang="zh-CN" altLang="zh-CN" sz="2000"/>
          </a:p>
          <a:p>
            <a:r>
              <a:rPr lang="en-US" altLang="zh-CN" sz="2000">
                <a:solidFill>
                  <a:srgbClr val="0000FF"/>
                </a:solidFill>
              </a:rPr>
              <a:t>a    3.162278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en-US" altLang="zh-CN" sz="2000">
                <a:solidFill>
                  <a:srgbClr val="0000FF"/>
                </a:solidFill>
              </a:rPr>
              <a:t>b    4.472136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en-US" altLang="zh-CN" sz="2000">
                <a:solidFill>
                  <a:srgbClr val="0000FF"/>
                </a:solidFill>
              </a:rPr>
              <a:t>c    5.477226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en-US" altLang="zh-CN" sz="2000">
                <a:solidFill>
                  <a:srgbClr val="0000FF"/>
                </a:solidFill>
              </a:rPr>
              <a:t>d    3.162278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en-US" altLang="zh-CN" sz="2000">
                <a:solidFill>
                  <a:srgbClr val="0000FF"/>
                </a:solidFill>
              </a:rPr>
              <a:t>dtype: float64</a:t>
            </a:r>
            <a:endParaRPr lang="zh-CN" altLang="zh-CN" sz="20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284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3346602" cy="504056"/>
            <a:chOff x="169526" y="203448"/>
            <a:chExt cx="3346602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27349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Series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的数组运算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781968" y="790381"/>
            <a:ext cx="9547346" cy="1695336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/>
              <a:t>通过字典来创建</a:t>
            </a:r>
            <a:r>
              <a:rPr lang="en-US" altLang="zh-CN" sz="2400"/>
              <a:t>Series</a:t>
            </a:r>
            <a:r>
              <a:rPr lang="zh-CN" altLang="en-US" sz="2400"/>
              <a:t>对象，因为字典中的数据都是以键值对形式存储的，所以创建</a:t>
            </a:r>
            <a:r>
              <a:rPr lang="en-US" altLang="zh-CN" sz="2400"/>
              <a:t>Series</a:t>
            </a:r>
            <a:r>
              <a:rPr lang="zh-CN" altLang="en-US" sz="2400"/>
              <a:t>对象时就用字典中的主键（</a:t>
            </a:r>
            <a:r>
              <a:rPr lang="en-US" altLang="zh-CN" sz="2400"/>
              <a:t>key</a:t>
            </a:r>
            <a:r>
              <a:rPr lang="zh-CN" altLang="en-US" sz="2400"/>
              <a:t>）作为索引，字典中的值（</a:t>
            </a:r>
            <a:r>
              <a:rPr lang="en-US" altLang="zh-CN" sz="2400"/>
              <a:t>value</a:t>
            </a:r>
            <a:r>
              <a:rPr lang="zh-CN" altLang="en-US" sz="2400"/>
              <a:t>）作为数据部分</a:t>
            </a:r>
            <a:endParaRPr lang="zh-CN" altLang="zh-CN" sz="2800"/>
          </a:p>
        </p:txBody>
      </p:sp>
      <p:sp>
        <p:nvSpPr>
          <p:cNvPr id="15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767" y="2832260"/>
            <a:ext cx="9555547" cy="286232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/>
              <a:t>&gt;&gt;&gt; dic = {'</a:t>
            </a:r>
            <a:r>
              <a:rPr lang="zh-CN" altLang="zh-CN" sz="2000"/>
              <a:t>郭靖</a:t>
            </a:r>
            <a:r>
              <a:rPr lang="en-US" altLang="zh-CN" sz="2000"/>
              <a:t>':20, '</a:t>
            </a:r>
            <a:r>
              <a:rPr lang="zh-CN" altLang="zh-CN" sz="2000"/>
              <a:t>萧峰</a:t>
            </a:r>
            <a:r>
              <a:rPr lang="en-US" altLang="zh-CN" sz="2000"/>
              <a:t>':19, '</a:t>
            </a:r>
            <a:r>
              <a:rPr lang="zh-CN" altLang="zh-CN" sz="2000"/>
              <a:t>杨过</a:t>
            </a:r>
            <a:r>
              <a:rPr lang="en-US" altLang="zh-CN" sz="2000"/>
              <a:t>':18, '</a:t>
            </a:r>
            <a:r>
              <a:rPr lang="zh-CN" altLang="zh-CN" sz="2000"/>
              <a:t>令狐冲</a:t>
            </a:r>
            <a:r>
              <a:rPr lang="en-US" altLang="zh-CN" sz="2000"/>
              <a:t>':13, '</a:t>
            </a:r>
            <a:r>
              <a:rPr lang="zh-CN" altLang="zh-CN" sz="2000"/>
              <a:t>张无忌</a:t>
            </a:r>
            <a:r>
              <a:rPr lang="en-US" altLang="zh-CN" sz="2000"/>
              <a:t>':20}</a:t>
            </a:r>
            <a:endParaRPr lang="zh-CN" altLang="zh-CN" sz="2000"/>
          </a:p>
          <a:p>
            <a:r>
              <a:rPr lang="en-US" altLang="zh-CN" sz="2000"/>
              <a:t>&gt;&gt;&gt; s3 = pd.Series(dic)</a:t>
            </a:r>
            <a:endParaRPr lang="zh-CN" altLang="zh-CN" sz="2000"/>
          </a:p>
          <a:p>
            <a:r>
              <a:rPr lang="en-US" altLang="zh-CN" sz="2000"/>
              <a:t>&gt;&gt;&gt; s3	   </a:t>
            </a:r>
            <a:endParaRPr lang="zh-CN" altLang="zh-CN" sz="2000"/>
          </a:p>
          <a:p>
            <a:r>
              <a:rPr lang="zh-CN" altLang="zh-CN" sz="2000">
                <a:solidFill>
                  <a:srgbClr val="0000FF"/>
                </a:solidFill>
              </a:rPr>
              <a:t>郭靖</a:t>
            </a:r>
            <a:r>
              <a:rPr lang="en-US" altLang="zh-CN" sz="2000">
                <a:solidFill>
                  <a:srgbClr val="0000FF"/>
                </a:solidFill>
              </a:rPr>
              <a:t>     20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zh-CN" altLang="zh-CN" sz="2000">
                <a:solidFill>
                  <a:srgbClr val="0000FF"/>
                </a:solidFill>
              </a:rPr>
              <a:t>萧峰</a:t>
            </a:r>
            <a:r>
              <a:rPr lang="en-US" altLang="zh-CN" sz="2000">
                <a:solidFill>
                  <a:srgbClr val="0000FF"/>
                </a:solidFill>
              </a:rPr>
              <a:t>     19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zh-CN" altLang="zh-CN" sz="2000">
                <a:solidFill>
                  <a:srgbClr val="0000FF"/>
                </a:solidFill>
              </a:rPr>
              <a:t>杨过</a:t>
            </a:r>
            <a:r>
              <a:rPr lang="en-US" altLang="zh-CN" sz="2000">
                <a:solidFill>
                  <a:srgbClr val="0000FF"/>
                </a:solidFill>
              </a:rPr>
              <a:t>     18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zh-CN" altLang="zh-CN" sz="2000">
                <a:solidFill>
                  <a:srgbClr val="0000FF"/>
                </a:solidFill>
              </a:rPr>
              <a:t>令狐冲</a:t>
            </a:r>
            <a:r>
              <a:rPr lang="en-US" altLang="zh-CN" sz="2000">
                <a:solidFill>
                  <a:srgbClr val="0000FF"/>
                </a:solidFill>
              </a:rPr>
              <a:t>   13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zh-CN" altLang="zh-CN" sz="2000">
                <a:solidFill>
                  <a:srgbClr val="0000FF"/>
                </a:solidFill>
              </a:rPr>
              <a:t>张无忌</a:t>
            </a:r>
            <a:r>
              <a:rPr lang="en-US" altLang="zh-CN" sz="2000">
                <a:solidFill>
                  <a:srgbClr val="0000FF"/>
                </a:solidFill>
              </a:rPr>
              <a:t>   20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en-US" altLang="zh-CN" sz="2000">
                <a:solidFill>
                  <a:srgbClr val="0000FF"/>
                </a:solidFill>
              </a:rPr>
              <a:t>dtype: int64</a:t>
            </a:r>
            <a:endParaRPr lang="zh-CN" altLang="zh-CN" sz="20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161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3346602" cy="504056"/>
            <a:chOff x="169526" y="203448"/>
            <a:chExt cx="3346602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27349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Series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的两种索引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781968" y="790381"/>
            <a:ext cx="9547346" cy="1754326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smtClean="0"/>
              <a:t>Series</a:t>
            </a:r>
            <a:r>
              <a:rPr lang="zh-CN" altLang="en-US" sz="2400" smtClean="0"/>
              <a:t>对象</a:t>
            </a:r>
            <a:r>
              <a:rPr lang="zh-CN" altLang="en-US" sz="2400"/>
              <a:t>中</a:t>
            </a:r>
            <a:r>
              <a:rPr lang="zh-CN" altLang="en-US" sz="2400" smtClean="0"/>
              <a:t>的字符串</a:t>
            </a:r>
            <a:r>
              <a:rPr lang="zh-CN" altLang="en-US" sz="2400"/>
              <a:t>索引，通常称为标签索引，</a:t>
            </a:r>
            <a:r>
              <a:rPr lang="zh-CN" altLang="en-US" sz="2400" smtClean="0"/>
              <a:t>在对象</a:t>
            </a:r>
            <a:r>
              <a:rPr lang="zh-CN" altLang="en-US" sz="2400"/>
              <a:t>内部，还存在着一个整数型索引。利用这两种索引都可以获取对象</a:t>
            </a:r>
            <a:r>
              <a:rPr lang="zh-CN" altLang="en-US" sz="2400" smtClean="0"/>
              <a:t>数据，但是整数型索引不包含右侧边界值。</a:t>
            </a:r>
            <a:endParaRPr lang="zh-CN" altLang="zh-CN" sz="2400"/>
          </a:p>
        </p:txBody>
      </p:sp>
      <p:sp>
        <p:nvSpPr>
          <p:cNvPr id="15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097" y="2712989"/>
            <a:ext cx="3466928" cy="163121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/>
              <a:t>&gt;&gt;&gt; s3[1:4]		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萧峰     </a:t>
            </a:r>
            <a:r>
              <a:rPr lang="en-US" altLang="zh-CN" sz="2000" smtClean="0">
                <a:solidFill>
                  <a:srgbClr val="0000FF"/>
                </a:solidFill>
              </a:rPr>
              <a:t>19</a:t>
            </a:r>
            <a:endParaRPr lang="en-US" altLang="zh-CN" sz="2000">
              <a:solidFill>
                <a:srgbClr val="0000FF"/>
              </a:solidFill>
            </a:endParaRPr>
          </a:p>
          <a:p>
            <a:r>
              <a:rPr lang="zh-CN" altLang="en-US" sz="2000">
                <a:solidFill>
                  <a:srgbClr val="0000FF"/>
                </a:solidFill>
              </a:rPr>
              <a:t>杨过     </a:t>
            </a:r>
            <a:r>
              <a:rPr lang="en-US" altLang="zh-CN" sz="2000" smtClean="0">
                <a:solidFill>
                  <a:srgbClr val="0000FF"/>
                </a:solidFill>
              </a:rPr>
              <a:t>18</a:t>
            </a:r>
            <a:endParaRPr lang="en-US" altLang="zh-CN" sz="2000">
              <a:solidFill>
                <a:srgbClr val="0000FF"/>
              </a:solidFill>
            </a:endParaRPr>
          </a:p>
          <a:p>
            <a:r>
              <a:rPr lang="zh-CN" altLang="en-US" sz="2000">
                <a:solidFill>
                  <a:srgbClr val="0000FF"/>
                </a:solidFill>
              </a:rPr>
              <a:t>令狐冲   </a:t>
            </a:r>
            <a:r>
              <a:rPr lang="en-US" altLang="zh-CN" sz="2000" smtClean="0">
                <a:solidFill>
                  <a:srgbClr val="0000FF"/>
                </a:solidFill>
              </a:rPr>
              <a:t>13</a:t>
            </a:r>
            <a:r>
              <a:rPr lang="en-US" altLang="zh-CN" sz="2000">
                <a:solidFill>
                  <a:srgbClr val="0000FF"/>
                </a:solidFill>
              </a:rPr>
              <a:t>		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dtype: int64</a:t>
            </a:r>
            <a:r>
              <a:rPr lang="en-US" altLang="zh-CN" sz="2000"/>
              <a:t>	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968" y="4356263"/>
            <a:ext cx="3466928" cy="163121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/>
              <a:t>&gt;&gt;&gt; s3['</a:t>
            </a:r>
            <a:r>
              <a:rPr lang="zh-CN" altLang="en-US" sz="2000"/>
              <a:t>萧峰</a:t>
            </a:r>
            <a:r>
              <a:rPr lang="en-US" altLang="zh-CN" sz="2000"/>
              <a:t>':'</a:t>
            </a:r>
            <a:r>
              <a:rPr lang="zh-CN" altLang="en-US" sz="2000"/>
              <a:t>令狐冲</a:t>
            </a:r>
            <a:r>
              <a:rPr lang="en-US" altLang="zh-CN" sz="2000"/>
              <a:t>']	</a:t>
            </a:r>
            <a:endParaRPr lang="en-US" altLang="zh-CN" sz="2000" smtClean="0"/>
          </a:p>
          <a:p>
            <a:r>
              <a:rPr lang="zh-CN" altLang="en-US" sz="2000" smtClean="0">
                <a:solidFill>
                  <a:srgbClr val="0000FF"/>
                </a:solidFill>
              </a:rPr>
              <a:t>萧峰     </a:t>
            </a:r>
            <a:r>
              <a:rPr lang="en-US" altLang="zh-CN" sz="2000" smtClean="0">
                <a:solidFill>
                  <a:srgbClr val="0000FF"/>
                </a:solidFill>
              </a:rPr>
              <a:t>19</a:t>
            </a:r>
          </a:p>
          <a:p>
            <a:r>
              <a:rPr lang="zh-CN" altLang="en-US" sz="2000" smtClean="0">
                <a:solidFill>
                  <a:srgbClr val="0000FF"/>
                </a:solidFill>
              </a:rPr>
              <a:t>杨过     </a:t>
            </a:r>
            <a:r>
              <a:rPr lang="en-US" altLang="zh-CN" sz="2000" smtClean="0">
                <a:solidFill>
                  <a:srgbClr val="0000FF"/>
                </a:solidFill>
              </a:rPr>
              <a:t>18		</a:t>
            </a:r>
          </a:p>
          <a:p>
            <a:r>
              <a:rPr lang="zh-CN" altLang="en-US" sz="2000" smtClean="0">
                <a:solidFill>
                  <a:srgbClr val="0000FF"/>
                </a:solidFill>
              </a:rPr>
              <a:t>令</a:t>
            </a:r>
            <a:r>
              <a:rPr lang="zh-CN" altLang="en-US" sz="2000">
                <a:solidFill>
                  <a:srgbClr val="0000FF"/>
                </a:solidFill>
              </a:rPr>
              <a:t>狐冲   </a:t>
            </a:r>
            <a:r>
              <a:rPr lang="en-US" altLang="zh-CN" sz="2000" smtClean="0">
                <a:solidFill>
                  <a:srgbClr val="0000FF"/>
                </a:solidFill>
              </a:rPr>
              <a:t>13</a:t>
            </a:r>
            <a:r>
              <a:rPr lang="en-US" altLang="zh-CN" sz="2000">
                <a:solidFill>
                  <a:srgbClr val="0000FF"/>
                </a:solidFill>
              </a:rPr>
              <a:t>		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dtype: int64</a:t>
            </a:r>
            <a:r>
              <a:rPr lang="en-US" altLang="zh-CN" sz="2000"/>
              <a:t>		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5916" y="2726241"/>
            <a:ext cx="5035736" cy="3170099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/>
              <a:t>&gt;&gt;&gt; s3['</a:t>
            </a:r>
            <a:r>
              <a:rPr lang="zh-CN" altLang="en-US" sz="2000"/>
              <a:t>令狐冲</a:t>
            </a:r>
            <a:r>
              <a:rPr lang="en-US" altLang="zh-CN" sz="2000"/>
              <a:t>'] = 10</a:t>
            </a:r>
          </a:p>
          <a:p>
            <a:r>
              <a:rPr lang="en-US" altLang="zh-CN" sz="2000"/>
              <a:t>&gt;&gt;&gt; s3['</a:t>
            </a:r>
            <a:r>
              <a:rPr lang="zh-CN" altLang="en-US" sz="2000"/>
              <a:t>张三丰</a:t>
            </a:r>
            <a:r>
              <a:rPr lang="en-US" altLang="zh-CN" sz="2000"/>
              <a:t>'] = 25</a:t>
            </a:r>
          </a:p>
          <a:p>
            <a:r>
              <a:rPr lang="en-US" altLang="zh-CN" sz="2000"/>
              <a:t>&gt;&gt;&gt; s3	   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郭靖     </a:t>
            </a:r>
            <a:r>
              <a:rPr lang="en-US" altLang="zh-CN" sz="2000">
                <a:solidFill>
                  <a:srgbClr val="0000FF"/>
                </a:solidFill>
              </a:rPr>
              <a:t>20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萧峰     </a:t>
            </a:r>
            <a:r>
              <a:rPr lang="en-US" altLang="zh-CN" sz="2000">
                <a:solidFill>
                  <a:srgbClr val="0000FF"/>
                </a:solidFill>
              </a:rPr>
              <a:t>19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杨过     </a:t>
            </a:r>
            <a:r>
              <a:rPr lang="en-US" altLang="zh-CN" sz="2000">
                <a:solidFill>
                  <a:srgbClr val="0000FF"/>
                </a:solidFill>
              </a:rPr>
              <a:t>18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令狐冲   </a:t>
            </a:r>
            <a:r>
              <a:rPr lang="en-US" altLang="zh-CN" sz="2000">
                <a:solidFill>
                  <a:srgbClr val="0000FF"/>
                </a:solidFill>
              </a:rPr>
              <a:t>10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张无忌   </a:t>
            </a:r>
            <a:r>
              <a:rPr lang="en-US" altLang="zh-CN" sz="2000">
                <a:solidFill>
                  <a:srgbClr val="0000FF"/>
                </a:solidFill>
              </a:rPr>
              <a:t>20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张三丰   </a:t>
            </a:r>
            <a:r>
              <a:rPr lang="en-US" altLang="zh-CN" sz="2000">
                <a:solidFill>
                  <a:srgbClr val="0000FF"/>
                </a:solidFill>
              </a:rPr>
              <a:t>25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dtype: int64</a:t>
            </a:r>
          </a:p>
        </p:txBody>
      </p:sp>
    </p:spTree>
    <p:extLst>
      <p:ext uri="{BB962C8B-B14F-4D97-AF65-F5344CB8AC3E}">
        <p14:creationId xmlns:p14="http://schemas.microsoft.com/office/powerpoint/2010/main" val="21802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3346602" cy="504056"/>
            <a:chOff x="169526" y="203448"/>
            <a:chExt cx="3346602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273495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Series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的数据对齐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/>
            <p:nvPr/>
          </p:nvCxnSpPr>
          <p:spPr>
            <a:xfrm>
              <a:off x="775303" y="707504"/>
              <a:ext cx="1647495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781968" y="790381"/>
            <a:ext cx="9547346" cy="1200329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/>
              <a:t>Series</a:t>
            </a:r>
            <a:r>
              <a:rPr lang="zh-CN" altLang="zh-CN" sz="2400"/>
              <a:t>对象最重要的一个功能就是：算术运算中的数据</a:t>
            </a:r>
            <a:r>
              <a:rPr lang="zh-CN" altLang="zh-CN" sz="2400" smtClean="0"/>
              <a:t>对齐，</a:t>
            </a:r>
            <a:r>
              <a:rPr lang="zh-CN" altLang="zh-CN" sz="2400"/>
              <a:t>就是多个</a:t>
            </a:r>
            <a:r>
              <a:rPr lang="en-US" altLang="zh-CN" sz="2400"/>
              <a:t>Series</a:t>
            </a:r>
            <a:r>
              <a:rPr lang="zh-CN" altLang="zh-CN" sz="2400"/>
              <a:t>对象中的数据依据索引进行匹配后再做</a:t>
            </a:r>
            <a:r>
              <a:rPr lang="zh-CN" altLang="zh-CN" sz="2400" smtClean="0"/>
              <a:t>算术运算</a:t>
            </a:r>
            <a:r>
              <a:rPr lang="zh-CN" altLang="en-US" sz="2400" smtClean="0"/>
              <a:t>。</a:t>
            </a:r>
            <a:endParaRPr lang="zh-CN" altLang="zh-CN" sz="2400"/>
          </a:p>
        </p:txBody>
      </p:sp>
      <p:sp>
        <p:nvSpPr>
          <p:cNvPr id="15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6" y="2145641"/>
            <a:ext cx="4586736" cy="3170099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/>
              <a:t>&gt;&gt;&gt; dic = {'</a:t>
            </a:r>
            <a:r>
              <a:rPr lang="zh-CN" altLang="en-US" sz="2000"/>
              <a:t>郭靖</a:t>
            </a:r>
            <a:r>
              <a:rPr lang="en-US" altLang="zh-CN" sz="2000"/>
              <a:t>':20, '</a:t>
            </a:r>
            <a:r>
              <a:rPr lang="zh-CN" altLang="en-US" sz="2000"/>
              <a:t>萧峰</a:t>
            </a:r>
            <a:r>
              <a:rPr lang="en-US" altLang="zh-CN" sz="2000"/>
              <a:t>':19, '</a:t>
            </a:r>
            <a:r>
              <a:rPr lang="zh-CN" altLang="en-US" sz="2000"/>
              <a:t>杨过</a:t>
            </a:r>
            <a:r>
              <a:rPr lang="en-US" altLang="zh-CN" sz="2000"/>
              <a:t>':18, '</a:t>
            </a:r>
            <a:r>
              <a:rPr lang="zh-CN" altLang="en-US" sz="2000"/>
              <a:t>令狐冲</a:t>
            </a:r>
            <a:r>
              <a:rPr lang="en-US" altLang="zh-CN" sz="2000"/>
              <a:t>':13, '</a:t>
            </a:r>
            <a:r>
              <a:rPr lang="zh-CN" altLang="en-US" sz="2000"/>
              <a:t>张无忌</a:t>
            </a:r>
            <a:r>
              <a:rPr lang="en-US" altLang="zh-CN" sz="2000"/>
              <a:t>':20}</a:t>
            </a:r>
          </a:p>
          <a:p>
            <a:r>
              <a:rPr lang="en-US" altLang="zh-CN" sz="2000"/>
              <a:t>&gt;&gt;&gt; s3 = pd.Series(dic)</a:t>
            </a:r>
          </a:p>
          <a:p>
            <a:r>
              <a:rPr lang="en-US" altLang="zh-CN" sz="2000"/>
              <a:t>&gt;&gt;&gt; s3	   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郭靖     </a:t>
            </a:r>
            <a:r>
              <a:rPr lang="en-US" altLang="zh-CN" sz="2000">
                <a:solidFill>
                  <a:srgbClr val="0000FF"/>
                </a:solidFill>
              </a:rPr>
              <a:t>20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萧峰     </a:t>
            </a:r>
            <a:r>
              <a:rPr lang="en-US" altLang="zh-CN" sz="2000">
                <a:solidFill>
                  <a:srgbClr val="0000FF"/>
                </a:solidFill>
              </a:rPr>
              <a:t>19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杨过     </a:t>
            </a:r>
            <a:r>
              <a:rPr lang="en-US" altLang="zh-CN" sz="2000">
                <a:solidFill>
                  <a:srgbClr val="0000FF"/>
                </a:solidFill>
              </a:rPr>
              <a:t>18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令狐冲   </a:t>
            </a:r>
            <a:r>
              <a:rPr lang="en-US" altLang="zh-CN" sz="2000">
                <a:solidFill>
                  <a:srgbClr val="0000FF"/>
                </a:solidFill>
              </a:rPr>
              <a:t>13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张无忌   </a:t>
            </a:r>
            <a:r>
              <a:rPr lang="en-US" altLang="zh-CN" sz="2000">
                <a:solidFill>
                  <a:srgbClr val="0000FF"/>
                </a:solidFill>
              </a:rPr>
              <a:t>20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dtype: int64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6922" y="3243075"/>
            <a:ext cx="4903214" cy="3170099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/>
              <a:t>&gt;&gt;&gt; dic2 = {'</a:t>
            </a:r>
            <a:r>
              <a:rPr lang="zh-CN" altLang="zh-CN" sz="2000"/>
              <a:t>郭靖</a:t>
            </a:r>
            <a:r>
              <a:rPr lang="en-US" altLang="zh-CN" sz="2000"/>
              <a:t>':18, '</a:t>
            </a:r>
            <a:r>
              <a:rPr lang="zh-CN" altLang="zh-CN" sz="2000"/>
              <a:t>萧峰</a:t>
            </a:r>
            <a:r>
              <a:rPr lang="en-US" altLang="zh-CN" sz="2000"/>
              <a:t>':17, '</a:t>
            </a:r>
            <a:r>
              <a:rPr lang="zh-CN" altLang="zh-CN" sz="2000"/>
              <a:t>杨过</a:t>
            </a:r>
            <a:r>
              <a:rPr lang="en-US" altLang="zh-CN" sz="2000"/>
              <a:t>':18, '</a:t>
            </a:r>
            <a:r>
              <a:rPr lang="zh-CN" altLang="zh-CN" sz="2000"/>
              <a:t>令狐冲</a:t>
            </a:r>
            <a:r>
              <a:rPr lang="en-US" altLang="zh-CN" sz="2000"/>
              <a:t>':19, '</a:t>
            </a:r>
            <a:r>
              <a:rPr lang="zh-CN" altLang="zh-CN" sz="2000"/>
              <a:t>韦小宝</a:t>
            </a:r>
            <a:r>
              <a:rPr lang="en-US" altLang="zh-CN" sz="2000"/>
              <a:t>':5}</a:t>
            </a:r>
            <a:endParaRPr lang="zh-CN" altLang="zh-CN" sz="2000"/>
          </a:p>
          <a:p>
            <a:r>
              <a:rPr lang="en-US" altLang="zh-CN" sz="2000"/>
              <a:t>&gt;&gt;&gt; s4 = pd.Series(dic2)</a:t>
            </a:r>
            <a:endParaRPr lang="zh-CN" altLang="zh-CN" sz="2000"/>
          </a:p>
          <a:p>
            <a:r>
              <a:rPr lang="en-US" altLang="zh-CN" sz="2000"/>
              <a:t>&gt;&gt;&gt; s4</a:t>
            </a:r>
            <a:endParaRPr lang="zh-CN" altLang="zh-CN" sz="2000"/>
          </a:p>
          <a:p>
            <a:r>
              <a:rPr lang="zh-CN" altLang="zh-CN" sz="2000">
                <a:solidFill>
                  <a:srgbClr val="0000FF"/>
                </a:solidFill>
              </a:rPr>
              <a:t>郭靖</a:t>
            </a:r>
            <a:r>
              <a:rPr lang="en-US" altLang="zh-CN" sz="2000">
                <a:solidFill>
                  <a:srgbClr val="0000FF"/>
                </a:solidFill>
              </a:rPr>
              <a:t>     18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zh-CN" altLang="zh-CN" sz="2000">
                <a:solidFill>
                  <a:srgbClr val="0000FF"/>
                </a:solidFill>
              </a:rPr>
              <a:t>萧峰</a:t>
            </a:r>
            <a:r>
              <a:rPr lang="en-US" altLang="zh-CN" sz="2000">
                <a:solidFill>
                  <a:srgbClr val="0000FF"/>
                </a:solidFill>
              </a:rPr>
              <a:t>     17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zh-CN" altLang="zh-CN" sz="2000">
                <a:solidFill>
                  <a:srgbClr val="0000FF"/>
                </a:solidFill>
              </a:rPr>
              <a:t>杨过</a:t>
            </a:r>
            <a:r>
              <a:rPr lang="en-US" altLang="zh-CN" sz="2000">
                <a:solidFill>
                  <a:srgbClr val="0000FF"/>
                </a:solidFill>
              </a:rPr>
              <a:t>     18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zh-CN" altLang="zh-CN" sz="2000">
                <a:solidFill>
                  <a:srgbClr val="0000FF"/>
                </a:solidFill>
              </a:rPr>
              <a:t>令狐冲</a:t>
            </a:r>
            <a:r>
              <a:rPr lang="en-US" altLang="zh-CN" sz="2000">
                <a:solidFill>
                  <a:srgbClr val="0000FF"/>
                </a:solidFill>
              </a:rPr>
              <a:t>   19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zh-CN" altLang="zh-CN" sz="2000">
                <a:solidFill>
                  <a:srgbClr val="0000FF"/>
                </a:solidFill>
              </a:rPr>
              <a:t>韦小宝</a:t>
            </a:r>
            <a:r>
              <a:rPr lang="en-US" altLang="zh-CN" sz="2000">
                <a:solidFill>
                  <a:srgbClr val="0000FF"/>
                </a:solidFill>
              </a:rPr>
              <a:t>   5</a:t>
            </a:r>
            <a:endParaRPr lang="zh-CN" altLang="zh-CN" sz="2000">
              <a:solidFill>
                <a:srgbClr val="0000FF"/>
              </a:solidFill>
            </a:endParaRPr>
          </a:p>
          <a:p>
            <a:r>
              <a:rPr lang="en-US" altLang="zh-CN" sz="2000">
                <a:solidFill>
                  <a:srgbClr val="0000FF"/>
                </a:solidFill>
              </a:rPr>
              <a:t>dtype: int64</a:t>
            </a:r>
            <a:endParaRPr lang="zh-CN" altLang="zh-CN" sz="2000">
              <a:solidFill>
                <a:srgbClr val="0000FF"/>
              </a:solidFill>
            </a:endParaRPr>
          </a:p>
        </p:txBody>
      </p:sp>
      <p:sp>
        <p:nvSpPr>
          <p:cNvPr id="12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0406" y="2151332"/>
            <a:ext cx="2836707" cy="255454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/>
              <a:t>&gt;&gt;&gt; s3 + s4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令狐冲    </a:t>
            </a:r>
            <a:r>
              <a:rPr lang="en-US" altLang="zh-CN" sz="2000">
                <a:solidFill>
                  <a:srgbClr val="0000FF"/>
                </a:solidFill>
              </a:rPr>
              <a:t>32.0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张无忌    </a:t>
            </a:r>
            <a:r>
              <a:rPr lang="en-US" altLang="zh-CN" sz="2000">
                <a:solidFill>
                  <a:srgbClr val="0000FF"/>
                </a:solidFill>
              </a:rPr>
              <a:t>NaN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杨过      </a:t>
            </a:r>
            <a:r>
              <a:rPr lang="en-US" altLang="zh-CN" sz="2000">
                <a:solidFill>
                  <a:srgbClr val="0000FF"/>
                </a:solidFill>
              </a:rPr>
              <a:t>36.0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萧峰      </a:t>
            </a:r>
            <a:r>
              <a:rPr lang="en-US" altLang="zh-CN" sz="2000">
                <a:solidFill>
                  <a:srgbClr val="0000FF"/>
                </a:solidFill>
              </a:rPr>
              <a:t>36.0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郭靖      </a:t>
            </a:r>
            <a:r>
              <a:rPr lang="en-US" altLang="zh-CN" sz="2000">
                <a:solidFill>
                  <a:srgbClr val="0000FF"/>
                </a:solidFill>
              </a:rPr>
              <a:t>38.0</a:t>
            </a:r>
          </a:p>
          <a:p>
            <a:r>
              <a:rPr lang="zh-CN" altLang="en-US" sz="2000">
                <a:solidFill>
                  <a:srgbClr val="0000FF"/>
                </a:solidFill>
              </a:rPr>
              <a:t>韦小宝    </a:t>
            </a:r>
            <a:r>
              <a:rPr lang="en-US" altLang="zh-CN" sz="2000">
                <a:solidFill>
                  <a:srgbClr val="0000FF"/>
                </a:solidFill>
              </a:rPr>
              <a:t>NaN</a:t>
            </a:r>
          </a:p>
          <a:p>
            <a:r>
              <a:rPr lang="en-US" altLang="zh-CN" sz="2000">
                <a:solidFill>
                  <a:srgbClr val="0000FF"/>
                </a:solidFill>
              </a:rPr>
              <a:t>dtype: float64</a:t>
            </a:r>
          </a:p>
        </p:txBody>
      </p:sp>
    </p:spTree>
    <p:extLst>
      <p:ext uri="{BB962C8B-B14F-4D97-AF65-F5344CB8AC3E}">
        <p14:creationId xmlns:p14="http://schemas.microsoft.com/office/powerpoint/2010/main" val="143872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=""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0187" y="26345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=""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2505798" y="2721873"/>
            <a:ext cx="6938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Adobe Gothic Std B" pitchFamily="34" charset="-128"/>
                <a:ea typeface="Adobe Gothic Std B" pitchFamily="34" charset="-128"/>
              </a:rPr>
              <a:t>DataFrame </a:t>
            </a:r>
            <a:r>
              <a:rPr lang="zh-CN" altLang="en-US" sz="54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对象</a:t>
            </a:r>
            <a:endParaRPr lang="zh-CN" altLang="en-US" sz="5400">
              <a:ln w="12700">
                <a:noFill/>
                <a:prstDash val="solid"/>
              </a:ln>
              <a:solidFill>
                <a:prstClr val="white"/>
              </a:solidFill>
              <a:effectLst>
                <a:outerShdw dist="50800" dir="4800000" algn="tl" rotWithShape="0">
                  <a:srgbClr val="000000">
                    <a:alpha val="40000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=""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=""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=""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=""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=""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=""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=""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=""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=""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=""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=""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=""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=""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=""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=""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=""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=""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=""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=""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=""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=""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=""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=""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=""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=""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=""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=""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=""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=""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=""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=""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=""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=""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=""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=""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=""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=""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=""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=""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=""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=""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=""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=""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=""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=""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=""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=""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08727" y="1589269"/>
              <a:ext cx="140936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smtClean="0">
                  <a:ln w="12700">
                    <a:noFill/>
                    <a:prstDash val="solid"/>
                  </a:ln>
                  <a:solidFill>
                    <a:srgbClr val="FFFF00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Adobe Gothic Std B" pitchFamily="34" charset="-128"/>
                  <a:ea typeface="Adobe Gothic Std B" pitchFamily="34" charset="-128"/>
                </a:rPr>
                <a:t>10.3</a:t>
              </a:r>
              <a:endParaRPr lang="zh-CN" altLang="en-US" sz="4800" b="1">
                <a:ln w="12700">
                  <a:noFill/>
                  <a:prstDash val="solid"/>
                </a:ln>
                <a:solidFill>
                  <a:srgbClr val="FFFF00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Adobe Gothic Std B" pitchFamily="34" charset="-128"/>
                <a:ea typeface="+mj-ea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=""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=""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=""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=""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=""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=""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=""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=""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=""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=""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706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DataFrame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对象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">
            <a:extLst>
              <a:ext uri="{FF2B5EF4-FFF2-40B4-BE49-F238E27FC236}">
                <a16:creationId xmlns="" xmlns:a16="http://schemas.microsoft.com/office/drawing/2014/main" id="{7DD2C369-3306-49D2-8963-D9354F2E9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967" y="905770"/>
            <a:ext cx="9531388" cy="22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lvl="1" indent="0" algn="just">
              <a:lnSpc>
                <a:spcPct val="150000"/>
              </a:lnSpc>
            </a:pP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DataFrame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是一个表格型的数据结构，由行和列所组成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smtClean="0">
              <a:latin typeface="微软雅黑" pitchFamily="34" charset="-122"/>
              <a:ea typeface="微软雅黑" pitchFamily="34" charset="-122"/>
            </a:endParaRPr>
          </a:p>
          <a:p>
            <a:pPr marL="0" lvl="1" indent="0" algn="just">
              <a:lnSpc>
                <a:spcPct val="150000"/>
              </a:lnSpc>
            </a:pP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DataFrame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的列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是有序的，列与列之间的数据类型可以互不相同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smtClean="0">
              <a:latin typeface="微软雅黑" pitchFamily="34" charset="-122"/>
              <a:ea typeface="微软雅黑" pitchFamily="34" charset="-122"/>
            </a:endParaRPr>
          </a:p>
          <a:p>
            <a:pPr marL="0" lvl="1" indent="0" algn="just">
              <a:lnSpc>
                <a:spcPct val="150000"/>
              </a:lnSpc>
            </a:pP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DataFrame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的每一行存在一个行索引（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index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），每一列同样有一个列索引（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columns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），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如下图所示：</a:t>
            </a:r>
            <a:endParaRPr lang="en-US" altLang="zh-CN" sz="240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0847" y="3428999"/>
            <a:ext cx="7212910" cy="2574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2175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DataFrame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对象</a:t>
              </a:r>
              <a:endParaRPr lang="zh-CN" altLang="en-US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">
            <a:extLst>
              <a:ext uri="{FF2B5EF4-FFF2-40B4-BE49-F238E27FC236}">
                <a16:creationId xmlns="" xmlns:a16="http://schemas.microsoft.com/office/drawing/2014/main" id="{7DD2C369-3306-49D2-8963-D9354F2E9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967" y="905770"/>
            <a:ext cx="9531388" cy="1135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lvl="1" indent="0" algn="just">
              <a:lnSpc>
                <a:spcPct val="150000"/>
              </a:lnSpc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实际上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DataFrame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对象中的每一列都是一个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Series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对象，所以也可以将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DataFrame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对象看作“共享行索引的多个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Series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的集合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”。</a:t>
            </a:r>
            <a:endParaRPr lang="en-US" altLang="zh-CN" sz="2400" smtClean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741" y="2603223"/>
            <a:ext cx="7915085" cy="2946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0123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创建</a:t>
              </a:r>
              <a:r>
                <a:rPr lang="en-US" altLang="zh-CN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DataFrame</a:t>
              </a:r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对象</a:t>
              </a:r>
              <a:endParaRPr lang="zh-CN" altLang="en-US" sz="20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2">
            <a:extLst>
              <a:ext uri="{FF2B5EF4-FFF2-40B4-BE49-F238E27FC236}">
                <a16:creationId xmlns="" xmlns:a16="http://schemas.microsoft.com/office/drawing/2014/main" id="{206052C8-0F69-43DF-8E9E-107B641DC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097" y="922903"/>
            <a:ext cx="10007132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715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0" lvl="1" indent="0" algn="just">
              <a:lnSpc>
                <a:spcPct val="120000"/>
              </a:lnSpc>
              <a:buClr>
                <a:schemeClr val="accent4">
                  <a:lumMod val="75000"/>
                </a:schemeClr>
              </a:buClr>
            </a:pP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 Unicode MS" pitchFamily="34" charset="-122"/>
              </a:rPr>
              <a:t>创建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 Unicode MS" pitchFamily="34" charset="-122"/>
              </a:rPr>
              <a:t>DataFrame</a:t>
            </a:r>
            <a:r>
              <a:rPr lang="zh-CN" altLang="en-US"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 Unicode MS" pitchFamily="34" charset="-122"/>
              </a:rPr>
              <a:t>对象的方式很多，最常用的是通过一个字典直接转换，字典中每个主键的对应数据是等长的列表或</a:t>
            </a:r>
            <a:r>
              <a:rPr lang="en-US" altLang="zh-CN"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 Unicode MS" pitchFamily="34" charset="-122"/>
              </a:rPr>
              <a:t>numpy</a:t>
            </a:r>
            <a:r>
              <a:rPr lang="zh-CN" alt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 Unicode MS" pitchFamily="34" charset="-122"/>
              </a:rPr>
              <a:t>数组。</a:t>
            </a:r>
            <a:endParaRPr lang="en-US" altLang="zh-CN" sz="2400" smtClean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Arial Unicode MS" pitchFamily="34" charset="-122"/>
            </a:endParaRPr>
          </a:p>
          <a:p>
            <a:pPr marL="0" lvl="1" indent="0" algn="just">
              <a:lnSpc>
                <a:spcPct val="120000"/>
              </a:lnSpc>
              <a:buClr>
                <a:schemeClr val="accent4">
                  <a:lumMod val="75000"/>
                </a:schemeClr>
              </a:buClr>
            </a:pPr>
            <a:r>
              <a:rPr lang="zh-CN" alt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Arial Unicode MS" pitchFamily="34" charset="-122"/>
              </a:rPr>
              <a:t>未定义行索引时自动创建行索引。</a:t>
            </a:r>
            <a:endParaRPr lang="zh-CN" altLang="en-US" sz="240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  <a:cs typeface="Arial Unicode MS" pitchFamily="34" charset="-122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360" y="2636379"/>
            <a:ext cx="10046869" cy="193899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 2017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年中国大陆城市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GDP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数据，人口单位：（万人），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GDP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单位：（亿元）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dic = {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城市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':  ['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北京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上海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广州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深圳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重庆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'],</a:t>
            </a:r>
          </a:p>
          <a:p>
            <a:r>
              <a:rPr lang="en-US" altLang="zh-CN" sz="2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      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人口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':  [2171, 2418, 1090, 1404, 3372],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       </a:t>
            </a:r>
            <a:r>
              <a:rPr lang="en-US" altLang="zh-CN" sz="2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'GDP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': [28000, 30133, 21500, 22286, 19530]   }</a:t>
            </a:r>
          </a:p>
          <a:p>
            <a:endParaRPr lang="en-US" altLang="zh-CN" sz="2000" b="1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df = pd.DataFrame(dic, columns=['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城市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'GDP',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人口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'])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1016" y="4034624"/>
            <a:ext cx="3572201" cy="224676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97557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DataFrame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的常见属性</a:t>
              </a:r>
              <a:endParaRPr lang="en-US" altLang="zh-CN" sz="2400" b="1" smtClean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616" y="949060"/>
            <a:ext cx="9414169" cy="581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/>
              <a:t>DataFrame</a:t>
            </a:r>
            <a:r>
              <a:rPr lang="zh-CN" altLang="zh-CN" sz="2400" smtClean="0"/>
              <a:t>对象可以</a:t>
            </a:r>
            <a:r>
              <a:rPr lang="zh-CN" altLang="zh-CN" sz="2400"/>
              <a:t>通过一些属性查看它的基本</a:t>
            </a:r>
            <a:r>
              <a:rPr lang="zh-CN" altLang="zh-CN" sz="2400" smtClean="0"/>
              <a:t>信息</a:t>
            </a:r>
            <a:r>
              <a:rPr lang="zh-CN" altLang="en-US" sz="2400" smtClean="0"/>
              <a:t>。</a:t>
            </a:r>
            <a:endParaRPr lang="zh-CN" altLang="en-US" sz="3200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3479"/>
              </p:ext>
            </p:extLst>
          </p:nvPr>
        </p:nvGraphicFramePr>
        <p:xfrm>
          <a:off x="781967" y="1961262"/>
          <a:ext cx="9587103" cy="35485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231"/>
                <a:gridCol w="7193872"/>
              </a:tblGrid>
              <a:tr h="49531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+mn-ea"/>
                          <a:ea typeface="+mn-ea"/>
                          <a:cs typeface="Consolas"/>
                        </a:rPr>
                        <a:t>属性名称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>
                          <a:effectLst/>
                          <a:latin typeface="+mn-ea"/>
                          <a:ea typeface="+mn-ea"/>
                          <a:cs typeface="Consolas"/>
                        </a:rPr>
                        <a:t>功能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10656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df.shape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DataFrame</a:t>
                      </a:r>
                      <a:r>
                        <a:rPr lang="zh-CN" sz="2000" kern="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Consolas"/>
                        </a:rPr>
                        <a:t>的形状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10656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df.index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DataFrame</a:t>
                      </a:r>
                      <a:r>
                        <a:rPr lang="zh-CN" sz="2000" kern="100">
                          <a:effectLst/>
                          <a:latin typeface="+mn-ea"/>
                          <a:ea typeface="+mn-ea"/>
                          <a:cs typeface="Consolas"/>
                        </a:rPr>
                        <a:t>的</a:t>
                      </a:r>
                      <a:r>
                        <a:rPr lang="zh-CN" sz="2000" kern="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Consolas"/>
                        </a:rPr>
                        <a:t>行索引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10656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df.columns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DataFrame</a:t>
                      </a:r>
                      <a:r>
                        <a:rPr lang="zh-CN" sz="2000" kern="100">
                          <a:effectLst/>
                          <a:latin typeface="+mn-ea"/>
                          <a:ea typeface="+mn-ea"/>
                          <a:cs typeface="Consolas"/>
                        </a:rPr>
                        <a:t>的列索引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10656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df.values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+mn-ea"/>
                          <a:ea typeface="+mn-ea"/>
                          <a:cs typeface="Consolas"/>
                        </a:rPr>
                        <a:t>以</a:t>
                      </a:r>
                      <a:r>
                        <a:rPr lang="en-US" sz="200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numpy.ndarray</a:t>
                      </a:r>
                      <a:r>
                        <a:rPr lang="zh-CN" sz="2000" kern="100">
                          <a:effectLst/>
                          <a:latin typeface="+mn-ea"/>
                          <a:ea typeface="+mn-ea"/>
                          <a:cs typeface="Consolas"/>
                        </a:rPr>
                        <a:t>对象类型返回</a:t>
                      </a:r>
                      <a:r>
                        <a:rPr lang="en-US" sz="200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DataFrame</a:t>
                      </a:r>
                      <a:r>
                        <a:rPr lang="zh-CN" sz="2000" kern="100">
                          <a:effectLst/>
                          <a:latin typeface="+mn-ea"/>
                          <a:ea typeface="+mn-ea"/>
                          <a:cs typeface="Consolas"/>
                        </a:rPr>
                        <a:t>所有数据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10656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df.info()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+mn-ea"/>
                          <a:ea typeface="+mn-ea"/>
                          <a:cs typeface="Times New Roman"/>
                        </a:rPr>
                        <a:t>DataFrame</a:t>
                      </a:r>
                      <a:r>
                        <a:rPr lang="zh-CN" sz="2000" kern="100">
                          <a:effectLst/>
                          <a:latin typeface="+mn-ea"/>
                          <a:ea typeface="+mn-ea"/>
                          <a:cs typeface="Consolas"/>
                        </a:rPr>
                        <a:t>的摘要信息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0965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DataFrame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自定义索引</a:t>
              </a:r>
              <a:endParaRPr lang="en-US" altLang="zh-CN" sz="2400" b="1" smtClean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23" y="1851596"/>
            <a:ext cx="7697204" cy="286232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2017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年中国大陆城市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GDP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数据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dic = {'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城市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': ['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北京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上海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广州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深圳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重庆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'],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     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人口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': [2171, 2418, 1090, 1404, 3372],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      'GDP': [28000, 30133, 21500, 22286, 19530] }</a:t>
            </a:r>
          </a:p>
          <a:p>
            <a:endParaRPr lang="en-US" altLang="zh-CN" sz="2000" b="1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df = pd.DataFrame(dic,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                 index = [2, 1, 4, 3, 5],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                 columns=['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城市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'GDP',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人口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'])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print(df)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348" y="868031"/>
            <a:ext cx="10537200" cy="5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如果希望自定义索引，那么在创建对象时，就需要增加索引参数：</a:t>
            </a:r>
            <a:endParaRPr lang="zh-CN" altLang="en-US" sz="3200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102" y="2639558"/>
            <a:ext cx="3490996" cy="2074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3888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DataFrame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自定义索引</a:t>
              </a:r>
              <a:endParaRPr lang="en-US" altLang="zh-CN" sz="2400" b="1" smtClean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623" y="2514205"/>
            <a:ext cx="8200785" cy="193899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以城市列作为新索引创建一个新对象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df = df.set_index(['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城市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'])</a:t>
            </a:r>
          </a:p>
          <a:p>
            <a:endParaRPr lang="zh-CN" altLang="en-US" sz="2000" b="1">
              <a:solidFill>
                <a:srgbClr val="C00000"/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根据给定索引改变数据行顺序，创建一个新对象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df = df.reindex(['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上海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北京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深圳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广州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重庆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'])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print(df)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348" y="868031"/>
            <a:ext cx="10537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pandas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允许用户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使用 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set_index() 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将某列设置为新索引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，</a:t>
            </a:r>
            <a:endParaRPr lang="en-US" altLang="zh-CN" sz="240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也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可以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使用 </a:t>
            </a:r>
            <a:r>
              <a:rPr lang="en-US" altLang="zh-CN" sz="2400" smtClean="0">
                <a:latin typeface="微软雅黑" pitchFamily="34" charset="-122"/>
                <a:ea typeface="微软雅黑" pitchFamily="34" charset="-122"/>
              </a:rPr>
              <a:t>reindex() 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方法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改变数据行的顺序，生成一个匹配新索引的新对象</a:t>
            </a:r>
            <a:endParaRPr lang="zh-CN" altLang="en-US" sz="3200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3912" y="2514205"/>
            <a:ext cx="2981740" cy="2583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463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DataFrame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数据选择</a:t>
              </a:r>
              <a:endParaRPr lang="en-US" altLang="zh-CN" sz="2400" b="1" smtClean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320" y="873145"/>
            <a:ext cx="8258063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如果想对</a:t>
            </a:r>
            <a:r>
              <a:rPr lang="en-US" altLang="zh-CN" sz="2400">
                <a:latin typeface="微软雅黑" pitchFamily="34" charset="-122"/>
                <a:ea typeface="微软雅黑" pitchFamily="34" charset="-122"/>
              </a:rPr>
              <a:t>DataFrame</a:t>
            </a:r>
            <a:r>
              <a:rPr lang="zh-CN" altLang="en-US" sz="2400">
                <a:latin typeface="微软雅黑" pitchFamily="34" charset="-122"/>
                <a:ea typeface="微软雅黑" pitchFamily="34" charset="-122"/>
              </a:rPr>
              <a:t>对象进行切片，获取部分数据，根据想获取的区域不同，有几种常用的数据选择方式：选择行、选择列、选择数据区域、选择单个数据、条件</a:t>
            </a:r>
            <a:r>
              <a:rPr lang="zh-CN" altLang="en-US" sz="2400" smtClean="0">
                <a:latin typeface="微软雅黑" pitchFamily="34" charset="-122"/>
                <a:ea typeface="微软雅黑" pitchFamily="34" charset="-122"/>
              </a:rPr>
              <a:t>筛选等。</a:t>
            </a:r>
            <a:endParaRPr lang="zh-CN" altLang="en-US" sz="3200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pic>
        <p:nvPicPr>
          <p:cNvPr id="10" name="图片 9"/>
          <p:cNvPicPr/>
          <p:nvPr/>
        </p:nvPicPr>
        <p:blipFill>
          <a:blip r:embed="rId3"/>
          <a:stretch>
            <a:fillRect/>
          </a:stretch>
        </p:blipFill>
        <p:spPr>
          <a:xfrm>
            <a:off x="8655516" y="578040"/>
            <a:ext cx="2915390" cy="2066857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360" y="2855315"/>
            <a:ext cx="11040546" cy="347787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b="1" smtClean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sz="2000" b="1" smtClean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选择行数据</a:t>
            </a:r>
            <a:endParaRPr lang="en-US" altLang="zh-CN" sz="2000" b="1" smtClean="0">
              <a:solidFill>
                <a:srgbClr val="C00000"/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print(df[0:1])		# 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获取第一行	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print(df[1:3])		# 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获取第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行：北京、深圳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print(df['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北京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':'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广州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'])	# 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获取第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1-3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行：北京、深圳、广州</a:t>
            </a:r>
          </a:p>
          <a:p>
            <a:endParaRPr lang="zh-CN" altLang="en-US" sz="2000" b="1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print(df.head())	</a:t>
            </a:r>
            <a:r>
              <a:rPr lang="en-US" altLang="zh-CN" sz="2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	# 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默认获取前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5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行数据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print(df.head(3))	</a:t>
            </a:r>
            <a:r>
              <a:rPr lang="en-US" altLang="zh-CN" sz="2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	# 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获取前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3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行数据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print(df.tail(1))	</a:t>
            </a:r>
            <a:r>
              <a:rPr lang="en-US" altLang="zh-CN" sz="2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	# 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获取最后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1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行数据</a:t>
            </a:r>
            <a:endParaRPr lang="en-US" altLang="zh-CN" sz="2000" b="1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endParaRPr lang="en-US" altLang="zh-CN" sz="2000" b="1" smtClean="0">
              <a:solidFill>
                <a:srgbClr val="0000FF"/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选择列</a:t>
            </a:r>
            <a:endParaRPr lang="en-US" altLang="zh-CN" sz="2000" b="1">
              <a:solidFill>
                <a:srgbClr val="C00000"/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print(df['GDP'])		# 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获取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GDP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列</a:t>
            </a:r>
            <a:endParaRPr lang="en-US" altLang="zh-CN" sz="2000" b="1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475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12" name="TextBox 11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DataFrame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的区域选择</a:t>
              </a:r>
              <a:endParaRPr lang="en-US" altLang="zh-CN" sz="2400" b="1" smtClean="0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16" name="椭圆 15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15" name="直接连接符 14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092" y="793633"/>
            <a:ext cx="11054271" cy="16158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indent="0">
              <a:lnSpc>
                <a:spcPct val="150000"/>
              </a:lnSpc>
            </a:pPr>
            <a:r>
              <a:rPr lang="zh-CN" altLang="en-US" sz="2200" smtClean="0">
                <a:latin typeface="微软雅黑" pitchFamily="34" charset="-122"/>
                <a:ea typeface="微软雅黑" pitchFamily="34" charset="-122"/>
              </a:rPr>
              <a:t>      选择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区域数据时可能用到的方式有：</a:t>
            </a: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loc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iloc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at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iat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等，我们先讲一下它们的大致区别。一种是基于行列索引标签进行选择，如：</a:t>
            </a: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loc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at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；另一种是基于行列位置关系进行切片，如：</a:t>
            </a: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iloc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200">
                <a:latin typeface="微软雅黑" pitchFamily="34" charset="-122"/>
                <a:ea typeface="微软雅黑" pitchFamily="34" charset="-122"/>
              </a:rPr>
              <a:t>iat</a:t>
            </a:r>
            <a:r>
              <a:rPr lang="zh-CN" altLang="en-US" sz="2200"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2200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739499"/>
              </p:ext>
            </p:extLst>
          </p:nvPr>
        </p:nvGraphicFramePr>
        <p:xfrm>
          <a:off x="781966" y="2409465"/>
          <a:ext cx="10614903" cy="42298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92469"/>
                <a:gridCol w="7222434"/>
              </a:tblGrid>
              <a:tr h="46998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+mn-ea"/>
                          <a:ea typeface="+mn-ea"/>
                        </a:rPr>
                        <a:t>使用格式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+mn-ea"/>
                          <a:ea typeface="+mn-ea"/>
                        </a:rPr>
                        <a:t>功能</a:t>
                      </a:r>
                      <a:endParaRPr lang="zh-CN" sz="20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69986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loc[i]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选取行索引为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i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的行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69986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loc[i1:i2]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选取行索引从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i1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至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i2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的行，包含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i2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行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69986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loc[i1:i2, c1:c2]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选取行索引从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i1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至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i2, 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列索引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c1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至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c2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的矩形区域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69986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at[i, c]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选取行索引为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i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和列索引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c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的单个数据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69986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iloc[r]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选取位置为第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行的数据，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从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开始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69986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iloc[r1:r2]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选取位置为第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r1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行至第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r2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行的数据，不包括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r2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行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69986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iloc[r1:r2, c1:c2]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选取位置为第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r1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行至第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r2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行，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c1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至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c2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列的矩形区域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69986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iat[r, c]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+mn-ea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选取位置为第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行、第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c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列的单个数据，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r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和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c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从</a:t>
                      </a: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0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开始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206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547193" cy="504056"/>
            <a:chOff x="169526" y="203448"/>
            <a:chExt cx="554719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9355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DataFrame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的区域选择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51" y="976817"/>
            <a:ext cx="10477500" cy="585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1588" indent="19050" algn="just">
              <a:lnSpc>
                <a:spcPct val="150000"/>
              </a:lnSpc>
            </a:pPr>
            <a:r>
              <a:rPr lang="zh-CN" altLang="en-US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对于右图示例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对象，下列代码演示了如何使用</a:t>
            </a: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loc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iloc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at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iat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156" y="1808394"/>
            <a:ext cx="8931692" cy="440120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基于行列索引标签</a:t>
            </a:r>
            <a:r>
              <a:rPr lang="zh-CN" altLang="en-US" sz="2000" b="1" smtClean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选择</a:t>
            </a:r>
            <a:endParaRPr lang="en-US" altLang="zh-CN" sz="2000" b="1" smtClean="0">
              <a:solidFill>
                <a:srgbClr val="C00000"/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&gt;&gt;&gt; df.loc['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北京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		             # 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选取北京行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&gt;&gt;&gt; df.loc['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北京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':'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广州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		      # 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选取北京、深圳、广州三行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&gt;&gt;&gt; df.loc['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北京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':'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广州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'GDP':'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人口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 # 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选取指定的三行两列</a:t>
            </a:r>
          </a:p>
          <a:p>
            <a:endParaRPr lang="en-US" altLang="zh-CN" sz="2000" b="1" smtClean="0">
              <a:solidFill>
                <a:srgbClr val="0000FF"/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基于数据所在的行列位置进行选择，结果</a:t>
            </a:r>
            <a:r>
              <a:rPr lang="zh-CN" altLang="en-US" sz="2000" b="1" smtClean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同上</a:t>
            </a:r>
            <a:endParaRPr lang="en-US" altLang="zh-CN" sz="2000" b="1" smtClean="0">
              <a:solidFill>
                <a:srgbClr val="C00000"/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&gt;&gt;&gt; df.iloc[1]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&gt;&gt;&gt; df.iloc[1:4]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&gt;&gt;&gt; df.iloc[1:4, 0:]</a:t>
            </a:r>
          </a:p>
          <a:p>
            <a:endParaRPr lang="en-US" altLang="zh-CN" sz="2000" b="1" smtClean="0">
              <a:solidFill>
                <a:srgbClr val="0000FF"/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基于标签选择深圳的人口：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1404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&gt;&gt;&gt; df.at['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深圳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人口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</a:t>
            </a:r>
          </a:p>
          <a:p>
            <a:r>
              <a:rPr lang="en-US" altLang="zh-CN" sz="2000" b="1" smtClean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基于位置选择深圳的人口：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1404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&gt;&gt;&gt; df.iat[2, 1]</a:t>
            </a:r>
          </a:p>
        </p:txBody>
      </p:sp>
      <p:pic>
        <p:nvPicPr>
          <p:cNvPr id="12" name="图片 11"/>
          <p:cNvPicPr/>
          <p:nvPr/>
        </p:nvPicPr>
        <p:blipFill>
          <a:blip r:embed="rId3"/>
          <a:stretch>
            <a:fillRect/>
          </a:stretch>
        </p:blipFill>
        <p:spPr>
          <a:xfrm>
            <a:off x="8655516" y="4142742"/>
            <a:ext cx="2915390" cy="20668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50911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数据文件的导入和导出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51" y="976817"/>
            <a:ext cx="10477500" cy="1139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1588" indent="19050" algn="just">
              <a:lnSpc>
                <a:spcPct val="150000"/>
              </a:lnSpc>
            </a:pP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DataFrame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对象可以很方便的从各种常见格式文件中导入数据，也可以方便的将数据导出，生成各种文件。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127" y="2537261"/>
            <a:ext cx="8931692" cy="363176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b="1" smtClean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sz="2000" b="1" smtClean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导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入数据，假定已存在两个数据文件：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data1.csv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data2.xlsx</a:t>
            </a:r>
          </a:p>
          <a:p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header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参数表示第一行作为标题</a:t>
            </a:r>
            <a:r>
              <a:rPr lang="zh-CN" altLang="en-US" sz="2000" b="1" smtClean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行</a:t>
            </a:r>
            <a:endParaRPr lang="en-US" altLang="zh-CN" sz="2000" b="1" smtClean="0">
              <a:solidFill>
                <a:srgbClr val="C00000"/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df = pd.DataFrame(pd.read_csv('data1.csv', header=1)) </a:t>
            </a: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df = pd.DataFrame(pd.read_excel('data2.xlsx'))</a:t>
            </a:r>
          </a:p>
          <a:p>
            <a:endParaRPr lang="en-US" altLang="zh-CN" sz="2000" b="1">
              <a:solidFill>
                <a:srgbClr val="0000FF"/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DataFrame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对象数据导出为文件</a:t>
            </a: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df.to_excel('result1.xlsx', sheet_name='sheet1') </a:t>
            </a: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df.to_csv('result2.csv') </a:t>
            </a: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df.to_html('result3.html')</a:t>
            </a:r>
          </a:p>
        </p:txBody>
      </p:sp>
    </p:spTree>
    <p:extLst>
      <p:ext uri="{BB962C8B-B14F-4D97-AF65-F5344CB8AC3E}">
        <p14:creationId xmlns:p14="http://schemas.microsoft.com/office/powerpoint/2010/main" val="261670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数据筛选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51" y="756669"/>
            <a:ext cx="10477500" cy="1139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1588" indent="19050" algn="just">
              <a:lnSpc>
                <a:spcPct val="150000"/>
              </a:lnSpc>
            </a:pP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DataFrame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中的数据，经常需要根据条件进行筛选，这时候可以对指定列直接设定</a:t>
            </a:r>
            <a:r>
              <a:rPr lang="zh-CN" altLang="en-US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条件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852" y="2095493"/>
            <a:ext cx="4922577" cy="1323439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筛选出人口大于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2000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万的城市</a:t>
            </a: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df_filter = df[df['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人口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']&gt;2000]</a:t>
            </a: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print(df_filter)	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9916" y="2095493"/>
            <a:ext cx="2756038" cy="1718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357" y="4208898"/>
            <a:ext cx="7586264" cy="1323439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筛选出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GDP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超过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20000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万并且人口大于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2000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万的城市</a:t>
            </a: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df_loc = df.loc[(df['GDP']&gt;20000) &amp; (df['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人口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']&gt;2000)]</a:t>
            </a: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print(df_loc)	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4169" y="4208898"/>
            <a:ext cx="2987744" cy="1502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3801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21" name="TextBox 20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数据排序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24" name="椭圆 23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3" name="直接连接符 22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51" y="756669"/>
            <a:ext cx="10477500" cy="1139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1588" indent="19050" algn="just">
              <a:lnSpc>
                <a:spcPct val="150000"/>
              </a:lnSpc>
            </a:pP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DataFrame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中的数据，经常需要根据条件进行筛选，这时候可以对指定列直接设定</a:t>
            </a:r>
            <a:r>
              <a:rPr lang="zh-CN" altLang="en-US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条件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。</a:t>
            </a:r>
          </a:p>
        </p:txBody>
      </p:sp>
      <p:sp>
        <p:nvSpPr>
          <p:cNvPr id="29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357" y="2233223"/>
            <a:ext cx="7586264" cy="2708434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筛选出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GDP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超过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20000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万并且人口大于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2000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万的城市</a:t>
            </a: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df = df.sort_values(by=['GDP'], ascending=False)</a:t>
            </a:r>
          </a:p>
          <a:p>
            <a:pPr>
              <a:lnSpc>
                <a:spcPct val="150000"/>
              </a:lnSpc>
            </a:pPr>
            <a:endParaRPr lang="en-US" altLang="zh-CN" sz="2000" b="1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新增一列：排序，取值 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1-5</a:t>
            </a: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df['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排名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 = list(range(1,6))  </a:t>
            </a:r>
          </a:p>
          <a:p>
            <a:pPr>
              <a:lnSpc>
                <a:spcPct val="150000"/>
              </a:lnSpc>
            </a:pP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print(df)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4810" y="3706306"/>
            <a:ext cx="3739441" cy="247070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318882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6541979" cy="504056"/>
            <a:chOff x="169526" y="203448"/>
            <a:chExt cx="6541979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781173" y="245839"/>
              <a:ext cx="59303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数据分组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56" name="组合 55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椭圆 56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51" y="976817"/>
            <a:ext cx="10477500" cy="9612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1588" indent="19050" algn="just">
              <a:lnSpc>
                <a:spcPct val="150000"/>
              </a:lnSpc>
            </a:pPr>
            <a:r>
              <a:rPr lang="zh-CN" altLang="en-US" sz="2000">
                <a:latin typeface="+mn-ea"/>
                <a:ea typeface="+mn-ea"/>
                <a:cs typeface="Consolas" panose="020B0609020204030204" pitchFamily="49" charset="0"/>
              </a:rPr>
              <a:t>在数据处理时经常会涉及到数据的分组操作，即根据某一列或某几列的取值，将大数据集拆分成几个小数据集，然后在这几个小数据集上应用统计函数进行相关统计，这就是分组</a:t>
            </a:r>
            <a:r>
              <a:rPr lang="zh-CN" altLang="en-US" sz="2000" smtClean="0">
                <a:latin typeface="+mn-ea"/>
                <a:ea typeface="+mn-ea"/>
                <a:cs typeface="Consolas" panose="020B0609020204030204" pitchFamily="49" charset="0"/>
              </a:rPr>
              <a:t>操作。</a:t>
            </a:r>
            <a:endParaRPr lang="zh-CN" altLang="en-US" sz="2000">
              <a:latin typeface="+mn-ea"/>
              <a:ea typeface="+mn-ea"/>
              <a:cs typeface="Consolas" panose="020B0609020204030204" pitchFamily="49" charset="0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865" y="2255768"/>
            <a:ext cx="7188683" cy="39116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498493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21" name="TextBox 20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数据分组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24" name="椭圆 23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3" name="直接连接符 22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6" y="756669"/>
            <a:ext cx="10477500" cy="1139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1588" indent="19050" algn="just">
              <a:lnSpc>
                <a:spcPct val="150000"/>
              </a:lnSpc>
            </a:pP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我们使用</a:t>
            </a: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2017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年三个经济大省前两名城市的</a:t>
            </a: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GDP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数据来做一次分组操作，统计其平均值</a:t>
            </a:r>
            <a:r>
              <a:rPr lang="zh-CN" altLang="en-US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等。</a:t>
            </a:r>
            <a:endParaRPr lang="zh-CN" altLang="en-US" sz="2400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sp>
        <p:nvSpPr>
          <p:cNvPr id="29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6" y="2062289"/>
            <a:ext cx="9017260" cy="3477875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dic 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= {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  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省份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': ['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广东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广东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江苏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浙江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江苏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浙江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'],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  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城市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': ['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深圳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广州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苏州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杭州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南京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宁波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'],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   'GDP': [22286, 21500, 17319, 12556, 11715, 9846],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   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人口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': [1090, 1404, 1065, 919, 827, 788],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}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df = pd.DataFrame(dic)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print(df)</a:t>
            </a:r>
          </a:p>
          <a:p>
            <a:endParaRPr lang="en-US" altLang="zh-CN" sz="2000" b="1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创建一个分组对象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group = df.groupby('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省份</a:t>
            </a:r>
            <a:r>
              <a:rPr lang="en-US" altLang="zh-CN" sz="2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')</a:t>
            </a:r>
            <a:endParaRPr lang="en-US" altLang="zh-CN" sz="2000" b="1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9123" y="4124279"/>
            <a:ext cx="4058770" cy="233921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325263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21" name="TextBox 20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数据分组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24" name="椭圆 23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3" name="直接连接符 22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6" y="756669"/>
            <a:ext cx="104775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1588" indent="19050" algn="just"/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变量</a:t>
            </a: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group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是一个分组对象，它实际上并没有进行任何计算，只是包含关于“省份”分组的中间数据。</a:t>
            </a:r>
          </a:p>
        </p:txBody>
      </p:sp>
      <p:sp>
        <p:nvSpPr>
          <p:cNvPr id="29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171" y="1730985"/>
            <a:ext cx="4686597" cy="101566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对各省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GDP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、人口数据求平均值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avg = group.mean()		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print(avg) 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970" y="1385298"/>
            <a:ext cx="2435488" cy="1265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918" y="2926892"/>
            <a:ext cx="4686597" cy="101566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对各省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GDP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、人口数据</a:t>
            </a:r>
            <a:r>
              <a:rPr lang="zh-CN" altLang="en-US" sz="2000" b="1" smtClean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求和</a:t>
            </a:r>
            <a:endParaRPr lang="zh-CN" altLang="en-US" sz="2000" b="1">
              <a:solidFill>
                <a:srgbClr val="C00000"/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total = group.sum()	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print(total) </a:t>
            </a:r>
          </a:p>
        </p:txBody>
      </p:sp>
      <p:sp>
        <p:nvSpPr>
          <p:cNvPr id="13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131" y="5627124"/>
            <a:ext cx="7727715" cy="101566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b="1" smtClean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计算各省人均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GDP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值，精确到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2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位小数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avgPro = (total['GDP'] / total['</a:t>
            </a:r>
            <a:r>
              <a:rPr lang="zh-CN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人口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']).round(2)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print(avgPro)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879" y="4154826"/>
            <a:ext cx="4686597" cy="101566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b="1" smtClean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求各省</a:t>
            </a:r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GDP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值最高的城市数据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max = group.max()	</a:t>
            </a:r>
          </a:p>
          <a:p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print(max)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970" y="2794587"/>
            <a:ext cx="2097076" cy="1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970" y="4154826"/>
            <a:ext cx="2708877" cy="130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0360" y="5315616"/>
            <a:ext cx="2003517" cy="1327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5184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21" name="TextBox 20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DataFrame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统计函数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24" name="椭圆 23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3" name="直接连接符 22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6" y="756669"/>
            <a:ext cx="10477500" cy="1139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1588" indent="19050" algn="just">
              <a:lnSpc>
                <a:spcPct val="150000"/>
              </a:lnSpc>
            </a:pP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上面例子中，我们已经用到了</a:t>
            </a:r>
            <a:r>
              <a:rPr lang="en-US" altLang="zh-CN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DataFrame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的统计函数，例如</a:t>
            </a: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sum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mean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等，</a:t>
            </a:r>
            <a:r>
              <a:rPr lang="zh-CN" altLang="en-US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在此列出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另外一些常用的数据</a:t>
            </a:r>
            <a:r>
              <a:rPr lang="zh-CN" altLang="en-US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统计函数。</a:t>
            </a:r>
            <a:endParaRPr lang="zh-CN" altLang="en-US" sz="2400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372298"/>
              </p:ext>
            </p:extLst>
          </p:nvPr>
        </p:nvGraphicFramePr>
        <p:xfrm>
          <a:off x="1288117" y="2266124"/>
          <a:ext cx="9250017" cy="41744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95092"/>
                <a:gridCol w="6054925"/>
              </a:tblGrid>
              <a:tr h="5218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函数名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函数功能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</a:tr>
              <a:tr h="521804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df.describe()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查看数据列的汇总统计信息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</a:tr>
              <a:tr h="521804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df.mean()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返回所有列平均值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</a:tr>
              <a:tr h="521804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df.count()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返回每一列中非空值的个数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</a:tr>
              <a:tr h="521804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df.max()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返回每一列的最大值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</a:tr>
              <a:tr h="521804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df.min()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返回每一列的最小值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</a:tr>
              <a:tr h="521804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df.median()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返回每一列的中位数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</a:tr>
              <a:tr h="521804">
                <a:tc>
                  <a:txBody>
                    <a:bodyPr/>
                    <a:lstStyle/>
                    <a:p>
                      <a:pPr indent="111760" algn="l">
                        <a:spcAft>
                          <a:spcPts val="0"/>
                        </a:spcAft>
                      </a:pPr>
                      <a:r>
                        <a:rPr lang="en-US" sz="2000" kern="1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df.std()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2000" kern="1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返回每一列的标准差</a:t>
                      </a:r>
                      <a:endParaRPr lang="zh-CN" sz="2000" kern="1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989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21" name="TextBox 20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DataFrame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数据合并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24" name="椭圆 23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3" name="直接连接符 22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6" y="756669"/>
            <a:ext cx="104775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1588" indent="19050" algn="just"/>
            <a:r>
              <a:rPr lang="zh-CN" altLang="en-US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有时需要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把几个</a:t>
            </a: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DataFrame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对象合并为一个</a:t>
            </a: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DataFrame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的情况，我们会用到以下几种方法：</a:t>
            </a: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append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、</a:t>
            </a: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merge</a:t>
            </a:r>
            <a:r>
              <a:rPr lang="zh-CN" altLang="en-US" sz="2400" smtClean="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等。</a:t>
            </a:r>
            <a:endParaRPr lang="zh-CN" altLang="en-US" sz="2400"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360" y="1810424"/>
            <a:ext cx="4494209" cy="1323439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sz="2000" b="1" smtClean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合并两个对象</a:t>
            </a:r>
          </a:p>
          <a:p>
            <a:r>
              <a:rPr lang="en-US" altLang="zh-CN" sz="2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result 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= df1.append(df2) 	</a:t>
            </a:r>
            <a:r>
              <a:rPr lang="en-US" altLang="zh-CN" sz="2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 </a:t>
            </a:r>
          </a:p>
          <a:p>
            <a:r>
              <a:rPr lang="en-US" altLang="zh-CN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sz="2000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合并三个对象</a:t>
            </a:r>
            <a:endParaRPr lang="en-US" altLang="zh-CN" sz="2000" b="1">
              <a:solidFill>
                <a:srgbClr val="C00000"/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sz="2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result 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= df1.append([df2, df3</a:t>
            </a:r>
            <a:r>
              <a:rPr lang="en-US" altLang="zh-CN" sz="20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])</a:t>
            </a:r>
            <a:endParaRPr lang="zh-CN" altLang="en-US" sz="2000" b="1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60" y="3285737"/>
            <a:ext cx="5519314" cy="3393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11" descr="_images/merging_append3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017" y="1828800"/>
            <a:ext cx="5592418" cy="49195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45191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="" xmlns:a16="http://schemas.microsoft.com/office/drawing/2014/main" id="{032EF26F-0D58-4A0E-97C1-668713F80B14}"/>
              </a:ext>
            </a:extLst>
          </p:cNvPr>
          <p:cNvGrpSpPr/>
          <p:nvPr/>
        </p:nvGrpSpPr>
        <p:grpSpPr>
          <a:xfrm>
            <a:off x="170320" y="203448"/>
            <a:ext cx="5190653" cy="504056"/>
            <a:chOff x="169526" y="203448"/>
            <a:chExt cx="5190653" cy="504056"/>
          </a:xfrm>
        </p:grpSpPr>
        <p:sp>
          <p:nvSpPr>
            <p:cNvPr id="21" name="TextBox 20"/>
            <p:cNvSpPr txBox="1"/>
            <p:nvPr/>
          </p:nvSpPr>
          <p:spPr>
            <a:xfrm>
              <a:off x="781173" y="245839"/>
              <a:ext cx="4579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DataFrame</a:t>
              </a:r>
              <a:r>
                <a:rPr lang="zh-CN" altLang="en-US" sz="2400" b="1" smtClean="0">
                  <a:solidFill>
                    <a:srgbClr val="1E6787"/>
                  </a:solidFill>
                  <a:latin typeface="微软雅黑" pitchFamily="34" charset="-122"/>
                  <a:ea typeface="微软雅黑" pitchFamily="34" charset="-122"/>
                </a:rPr>
                <a:t>绘图</a:t>
              </a:r>
              <a:endParaRPr lang="en-US" altLang="zh-CN" sz="2400" b="1">
                <a:solidFill>
                  <a:srgbClr val="1E67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="" xmlns:a16="http://schemas.microsoft.com/office/drawing/2014/main" id="{B3ECA4EB-10D1-4B65-B604-4032302CDAF4}"/>
                </a:ext>
              </a:extLst>
            </p:cNvPr>
            <p:cNvGrpSpPr/>
            <p:nvPr/>
          </p:nvGrpSpPr>
          <p:grpSpPr>
            <a:xfrm>
              <a:off x="169526" y="203448"/>
              <a:ext cx="504056" cy="504056"/>
              <a:chOff x="11207774" y="442662"/>
              <a:chExt cx="504056" cy="504056"/>
            </a:xfr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24" name="椭圆 23">
                <a:extLst>
                  <a:ext uri="{FF2B5EF4-FFF2-40B4-BE49-F238E27FC236}">
                    <a16:creationId xmlns="" xmlns:a16="http://schemas.microsoft.com/office/drawing/2014/main" id="{FF372EA1-AB4F-47B1-B450-59AB8827ECD5}"/>
                  </a:ext>
                </a:extLst>
              </p:cNvPr>
              <p:cNvSpPr/>
              <p:nvPr/>
            </p:nvSpPr>
            <p:spPr>
              <a:xfrm>
                <a:off x="11351790" y="601230"/>
                <a:ext cx="216024" cy="216024"/>
              </a:xfrm>
              <a:prstGeom prst="ellipse">
                <a:avLst/>
              </a:prstGeom>
              <a:solidFill>
                <a:srgbClr val="B3DF6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="" xmlns:a16="http://schemas.microsoft.com/office/drawing/2014/main" id="{0BEE7D95-9E9C-4C6D-91AA-6429F74B9F98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cxnSp>
          <p:nvCxnSpPr>
            <p:cNvPr id="23" name="直接连接符 22">
              <a:extLst>
                <a:ext uri="{FF2B5EF4-FFF2-40B4-BE49-F238E27FC236}">
                  <a16:creationId xmlns="" xmlns:a16="http://schemas.microsoft.com/office/drawing/2014/main" id="{C4FBB3C1-88AA-4E76-B54C-31018E3BFAA0}"/>
                </a:ext>
              </a:extLst>
            </p:cNvPr>
            <p:cNvCxnSpPr>
              <a:cxnSpLocks/>
            </p:cNvCxnSpPr>
            <p:nvPr/>
          </p:nvCxnSpPr>
          <p:spPr>
            <a:xfrm>
              <a:off x="775303" y="707504"/>
              <a:ext cx="1833288" cy="0"/>
            </a:xfrm>
            <a:prstGeom prst="line">
              <a:avLst/>
            </a:prstGeom>
            <a:ln>
              <a:solidFill>
                <a:srgbClr val="B3DF6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6" y="756669"/>
            <a:ext cx="104775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marL="1588" indent="19050" algn="just"/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DataFrame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对象绘图时调用的还是</a:t>
            </a: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matplotlib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库，所以绘制图表的方式与之前讲解</a:t>
            </a:r>
            <a:r>
              <a:rPr lang="en-US" altLang="zh-CN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matplotlib</a:t>
            </a:r>
            <a:r>
              <a:rPr lang="zh-CN" altLang="en-US" sz="2400"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绘图方式一样。</a:t>
            </a:r>
          </a:p>
        </p:txBody>
      </p:sp>
      <p:sp>
        <p:nvSpPr>
          <p:cNvPr id="10" name="TextBox 2">
            <a:extLst>
              <a:ext uri="{FF2B5EF4-FFF2-40B4-BE49-F238E27FC236}">
                <a16:creationId xmlns="" xmlns:a16="http://schemas.microsoft.com/office/drawing/2014/main" id="{A66A38D9-296E-42DC-88B8-806AA9DFA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596" y="1585071"/>
            <a:ext cx="10362927" cy="4801314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indent="-4572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r>
              <a:rPr lang="en-US" altLang="zh-CN" b="1" smtClean="0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</a:t>
            </a:r>
            <a:r>
              <a:rPr lang="zh-CN" altLang="en-US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用</a:t>
            </a:r>
            <a:r>
              <a:rPr lang="en-US" altLang="zh-CN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2017</a:t>
            </a:r>
            <a:r>
              <a:rPr lang="zh-CN" altLang="en-US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年几个城市的</a:t>
            </a:r>
            <a:r>
              <a:rPr lang="en-US" altLang="zh-CN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GDP</a:t>
            </a:r>
            <a:r>
              <a:rPr lang="zh-CN" altLang="en-US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和人口数据为例绘制一个柱形图</a:t>
            </a:r>
          </a:p>
          <a:p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import pandas as pd</a:t>
            </a:r>
          </a:p>
          <a:p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import matplotlib.pyplot as plt</a:t>
            </a:r>
          </a:p>
          <a:p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import </a:t>
            </a:r>
            <a:r>
              <a:rPr lang="en-US" altLang="zh-CN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matplotlib</a:t>
            </a:r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dic = </a:t>
            </a:r>
            <a:r>
              <a:rPr lang="en-US" altLang="zh-CN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{ '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省份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': ['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广东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广东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江苏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浙江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江苏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浙江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'],</a:t>
            </a:r>
          </a:p>
          <a:p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   </a:t>
            </a:r>
            <a:r>
              <a:rPr lang="en-US" altLang="zh-CN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   '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城市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': ['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深圳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广州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苏州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杭州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南京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', '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宁波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'],</a:t>
            </a:r>
          </a:p>
          <a:p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 </a:t>
            </a:r>
            <a:r>
              <a:rPr lang="en-US" altLang="zh-CN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'GDP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(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亿元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)': [22286, 21500, 17319, 12556, 11715, 9846],</a:t>
            </a:r>
          </a:p>
          <a:p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 </a:t>
            </a:r>
            <a:r>
              <a:rPr lang="en-US" altLang="zh-CN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 '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人口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(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万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)': [1090, 1404, 1065, 919, 827, 788</a:t>
            </a:r>
            <a:r>
              <a:rPr lang="en-US" altLang="zh-CN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] }</a:t>
            </a:r>
          </a:p>
          <a:p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df = pd.DataFrame(dic)</a:t>
            </a:r>
          </a:p>
          <a:p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df = df.set_index('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城市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') # 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重新设定城市名称为行索引</a:t>
            </a:r>
          </a:p>
          <a:p>
            <a:endParaRPr lang="zh-CN" altLang="en-US" b="1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为了在绘制图表中支持中文显示，设置字体为黑体</a:t>
            </a:r>
          </a:p>
          <a:p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matplotlib.rcParams['font.family']='SimHei</a:t>
            </a:r>
            <a:r>
              <a:rPr lang="en-US" altLang="zh-CN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</a:t>
            </a:r>
            <a:endParaRPr lang="en-US" altLang="zh-CN" b="1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  <a:p>
            <a:r>
              <a:rPr lang="en-US" altLang="zh-CN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# </a:t>
            </a:r>
            <a:r>
              <a:rPr lang="zh-CN" altLang="en-US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绘制</a:t>
            </a:r>
            <a:r>
              <a:rPr lang="en-US" altLang="zh-CN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GDP</a:t>
            </a:r>
            <a:r>
              <a:rPr lang="zh-CN" altLang="en-US" b="1">
                <a:solidFill>
                  <a:srgbClr val="C00000"/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及人口柱形图</a:t>
            </a:r>
          </a:p>
          <a:p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df.plot(kind='bar', title='2017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年城市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GDP</a:t>
            </a: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及人口数据</a:t>
            </a:r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')</a:t>
            </a:r>
          </a:p>
          <a:p>
            <a:r>
              <a:rPr lang="en-US" altLang="zh-CN" b="1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微软雅黑" pitchFamily="34" charset="-122"/>
                <a:cs typeface="Consolas" panose="020B0609020204030204" pitchFamily="49" charset="0"/>
              </a:rPr>
              <a:t>plt.show()</a:t>
            </a:r>
            <a:endParaRPr lang="en-US" altLang="zh-CN" sz="2000" b="1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  <a:ea typeface="微软雅黑" pitchFamily="34" charset="-122"/>
              <a:cs typeface="Consolas" panose="020B0609020204030204" pitchFamily="49" charset="0"/>
            </a:endParaRPr>
          </a:p>
        </p:txBody>
      </p:sp>
      <p:pic>
        <p:nvPicPr>
          <p:cNvPr id="13" name="图片 12"/>
          <p:cNvPicPr/>
          <p:nvPr/>
        </p:nvPicPr>
        <p:blipFill>
          <a:blip r:embed="rId3"/>
          <a:stretch>
            <a:fillRect/>
          </a:stretch>
        </p:blipFill>
        <p:spPr>
          <a:xfrm>
            <a:off x="6891130" y="3564836"/>
            <a:ext cx="5128591" cy="329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2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="" xmlns:a16="http://schemas.microsoft.com/office/drawing/2014/main" id="{F8014AE3-2F6F-4D03-ABA5-98B6F9BB3E2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50187" y="26345"/>
            <a:ext cx="12192001" cy="6870567"/>
          </a:xfrm>
          <a:prstGeom prst="rect">
            <a:avLst/>
          </a:prstGeom>
        </p:spPr>
      </p:pic>
      <p:sp>
        <p:nvSpPr>
          <p:cNvPr id="10" name="TextBox 1">
            <a:extLst>
              <a:ext uri="{FF2B5EF4-FFF2-40B4-BE49-F238E27FC236}">
                <a16:creationId xmlns="" xmlns:a16="http://schemas.microsoft.com/office/drawing/2014/main" id="{9852CEF3-AF68-464A-8EBB-F8859FB71535}"/>
              </a:ext>
            </a:extLst>
          </p:cNvPr>
          <p:cNvSpPr txBox="1"/>
          <p:nvPr/>
        </p:nvSpPr>
        <p:spPr>
          <a:xfrm>
            <a:off x="2090050" y="2721873"/>
            <a:ext cx="75550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Adobe Gothic Std B" pitchFamily="34" charset="-128"/>
                <a:ea typeface="Adobe Gothic Std B" pitchFamily="34" charset="-128"/>
              </a:rPr>
              <a:t>DataFrame</a:t>
            </a:r>
            <a:r>
              <a:rPr lang="zh-CN" altLang="en-US" sz="540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 </a:t>
            </a:r>
            <a:r>
              <a:rPr lang="zh-CN" altLang="en-US" sz="5400" smtClean="0">
                <a:ln w="12700">
                  <a:noFill/>
                  <a:prstDash val="solid"/>
                </a:ln>
                <a:solidFill>
                  <a:prstClr val="white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综合例题（略）</a:t>
            </a:r>
            <a:endParaRPr lang="zh-CN" altLang="en-US" sz="5400">
              <a:ln w="12700">
                <a:noFill/>
                <a:prstDash val="solid"/>
              </a:ln>
              <a:solidFill>
                <a:prstClr val="white"/>
              </a:solidFill>
              <a:effectLst>
                <a:outerShdw dist="50800" dir="4800000" algn="tl" rotWithShape="0">
                  <a:srgbClr val="000000">
                    <a:alpha val="40000"/>
                  </a:srgbClr>
                </a:outerShdw>
              </a:effectLst>
              <a:latin typeface="华文琥珀" panose="02010800040101010101" pitchFamily="2" charset="-122"/>
              <a:ea typeface="华文琥珀" panose="02010800040101010101" pitchFamily="2" charset="-122"/>
            </a:endParaRPr>
          </a:p>
        </p:txBody>
      </p:sp>
      <p:grpSp>
        <p:nvGrpSpPr>
          <p:cNvPr id="13" name="Group 5">
            <a:extLst>
              <a:ext uri="{FF2B5EF4-FFF2-40B4-BE49-F238E27FC236}">
                <a16:creationId xmlns="" xmlns:a16="http://schemas.microsoft.com/office/drawing/2014/main" id="{D4E457FC-7ABC-46A4-AA05-460516D34D97}"/>
              </a:ext>
            </a:extLst>
          </p:cNvPr>
          <p:cNvGrpSpPr/>
          <p:nvPr/>
        </p:nvGrpSpPr>
        <p:grpSpPr>
          <a:xfrm>
            <a:off x="8825614" y="4241498"/>
            <a:ext cx="2169488" cy="2175406"/>
            <a:chOff x="5292553" y="3355717"/>
            <a:chExt cx="1711365" cy="2494000"/>
          </a:xfrm>
          <a:solidFill>
            <a:schemeClr val="bg1">
              <a:lumMod val="95000"/>
            </a:schemeClr>
          </a:solidFill>
        </p:grpSpPr>
        <p:sp>
          <p:nvSpPr>
            <p:cNvPr id="14" name="Rectangle 5">
              <a:extLst>
                <a:ext uri="{FF2B5EF4-FFF2-40B4-BE49-F238E27FC236}">
                  <a16:creationId xmlns="" xmlns:a16="http://schemas.microsoft.com/office/drawing/2014/main" id="{92665014-DCFC-4389-9C6A-F93E9F8C5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92553" y="3573075"/>
              <a:ext cx="992082" cy="190188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5" name="Rectangle 6">
              <a:extLst>
                <a:ext uri="{FF2B5EF4-FFF2-40B4-BE49-F238E27FC236}">
                  <a16:creationId xmlns="" xmlns:a16="http://schemas.microsoft.com/office/drawing/2014/main" id="{EF3EFA7A-78BB-47D6-BE99-3EE9E3B71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2008" y="4624848"/>
              <a:ext cx="80422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6" name="Rectangle 7">
              <a:extLst>
                <a:ext uri="{FF2B5EF4-FFF2-40B4-BE49-F238E27FC236}">
                  <a16:creationId xmlns="" xmlns:a16="http://schemas.microsoft.com/office/drawing/2014/main" id="{058493F4-5F10-4640-8C9D-0CB576F6D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3355717"/>
              <a:ext cx="1124825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17" name="Rectangle 8">
              <a:extLst>
                <a:ext uri="{FF2B5EF4-FFF2-40B4-BE49-F238E27FC236}">
                  <a16:creationId xmlns="" xmlns:a16="http://schemas.microsoft.com/office/drawing/2014/main" id="{0C69EF19-DB4B-4B37-B32F-74A6E48FE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82601" y="3902993"/>
              <a:ext cx="1127154" cy="784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0" name="Rectangle 9">
              <a:extLst>
                <a:ext uri="{FF2B5EF4-FFF2-40B4-BE49-F238E27FC236}">
                  <a16:creationId xmlns="" xmlns:a16="http://schemas.microsoft.com/office/drawing/2014/main" id="{C42AAB68-43AB-415D-A741-A21AA5CC8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981397"/>
              <a:ext cx="1004502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2" name="Rectangle 10">
              <a:extLst>
                <a:ext uri="{FF2B5EF4-FFF2-40B4-BE49-F238E27FC236}">
                  <a16:creationId xmlns="" xmlns:a16="http://schemas.microsoft.com/office/drawing/2014/main" id="{2FF85755-A50E-4545-A1DB-E47E58A52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1873" y="4093379"/>
              <a:ext cx="874864" cy="7374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3" name="Rectangle 11">
              <a:extLst>
                <a:ext uri="{FF2B5EF4-FFF2-40B4-BE49-F238E27FC236}">
                  <a16:creationId xmlns="" xmlns:a16="http://schemas.microsoft.com/office/drawing/2014/main" id="{99E19DCB-AACF-4D06-86E1-5E525529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4166845"/>
              <a:ext cx="1026238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5" name="Rectangle 12">
              <a:extLst>
                <a:ext uri="{FF2B5EF4-FFF2-40B4-BE49-F238E27FC236}">
                  <a16:creationId xmlns="" xmlns:a16="http://schemas.microsoft.com/office/drawing/2014/main" id="{8DD2322D-625A-4087-B7F3-2B20CA9F9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0460" y="4915952"/>
              <a:ext cx="902034" cy="52011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7" name="Rectangle 13">
              <a:extLst>
                <a:ext uri="{FF2B5EF4-FFF2-40B4-BE49-F238E27FC236}">
                  <a16:creationId xmlns="" xmlns:a16="http://schemas.microsoft.com/office/drawing/2014/main" id="{2FA9C19B-9DE3-4109-88DD-09A4015E9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4967962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28" name="Rectangle 14">
              <a:extLst>
                <a:ext uri="{FF2B5EF4-FFF2-40B4-BE49-F238E27FC236}">
                  <a16:creationId xmlns="" xmlns:a16="http://schemas.microsoft.com/office/drawing/2014/main" id="{E0E32E6A-E28E-48C4-B20A-677FE8EEE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09771" y="5109245"/>
              <a:ext cx="936966" cy="23443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0" name="Rectangle 16">
              <a:extLst>
                <a:ext uri="{FF2B5EF4-FFF2-40B4-BE49-F238E27FC236}">
                  <a16:creationId xmlns="" xmlns:a16="http://schemas.microsoft.com/office/drawing/2014/main" id="{02F916DA-1539-4D39-AA70-3EC92AD5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2562" y="5343680"/>
              <a:ext cx="877193" cy="114113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1" name="Rectangle 17">
              <a:extLst>
                <a:ext uri="{FF2B5EF4-FFF2-40B4-BE49-F238E27FC236}">
                  <a16:creationId xmlns="" xmlns:a16="http://schemas.microsoft.com/office/drawing/2014/main" id="{BB3FA358-821C-4D1A-A707-A68DF726E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0682" y="5458288"/>
              <a:ext cx="823630" cy="166900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2" name="Rectangle 18">
              <a:extLst>
                <a:ext uri="{FF2B5EF4-FFF2-40B4-BE49-F238E27FC236}">
                  <a16:creationId xmlns="" xmlns:a16="http://schemas.microsoft.com/office/drawing/2014/main" id="{02A6F228-49CC-4714-AAC2-E3F6594C6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6304" y="5625188"/>
              <a:ext cx="1110076" cy="22434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3" name="Rectangle 19">
              <a:extLst>
                <a:ext uri="{FF2B5EF4-FFF2-40B4-BE49-F238E27FC236}">
                  <a16:creationId xmlns="" xmlns:a16="http://schemas.microsoft.com/office/drawing/2014/main" id="{BE0167A9-BDDD-4BAB-A716-5F33BC58C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1944" y="3355717"/>
              <a:ext cx="24841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4" name="Rectangle 20">
              <a:extLst>
                <a:ext uri="{FF2B5EF4-FFF2-40B4-BE49-F238E27FC236}">
                  <a16:creationId xmlns="" xmlns:a16="http://schemas.microsoft.com/office/drawing/2014/main" id="{3C7D64CC-2562-4099-9D5E-6F3D4B282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36785" y="3575404"/>
              <a:ext cx="776" cy="77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5" name="Rectangle 21">
              <a:extLst>
                <a:ext uri="{FF2B5EF4-FFF2-40B4-BE49-F238E27FC236}">
                  <a16:creationId xmlns="" xmlns:a16="http://schemas.microsoft.com/office/drawing/2014/main" id="{94B094DA-4C85-418A-ABB5-A5E94063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2196" y="3355717"/>
              <a:ext cx="40366" cy="219686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6" name="Rectangle 22">
              <a:extLst>
                <a:ext uri="{FF2B5EF4-FFF2-40B4-BE49-F238E27FC236}">
                  <a16:creationId xmlns="" xmlns:a16="http://schemas.microsoft.com/office/drawing/2014/main" id="{3E399475-D326-404C-93F7-37D0F271F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09755" y="4166845"/>
              <a:ext cx="16302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7" name="Rectangle 23">
              <a:extLst>
                <a:ext uri="{FF2B5EF4-FFF2-40B4-BE49-F238E27FC236}">
                  <a16:creationId xmlns="" xmlns:a16="http://schemas.microsoft.com/office/drawing/2014/main" id="{9A2A5F54-B98F-4337-AC05-ED458A97DC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034" y="4166845"/>
              <a:ext cx="158360" cy="254619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8" name="Freeform 24">
              <a:extLst>
                <a:ext uri="{FF2B5EF4-FFF2-40B4-BE49-F238E27FC236}">
                  <a16:creationId xmlns="" xmlns:a16="http://schemas.microsoft.com/office/drawing/2014/main" id="{6F4F9818-8003-40F2-AEA8-9F26A0CC7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5866" y="4793204"/>
              <a:ext cx="548052" cy="1056513"/>
            </a:xfrm>
            <a:custGeom>
              <a:avLst/>
              <a:gdLst>
                <a:gd name="T0" fmla="*/ 393 w 706"/>
                <a:gd name="T1" fmla="*/ 1361 h 1361"/>
                <a:gd name="T2" fmla="*/ 0 w 706"/>
                <a:gd name="T3" fmla="*/ 98 h 1361"/>
                <a:gd name="T4" fmla="*/ 314 w 706"/>
                <a:gd name="T5" fmla="*/ 0 h 1361"/>
                <a:gd name="T6" fmla="*/ 706 w 706"/>
                <a:gd name="T7" fmla="*/ 1263 h 1361"/>
                <a:gd name="T8" fmla="*/ 393 w 706"/>
                <a:gd name="T9" fmla="*/ 1361 h 1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06" h="1361">
                  <a:moveTo>
                    <a:pt x="393" y="1361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706" y="1263"/>
                  </a:lnTo>
                  <a:lnTo>
                    <a:pt x="393" y="1361"/>
                  </a:lnTo>
                  <a:close/>
                </a:path>
              </a:pathLst>
            </a:custGeom>
            <a:solidFill>
              <a:srgbClr val="6BE137"/>
            </a:solidFill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39" name="Freeform 25">
              <a:extLst>
                <a:ext uri="{FF2B5EF4-FFF2-40B4-BE49-F238E27FC236}">
                  <a16:creationId xmlns="" xmlns:a16="http://schemas.microsoft.com/office/drawing/2014/main" id="{9EF0C857-DA9B-4519-85D9-B60F89BD6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1444" y="5683594"/>
              <a:ext cx="248409" cy="91601"/>
            </a:xfrm>
            <a:custGeom>
              <a:avLst/>
              <a:gdLst>
                <a:gd name="T0" fmla="*/ 7 w 320"/>
                <a:gd name="T1" fmla="*/ 118 h 118"/>
                <a:gd name="T2" fmla="*/ 0 w 320"/>
                <a:gd name="T3" fmla="*/ 97 h 118"/>
                <a:gd name="T4" fmla="*/ 314 w 320"/>
                <a:gd name="T5" fmla="*/ 0 h 118"/>
                <a:gd name="T6" fmla="*/ 320 w 320"/>
                <a:gd name="T7" fmla="*/ 21 h 118"/>
                <a:gd name="T8" fmla="*/ 7 w 320"/>
                <a:gd name="T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0" h="118">
                  <a:moveTo>
                    <a:pt x="7" y="118"/>
                  </a:moveTo>
                  <a:lnTo>
                    <a:pt x="0" y="97"/>
                  </a:lnTo>
                  <a:lnTo>
                    <a:pt x="314" y="0"/>
                  </a:lnTo>
                  <a:lnTo>
                    <a:pt x="320" y="21"/>
                  </a:lnTo>
                  <a:lnTo>
                    <a:pt x="7" y="118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0" name="Freeform 26">
              <a:extLst>
                <a:ext uri="{FF2B5EF4-FFF2-40B4-BE49-F238E27FC236}">
                  <a16:creationId xmlns="" xmlns:a16="http://schemas.microsoft.com/office/drawing/2014/main" id="{2E59EB70-1015-4512-AC21-D0F475D03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483" y="4874713"/>
              <a:ext cx="290328" cy="226673"/>
            </a:xfrm>
            <a:custGeom>
              <a:avLst/>
              <a:gdLst>
                <a:gd name="T0" fmla="*/ 61 w 374"/>
                <a:gd name="T1" fmla="*/ 292 h 292"/>
                <a:gd name="T2" fmla="*/ 0 w 374"/>
                <a:gd name="T3" fmla="*/ 98 h 292"/>
                <a:gd name="T4" fmla="*/ 314 w 374"/>
                <a:gd name="T5" fmla="*/ 0 h 292"/>
                <a:gd name="T6" fmla="*/ 374 w 374"/>
                <a:gd name="T7" fmla="*/ 194 h 292"/>
                <a:gd name="T8" fmla="*/ 61 w 374"/>
                <a:gd name="T9" fmla="*/ 292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" h="292">
                  <a:moveTo>
                    <a:pt x="61" y="292"/>
                  </a:moveTo>
                  <a:lnTo>
                    <a:pt x="0" y="98"/>
                  </a:lnTo>
                  <a:lnTo>
                    <a:pt x="314" y="0"/>
                  </a:lnTo>
                  <a:lnTo>
                    <a:pt x="374" y="194"/>
                  </a:lnTo>
                  <a:lnTo>
                    <a:pt x="61" y="292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1" name="Rectangle 27">
              <a:extLst>
                <a:ext uri="{FF2B5EF4-FFF2-40B4-BE49-F238E27FC236}">
                  <a16:creationId xmlns="" xmlns:a16="http://schemas.microsoft.com/office/drawing/2014/main" id="{BA03F342-0396-4C16-8834-78EF529F54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06526" y="4421463"/>
              <a:ext cx="81742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2" name="Rectangle 28">
              <a:extLst>
                <a:ext uri="{FF2B5EF4-FFF2-40B4-BE49-F238E27FC236}">
                  <a16:creationId xmlns="" xmlns:a16="http://schemas.microsoft.com/office/drawing/2014/main" id="{96B6A2F7-A8E4-49C2-AB28-29FE56A07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001" y="4421463"/>
              <a:ext cx="60550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3" name="Rectangle 29">
              <a:extLst>
                <a:ext uri="{FF2B5EF4-FFF2-40B4-BE49-F238E27FC236}">
                  <a16:creationId xmlns="" xmlns:a16="http://schemas.microsoft.com/office/drawing/2014/main" id="{5B95C07C-C2FD-431C-8EFF-17E7E40A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2745" y="4421463"/>
              <a:ext cx="62102" cy="203385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4" name="Rectangle 30">
              <a:extLst>
                <a:ext uri="{FF2B5EF4-FFF2-40B4-BE49-F238E27FC236}">
                  <a16:creationId xmlns="" xmlns:a16="http://schemas.microsoft.com/office/drawing/2014/main" id="{993E383B-994E-4D7F-B66E-CD16C1137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624848"/>
              <a:ext cx="126533" cy="291104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5" name="Rectangle 31">
              <a:extLst>
                <a:ext uri="{FF2B5EF4-FFF2-40B4-BE49-F238E27FC236}">
                  <a16:creationId xmlns="" xmlns:a16="http://schemas.microsoft.com/office/drawing/2014/main" id="{60A3D686-1CA8-48B6-89B6-51998533CF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6" name="Rectangle 32">
              <a:extLst>
                <a:ext uri="{FF2B5EF4-FFF2-40B4-BE49-F238E27FC236}">
                  <a16:creationId xmlns="" xmlns:a16="http://schemas.microsoft.com/office/drawing/2014/main" id="{E8EF4CAD-9253-4658-85B4-A3668DE360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4967962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7" name="Rectangle 33">
              <a:extLst>
                <a:ext uri="{FF2B5EF4-FFF2-40B4-BE49-F238E27FC236}">
                  <a16:creationId xmlns="" xmlns:a16="http://schemas.microsoft.com/office/drawing/2014/main" id="{A52B571C-64C2-4B89-8993-66E8E6792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4967962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8" name="Rectangle 34">
              <a:extLst>
                <a:ext uri="{FF2B5EF4-FFF2-40B4-BE49-F238E27FC236}">
                  <a16:creationId xmlns="" xmlns:a16="http://schemas.microsoft.com/office/drawing/2014/main" id="{A8BA74F2-0316-451F-8C70-A26F6D50C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4967962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49" name="Rectangle 35">
              <a:extLst>
                <a:ext uri="{FF2B5EF4-FFF2-40B4-BE49-F238E27FC236}">
                  <a16:creationId xmlns="" xmlns:a16="http://schemas.microsoft.com/office/drawing/2014/main" id="{2156F5CB-A99E-412B-B5FD-7B257B2E2A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0783" y="3761710"/>
              <a:ext cx="693215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0" name="Rectangle 36">
              <a:extLst>
                <a:ext uri="{FF2B5EF4-FFF2-40B4-BE49-F238E27FC236}">
                  <a16:creationId xmlns="" xmlns:a16="http://schemas.microsoft.com/office/drawing/2014/main" id="{A79E93FA-6C27-400F-97C4-6522F2C00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38136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1" name="Rectangle 37">
              <a:extLst>
                <a:ext uri="{FF2B5EF4-FFF2-40B4-BE49-F238E27FC236}">
                  <a16:creationId xmlns="" xmlns:a16="http://schemas.microsoft.com/office/drawing/2014/main" id="{4E2EB931-9110-4098-9C3B-4B4CD819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2292" y="3761710"/>
              <a:ext cx="16302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2" name="Rectangle 38">
              <a:extLst>
                <a:ext uri="{FF2B5EF4-FFF2-40B4-BE49-F238E27FC236}">
                  <a16:creationId xmlns="" xmlns:a16="http://schemas.microsoft.com/office/drawing/2014/main" id="{DB0A8F99-1214-48CD-BC9B-77D10B917F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452" y="3761710"/>
              <a:ext cx="19407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3" name="Rectangle 39">
              <a:extLst>
                <a:ext uri="{FF2B5EF4-FFF2-40B4-BE49-F238E27FC236}">
                  <a16:creationId xmlns="" xmlns:a16="http://schemas.microsoft.com/office/drawing/2014/main" id="{55AB096E-46FB-4184-B802-A0978E46A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11804" y="3761710"/>
              <a:ext cx="14749" cy="141282"/>
            </a:xfrm>
            <a:prstGeom prst="rect">
              <a:avLst/>
            </a:prstGeom>
            <a:grpFill/>
            <a:ln w="9525">
              <a:solidFill>
                <a:schemeClr val="accent1"/>
              </a:solidFill>
              <a:miter lim="800000"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4" name="Freeform 40">
              <a:extLst>
                <a:ext uri="{FF2B5EF4-FFF2-40B4-BE49-F238E27FC236}">
                  <a16:creationId xmlns="" xmlns:a16="http://schemas.microsoft.com/office/drawing/2014/main" id="{E95E694A-A30E-4932-8CD4-3FB943046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4616" y="5664002"/>
              <a:ext cx="416084" cy="148269"/>
            </a:xfrm>
            <a:custGeom>
              <a:avLst/>
              <a:gdLst>
                <a:gd name="T0" fmla="*/ 328 w 328"/>
                <a:gd name="T1" fmla="*/ 90 h 117"/>
                <a:gd name="T2" fmla="*/ 301 w 328"/>
                <a:gd name="T3" fmla="*/ 117 h 117"/>
                <a:gd name="T4" fmla="*/ 27 w 328"/>
                <a:gd name="T5" fmla="*/ 117 h 117"/>
                <a:gd name="T6" fmla="*/ 0 w 328"/>
                <a:gd name="T7" fmla="*/ 90 h 117"/>
                <a:gd name="T8" fmla="*/ 0 w 328"/>
                <a:gd name="T9" fmla="*/ 27 h 117"/>
                <a:gd name="T10" fmla="*/ 27 w 328"/>
                <a:gd name="T11" fmla="*/ 0 h 117"/>
                <a:gd name="T12" fmla="*/ 301 w 328"/>
                <a:gd name="T13" fmla="*/ 0 h 117"/>
                <a:gd name="T14" fmla="*/ 328 w 328"/>
                <a:gd name="T15" fmla="*/ 27 h 117"/>
                <a:gd name="T16" fmla="*/ 328 w 328"/>
                <a:gd name="T17" fmla="*/ 9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8" h="117">
                  <a:moveTo>
                    <a:pt x="328" y="90"/>
                  </a:moveTo>
                  <a:cubicBezTo>
                    <a:pt x="328" y="105"/>
                    <a:pt x="316" y="117"/>
                    <a:pt x="301" y="117"/>
                  </a:cubicBezTo>
                  <a:cubicBezTo>
                    <a:pt x="27" y="117"/>
                    <a:pt x="27" y="117"/>
                    <a:pt x="27" y="117"/>
                  </a:cubicBezTo>
                  <a:cubicBezTo>
                    <a:pt x="12" y="117"/>
                    <a:pt x="0" y="105"/>
                    <a:pt x="0" y="9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7" y="0"/>
                  </a:cubicBezTo>
                  <a:cubicBezTo>
                    <a:pt x="301" y="0"/>
                    <a:pt x="301" y="0"/>
                    <a:pt x="301" y="0"/>
                  </a:cubicBezTo>
                  <a:cubicBezTo>
                    <a:pt x="316" y="0"/>
                    <a:pt x="328" y="12"/>
                    <a:pt x="328" y="27"/>
                  </a:cubicBezTo>
                  <a:lnTo>
                    <a:pt x="328" y="90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5" name="Freeform 41">
              <a:extLst>
                <a:ext uri="{FF2B5EF4-FFF2-40B4-BE49-F238E27FC236}">
                  <a16:creationId xmlns="" xmlns:a16="http://schemas.microsoft.com/office/drawing/2014/main" id="{563BFF38-2F07-42FF-9032-0A2D023B6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7793" y="5664002"/>
              <a:ext cx="40366" cy="167676"/>
            </a:xfrm>
            <a:custGeom>
              <a:avLst/>
              <a:gdLst>
                <a:gd name="T0" fmla="*/ 32 w 32"/>
                <a:gd name="T1" fmla="*/ 116 h 132"/>
                <a:gd name="T2" fmla="*/ 16 w 32"/>
                <a:gd name="T3" fmla="*/ 132 h 132"/>
                <a:gd name="T4" fmla="*/ 16 w 32"/>
                <a:gd name="T5" fmla="*/ 132 h 132"/>
                <a:gd name="T6" fmla="*/ 0 w 32"/>
                <a:gd name="T7" fmla="*/ 116 h 132"/>
                <a:gd name="T8" fmla="*/ 0 w 32"/>
                <a:gd name="T9" fmla="*/ 16 h 132"/>
                <a:gd name="T10" fmla="*/ 16 w 32"/>
                <a:gd name="T11" fmla="*/ 0 h 132"/>
                <a:gd name="T12" fmla="*/ 16 w 32"/>
                <a:gd name="T13" fmla="*/ 0 h 132"/>
                <a:gd name="T14" fmla="*/ 32 w 32"/>
                <a:gd name="T15" fmla="*/ 16 h 132"/>
                <a:gd name="T16" fmla="*/ 32 w 32"/>
                <a:gd name="T17" fmla="*/ 11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2" h="132">
                  <a:moveTo>
                    <a:pt x="32" y="116"/>
                  </a:moveTo>
                  <a:cubicBezTo>
                    <a:pt x="32" y="125"/>
                    <a:pt x="25" y="132"/>
                    <a:pt x="16" y="132"/>
                  </a:cubicBezTo>
                  <a:cubicBezTo>
                    <a:pt x="16" y="132"/>
                    <a:pt x="16" y="132"/>
                    <a:pt x="16" y="132"/>
                  </a:cubicBezTo>
                  <a:cubicBezTo>
                    <a:pt x="7" y="132"/>
                    <a:pt x="0" y="125"/>
                    <a:pt x="0" y="1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lnTo>
                    <a:pt x="32" y="116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6" name="Freeform 42">
              <a:extLst>
                <a:ext uri="{FF2B5EF4-FFF2-40B4-BE49-F238E27FC236}">
                  <a16:creationId xmlns="" xmlns:a16="http://schemas.microsoft.com/office/drawing/2014/main" id="{0B7847E0-FA80-4A28-B935-5A7817EBE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9771" y="5514180"/>
              <a:ext cx="70641" cy="72194"/>
            </a:xfrm>
            <a:custGeom>
              <a:avLst/>
              <a:gdLst>
                <a:gd name="T0" fmla="*/ 56 w 56"/>
                <a:gd name="T1" fmla="*/ 29 h 57"/>
                <a:gd name="T2" fmla="*/ 28 w 56"/>
                <a:gd name="T3" fmla="*/ 57 h 57"/>
                <a:gd name="T4" fmla="*/ 27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7 w 56"/>
                <a:gd name="T11" fmla="*/ 0 h 57"/>
                <a:gd name="T12" fmla="*/ 28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8" y="57"/>
                  </a:cubicBezTo>
                  <a:cubicBezTo>
                    <a:pt x="27" y="57"/>
                    <a:pt x="27" y="57"/>
                    <a:pt x="27" y="57"/>
                  </a:cubicBezTo>
                  <a:cubicBezTo>
                    <a:pt x="12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2" y="0"/>
                    <a:pt x="27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7" name="Freeform 43">
              <a:extLst>
                <a:ext uri="{FF2B5EF4-FFF2-40B4-BE49-F238E27FC236}">
                  <a16:creationId xmlns="" xmlns:a16="http://schemas.microsoft.com/office/drawing/2014/main" id="{73B4B591-FCC4-4551-B7D1-02D1641ACC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2620" y="5514180"/>
              <a:ext cx="71417" cy="72194"/>
            </a:xfrm>
            <a:custGeom>
              <a:avLst/>
              <a:gdLst>
                <a:gd name="T0" fmla="*/ 56 w 56"/>
                <a:gd name="T1" fmla="*/ 29 h 57"/>
                <a:gd name="T2" fmla="*/ 29 w 56"/>
                <a:gd name="T3" fmla="*/ 57 h 57"/>
                <a:gd name="T4" fmla="*/ 28 w 56"/>
                <a:gd name="T5" fmla="*/ 57 h 57"/>
                <a:gd name="T6" fmla="*/ 0 w 56"/>
                <a:gd name="T7" fmla="*/ 29 h 57"/>
                <a:gd name="T8" fmla="*/ 0 w 56"/>
                <a:gd name="T9" fmla="*/ 28 h 57"/>
                <a:gd name="T10" fmla="*/ 28 w 56"/>
                <a:gd name="T11" fmla="*/ 0 h 57"/>
                <a:gd name="T12" fmla="*/ 29 w 56"/>
                <a:gd name="T13" fmla="*/ 0 h 57"/>
                <a:gd name="T14" fmla="*/ 56 w 56"/>
                <a:gd name="T15" fmla="*/ 28 h 57"/>
                <a:gd name="T16" fmla="*/ 56 w 56"/>
                <a:gd name="T17" fmla="*/ 29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57">
                  <a:moveTo>
                    <a:pt x="56" y="29"/>
                  </a:moveTo>
                  <a:cubicBezTo>
                    <a:pt x="56" y="44"/>
                    <a:pt x="44" y="57"/>
                    <a:pt x="29" y="57"/>
                  </a:cubicBezTo>
                  <a:cubicBezTo>
                    <a:pt x="28" y="57"/>
                    <a:pt x="28" y="57"/>
                    <a:pt x="28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3"/>
                    <a:pt x="13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44" y="0"/>
                    <a:pt x="56" y="13"/>
                    <a:pt x="56" y="28"/>
                  </a:cubicBezTo>
                  <a:lnTo>
                    <a:pt x="56" y="29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8" name="Freeform 44">
              <a:extLst>
                <a:ext uri="{FF2B5EF4-FFF2-40B4-BE49-F238E27FC236}">
                  <a16:creationId xmlns="" xmlns:a16="http://schemas.microsoft.com/office/drawing/2014/main" id="{440F120C-E752-4984-AF5B-294A2CBF6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670" y="5179886"/>
              <a:ext cx="665269" cy="93153"/>
            </a:xfrm>
            <a:custGeom>
              <a:avLst/>
              <a:gdLst>
                <a:gd name="T0" fmla="*/ 524 w 524"/>
                <a:gd name="T1" fmla="*/ 45 h 73"/>
                <a:gd name="T2" fmla="*/ 497 w 524"/>
                <a:gd name="T3" fmla="*/ 73 h 73"/>
                <a:gd name="T4" fmla="*/ 28 w 524"/>
                <a:gd name="T5" fmla="*/ 73 h 73"/>
                <a:gd name="T6" fmla="*/ 0 w 524"/>
                <a:gd name="T7" fmla="*/ 45 h 73"/>
                <a:gd name="T8" fmla="*/ 0 w 524"/>
                <a:gd name="T9" fmla="*/ 27 h 73"/>
                <a:gd name="T10" fmla="*/ 28 w 524"/>
                <a:gd name="T11" fmla="*/ 0 h 73"/>
                <a:gd name="T12" fmla="*/ 497 w 524"/>
                <a:gd name="T13" fmla="*/ 0 h 73"/>
                <a:gd name="T14" fmla="*/ 524 w 524"/>
                <a:gd name="T15" fmla="*/ 27 h 73"/>
                <a:gd name="T16" fmla="*/ 524 w 524"/>
                <a:gd name="T17" fmla="*/ 45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4" h="73">
                  <a:moveTo>
                    <a:pt x="524" y="45"/>
                  </a:moveTo>
                  <a:cubicBezTo>
                    <a:pt x="524" y="61"/>
                    <a:pt x="512" y="73"/>
                    <a:pt x="497" y="73"/>
                  </a:cubicBezTo>
                  <a:cubicBezTo>
                    <a:pt x="28" y="73"/>
                    <a:pt x="28" y="73"/>
                    <a:pt x="28" y="73"/>
                  </a:cubicBezTo>
                  <a:cubicBezTo>
                    <a:pt x="12" y="73"/>
                    <a:pt x="0" y="61"/>
                    <a:pt x="0" y="45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12"/>
                    <a:pt x="12" y="0"/>
                    <a:pt x="28" y="0"/>
                  </a:cubicBezTo>
                  <a:cubicBezTo>
                    <a:pt x="497" y="0"/>
                    <a:pt x="497" y="0"/>
                    <a:pt x="497" y="0"/>
                  </a:cubicBezTo>
                  <a:cubicBezTo>
                    <a:pt x="512" y="0"/>
                    <a:pt x="524" y="12"/>
                    <a:pt x="524" y="27"/>
                  </a:cubicBezTo>
                  <a:lnTo>
                    <a:pt x="524" y="45"/>
                  </a:lnTo>
                  <a:close/>
                </a:path>
              </a:pathLst>
            </a:cu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59" name="Oval 45">
              <a:extLst>
                <a:ext uri="{FF2B5EF4-FFF2-40B4-BE49-F238E27FC236}">
                  <a16:creationId xmlns="" xmlns:a16="http://schemas.microsoft.com/office/drawing/2014/main" id="{4316F2F3-5FF5-4483-9AFA-4804D0CDA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28603" y="3612665"/>
              <a:ext cx="111784" cy="111008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  <p:sp>
          <p:nvSpPr>
            <p:cNvPr id="60" name="Oval 46">
              <a:extLst>
                <a:ext uri="{FF2B5EF4-FFF2-40B4-BE49-F238E27FC236}">
                  <a16:creationId xmlns="" xmlns:a16="http://schemas.microsoft.com/office/drawing/2014/main" id="{13112507-81B4-4F17-BE2F-A6D91E433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5933" y="3617323"/>
              <a:ext cx="111784" cy="111784"/>
            </a:xfrm>
            <a:prstGeom prst="ellipse">
              <a:avLst/>
            </a:prstGeom>
            <a:grpFill/>
            <a:ln w="9525">
              <a:solidFill>
                <a:schemeClr val="accent1"/>
              </a:solidFill>
              <a:round/>
              <a:headEnd/>
              <a:tailEnd/>
            </a:ln>
            <a:extLst/>
          </p:spPr>
          <p:txBody>
            <a:bodyPr vert="horz" wrap="square" lIns="86687" tIns="43344" rIns="86687" bIns="43344" numCol="1" anchor="t" anchorCtr="0" compatLnSpc="1">
              <a:prstTxWarp prst="textNoShape">
                <a:avLst/>
              </a:prstTxWarp>
            </a:bodyPr>
            <a:lstStyle/>
            <a:p>
              <a:endParaRPr lang="en-US" sz="1706">
                <a:solidFill>
                  <a:prstClr val="black"/>
                </a:solidFill>
                <a:latin typeface="Calibri"/>
                <a:ea typeface="微软雅黑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="" xmlns:a16="http://schemas.microsoft.com/office/drawing/2014/main" id="{C2461B74-A819-4A83-9663-12536D2079CC}"/>
              </a:ext>
            </a:extLst>
          </p:cNvPr>
          <p:cNvGrpSpPr/>
          <p:nvPr/>
        </p:nvGrpSpPr>
        <p:grpSpPr>
          <a:xfrm>
            <a:off x="443983" y="1112313"/>
            <a:ext cx="1936868" cy="1936868"/>
            <a:chOff x="2572456" y="958222"/>
            <a:chExt cx="1936868" cy="1936868"/>
          </a:xfrm>
        </p:grpSpPr>
        <p:grpSp>
          <p:nvGrpSpPr>
            <p:cNvPr id="61" name="组合 60">
              <a:extLst>
                <a:ext uri="{FF2B5EF4-FFF2-40B4-BE49-F238E27FC236}">
                  <a16:creationId xmlns="" xmlns:a16="http://schemas.microsoft.com/office/drawing/2014/main" id="{E101FB23-2A31-47FF-9EB9-CFBD1D4D64F2}"/>
                </a:ext>
              </a:extLst>
            </p:cNvPr>
            <p:cNvGrpSpPr/>
            <p:nvPr/>
          </p:nvGrpSpPr>
          <p:grpSpPr>
            <a:xfrm>
              <a:off x="2572456" y="958222"/>
              <a:ext cx="1936868" cy="1936868"/>
              <a:chOff x="11207774" y="442662"/>
              <a:chExt cx="504056" cy="504056"/>
            </a:xfrm>
            <a:solidFill>
              <a:srgbClr val="B3DF63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grpSpPr>
          <p:sp>
            <p:nvSpPr>
              <p:cNvPr id="62" name="椭圆 61">
                <a:extLst>
                  <a:ext uri="{FF2B5EF4-FFF2-40B4-BE49-F238E27FC236}">
                    <a16:creationId xmlns="" xmlns:a16="http://schemas.microsoft.com/office/drawing/2014/main" id="{FF045C64-65A6-454D-8459-BA881DFB0159}"/>
                  </a:ext>
                </a:extLst>
              </p:cNvPr>
              <p:cNvSpPr/>
              <p:nvPr/>
            </p:nvSpPr>
            <p:spPr>
              <a:xfrm>
                <a:off x="11273029" y="517620"/>
                <a:ext cx="373547" cy="373547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="" xmlns:a16="http://schemas.microsoft.com/office/drawing/2014/main" id="{A03140CE-37E4-4604-B76C-9AEBE595F5F9}"/>
                  </a:ext>
                </a:extLst>
              </p:cNvPr>
              <p:cNvSpPr/>
              <p:nvPr/>
            </p:nvSpPr>
            <p:spPr>
              <a:xfrm>
                <a:off x="11207774" y="442662"/>
                <a:ext cx="504056" cy="504056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latin typeface="Calibri"/>
                  <a:ea typeface="微软雅黑"/>
                </a:endParaRPr>
              </a:p>
            </p:txBody>
          </p:sp>
        </p:grpSp>
        <p:sp>
          <p:nvSpPr>
            <p:cNvPr id="64" name="TextBox 1">
              <a:extLst>
                <a:ext uri="{FF2B5EF4-FFF2-40B4-BE49-F238E27FC236}">
                  <a16:creationId xmlns="" xmlns:a16="http://schemas.microsoft.com/office/drawing/2014/main" id="{F45F1328-8259-42E9-BE98-A45AFDCB6EAE}"/>
                </a:ext>
              </a:extLst>
            </p:cNvPr>
            <p:cNvSpPr txBox="1"/>
            <p:nvPr/>
          </p:nvSpPr>
          <p:spPr>
            <a:xfrm>
              <a:off x="2808727" y="1589269"/>
              <a:ext cx="140936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800" b="1" smtClean="0">
                  <a:ln w="12700">
                    <a:noFill/>
                    <a:prstDash val="solid"/>
                  </a:ln>
                  <a:solidFill>
                    <a:srgbClr val="FFFF00"/>
                  </a:solidFill>
                  <a:effectLst>
                    <a:outerShdw dist="50800" dir="4800000" algn="tl" rotWithShape="0">
                      <a:srgbClr val="000000">
                        <a:alpha val="40000"/>
                      </a:srgbClr>
                    </a:outerShdw>
                  </a:effectLst>
                  <a:latin typeface="Adobe Gothic Std B" pitchFamily="34" charset="-128"/>
                  <a:ea typeface="Adobe Gothic Std B" pitchFamily="34" charset="-128"/>
                </a:rPr>
                <a:t>10.4</a:t>
              </a:r>
              <a:endParaRPr lang="zh-CN" altLang="en-US" sz="4800" b="1">
                <a:ln w="12700">
                  <a:noFill/>
                  <a:prstDash val="solid"/>
                </a:ln>
                <a:solidFill>
                  <a:srgbClr val="FFFF00"/>
                </a:solidFill>
                <a:effectLst>
                  <a:outerShdw dist="50800" dir="4800000" algn="tl" rotWithShape="0">
                    <a:srgbClr val="000000">
                      <a:alpha val="40000"/>
                    </a:srgbClr>
                  </a:outerShdw>
                </a:effectLst>
                <a:latin typeface="Adobe Gothic Std B" pitchFamily="34" charset="-128"/>
                <a:ea typeface="+mj-ea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="" xmlns:a16="http://schemas.microsoft.com/office/drawing/2014/main" id="{C1C2C104-F13A-4AF1-8295-FE73E656BCD1}"/>
              </a:ext>
            </a:extLst>
          </p:cNvPr>
          <p:cNvGrpSpPr/>
          <p:nvPr/>
        </p:nvGrpSpPr>
        <p:grpSpPr>
          <a:xfrm rot="5400000">
            <a:off x="7939470" y="-3214903"/>
            <a:ext cx="942183" cy="7462505"/>
            <a:chOff x="-11273" y="-594773"/>
            <a:chExt cx="719786" cy="7462505"/>
          </a:xfrm>
        </p:grpSpPr>
        <p:sp>
          <p:nvSpPr>
            <p:cNvPr id="66" name="等腰三角形 65">
              <a:extLst>
                <a:ext uri="{FF2B5EF4-FFF2-40B4-BE49-F238E27FC236}">
                  <a16:creationId xmlns="" xmlns:a16="http://schemas.microsoft.com/office/drawing/2014/main" id="{58839FDC-22C4-4CA7-B863-C67559C21699}"/>
                </a:ext>
              </a:extLst>
            </p:cNvPr>
            <p:cNvSpPr/>
            <p:nvPr/>
          </p:nvSpPr>
          <p:spPr>
            <a:xfrm rot="5400000">
              <a:off x="-68856" y="2776017"/>
              <a:ext cx="834952" cy="719786"/>
            </a:xfrm>
            <a:prstGeom prst="triangl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7" name="等腰三角形 66">
              <a:extLst>
                <a:ext uri="{FF2B5EF4-FFF2-40B4-BE49-F238E27FC236}">
                  <a16:creationId xmlns="" xmlns:a16="http://schemas.microsoft.com/office/drawing/2014/main" id="{A5264352-D114-4656-BC14-E38E3FE58AC7}"/>
                </a:ext>
              </a:extLst>
            </p:cNvPr>
            <p:cNvSpPr/>
            <p:nvPr/>
          </p:nvSpPr>
          <p:spPr>
            <a:xfrm rot="5400000">
              <a:off x="-68856" y="195805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8" name="等腰三角形 67">
              <a:extLst>
                <a:ext uri="{FF2B5EF4-FFF2-40B4-BE49-F238E27FC236}">
                  <a16:creationId xmlns="" xmlns:a16="http://schemas.microsoft.com/office/drawing/2014/main" id="{D2787C4C-1049-4848-A392-0F96696494DB}"/>
                </a:ext>
              </a:extLst>
            </p:cNvPr>
            <p:cNvSpPr/>
            <p:nvPr/>
          </p:nvSpPr>
          <p:spPr>
            <a:xfrm rot="5400000">
              <a:off x="-68856" y="1114606"/>
              <a:ext cx="834952" cy="719786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69" name="等腰三角形 68">
              <a:extLst>
                <a:ext uri="{FF2B5EF4-FFF2-40B4-BE49-F238E27FC236}">
                  <a16:creationId xmlns="" xmlns:a16="http://schemas.microsoft.com/office/drawing/2014/main" id="{EE61B577-3444-4CAB-92C2-AFFB2FFB8904}"/>
                </a:ext>
              </a:extLst>
            </p:cNvPr>
            <p:cNvSpPr/>
            <p:nvPr/>
          </p:nvSpPr>
          <p:spPr>
            <a:xfrm rot="5400000">
              <a:off x="-68856" y="296639"/>
              <a:ext cx="834952" cy="71978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0" name="等腰三角形 69">
              <a:extLst>
                <a:ext uri="{FF2B5EF4-FFF2-40B4-BE49-F238E27FC236}">
                  <a16:creationId xmlns="" xmlns:a16="http://schemas.microsoft.com/office/drawing/2014/main" id="{3AEDED66-0861-468F-8D6E-CFA4F090C0E2}"/>
                </a:ext>
              </a:extLst>
            </p:cNvPr>
            <p:cNvSpPr/>
            <p:nvPr/>
          </p:nvSpPr>
          <p:spPr>
            <a:xfrm rot="5400000">
              <a:off x="-68856" y="3610969"/>
              <a:ext cx="834952" cy="719786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1" name="等腰三角形 70">
              <a:extLst>
                <a:ext uri="{FF2B5EF4-FFF2-40B4-BE49-F238E27FC236}">
                  <a16:creationId xmlns="" xmlns:a16="http://schemas.microsoft.com/office/drawing/2014/main" id="{0F6FF0BF-FA43-40F1-9E2D-D32B05AE8788}"/>
                </a:ext>
              </a:extLst>
            </p:cNvPr>
            <p:cNvSpPr/>
            <p:nvPr/>
          </p:nvSpPr>
          <p:spPr>
            <a:xfrm rot="5400000">
              <a:off x="-68856" y="4443673"/>
              <a:ext cx="834952" cy="719786"/>
            </a:xfrm>
            <a:prstGeom prst="triangle">
              <a:avLst/>
            </a:prstGeom>
            <a:solidFill>
              <a:srgbClr val="94CA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2" name="等腰三角形 71">
              <a:extLst>
                <a:ext uri="{FF2B5EF4-FFF2-40B4-BE49-F238E27FC236}">
                  <a16:creationId xmlns="" xmlns:a16="http://schemas.microsoft.com/office/drawing/2014/main" id="{4CF11EF2-5B94-45E8-842B-40755A182437}"/>
                </a:ext>
              </a:extLst>
            </p:cNvPr>
            <p:cNvSpPr/>
            <p:nvPr/>
          </p:nvSpPr>
          <p:spPr>
            <a:xfrm rot="5400000">
              <a:off x="-68856" y="5264883"/>
              <a:ext cx="834952" cy="719786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3" name="等腰三角形 72">
              <a:extLst>
                <a:ext uri="{FF2B5EF4-FFF2-40B4-BE49-F238E27FC236}">
                  <a16:creationId xmlns="" xmlns:a16="http://schemas.microsoft.com/office/drawing/2014/main" id="{2399D565-C0DA-4F00-B731-140755CC1CD7}"/>
                </a:ext>
              </a:extLst>
            </p:cNvPr>
            <p:cNvSpPr/>
            <p:nvPr/>
          </p:nvSpPr>
          <p:spPr>
            <a:xfrm rot="5400000">
              <a:off x="-68856" y="6090363"/>
              <a:ext cx="834952" cy="719786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4" name="等腰三角形 73">
              <a:extLst>
                <a:ext uri="{FF2B5EF4-FFF2-40B4-BE49-F238E27FC236}">
                  <a16:creationId xmlns="" xmlns:a16="http://schemas.microsoft.com/office/drawing/2014/main" id="{101F5175-7DA4-411A-B158-0E4A24C9421D}"/>
                </a:ext>
              </a:extLst>
            </p:cNvPr>
            <p:cNvSpPr/>
            <p:nvPr/>
          </p:nvSpPr>
          <p:spPr>
            <a:xfrm rot="5400000">
              <a:off x="-68856" y="-537190"/>
              <a:ext cx="834952" cy="719786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538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8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1_Office 主题​​">
  <a:themeElements>
    <a:clrScheme name="自定义 222">
      <a:dk1>
        <a:sysClr val="windowText" lastClr="000000"/>
      </a:dk1>
      <a:lt1>
        <a:sysClr val="window" lastClr="FFFFFF"/>
      </a:lt1>
      <a:dk2>
        <a:srgbClr val="435258"/>
      </a:dk2>
      <a:lt2>
        <a:srgbClr val="EEECE1"/>
      </a:lt2>
      <a:accent1>
        <a:srgbClr val="2A8FBD"/>
      </a:accent1>
      <a:accent2>
        <a:srgbClr val="00B0F0"/>
      </a:accent2>
      <a:accent3>
        <a:srgbClr val="435258"/>
      </a:accent3>
      <a:accent4>
        <a:srgbClr val="1E6787"/>
      </a:accent4>
      <a:accent5>
        <a:srgbClr val="2A8FBD"/>
      </a:accent5>
      <a:accent6>
        <a:srgbClr val="E44860"/>
      </a:accent6>
      <a:hlink>
        <a:srgbClr val="E44860"/>
      </a:hlink>
      <a:folHlink>
        <a:srgbClr val="435258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12037</TotalTime>
  <Words>2637</Words>
  <Application>Microsoft Office PowerPoint</Application>
  <PresentationFormat>自定义</PresentationFormat>
  <Paragraphs>388</Paragraphs>
  <Slides>34</Slides>
  <Notes>29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35" baseType="lpstr"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ZhaoLu</dc:creator>
  <cp:lastModifiedBy>cy</cp:lastModifiedBy>
  <cp:revision>353</cp:revision>
  <dcterms:created xsi:type="dcterms:W3CDTF">2019-01-13T07:44:05Z</dcterms:created>
  <dcterms:modified xsi:type="dcterms:W3CDTF">2019-08-06T16:37:15Z</dcterms:modified>
</cp:coreProperties>
</file>