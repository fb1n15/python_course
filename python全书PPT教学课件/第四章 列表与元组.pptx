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342" r:id="rId2"/>
    <p:sldId id="260" r:id="rId3"/>
    <p:sldId id="378" r:id="rId4"/>
    <p:sldId id="383" r:id="rId5"/>
    <p:sldId id="447" r:id="rId6"/>
    <p:sldId id="446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37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377" r:id="rId40"/>
    <p:sldId id="479" r:id="rId41"/>
    <p:sldId id="480" r:id="rId42"/>
    <p:sldId id="481" r:id="rId43"/>
    <p:sldId id="482" r:id="rId44"/>
    <p:sldId id="483" r:id="rId45"/>
    <p:sldId id="380" r:id="rId46"/>
    <p:sldId id="484" r:id="rId47"/>
    <p:sldId id="485" r:id="rId48"/>
    <p:sldId id="486" r:id="rId49"/>
    <p:sldId id="381" r:id="rId50"/>
    <p:sldId id="487" r:id="rId51"/>
    <p:sldId id="488" r:id="rId52"/>
    <p:sldId id="489" r:id="rId53"/>
    <p:sldId id="490" r:id="rId54"/>
    <p:sldId id="491" r:id="rId55"/>
    <p:sldId id="492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6BE137"/>
    <a:srgbClr val="FFCC99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3560" autoAdjust="0"/>
  </p:normalViewPr>
  <p:slideViewPr>
    <p:cSldViewPr snapToGrid="0">
      <p:cViewPr varScale="1">
        <p:scale>
          <a:sx n="99" d="100"/>
          <a:sy n="99" d="100"/>
        </p:scale>
        <p:origin x="23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2019/03/03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588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34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967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08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0884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685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330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846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502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826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427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992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996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34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213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081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953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516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9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373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47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715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989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561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2856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421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328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049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402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9260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7436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2267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2077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433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6743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425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3931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1815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72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2518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5100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6135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0188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7797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8321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5680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7285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4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75100" y="1016710"/>
            <a:ext cx="41623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instructional strategies</a:t>
            </a:r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连接符 1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instructional strategies</a:t>
            </a:r>
          </a:p>
        </p:txBody>
      </p:sp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直接连接符 13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4419649" y="-715238"/>
            <a:ext cx="1742672" cy="1397180"/>
            <a:chOff x="3314736" y="-715238"/>
            <a:chExt cx="1307004" cy="1397180"/>
          </a:xfrm>
        </p:grpSpPr>
        <p:grpSp>
          <p:nvGrpSpPr>
            <p:cNvPr id="34" name="组合 33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5" name="TextBox 34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" name="TextBox 35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8210957" y="-708071"/>
            <a:ext cx="1714191" cy="1393350"/>
            <a:chOff x="6158217" y="-708071"/>
            <a:chExt cx="1285643" cy="1393350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1" name="TextBox 40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2" name="TextBox 41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>
            <a:off x="10128745" y="-700407"/>
            <a:ext cx="1705296" cy="1393103"/>
            <a:chOff x="7596559" y="-700407"/>
            <a:chExt cx="1278972" cy="1393103"/>
          </a:xfrm>
        </p:grpSpPr>
        <p:grpSp>
          <p:nvGrpSpPr>
            <p:cNvPr id="46" name="组合 45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7" name="TextBox 46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8" name="TextBox 47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  <p:grpSp>
        <p:nvGrpSpPr>
          <p:cNvPr id="60" name="组合 59"/>
          <p:cNvGrpSpPr/>
          <p:nvPr userDrawn="1"/>
        </p:nvGrpSpPr>
        <p:grpSpPr>
          <a:xfrm>
            <a:off x="6301954" y="-711878"/>
            <a:ext cx="1714296" cy="1394349"/>
            <a:chOff x="4726465" y="-711878"/>
            <a:chExt cx="1285722" cy="1394349"/>
          </a:xfrm>
        </p:grpSpPr>
        <p:grpSp>
          <p:nvGrpSpPr>
            <p:cNvPr id="52" name="组合 51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3" name="TextBox 52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slow">
    <p:random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:a16="http://schemas.microsoft.com/office/drawing/2014/main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8933349" y="4285049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id="{9CD66783-D6B8-4855-929A-848959D1A623}"/>
              </a:ext>
            </a:extLst>
          </p:cNvPr>
          <p:cNvSpPr txBox="1"/>
          <p:nvPr/>
        </p:nvSpPr>
        <p:spPr>
          <a:xfrm>
            <a:off x="2149057" y="247203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列表与元组</a:t>
            </a:r>
          </a:p>
        </p:txBody>
      </p:sp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椭圆 7">
            <a:extLst>
              <a:ext uri="{FF2B5EF4-FFF2-40B4-BE49-F238E27FC236}">
                <a16:creationId xmlns:a16="http://schemas.microsoft.com/office/drawing/2014/main" id="{3A8C2EE4-2B9A-42DB-AD7B-7A8932BB106A}"/>
              </a:ext>
            </a:extLst>
          </p:cNvPr>
          <p:cNvSpPr/>
          <p:nvPr/>
        </p:nvSpPr>
        <p:spPr>
          <a:xfrm rot="5400000">
            <a:off x="2087856" y="3245736"/>
            <a:ext cx="3917626" cy="1075002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2354994" cy="504056"/>
            <a:chOff x="169526" y="203448"/>
            <a:chExt cx="2354994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174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E6787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本 章 提 要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椭圆 7">
            <a:extLst>
              <a:ext uri="{FF2B5EF4-FFF2-40B4-BE49-F238E27FC236}">
                <a16:creationId xmlns:a16="http://schemas.microsoft.com/office/drawing/2014/main" id="{3C7760C4-4887-47A5-8107-41BE4B705798}"/>
              </a:ext>
            </a:extLst>
          </p:cNvPr>
          <p:cNvSpPr/>
          <p:nvPr/>
        </p:nvSpPr>
        <p:spPr>
          <a:xfrm rot="5400000" flipV="1">
            <a:off x="6560390" y="3157532"/>
            <a:ext cx="3917624" cy="1148198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976B71A-242C-4AF1-B19D-79D1C50C26F9}"/>
              </a:ext>
            </a:extLst>
          </p:cNvPr>
          <p:cNvCxnSpPr>
            <a:cxnSpLocks/>
          </p:cNvCxnSpPr>
          <p:nvPr/>
        </p:nvCxnSpPr>
        <p:spPr>
          <a:xfrm>
            <a:off x="3799219" y="3696928"/>
            <a:ext cx="494961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40">
            <a:extLst>
              <a:ext uri="{FF2B5EF4-FFF2-40B4-BE49-F238E27FC236}">
                <a16:creationId xmlns:a16="http://schemas.microsoft.com/office/drawing/2014/main" id="{F869DB1D-BA19-4502-A7B4-B36F519E1637}"/>
              </a:ext>
            </a:extLst>
          </p:cNvPr>
          <p:cNvSpPr txBox="1"/>
          <p:nvPr/>
        </p:nvSpPr>
        <p:spPr>
          <a:xfrm>
            <a:off x="898158" y="2148349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列表与列表操作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41">
            <a:extLst>
              <a:ext uri="{FF2B5EF4-FFF2-40B4-BE49-F238E27FC236}">
                <a16:creationId xmlns:a16="http://schemas.microsoft.com/office/drawing/2014/main" id="{38503611-A151-4383-BC43-5D22E53A63B2}"/>
              </a:ext>
            </a:extLst>
          </p:cNvPr>
          <p:cNvSpPr txBox="1"/>
          <p:nvPr/>
        </p:nvSpPr>
        <p:spPr>
          <a:xfrm>
            <a:off x="853975" y="4218664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数值列表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TextBox 42">
            <a:extLst>
              <a:ext uri="{FF2B5EF4-FFF2-40B4-BE49-F238E27FC236}">
                <a16:creationId xmlns:a16="http://schemas.microsoft.com/office/drawing/2014/main" id="{A2FEA3FD-41CA-4442-8F40-F5E012005257}"/>
              </a:ext>
            </a:extLst>
          </p:cNvPr>
          <p:cNvSpPr txBox="1"/>
          <p:nvPr/>
        </p:nvSpPr>
        <p:spPr>
          <a:xfrm>
            <a:off x="9607602" y="4218664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元组与元组操作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TextBox 43">
            <a:extLst>
              <a:ext uri="{FF2B5EF4-FFF2-40B4-BE49-F238E27FC236}">
                <a16:creationId xmlns:a16="http://schemas.microsoft.com/office/drawing/2014/main" id="{C119E0E4-E4B1-453F-86AD-10A64C128094}"/>
              </a:ext>
            </a:extLst>
          </p:cNvPr>
          <p:cNvSpPr txBox="1"/>
          <p:nvPr/>
        </p:nvSpPr>
        <p:spPr>
          <a:xfrm>
            <a:off x="9570940" y="2071127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序列转换函数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215802A-6EDC-4541-A486-8F58F9CBFAE8}"/>
              </a:ext>
            </a:extLst>
          </p:cNvPr>
          <p:cNvGrpSpPr/>
          <p:nvPr/>
        </p:nvGrpSpPr>
        <p:grpSpPr>
          <a:xfrm>
            <a:off x="5317554" y="2650555"/>
            <a:ext cx="1912944" cy="1912942"/>
            <a:chOff x="2690253" y="1702153"/>
            <a:chExt cx="4123259" cy="41232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FA34BCC7-2EA8-43D4-9B32-E46D07E5EEE4}"/>
                </a:ext>
              </a:extLst>
            </p:cNvPr>
            <p:cNvGrpSpPr/>
            <p:nvPr/>
          </p:nvGrpSpPr>
          <p:grpSpPr>
            <a:xfrm>
              <a:off x="2690253" y="1702153"/>
              <a:ext cx="4123259" cy="4123256"/>
              <a:chOff x="2690253" y="1702153"/>
              <a:chExt cx="4123259" cy="4123256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142BCF96-0059-4A7D-BF41-A28F1DFBBB39}"/>
                  </a:ext>
                </a:extLst>
              </p:cNvPr>
              <p:cNvSpPr/>
              <p:nvPr/>
            </p:nvSpPr>
            <p:spPr>
              <a:xfrm>
                <a:off x="2690253" y="1702153"/>
                <a:ext cx="4123259" cy="412325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5E7E5D62-7BF7-49F1-B86A-D60E934BA3E1}"/>
                  </a:ext>
                </a:extLst>
              </p:cNvPr>
              <p:cNvSpPr/>
              <p:nvPr/>
            </p:nvSpPr>
            <p:spPr>
              <a:xfrm>
                <a:off x="2936823" y="1948721"/>
                <a:ext cx="3630119" cy="3630119"/>
              </a:xfrm>
              <a:prstGeom prst="ellipse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7" name="文本框 91">
              <a:extLst>
                <a:ext uri="{FF2B5EF4-FFF2-40B4-BE49-F238E27FC236}">
                  <a16:creationId xmlns:a16="http://schemas.microsoft.com/office/drawing/2014/main" id="{42FBEE05-2DB2-4082-BF2A-3E7EA5E121B7}"/>
                </a:ext>
              </a:extLst>
            </p:cNvPr>
            <p:cNvSpPr txBox="1"/>
            <p:nvPr/>
          </p:nvSpPr>
          <p:spPr>
            <a:xfrm>
              <a:off x="3786397" y="2727750"/>
              <a:ext cx="1945966" cy="2056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本章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提要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61A192E-E421-4112-882F-5682C87F73CB}"/>
              </a:ext>
            </a:extLst>
          </p:cNvPr>
          <p:cNvGrpSpPr/>
          <p:nvPr/>
        </p:nvGrpSpPr>
        <p:grpSpPr>
          <a:xfrm>
            <a:off x="3047902" y="2036744"/>
            <a:ext cx="1075004" cy="1075004"/>
            <a:chOff x="3724322" y="1908536"/>
            <a:chExt cx="1329153" cy="1329153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FE42C3E-1386-4CBD-967B-077E22415C23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87DB677-506C-4636-95E5-952F8B43EB1E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CEDE32A8-4D89-4249-AD42-F25BA10942DD}"/>
              </a:ext>
            </a:extLst>
          </p:cNvPr>
          <p:cNvGrpSpPr/>
          <p:nvPr/>
        </p:nvGrpSpPr>
        <p:grpSpPr>
          <a:xfrm>
            <a:off x="3104669" y="4171535"/>
            <a:ext cx="1075004" cy="1075004"/>
            <a:chOff x="3724322" y="1908536"/>
            <a:chExt cx="1329153" cy="1329153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D4791D8-DE6A-4A95-A9FA-6C3168D0AC7B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519FBF7B-0931-42FF-888B-E761129BC34F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5FD89B6-5181-4F6A-A928-875CB9000AA6}"/>
              </a:ext>
            </a:extLst>
          </p:cNvPr>
          <p:cNvGrpSpPr/>
          <p:nvPr/>
        </p:nvGrpSpPr>
        <p:grpSpPr>
          <a:xfrm>
            <a:off x="8393326" y="4116265"/>
            <a:ext cx="1075004" cy="1075004"/>
            <a:chOff x="3724322" y="1908536"/>
            <a:chExt cx="1329153" cy="1329153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92B14FA6-06C5-4841-A835-2E7C3D5D3B4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9D2A4DB5-C452-4DAF-9F6B-B08CA8C50CA4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6BDEFAF-0EC8-4F6B-A627-8B584F4F4C33}"/>
              </a:ext>
            </a:extLst>
          </p:cNvPr>
          <p:cNvGrpSpPr/>
          <p:nvPr/>
        </p:nvGrpSpPr>
        <p:grpSpPr>
          <a:xfrm>
            <a:off x="8393326" y="2051366"/>
            <a:ext cx="1075004" cy="1075004"/>
            <a:chOff x="3724322" y="1908536"/>
            <a:chExt cx="1329153" cy="1329153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C09D814B-D105-406C-BA26-E1FBA153853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B26D371A-687A-4755-9DE7-17D904BA3BEA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72C7749E-8273-4941-B492-D30403CF175A}"/>
              </a:ext>
            </a:extLst>
          </p:cNvPr>
          <p:cNvSpPr/>
          <p:nvPr/>
        </p:nvSpPr>
        <p:spPr>
          <a:xfrm>
            <a:off x="3982208" y="3274959"/>
            <a:ext cx="1229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8FBD">
                    <a:lumMod val="75000"/>
                  </a:srgb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微软雅黑"/>
                <a:ea typeface="微软雅黑"/>
                <a:cs typeface="+mn-cs"/>
              </a:rPr>
              <a:t>前置课程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2A8FBD">
                  <a:lumMod val="75000"/>
                </a:srgb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B8E8A0-6BB6-406D-B3C8-0A6A03104885}"/>
              </a:ext>
            </a:extLst>
          </p:cNvPr>
          <p:cNvSpPr/>
          <p:nvPr/>
        </p:nvSpPr>
        <p:spPr>
          <a:xfrm>
            <a:off x="7277833" y="3804217"/>
            <a:ext cx="1269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678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微软雅黑"/>
                <a:ea typeface="微软雅黑"/>
                <a:cs typeface="+mn-cs"/>
              </a:rPr>
              <a:t>后续课程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189FCAB-68BA-40F7-9EFB-BFB95E60AC66}"/>
              </a:ext>
            </a:extLst>
          </p:cNvPr>
          <p:cNvGrpSpPr/>
          <p:nvPr/>
        </p:nvGrpSpPr>
        <p:grpSpPr>
          <a:xfrm>
            <a:off x="3286488" y="2373761"/>
            <a:ext cx="504825" cy="430213"/>
            <a:chOff x="3898900" y="152401"/>
            <a:chExt cx="504825" cy="4302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 92">
              <a:extLst>
                <a:ext uri="{FF2B5EF4-FFF2-40B4-BE49-F238E27FC236}">
                  <a16:creationId xmlns:a16="http://schemas.microsoft.com/office/drawing/2014/main" id="{81214D62-709E-4C10-A2AD-41123A6E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5" y="481013"/>
              <a:ext cx="179388" cy="61913"/>
            </a:xfrm>
            <a:custGeom>
              <a:avLst/>
              <a:gdLst>
                <a:gd name="T0" fmla="*/ 3 w 113"/>
                <a:gd name="T1" fmla="*/ 0 h 39"/>
                <a:gd name="T2" fmla="*/ 0 w 113"/>
                <a:gd name="T3" fmla="*/ 39 h 39"/>
                <a:gd name="T4" fmla="*/ 113 w 113"/>
                <a:gd name="T5" fmla="*/ 39 h 39"/>
                <a:gd name="T6" fmla="*/ 111 w 113"/>
                <a:gd name="T7" fmla="*/ 0 h 39"/>
                <a:gd name="T8" fmla="*/ 3 w 11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39">
                  <a:moveTo>
                    <a:pt x="3" y="0"/>
                  </a:moveTo>
                  <a:lnTo>
                    <a:pt x="0" y="39"/>
                  </a:lnTo>
                  <a:lnTo>
                    <a:pt x="113" y="39"/>
                  </a:lnTo>
                  <a:lnTo>
                    <a:pt x="11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4" name="Freeform 93">
              <a:extLst>
                <a:ext uri="{FF2B5EF4-FFF2-40B4-BE49-F238E27FC236}">
                  <a16:creationId xmlns:a16="http://schemas.microsoft.com/office/drawing/2014/main" id="{9EABBAE3-6690-47C2-B58E-B08101D3B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8900" y="152401"/>
              <a:ext cx="504825" cy="312738"/>
            </a:xfrm>
            <a:custGeom>
              <a:avLst/>
              <a:gdLst>
                <a:gd name="T0" fmla="*/ 213 w 318"/>
                <a:gd name="T1" fmla="*/ 197 h 197"/>
                <a:gd name="T2" fmla="*/ 318 w 318"/>
                <a:gd name="T3" fmla="*/ 197 h 197"/>
                <a:gd name="T4" fmla="*/ 318 w 318"/>
                <a:gd name="T5" fmla="*/ 0 h 197"/>
                <a:gd name="T6" fmla="*/ 0 w 318"/>
                <a:gd name="T7" fmla="*/ 0 h 197"/>
                <a:gd name="T8" fmla="*/ 0 w 318"/>
                <a:gd name="T9" fmla="*/ 197 h 197"/>
                <a:gd name="T10" fmla="*/ 105 w 318"/>
                <a:gd name="T11" fmla="*/ 197 h 197"/>
                <a:gd name="T12" fmla="*/ 213 w 318"/>
                <a:gd name="T13" fmla="*/ 197 h 197"/>
                <a:gd name="T14" fmla="*/ 28 w 318"/>
                <a:gd name="T15" fmla="*/ 174 h 197"/>
                <a:gd name="T16" fmla="*/ 28 w 318"/>
                <a:gd name="T17" fmla="*/ 25 h 197"/>
                <a:gd name="T18" fmla="*/ 288 w 318"/>
                <a:gd name="T19" fmla="*/ 25 h 197"/>
                <a:gd name="T20" fmla="*/ 288 w 318"/>
                <a:gd name="T21" fmla="*/ 174 h 197"/>
                <a:gd name="T22" fmla="*/ 212 w 318"/>
                <a:gd name="T23" fmla="*/ 174 h 197"/>
                <a:gd name="T24" fmla="*/ 106 w 318"/>
                <a:gd name="T25" fmla="*/ 174 h 197"/>
                <a:gd name="T26" fmla="*/ 28 w 318"/>
                <a:gd name="T27" fmla="*/ 17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8" h="197">
                  <a:moveTo>
                    <a:pt x="213" y="197"/>
                  </a:moveTo>
                  <a:lnTo>
                    <a:pt x="318" y="197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197"/>
                  </a:lnTo>
                  <a:lnTo>
                    <a:pt x="105" y="197"/>
                  </a:lnTo>
                  <a:lnTo>
                    <a:pt x="213" y="197"/>
                  </a:lnTo>
                  <a:close/>
                  <a:moveTo>
                    <a:pt x="28" y="174"/>
                  </a:moveTo>
                  <a:lnTo>
                    <a:pt x="28" y="25"/>
                  </a:lnTo>
                  <a:lnTo>
                    <a:pt x="288" y="25"/>
                  </a:lnTo>
                  <a:lnTo>
                    <a:pt x="288" y="174"/>
                  </a:lnTo>
                  <a:lnTo>
                    <a:pt x="212" y="174"/>
                  </a:lnTo>
                  <a:lnTo>
                    <a:pt x="106" y="174"/>
                  </a:lnTo>
                  <a:lnTo>
                    <a:pt x="28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5" name="Freeform 94">
              <a:extLst>
                <a:ext uri="{FF2B5EF4-FFF2-40B4-BE49-F238E27FC236}">
                  <a16:creationId xmlns:a16="http://schemas.microsoft.com/office/drawing/2014/main" id="{21C427F7-DB37-4571-B957-AA639A9B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488" y="558801"/>
              <a:ext cx="247650" cy="23813"/>
            </a:xfrm>
            <a:custGeom>
              <a:avLst/>
              <a:gdLst>
                <a:gd name="T0" fmla="*/ 0 w 156"/>
                <a:gd name="T1" fmla="*/ 0 h 15"/>
                <a:gd name="T2" fmla="*/ 0 w 156"/>
                <a:gd name="T3" fmla="*/ 15 h 15"/>
                <a:gd name="T4" fmla="*/ 156 w 156"/>
                <a:gd name="T5" fmla="*/ 15 h 15"/>
                <a:gd name="T6" fmla="*/ 156 w 156"/>
                <a:gd name="T7" fmla="*/ 0 h 15"/>
                <a:gd name="T8" fmla="*/ 134 w 156"/>
                <a:gd name="T9" fmla="*/ 0 h 15"/>
                <a:gd name="T10" fmla="*/ 21 w 156"/>
                <a:gd name="T11" fmla="*/ 0 h 15"/>
                <a:gd name="T12" fmla="*/ 0 w 156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5">
                  <a:moveTo>
                    <a:pt x="0" y="0"/>
                  </a:moveTo>
                  <a:lnTo>
                    <a:pt x="0" y="15"/>
                  </a:lnTo>
                  <a:lnTo>
                    <a:pt x="156" y="15"/>
                  </a:lnTo>
                  <a:lnTo>
                    <a:pt x="156" y="0"/>
                  </a:lnTo>
                  <a:lnTo>
                    <a:pt x="134" y="0"/>
                  </a:ln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id="{02332D00-66BD-47AA-9128-70307C6C8BC7}"/>
              </a:ext>
            </a:extLst>
          </p:cNvPr>
          <p:cNvSpPr>
            <a:spLocks noEditPoints="1"/>
          </p:cNvSpPr>
          <p:nvPr/>
        </p:nvSpPr>
        <p:spPr bwMode="auto">
          <a:xfrm>
            <a:off x="3415158" y="4444852"/>
            <a:ext cx="454025" cy="549275"/>
          </a:xfrm>
          <a:custGeom>
            <a:avLst/>
            <a:gdLst>
              <a:gd name="T0" fmla="*/ 0 w 195"/>
              <a:gd name="T1" fmla="*/ 235 h 235"/>
              <a:gd name="T2" fmla="*/ 48 w 195"/>
              <a:gd name="T3" fmla="*/ 183 h 235"/>
              <a:gd name="T4" fmla="*/ 195 w 195"/>
              <a:gd name="T5" fmla="*/ 183 h 235"/>
              <a:gd name="T6" fmla="*/ 195 w 195"/>
              <a:gd name="T7" fmla="*/ 0 h 235"/>
              <a:gd name="T8" fmla="*/ 0 w 195"/>
              <a:gd name="T9" fmla="*/ 0 h 235"/>
              <a:gd name="T10" fmla="*/ 0 w 195"/>
              <a:gd name="T11" fmla="*/ 235 h 235"/>
              <a:gd name="T12" fmla="*/ 150 w 195"/>
              <a:gd name="T13" fmla="*/ 77 h 235"/>
              <a:gd name="T14" fmla="*/ 167 w 195"/>
              <a:gd name="T15" fmla="*/ 93 h 235"/>
              <a:gd name="T16" fmla="*/ 150 w 195"/>
              <a:gd name="T17" fmla="*/ 110 h 235"/>
              <a:gd name="T18" fmla="*/ 134 w 195"/>
              <a:gd name="T19" fmla="*/ 93 h 235"/>
              <a:gd name="T20" fmla="*/ 150 w 195"/>
              <a:gd name="T21" fmla="*/ 77 h 235"/>
              <a:gd name="T22" fmla="*/ 97 w 195"/>
              <a:gd name="T23" fmla="*/ 77 h 235"/>
              <a:gd name="T24" fmla="*/ 114 w 195"/>
              <a:gd name="T25" fmla="*/ 93 h 235"/>
              <a:gd name="T26" fmla="*/ 97 w 195"/>
              <a:gd name="T27" fmla="*/ 110 h 235"/>
              <a:gd name="T28" fmla="*/ 81 w 195"/>
              <a:gd name="T29" fmla="*/ 93 h 235"/>
              <a:gd name="T30" fmla="*/ 97 w 195"/>
              <a:gd name="T31" fmla="*/ 77 h 235"/>
              <a:gd name="T32" fmla="*/ 45 w 195"/>
              <a:gd name="T33" fmla="*/ 77 h 235"/>
              <a:gd name="T34" fmla="*/ 61 w 195"/>
              <a:gd name="T35" fmla="*/ 93 h 235"/>
              <a:gd name="T36" fmla="*/ 45 w 195"/>
              <a:gd name="T37" fmla="*/ 110 h 235"/>
              <a:gd name="T38" fmla="*/ 28 w 195"/>
              <a:gd name="T39" fmla="*/ 93 h 235"/>
              <a:gd name="T40" fmla="*/ 45 w 195"/>
              <a:gd name="T41" fmla="*/ 7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5" h="235">
                <a:moveTo>
                  <a:pt x="0" y="235"/>
                </a:moveTo>
                <a:cubicBezTo>
                  <a:pt x="48" y="183"/>
                  <a:pt x="48" y="183"/>
                  <a:pt x="48" y="18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5" y="0"/>
                  <a:pt x="195" y="0"/>
                  <a:pt x="195" y="0"/>
                </a:cubicBezTo>
                <a:cubicBezTo>
                  <a:pt x="0" y="0"/>
                  <a:pt x="0" y="0"/>
                  <a:pt x="0" y="0"/>
                </a:cubicBezTo>
                <a:lnTo>
                  <a:pt x="0" y="235"/>
                </a:lnTo>
                <a:close/>
                <a:moveTo>
                  <a:pt x="150" y="77"/>
                </a:moveTo>
                <a:cubicBezTo>
                  <a:pt x="159" y="77"/>
                  <a:pt x="167" y="84"/>
                  <a:pt x="167" y="93"/>
                </a:cubicBezTo>
                <a:cubicBezTo>
                  <a:pt x="167" y="102"/>
                  <a:pt x="159" y="110"/>
                  <a:pt x="150" y="110"/>
                </a:cubicBezTo>
                <a:cubicBezTo>
                  <a:pt x="141" y="110"/>
                  <a:pt x="134" y="102"/>
                  <a:pt x="134" y="93"/>
                </a:cubicBezTo>
                <a:cubicBezTo>
                  <a:pt x="134" y="84"/>
                  <a:pt x="141" y="77"/>
                  <a:pt x="150" y="77"/>
                </a:cubicBezTo>
                <a:close/>
                <a:moveTo>
                  <a:pt x="97" y="77"/>
                </a:moveTo>
                <a:cubicBezTo>
                  <a:pt x="107" y="77"/>
                  <a:pt x="114" y="84"/>
                  <a:pt x="114" y="93"/>
                </a:cubicBezTo>
                <a:cubicBezTo>
                  <a:pt x="114" y="102"/>
                  <a:pt x="107" y="110"/>
                  <a:pt x="97" y="110"/>
                </a:cubicBezTo>
                <a:cubicBezTo>
                  <a:pt x="88" y="110"/>
                  <a:pt x="81" y="102"/>
                  <a:pt x="81" y="93"/>
                </a:cubicBezTo>
                <a:cubicBezTo>
                  <a:pt x="81" y="84"/>
                  <a:pt x="88" y="77"/>
                  <a:pt x="97" y="77"/>
                </a:cubicBezTo>
                <a:close/>
                <a:moveTo>
                  <a:pt x="45" y="77"/>
                </a:moveTo>
                <a:cubicBezTo>
                  <a:pt x="54" y="77"/>
                  <a:pt x="61" y="84"/>
                  <a:pt x="61" y="93"/>
                </a:cubicBezTo>
                <a:cubicBezTo>
                  <a:pt x="61" y="102"/>
                  <a:pt x="54" y="110"/>
                  <a:pt x="45" y="110"/>
                </a:cubicBezTo>
                <a:cubicBezTo>
                  <a:pt x="36" y="110"/>
                  <a:pt x="28" y="102"/>
                  <a:pt x="28" y="93"/>
                </a:cubicBezTo>
                <a:cubicBezTo>
                  <a:pt x="28" y="84"/>
                  <a:pt x="36" y="77"/>
                  <a:pt x="45" y="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9566DB8-5D23-4823-869D-1EFF0D9E9582}"/>
              </a:ext>
            </a:extLst>
          </p:cNvPr>
          <p:cNvGrpSpPr/>
          <p:nvPr/>
        </p:nvGrpSpPr>
        <p:grpSpPr>
          <a:xfrm>
            <a:off x="8692953" y="4366971"/>
            <a:ext cx="485776" cy="523876"/>
            <a:chOff x="3908425" y="1887538"/>
            <a:chExt cx="485776" cy="52387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7169A6C1-22C4-490D-8C31-2E85ABEAB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8425" y="1887538"/>
              <a:ext cx="236538" cy="523875"/>
            </a:xfrm>
            <a:custGeom>
              <a:avLst/>
              <a:gdLst>
                <a:gd name="T0" fmla="*/ 2 w 101"/>
                <a:gd name="T1" fmla="*/ 219 h 225"/>
                <a:gd name="T2" fmla="*/ 50 w 101"/>
                <a:gd name="T3" fmla="*/ 195 h 225"/>
                <a:gd name="T4" fmla="*/ 99 w 101"/>
                <a:gd name="T5" fmla="*/ 219 h 225"/>
                <a:gd name="T6" fmla="*/ 100 w 101"/>
                <a:gd name="T7" fmla="*/ 219 h 225"/>
                <a:gd name="T8" fmla="*/ 100 w 101"/>
                <a:gd name="T9" fmla="*/ 59 h 225"/>
                <a:gd name="T10" fmla="*/ 98 w 101"/>
                <a:gd name="T11" fmla="*/ 35 h 225"/>
                <a:gd name="T12" fmla="*/ 84 w 101"/>
                <a:gd name="T13" fmla="*/ 19 h 225"/>
                <a:gd name="T14" fmla="*/ 84 w 101"/>
                <a:gd name="T15" fmla="*/ 6 h 225"/>
                <a:gd name="T16" fmla="*/ 84 w 101"/>
                <a:gd name="T17" fmla="*/ 0 h 225"/>
                <a:gd name="T18" fmla="*/ 79 w 101"/>
                <a:gd name="T19" fmla="*/ 0 h 225"/>
                <a:gd name="T20" fmla="*/ 22 w 101"/>
                <a:gd name="T21" fmla="*/ 0 h 225"/>
                <a:gd name="T22" fmla="*/ 16 w 101"/>
                <a:gd name="T23" fmla="*/ 0 h 225"/>
                <a:gd name="T24" fmla="*/ 16 w 101"/>
                <a:gd name="T25" fmla="*/ 6 h 225"/>
                <a:gd name="T26" fmla="*/ 16 w 101"/>
                <a:gd name="T27" fmla="*/ 19 h 225"/>
                <a:gd name="T28" fmla="*/ 2 w 101"/>
                <a:gd name="T29" fmla="*/ 35 h 225"/>
                <a:gd name="T30" fmla="*/ 0 w 101"/>
                <a:gd name="T31" fmla="*/ 59 h 225"/>
                <a:gd name="T32" fmla="*/ 0 w 101"/>
                <a:gd name="T33" fmla="*/ 219 h 225"/>
                <a:gd name="T34" fmla="*/ 2 w 101"/>
                <a:gd name="T35" fmla="*/ 219 h 225"/>
                <a:gd name="T36" fmla="*/ 22 w 101"/>
                <a:gd name="T37" fmla="*/ 17 h 225"/>
                <a:gd name="T38" fmla="*/ 22 w 101"/>
                <a:gd name="T39" fmla="*/ 6 h 225"/>
                <a:gd name="T40" fmla="*/ 79 w 101"/>
                <a:gd name="T41" fmla="*/ 6 h 225"/>
                <a:gd name="T42" fmla="*/ 79 w 101"/>
                <a:gd name="T43" fmla="*/ 17 h 225"/>
                <a:gd name="T44" fmla="*/ 79 w 101"/>
                <a:gd name="T45" fmla="*/ 95 h 225"/>
                <a:gd name="T46" fmla="*/ 51 w 101"/>
                <a:gd name="T47" fmla="*/ 65 h 225"/>
                <a:gd name="T48" fmla="*/ 22 w 101"/>
                <a:gd name="T49" fmla="*/ 95 h 225"/>
                <a:gd name="T50" fmla="*/ 22 w 101"/>
                <a:gd name="T51" fmla="*/ 17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1" h="225">
                  <a:moveTo>
                    <a:pt x="2" y="219"/>
                  </a:moveTo>
                  <a:cubicBezTo>
                    <a:pt x="7" y="200"/>
                    <a:pt x="27" y="195"/>
                    <a:pt x="50" y="195"/>
                  </a:cubicBezTo>
                  <a:cubicBezTo>
                    <a:pt x="74" y="195"/>
                    <a:pt x="93" y="200"/>
                    <a:pt x="99" y="219"/>
                  </a:cubicBezTo>
                  <a:cubicBezTo>
                    <a:pt x="101" y="225"/>
                    <a:pt x="100" y="225"/>
                    <a:pt x="100" y="219"/>
                  </a:cubicBezTo>
                  <a:cubicBezTo>
                    <a:pt x="100" y="186"/>
                    <a:pt x="100" y="92"/>
                    <a:pt x="100" y="59"/>
                  </a:cubicBezTo>
                  <a:cubicBezTo>
                    <a:pt x="100" y="52"/>
                    <a:pt x="100" y="42"/>
                    <a:pt x="98" y="35"/>
                  </a:cubicBezTo>
                  <a:cubicBezTo>
                    <a:pt x="96" y="28"/>
                    <a:pt x="91" y="23"/>
                    <a:pt x="84" y="19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9" y="23"/>
                    <a:pt x="5" y="28"/>
                    <a:pt x="2" y="35"/>
                  </a:cubicBezTo>
                  <a:cubicBezTo>
                    <a:pt x="0" y="42"/>
                    <a:pt x="0" y="52"/>
                    <a:pt x="0" y="59"/>
                  </a:cubicBezTo>
                  <a:cubicBezTo>
                    <a:pt x="0" y="92"/>
                    <a:pt x="0" y="186"/>
                    <a:pt x="0" y="219"/>
                  </a:cubicBezTo>
                  <a:cubicBezTo>
                    <a:pt x="0" y="225"/>
                    <a:pt x="0" y="225"/>
                    <a:pt x="2" y="219"/>
                  </a:cubicBezTo>
                  <a:close/>
                  <a:moveTo>
                    <a:pt x="22" y="17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F97953CE-BCC2-4BFD-BC0A-8ADE46335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917701"/>
              <a:ext cx="236538" cy="493713"/>
            </a:xfrm>
            <a:custGeom>
              <a:avLst/>
              <a:gdLst>
                <a:gd name="T0" fmla="*/ 2 w 101"/>
                <a:gd name="T1" fmla="*/ 206 h 212"/>
                <a:gd name="T2" fmla="*/ 50 w 101"/>
                <a:gd name="T3" fmla="*/ 182 h 212"/>
                <a:gd name="T4" fmla="*/ 99 w 101"/>
                <a:gd name="T5" fmla="*/ 206 h 212"/>
                <a:gd name="T6" fmla="*/ 100 w 101"/>
                <a:gd name="T7" fmla="*/ 206 h 212"/>
                <a:gd name="T8" fmla="*/ 100 w 101"/>
                <a:gd name="T9" fmla="*/ 46 h 212"/>
                <a:gd name="T10" fmla="*/ 98 w 101"/>
                <a:gd name="T11" fmla="*/ 23 h 212"/>
                <a:gd name="T12" fmla="*/ 50 w 101"/>
                <a:gd name="T13" fmla="*/ 0 h 212"/>
                <a:gd name="T14" fmla="*/ 2 w 101"/>
                <a:gd name="T15" fmla="*/ 22 h 212"/>
                <a:gd name="T16" fmla="*/ 0 w 101"/>
                <a:gd name="T17" fmla="*/ 46 h 212"/>
                <a:gd name="T18" fmla="*/ 0 w 101"/>
                <a:gd name="T19" fmla="*/ 206 h 212"/>
                <a:gd name="T20" fmla="*/ 2 w 101"/>
                <a:gd name="T21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12">
                  <a:moveTo>
                    <a:pt x="2" y="206"/>
                  </a:moveTo>
                  <a:cubicBezTo>
                    <a:pt x="7" y="187"/>
                    <a:pt x="27" y="182"/>
                    <a:pt x="50" y="182"/>
                  </a:cubicBezTo>
                  <a:cubicBezTo>
                    <a:pt x="74" y="182"/>
                    <a:pt x="93" y="187"/>
                    <a:pt x="99" y="206"/>
                  </a:cubicBezTo>
                  <a:cubicBezTo>
                    <a:pt x="101" y="212"/>
                    <a:pt x="100" y="212"/>
                    <a:pt x="100" y="206"/>
                  </a:cubicBezTo>
                  <a:cubicBezTo>
                    <a:pt x="100" y="173"/>
                    <a:pt x="100" y="79"/>
                    <a:pt x="100" y="46"/>
                  </a:cubicBezTo>
                  <a:cubicBezTo>
                    <a:pt x="100" y="39"/>
                    <a:pt x="101" y="29"/>
                    <a:pt x="98" y="23"/>
                  </a:cubicBezTo>
                  <a:cubicBezTo>
                    <a:pt x="92" y="5"/>
                    <a:pt x="73" y="0"/>
                    <a:pt x="50" y="0"/>
                  </a:cubicBezTo>
                  <a:cubicBezTo>
                    <a:pt x="27" y="0"/>
                    <a:pt x="8" y="5"/>
                    <a:pt x="2" y="22"/>
                  </a:cubicBezTo>
                  <a:cubicBezTo>
                    <a:pt x="0" y="29"/>
                    <a:pt x="0" y="39"/>
                    <a:pt x="0" y="46"/>
                  </a:cubicBezTo>
                  <a:cubicBezTo>
                    <a:pt x="0" y="79"/>
                    <a:pt x="0" y="173"/>
                    <a:pt x="0" y="206"/>
                  </a:cubicBezTo>
                  <a:cubicBezTo>
                    <a:pt x="0" y="212"/>
                    <a:pt x="0" y="212"/>
                    <a:pt x="2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50" name="Freeform 30">
            <a:extLst>
              <a:ext uri="{FF2B5EF4-FFF2-40B4-BE49-F238E27FC236}">
                <a16:creationId xmlns:a16="http://schemas.microsoft.com/office/drawing/2014/main" id="{495061B8-7976-4AFA-A014-4176F5233C41}"/>
              </a:ext>
            </a:extLst>
          </p:cNvPr>
          <p:cNvSpPr>
            <a:spLocks noEditPoints="1"/>
          </p:cNvSpPr>
          <p:nvPr/>
        </p:nvSpPr>
        <p:spPr bwMode="auto">
          <a:xfrm>
            <a:off x="8692953" y="2284289"/>
            <a:ext cx="509509" cy="556063"/>
          </a:xfrm>
          <a:custGeom>
            <a:avLst/>
            <a:gdLst>
              <a:gd name="T0" fmla="*/ 0 w 512"/>
              <a:gd name="T1" fmla="*/ 437 h 517"/>
              <a:gd name="T2" fmla="*/ 75 w 512"/>
              <a:gd name="T3" fmla="*/ 512 h 517"/>
              <a:gd name="T4" fmla="*/ 128 w 512"/>
              <a:gd name="T5" fmla="*/ 491 h 517"/>
              <a:gd name="T6" fmla="*/ 264 w 512"/>
              <a:gd name="T7" fmla="*/ 354 h 517"/>
              <a:gd name="T8" fmla="*/ 301 w 512"/>
              <a:gd name="T9" fmla="*/ 391 h 517"/>
              <a:gd name="T10" fmla="*/ 315 w 512"/>
              <a:gd name="T11" fmla="*/ 443 h 517"/>
              <a:gd name="T12" fmla="*/ 367 w 512"/>
              <a:gd name="T13" fmla="*/ 496 h 517"/>
              <a:gd name="T14" fmla="*/ 443 w 512"/>
              <a:gd name="T15" fmla="*/ 497 h 517"/>
              <a:gd name="T16" fmla="*/ 443 w 512"/>
              <a:gd name="T17" fmla="*/ 421 h 517"/>
              <a:gd name="T18" fmla="*/ 390 w 512"/>
              <a:gd name="T19" fmla="*/ 368 h 517"/>
              <a:gd name="T20" fmla="*/ 338 w 512"/>
              <a:gd name="T21" fmla="*/ 354 h 517"/>
              <a:gd name="T22" fmla="*/ 301 w 512"/>
              <a:gd name="T23" fmla="*/ 318 h 517"/>
              <a:gd name="T24" fmla="*/ 325 w 512"/>
              <a:gd name="T25" fmla="*/ 294 h 517"/>
              <a:gd name="T26" fmla="*/ 468 w 512"/>
              <a:gd name="T27" fmla="*/ 255 h 517"/>
              <a:gd name="T28" fmla="*/ 512 w 512"/>
              <a:gd name="T29" fmla="*/ 161 h 517"/>
              <a:gd name="T30" fmla="*/ 512 w 512"/>
              <a:gd name="T31" fmla="*/ 160 h 517"/>
              <a:gd name="T32" fmla="*/ 491 w 512"/>
              <a:gd name="T33" fmla="*/ 139 h 517"/>
              <a:gd name="T34" fmla="*/ 475 w 512"/>
              <a:gd name="T35" fmla="*/ 145 h 517"/>
              <a:gd name="T36" fmla="*/ 469 w 512"/>
              <a:gd name="T37" fmla="*/ 151 h 517"/>
              <a:gd name="T38" fmla="*/ 448 w 512"/>
              <a:gd name="T39" fmla="*/ 172 h 517"/>
              <a:gd name="T40" fmla="*/ 394 w 512"/>
              <a:gd name="T41" fmla="*/ 193 h 517"/>
              <a:gd name="T42" fmla="*/ 341 w 512"/>
              <a:gd name="T43" fmla="*/ 171 h 517"/>
              <a:gd name="T44" fmla="*/ 319 w 512"/>
              <a:gd name="T45" fmla="*/ 118 h 517"/>
              <a:gd name="T46" fmla="*/ 340 w 512"/>
              <a:gd name="T47" fmla="*/ 64 h 517"/>
              <a:gd name="T48" fmla="*/ 361 w 512"/>
              <a:gd name="T49" fmla="*/ 43 h 517"/>
              <a:gd name="T50" fmla="*/ 367 w 512"/>
              <a:gd name="T51" fmla="*/ 37 h 517"/>
              <a:gd name="T52" fmla="*/ 373 w 512"/>
              <a:gd name="T53" fmla="*/ 21 h 517"/>
              <a:gd name="T54" fmla="*/ 352 w 512"/>
              <a:gd name="T55" fmla="*/ 0 h 517"/>
              <a:gd name="T56" fmla="*/ 351 w 512"/>
              <a:gd name="T57" fmla="*/ 0 h 517"/>
              <a:gd name="T58" fmla="*/ 257 w 512"/>
              <a:gd name="T59" fmla="*/ 44 h 517"/>
              <a:gd name="T60" fmla="*/ 218 w 512"/>
              <a:gd name="T61" fmla="*/ 187 h 517"/>
              <a:gd name="T62" fmla="*/ 194 w 512"/>
              <a:gd name="T63" fmla="*/ 211 h 517"/>
              <a:gd name="T64" fmla="*/ 96 w 512"/>
              <a:gd name="T65" fmla="*/ 112 h 517"/>
              <a:gd name="T66" fmla="*/ 96 w 512"/>
              <a:gd name="T67" fmla="*/ 85 h 517"/>
              <a:gd name="T68" fmla="*/ 32 w 512"/>
              <a:gd name="T69" fmla="*/ 53 h 517"/>
              <a:gd name="T70" fmla="*/ 0 w 512"/>
              <a:gd name="T71" fmla="*/ 85 h 517"/>
              <a:gd name="T72" fmla="*/ 32 w 512"/>
              <a:gd name="T73" fmla="*/ 149 h 517"/>
              <a:gd name="T74" fmla="*/ 59 w 512"/>
              <a:gd name="T75" fmla="*/ 149 h 517"/>
              <a:gd name="T76" fmla="*/ 157 w 512"/>
              <a:gd name="T77" fmla="*/ 248 h 517"/>
              <a:gd name="T78" fmla="*/ 21 w 512"/>
              <a:gd name="T79" fmla="*/ 384 h 517"/>
              <a:gd name="T80" fmla="*/ 0 w 512"/>
              <a:gd name="T81" fmla="*/ 437 h 517"/>
              <a:gd name="T82" fmla="*/ 53 w 512"/>
              <a:gd name="T83" fmla="*/ 432 h 517"/>
              <a:gd name="T84" fmla="*/ 80 w 512"/>
              <a:gd name="T85" fmla="*/ 405 h 517"/>
              <a:gd name="T86" fmla="*/ 107 w 512"/>
              <a:gd name="T87" fmla="*/ 432 h 517"/>
              <a:gd name="T88" fmla="*/ 80 w 512"/>
              <a:gd name="T89" fmla="*/ 459 h 517"/>
              <a:gd name="T90" fmla="*/ 53 w 512"/>
              <a:gd name="T91" fmla="*/ 432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12" h="517">
                <a:moveTo>
                  <a:pt x="0" y="437"/>
                </a:moveTo>
                <a:cubicBezTo>
                  <a:pt x="0" y="479"/>
                  <a:pt x="33" y="512"/>
                  <a:pt x="75" y="512"/>
                </a:cubicBezTo>
                <a:cubicBezTo>
                  <a:pt x="95" y="512"/>
                  <a:pt x="114" y="504"/>
                  <a:pt x="128" y="491"/>
                </a:cubicBezTo>
                <a:cubicBezTo>
                  <a:pt x="264" y="354"/>
                  <a:pt x="264" y="354"/>
                  <a:pt x="264" y="354"/>
                </a:cubicBezTo>
                <a:cubicBezTo>
                  <a:pt x="301" y="391"/>
                  <a:pt x="301" y="391"/>
                  <a:pt x="301" y="391"/>
                </a:cubicBezTo>
                <a:cubicBezTo>
                  <a:pt x="296" y="409"/>
                  <a:pt x="300" y="429"/>
                  <a:pt x="315" y="443"/>
                </a:cubicBezTo>
                <a:cubicBezTo>
                  <a:pt x="367" y="496"/>
                  <a:pt x="367" y="496"/>
                  <a:pt x="367" y="496"/>
                </a:cubicBezTo>
                <a:cubicBezTo>
                  <a:pt x="389" y="517"/>
                  <a:pt x="422" y="517"/>
                  <a:pt x="443" y="497"/>
                </a:cubicBezTo>
                <a:cubicBezTo>
                  <a:pt x="464" y="476"/>
                  <a:pt x="464" y="442"/>
                  <a:pt x="443" y="421"/>
                </a:cubicBezTo>
                <a:cubicBezTo>
                  <a:pt x="390" y="368"/>
                  <a:pt x="390" y="368"/>
                  <a:pt x="390" y="368"/>
                </a:cubicBezTo>
                <a:cubicBezTo>
                  <a:pt x="376" y="354"/>
                  <a:pt x="356" y="349"/>
                  <a:pt x="338" y="354"/>
                </a:cubicBezTo>
                <a:cubicBezTo>
                  <a:pt x="301" y="318"/>
                  <a:pt x="301" y="318"/>
                  <a:pt x="301" y="318"/>
                </a:cubicBezTo>
                <a:cubicBezTo>
                  <a:pt x="325" y="294"/>
                  <a:pt x="325" y="294"/>
                  <a:pt x="325" y="294"/>
                </a:cubicBezTo>
                <a:cubicBezTo>
                  <a:pt x="375" y="307"/>
                  <a:pt x="430" y="294"/>
                  <a:pt x="468" y="255"/>
                </a:cubicBezTo>
                <a:cubicBezTo>
                  <a:pt x="495" y="229"/>
                  <a:pt x="510" y="196"/>
                  <a:pt x="512" y="161"/>
                </a:cubicBezTo>
                <a:cubicBezTo>
                  <a:pt x="512" y="160"/>
                  <a:pt x="512" y="160"/>
                  <a:pt x="512" y="160"/>
                </a:cubicBezTo>
                <a:cubicBezTo>
                  <a:pt x="512" y="148"/>
                  <a:pt x="502" y="139"/>
                  <a:pt x="491" y="139"/>
                </a:cubicBezTo>
                <a:cubicBezTo>
                  <a:pt x="485" y="139"/>
                  <a:pt x="479" y="141"/>
                  <a:pt x="475" y="145"/>
                </a:cubicBezTo>
                <a:cubicBezTo>
                  <a:pt x="469" y="151"/>
                  <a:pt x="469" y="151"/>
                  <a:pt x="469" y="151"/>
                </a:cubicBezTo>
                <a:cubicBezTo>
                  <a:pt x="448" y="172"/>
                  <a:pt x="448" y="172"/>
                  <a:pt x="448" y="172"/>
                </a:cubicBezTo>
                <a:cubicBezTo>
                  <a:pt x="434" y="185"/>
                  <a:pt x="415" y="193"/>
                  <a:pt x="394" y="193"/>
                </a:cubicBezTo>
                <a:cubicBezTo>
                  <a:pt x="373" y="193"/>
                  <a:pt x="355" y="184"/>
                  <a:pt x="341" y="171"/>
                </a:cubicBezTo>
                <a:cubicBezTo>
                  <a:pt x="328" y="157"/>
                  <a:pt x="319" y="139"/>
                  <a:pt x="319" y="118"/>
                </a:cubicBezTo>
                <a:cubicBezTo>
                  <a:pt x="319" y="97"/>
                  <a:pt x="327" y="78"/>
                  <a:pt x="340" y="64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67" y="37"/>
                  <a:pt x="367" y="37"/>
                  <a:pt x="367" y="37"/>
                </a:cubicBezTo>
                <a:cubicBezTo>
                  <a:pt x="371" y="33"/>
                  <a:pt x="373" y="27"/>
                  <a:pt x="373" y="21"/>
                </a:cubicBezTo>
                <a:cubicBezTo>
                  <a:pt x="373" y="10"/>
                  <a:pt x="364" y="0"/>
                  <a:pt x="352" y="0"/>
                </a:cubicBezTo>
                <a:cubicBezTo>
                  <a:pt x="351" y="0"/>
                  <a:pt x="351" y="0"/>
                  <a:pt x="351" y="0"/>
                </a:cubicBezTo>
                <a:cubicBezTo>
                  <a:pt x="316" y="2"/>
                  <a:pt x="283" y="17"/>
                  <a:pt x="257" y="44"/>
                </a:cubicBezTo>
                <a:cubicBezTo>
                  <a:pt x="218" y="82"/>
                  <a:pt x="205" y="138"/>
                  <a:pt x="218" y="187"/>
                </a:cubicBezTo>
                <a:cubicBezTo>
                  <a:pt x="194" y="211"/>
                  <a:pt x="194" y="211"/>
                  <a:pt x="194" y="211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96" y="85"/>
                  <a:pt x="96" y="85"/>
                  <a:pt x="96" y="85"/>
                </a:cubicBezTo>
                <a:cubicBezTo>
                  <a:pt x="32" y="53"/>
                  <a:pt x="32" y="53"/>
                  <a:pt x="32" y="53"/>
                </a:cubicBezTo>
                <a:cubicBezTo>
                  <a:pt x="0" y="85"/>
                  <a:pt x="0" y="85"/>
                  <a:pt x="0" y="85"/>
                </a:cubicBezTo>
                <a:cubicBezTo>
                  <a:pt x="32" y="149"/>
                  <a:pt x="32" y="149"/>
                  <a:pt x="32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157" y="248"/>
                  <a:pt x="157" y="248"/>
                  <a:pt x="157" y="248"/>
                </a:cubicBezTo>
                <a:cubicBezTo>
                  <a:pt x="21" y="384"/>
                  <a:pt x="21" y="384"/>
                  <a:pt x="21" y="384"/>
                </a:cubicBezTo>
                <a:cubicBezTo>
                  <a:pt x="8" y="398"/>
                  <a:pt x="0" y="417"/>
                  <a:pt x="0" y="437"/>
                </a:cubicBezTo>
                <a:close/>
                <a:moveTo>
                  <a:pt x="53" y="432"/>
                </a:moveTo>
                <a:cubicBezTo>
                  <a:pt x="53" y="417"/>
                  <a:pt x="65" y="405"/>
                  <a:pt x="80" y="405"/>
                </a:cubicBezTo>
                <a:cubicBezTo>
                  <a:pt x="95" y="405"/>
                  <a:pt x="107" y="417"/>
                  <a:pt x="107" y="432"/>
                </a:cubicBezTo>
                <a:cubicBezTo>
                  <a:pt x="107" y="447"/>
                  <a:pt x="95" y="459"/>
                  <a:pt x="80" y="459"/>
                </a:cubicBezTo>
                <a:cubicBezTo>
                  <a:pt x="65" y="459"/>
                  <a:pt x="53" y="447"/>
                  <a:pt x="53" y="4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9" grpId="0" animBg="1"/>
      <p:bldP spid="61" grpId="0"/>
      <p:bldP spid="62" grpId="0"/>
      <p:bldP spid="73" grpId="0"/>
      <p:bldP spid="74" grpId="0"/>
      <p:bldP spid="26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列表与列表操作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01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7697545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1C909074-6B07-4A7B-AC17-105FA2C50C09}"/>
              </a:ext>
            </a:extLst>
          </p:cNvPr>
          <p:cNvSpPr/>
          <p:nvPr/>
        </p:nvSpPr>
        <p:spPr>
          <a:xfrm>
            <a:off x="776096" y="1465457"/>
            <a:ext cx="10568006" cy="1303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）用来有序存放一组相关数据，以便进行统一的处理。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中，将</a:t>
            </a:r>
            <a:r>
              <a:rPr lang="zh-CN" altLang="zh-CN" sz="2800" b="1" dirty="0">
                <a:solidFill>
                  <a:srgbClr val="6BE13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一组</a:t>
            </a:r>
            <a:r>
              <a:rPr lang="zh-CN" altLang="zh-CN" sz="2800" b="1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放在一对方括号“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”中即定义了一个列表。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385DFC-C596-432C-A4F6-C7B25108BB2E}"/>
              </a:ext>
            </a:extLst>
          </p:cNvPr>
          <p:cNvGrpSpPr/>
          <p:nvPr/>
        </p:nvGrpSpPr>
        <p:grpSpPr>
          <a:xfrm>
            <a:off x="4017818" y="2809702"/>
            <a:ext cx="5453143" cy="1279665"/>
            <a:chOff x="4017818" y="2809702"/>
            <a:chExt cx="5453143" cy="127966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6583FA4-FF8E-4DB4-A100-992B64A3C2D7}"/>
                </a:ext>
              </a:extLst>
            </p:cNvPr>
            <p:cNvGrpSpPr/>
            <p:nvPr/>
          </p:nvGrpSpPr>
          <p:grpSpPr>
            <a:xfrm>
              <a:off x="4017818" y="2809702"/>
              <a:ext cx="1950720" cy="936567"/>
              <a:chOff x="4017818" y="2809702"/>
              <a:chExt cx="1950720" cy="936567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8DEBE39-8043-438D-8DA7-1E80A46E4B99}"/>
                  </a:ext>
                </a:extLst>
              </p:cNvPr>
              <p:cNvCxnSpPr/>
              <p:nvPr/>
            </p:nvCxnSpPr>
            <p:spPr>
              <a:xfrm>
                <a:off x="4034444" y="2809702"/>
                <a:ext cx="0" cy="919942"/>
              </a:xfrm>
              <a:prstGeom prst="line">
                <a:avLst/>
              </a:prstGeom>
              <a:ln w="28575">
                <a:solidFill>
                  <a:srgbClr val="FF99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4EB21C94-D9AF-40A8-BF9D-469B32956F8D}"/>
                  </a:ext>
                </a:extLst>
              </p:cNvPr>
              <p:cNvCxnSpPr/>
              <p:nvPr/>
            </p:nvCxnSpPr>
            <p:spPr>
              <a:xfrm>
                <a:off x="4017818" y="3746269"/>
                <a:ext cx="1950720" cy="0"/>
              </a:xfrm>
              <a:prstGeom prst="straightConnector1">
                <a:avLst/>
              </a:prstGeom>
              <a:ln w="28575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D57D54-F6DE-41BB-BA80-F44410AE3BE6}"/>
                </a:ext>
              </a:extLst>
            </p:cNvPr>
            <p:cNvSpPr/>
            <p:nvPr/>
          </p:nvSpPr>
          <p:spPr>
            <a:xfrm>
              <a:off x="6015647" y="3174967"/>
              <a:ext cx="3455314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rgbClr val="FF9900"/>
                  </a:solidFill>
                </a:rPr>
                <a:t>每个数据称为‘元素’</a:t>
              </a: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52ED953-38C5-4EC7-9584-7EBC030D15CE}"/>
              </a:ext>
            </a:extLst>
          </p:cNvPr>
          <p:cNvCxnSpPr/>
          <p:nvPr/>
        </p:nvCxnSpPr>
        <p:spPr>
          <a:xfrm>
            <a:off x="3325091" y="2809702"/>
            <a:ext cx="0" cy="1900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B38337-433A-4DE1-98C8-9465F801C3BB}"/>
              </a:ext>
            </a:extLst>
          </p:cNvPr>
          <p:cNvCxnSpPr/>
          <p:nvPr/>
        </p:nvCxnSpPr>
        <p:spPr>
          <a:xfrm>
            <a:off x="3341716" y="4710545"/>
            <a:ext cx="2532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DC586C-B3BB-4C1E-97B9-086677A6F40C}"/>
              </a:ext>
            </a:extLst>
          </p:cNvPr>
          <p:cNvSpPr/>
          <p:nvPr/>
        </p:nvSpPr>
        <p:spPr>
          <a:xfrm>
            <a:off x="5968538" y="4266705"/>
            <a:ext cx="345531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6BE137"/>
                </a:solidFill>
              </a:rPr>
              <a:t>数据的个数称为‘长度’</a:t>
            </a:r>
          </a:p>
        </p:txBody>
      </p:sp>
    </p:spTree>
    <p:extLst>
      <p:ext uri="{BB962C8B-B14F-4D97-AF65-F5344CB8AC3E}">
        <p14:creationId xmlns:p14="http://schemas.microsoft.com/office/powerpoint/2010/main" val="540958384"/>
      </p:ext>
    </p:extLst>
  </p:cSld>
  <p:clrMapOvr>
    <a:masterClrMapping/>
  </p:clrMapOvr>
  <p:transition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5A01C7E-8527-49BB-B7C3-4499F5B863FA}"/>
              </a:ext>
            </a:extLst>
          </p:cNvPr>
          <p:cNvGrpSpPr/>
          <p:nvPr/>
        </p:nvGrpSpPr>
        <p:grpSpPr>
          <a:xfrm>
            <a:off x="1955961" y="2552227"/>
            <a:ext cx="6761318" cy="1551608"/>
            <a:chOff x="2465809" y="2399606"/>
            <a:chExt cx="6761318" cy="155160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BA35A00-FF65-479F-A129-3A25B583CC2F}"/>
                </a:ext>
              </a:extLst>
            </p:cNvPr>
            <p:cNvSpPr/>
            <p:nvPr/>
          </p:nvSpPr>
          <p:spPr>
            <a:xfrm>
              <a:off x="2765068" y="2917365"/>
              <a:ext cx="646205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scores = [98, 96, 95, 94, 92]</a:t>
              </a:r>
              <a:endParaRPr lang="zh-CN" altLang="en-US" sz="2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30198F-8638-465E-BEAA-57B0F23B74E8}"/>
                </a:ext>
              </a:extLst>
            </p:cNvPr>
            <p:cNvSpPr/>
            <p:nvPr/>
          </p:nvSpPr>
          <p:spPr>
            <a:xfrm>
              <a:off x="2465809" y="2399606"/>
              <a:ext cx="5054438" cy="5177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rgbClr val="0070C0"/>
                  </a:solidFill>
                </a:rPr>
                <a:t>正向序号             </a:t>
              </a:r>
              <a:r>
                <a:rPr lang="en-US" altLang="zh-CN" sz="2000" dirty="0">
                  <a:solidFill>
                    <a:srgbClr val="0070C0"/>
                  </a:solidFill>
                </a:rPr>
                <a:t>0        1      2       3        4</a:t>
              </a:r>
              <a:endParaRPr lang="zh-CN" altLang="en-US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4139FA1-EF7B-458C-AA00-B5315191EC36}"/>
                </a:ext>
              </a:extLst>
            </p:cNvPr>
            <p:cNvCxnSpPr/>
            <p:nvPr/>
          </p:nvCxnSpPr>
          <p:spPr>
            <a:xfrm>
              <a:off x="3790604" y="2665614"/>
              <a:ext cx="315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FD253C6-0D37-402F-87B0-53908D0AC55A}"/>
                </a:ext>
              </a:extLst>
            </p:cNvPr>
            <p:cNvSpPr/>
            <p:nvPr/>
          </p:nvSpPr>
          <p:spPr>
            <a:xfrm>
              <a:off x="3640972" y="3433455"/>
              <a:ext cx="5054438" cy="5177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dirty="0">
                  <a:solidFill>
                    <a:srgbClr val="0070C0"/>
                  </a:solidFill>
                </a:rPr>
                <a:t>          -5     -4       -3      -2      -1             </a:t>
              </a:r>
              <a:r>
                <a:rPr lang="zh-CN" altLang="en-US" sz="2000" dirty="0">
                  <a:solidFill>
                    <a:srgbClr val="0070C0"/>
                  </a:solidFill>
                </a:rPr>
                <a:t>反向序号 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8CCEEB5-7895-456A-AE41-579B51A21EBF}"/>
                </a:ext>
              </a:extLst>
            </p:cNvPr>
            <p:cNvCxnSpPr/>
            <p:nvPr/>
          </p:nvCxnSpPr>
          <p:spPr>
            <a:xfrm flipH="1">
              <a:off x="6927273" y="3700548"/>
              <a:ext cx="3879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C2EBE31F-F3F7-4B90-8913-80761EEF43FB}"/>
              </a:ext>
            </a:extLst>
          </p:cNvPr>
          <p:cNvSpPr/>
          <p:nvPr/>
        </p:nvSpPr>
        <p:spPr>
          <a:xfrm>
            <a:off x="1723503" y="4997094"/>
            <a:ext cx="6462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scores [2] == score [-3]== 95</a:t>
            </a:r>
            <a:endParaRPr lang="zh-CN" altLang="en-US" sz="28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F981CF-49BC-4165-8A72-142CFD7CC9A0}"/>
              </a:ext>
            </a:extLst>
          </p:cNvPr>
          <p:cNvSpPr/>
          <p:nvPr/>
        </p:nvSpPr>
        <p:spPr>
          <a:xfrm>
            <a:off x="892080" y="1337686"/>
            <a:ext cx="6462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列表元素按序号访问。</a:t>
            </a:r>
          </a:p>
        </p:txBody>
      </p:sp>
    </p:spTree>
    <p:extLst>
      <p:ext uri="{BB962C8B-B14F-4D97-AF65-F5344CB8AC3E}">
        <p14:creationId xmlns:p14="http://schemas.microsoft.com/office/powerpoint/2010/main" val="2502519714"/>
      </p:ext>
    </p:extLst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595403" y="1721591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可以存放一组成绩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可以存放一组人名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可以存放一个学生的基本信息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098F99BD-4EC1-4BF0-BD77-0B98769D720A}"/>
              </a:ext>
            </a:extLst>
          </p:cNvPr>
          <p:cNvSpPr/>
          <p:nvPr/>
        </p:nvSpPr>
        <p:spPr>
          <a:xfrm>
            <a:off x="7081592" y="4397680"/>
            <a:ext cx="3851563" cy="725978"/>
          </a:xfrm>
          <a:prstGeom prst="wedgeRectCallout">
            <a:avLst>
              <a:gd name="adj1" fmla="val -59825"/>
              <a:gd name="adj2" fmla="val 96088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9900"/>
                </a:solidFill>
              </a:rPr>
              <a:t>允许列表元素类型互不相同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91682D-DE62-4B9A-B32F-20A1AFEEC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44" y="2371627"/>
            <a:ext cx="5481748" cy="4216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5431BC-2CF4-4522-BA0F-26A1FBA9C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44" y="3897260"/>
            <a:ext cx="9127678" cy="3825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0C94DB-F37A-4C48-9001-2398C4F1F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9844" y="5470462"/>
            <a:ext cx="9135061" cy="50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22136"/>
      </p:ext>
    </p:extLst>
  </p:cSld>
  <p:clrMapOvr>
    <a:masterClrMapping/>
  </p:clrMapOvr>
  <p:transition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595403" y="1721591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可以存放若干学生的基本信息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可以如下定义嵌套的列表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098F99BD-4EC1-4BF0-BD77-0B98769D720A}"/>
              </a:ext>
            </a:extLst>
          </p:cNvPr>
          <p:cNvSpPr/>
          <p:nvPr/>
        </p:nvSpPr>
        <p:spPr>
          <a:xfrm>
            <a:off x="7181345" y="1016091"/>
            <a:ext cx="3851563" cy="725978"/>
          </a:xfrm>
          <a:prstGeom prst="wedgeRectCallout">
            <a:avLst>
              <a:gd name="adj1" fmla="val -52775"/>
              <a:gd name="adj2" fmla="val 138073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9900"/>
                </a:solidFill>
              </a:rPr>
              <a:t>允许列表嵌套定义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6314AE-E205-4044-B1F6-C94D08D39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44" y="2460320"/>
            <a:ext cx="9586510" cy="4482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2B9630A-A135-4F26-B679-E644A71A6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44" y="4016224"/>
            <a:ext cx="10297207" cy="242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9816"/>
      </p:ext>
    </p:extLst>
  </p:cSld>
  <p:clrMapOvr>
    <a:masterClrMapping/>
  </p:clrMapOvr>
  <p:transition spd="slow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253330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2800" dirty="0"/>
              <a:t>【例</a:t>
            </a:r>
            <a:r>
              <a:rPr lang="en-US" altLang="zh-CN" sz="2800" dirty="0"/>
              <a:t>4-1</a:t>
            </a:r>
            <a:r>
              <a:rPr lang="zh-CN" altLang="zh-CN" sz="2800" dirty="0"/>
              <a:t>】根据输入的数字，输出对应的月份信息。如输入“</a:t>
            </a:r>
            <a:r>
              <a:rPr lang="en-US" altLang="zh-CN" sz="2800" dirty="0"/>
              <a:t>6</a:t>
            </a:r>
            <a:r>
              <a:rPr lang="zh-CN" altLang="zh-CN" sz="2800" dirty="0"/>
              <a:t>”，则输出“</a:t>
            </a:r>
            <a:r>
              <a:rPr lang="en-US" altLang="zh-CN" sz="2800" dirty="0"/>
              <a:t>It’s June.</a:t>
            </a:r>
            <a:r>
              <a:rPr lang="zh-CN" altLang="zh-CN" sz="2800" dirty="0"/>
              <a:t>”</a:t>
            </a:r>
            <a:endParaRPr lang="zh-CN" altLang="en-US" sz="28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AF4AF23-23A6-43A9-9402-DA8E97CEB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92442"/>
              </p:ext>
            </p:extLst>
          </p:nvPr>
        </p:nvGraphicFramePr>
        <p:xfrm>
          <a:off x="4311231" y="2576713"/>
          <a:ext cx="94266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2668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C127F97-928D-4702-9D8A-008D95458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66141"/>
              </p:ext>
            </p:extLst>
          </p:nvPr>
        </p:nvGraphicFramePr>
        <p:xfrm>
          <a:off x="5624666" y="2576713"/>
          <a:ext cx="155578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5780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January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February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March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November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December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B3F08CC-E0A6-47FF-974F-0FB104D3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089487"/>
              </p:ext>
            </p:extLst>
          </p:nvPr>
        </p:nvGraphicFramePr>
        <p:xfrm>
          <a:off x="7194363" y="2585180"/>
          <a:ext cx="46438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380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293B8DD7-1A92-4C7C-8991-CA6C2B0A757A}"/>
              </a:ext>
            </a:extLst>
          </p:cNvPr>
          <p:cNvGrpSpPr/>
          <p:nvPr/>
        </p:nvGrpSpPr>
        <p:grpSpPr>
          <a:xfrm>
            <a:off x="5022421" y="2762451"/>
            <a:ext cx="356138" cy="2246490"/>
            <a:chOff x="4932109" y="2762451"/>
            <a:chExt cx="356138" cy="224649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AD14EA4-E316-473D-9652-167A27D457AE}"/>
                </a:ext>
              </a:extLst>
            </p:cNvPr>
            <p:cNvCxnSpPr/>
            <p:nvPr/>
          </p:nvCxnSpPr>
          <p:spPr>
            <a:xfrm>
              <a:off x="4932112" y="2762451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E4FE7D8-4226-498B-9C24-E888BD69AC79}"/>
                </a:ext>
              </a:extLst>
            </p:cNvPr>
            <p:cNvCxnSpPr/>
            <p:nvPr/>
          </p:nvCxnSpPr>
          <p:spPr>
            <a:xfrm>
              <a:off x="4932112" y="3106763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2DA6B54-ECCB-4667-87CA-2566BFFEDE18}"/>
                </a:ext>
              </a:extLst>
            </p:cNvPr>
            <p:cNvCxnSpPr/>
            <p:nvPr/>
          </p:nvCxnSpPr>
          <p:spPr>
            <a:xfrm>
              <a:off x="4932111" y="3518807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128E67E-B3FB-4100-B72A-31BCD931F7A8}"/>
                </a:ext>
              </a:extLst>
            </p:cNvPr>
            <p:cNvCxnSpPr/>
            <p:nvPr/>
          </p:nvCxnSpPr>
          <p:spPr>
            <a:xfrm>
              <a:off x="4932110" y="4636407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353509F7-4664-4836-A1CD-CF1EFE375C85}"/>
                </a:ext>
              </a:extLst>
            </p:cNvPr>
            <p:cNvCxnSpPr/>
            <p:nvPr/>
          </p:nvCxnSpPr>
          <p:spPr>
            <a:xfrm>
              <a:off x="4932109" y="5008941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4135E59D-D164-43D2-86EE-17AE15646DDE}"/>
              </a:ext>
            </a:extLst>
          </p:cNvPr>
          <p:cNvSpPr/>
          <p:nvPr/>
        </p:nvSpPr>
        <p:spPr>
          <a:xfrm>
            <a:off x="4260993" y="2187146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</a:rPr>
              <a:t>输入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80DC4E-EF6B-4D98-B3CE-B21929A7CB05}"/>
              </a:ext>
            </a:extLst>
          </p:cNvPr>
          <p:cNvSpPr/>
          <p:nvPr/>
        </p:nvSpPr>
        <p:spPr>
          <a:xfrm>
            <a:off x="5844723" y="2187146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</a:rPr>
              <a:t>输出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1F007D1-E5C0-42A8-A001-9F6F14952C2F}"/>
              </a:ext>
            </a:extLst>
          </p:cNvPr>
          <p:cNvSpPr/>
          <p:nvPr/>
        </p:nvSpPr>
        <p:spPr>
          <a:xfrm>
            <a:off x="5844722" y="5291908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列表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E47774-0FB6-4C4A-B056-D4AE77009B23}"/>
              </a:ext>
            </a:extLst>
          </p:cNvPr>
          <p:cNvSpPr/>
          <p:nvPr/>
        </p:nvSpPr>
        <p:spPr>
          <a:xfrm>
            <a:off x="6904981" y="5286624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下标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1DDA532-DB86-4CFC-99ED-555EAAC19307}"/>
              </a:ext>
            </a:extLst>
          </p:cNvPr>
          <p:cNvGrpSpPr/>
          <p:nvPr/>
        </p:nvGrpSpPr>
        <p:grpSpPr>
          <a:xfrm>
            <a:off x="4782564" y="5286624"/>
            <a:ext cx="2643988" cy="1199104"/>
            <a:chOff x="4782564" y="5286624"/>
            <a:chExt cx="2643988" cy="1199104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8298884-80C5-4339-B2F0-BA2A9FC6C394}"/>
                </a:ext>
              </a:extLst>
            </p:cNvPr>
            <p:cNvGrpSpPr/>
            <p:nvPr/>
          </p:nvGrpSpPr>
          <p:grpSpPr>
            <a:xfrm>
              <a:off x="4782564" y="5286624"/>
              <a:ext cx="2643988" cy="843243"/>
              <a:chOff x="4782564" y="5286624"/>
              <a:chExt cx="2643988" cy="843243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FCCC0F70-0716-4031-AE92-D7CD1CE1D404}"/>
                  </a:ext>
                </a:extLst>
              </p:cNvPr>
              <p:cNvCxnSpPr/>
              <p:nvPr/>
            </p:nvCxnSpPr>
            <p:spPr>
              <a:xfrm>
                <a:off x="4782564" y="5286624"/>
                <a:ext cx="0" cy="84324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82E1261-56DE-451F-9FAB-463830110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552" y="5621964"/>
                <a:ext cx="0" cy="50790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7739A09-3B4A-4C20-AC3C-0A70E0F8E245}"/>
                  </a:ext>
                </a:extLst>
              </p:cNvPr>
              <p:cNvCxnSpPr/>
              <p:nvPr/>
            </p:nvCxnSpPr>
            <p:spPr>
              <a:xfrm>
                <a:off x="4782564" y="6129867"/>
                <a:ext cx="2643988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F21DDB2-60B6-4308-B89A-3E43693A936B}"/>
                </a:ext>
              </a:extLst>
            </p:cNvPr>
            <p:cNvSpPr/>
            <p:nvPr/>
          </p:nvSpPr>
          <p:spPr>
            <a:xfrm>
              <a:off x="5022421" y="6107287"/>
              <a:ext cx="2171942" cy="3784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</a:rPr>
                <a:t>注意</a:t>
              </a:r>
              <a:r>
                <a:rPr lang="en-US" altLang="zh-CN" dirty="0">
                  <a:solidFill>
                    <a:srgbClr val="C00000"/>
                  </a:solidFill>
                </a:rPr>
                <a:t>”</a:t>
              </a:r>
              <a:r>
                <a:rPr lang="zh-CN" altLang="en-US" dirty="0">
                  <a:solidFill>
                    <a:srgbClr val="C00000"/>
                  </a:solidFill>
                </a:rPr>
                <a:t>差</a:t>
              </a:r>
              <a:r>
                <a:rPr lang="en-US" altLang="zh-CN" dirty="0">
                  <a:solidFill>
                    <a:srgbClr val="C00000"/>
                  </a:solidFill>
                </a:rPr>
                <a:t>1”</a:t>
              </a:r>
              <a:r>
                <a:rPr lang="zh-CN" altLang="en-US" dirty="0">
                  <a:solidFill>
                    <a:srgbClr val="C00000"/>
                  </a:solidFill>
                </a:rPr>
                <a:t>处理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082266"/>
      </p:ext>
    </p:extLst>
  </p:cSld>
  <p:clrMapOvr>
    <a:masterClrMapping/>
  </p:clrMapOvr>
  <p:transition spd="slow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253330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zh-CN" altLang="en-US" sz="2800" dirty="0"/>
              <a:t>列表元素有序存放，并且可变。支持修改、添加和删除操作。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修改元素：</a:t>
            </a:r>
            <a:r>
              <a:rPr lang="en-US" altLang="zh-CN" sz="2800" dirty="0"/>
              <a:t>	</a:t>
            </a:r>
            <a:r>
              <a:rPr lang="zh-CN" altLang="zh-CN" sz="2800" dirty="0"/>
              <a:t>列表名</a:t>
            </a:r>
            <a:r>
              <a:rPr lang="en-US" altLang="zh-CN" sz="2800" dirty="0"/>
              <a:t>[</a:t>
            </a:r>
            <a:r>
              <a:rPr lang="zh-CN" altLang="zh-CN" sz="2800" dirty="0"/>
              <a:t>索引</a:t>
            </a:r>
            <a:r>
              <a:rPr lang="en-US" altLang="zh-CN" sz="2800" dirty="0"/>
              <a:t>] = </a:t>
            </a:r>
            <a:r>
              <a:rPr lang="zh-CN" altLang="zh-CN" sz="2800" dirty="0"/>
              <a:t>新值</a:t>
            </a:r>
            <a:r>
              <a:rPr lang="en-US" altLang="zh-CN" sz="2800" dirty="0"/>
              <a:t>          </a:t>
            </a:r>
            <a:r>
              <a:rPr lang="zh-CN" altLang="en-US" sz="2400" dirty="0">
                <a:solidFill>
                  <a:srgbClr val="C00000"/>
                </a:solidFill>
              </a:rPr>
              <a:t>注意序号索引方向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704EF-C5A7-4144-A80D-3C364075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3214510"/>
            <a:ext cx="6260807" cy="11317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1F68331-41FF-4562-B84D-16089B2EDDF3}"/>
              </a:ext>
            </a:extLst>
          </p:cNvPr>
          <p:cNvSpPr/>
          <p:nvPr/>
        </p:nvSpPr>
        <p:spPr>
          <a:xfrm>
            <a:off x="7620000" y="3214510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反向索引，修改最后一个元素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D085E7-F46F-4B95-9710-D9CDB5C83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8" y="4806245"/>
            <a:ext cx="6260806" cy="1131711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620000" y="4653844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通过赋值，交换两个元素值</a:t>
            </a:r>
          </a:p>
        </p:txBody>
      </p:sp>
    </p:spTree>
    <p:extLst>
      <p:ext uri="{BB962C8B-B14F-4D97-AF65-F5344CB8AC3E}">
        <p14:creationId xmlns:p14="http://schemas.microsoft.com/office/powerpoint/2010/main" val="2974084869"/>
      </p:ext>
    </p:extLst>
  </p:cSld>
  <p:clrMapOvr>
    <a:masterClrMapping/>
  </p:clrMapOvr>
  <p:transition spd="slow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添加元素：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尾部追加元素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——append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指定位置插入元素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——insert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F68331-41FF-4562-B84D-16089B2EDDF3}"/>
              </a:ext>
            </a:extLst>
          </p:cNvPr>
          <p:cNvSpPr/>
          <p:nvPr/>
        </p:nvSpPr>
        <p:spPr>
          <a:xfrm>
            <a:off x="7438392" y="2566743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固定在列表尾部添加元素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620000" y="4653844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第一个参数指定新元素插入位置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2943A8-E7AB-4D73-AFA9-DEF3D16AB4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43"/>
          <a:stretch/>
        </p:blipFill>
        <p:spPr>
          <a:xfrm>
            <a:off x="1250146" y="2409782"/>
            <a:ext cx="6188247" cy="12063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2396A5-8EA6-4E8D-9AB9-0E4419CE92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70"/>
          <a:stretch/>
        </p:blipFill>
        <p:spPr>
          <a:xfrm>
            <a:off x="1250147" y="4414978"/>
            <a:ext cx="6188245" cy="17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09804"/>
      </p:ext>
    </p:extLst>
  </p:cSld>
  <p:clrMapOvr>
    <a:masterClrMapping/>
  </p:clrMapOvr>
  <p:transition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——del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命令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——pop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8283309" y="3346813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注意命令和方法的区别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7D578F-6C5A-4FCB-9167-CEC186D1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47" y="2443021"/>
            <a:ext cx="6810375" cy="11317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620F09-32C7-4DB1-935F-9071FC93F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46" y="4452414"/>
            <a:ext cx="6810375" cy="1333141"/>
          </a:xfrm>
          <a:prstGeom prst="rect">
            <a:avLst/>
          </a:prstGeom>
        </p:spPr>
      </p:pic>
      <p:sp>
        <p:nvSpPr>
          <p:cNvPr id="7" name="右大括号 6">
            <a:extLst>
              <a:ext uri="{FF2B5EF4-FFF2-40B4-BE49-F238E27FC236}">
                <a16:creationId xmlns:a16="http://schemas.microsoft.com/office/drawing/2014/main" id="{86D28023-DD8B-46D8-8649-46D08BAF5BC1}"/>
              </a:ext>
            </a:extLst>
          </p:cNvPr>
          <p:cNvSpPr/>
          <p:nvPr/>
        </p:nvSpPr>
        <p:spPr>
          <a:xfrm>
            <a:off x="8361145" y="2839453"/>
            <a:ext cx="359343" cy="2146433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BA9FDBEE-4C42-4E8B-A04A-F78EE0CC29CE}"/>
              </a:ext>
            </a:extLst>
          </p:cNvPr>
          <p:cNvSpPr/>
          <p:nvPr/>
        </p:nvSpPr>
        <p:spPr>
          <a:xfrm>
            <a:off x="4305700" y="5921898"/>
            <a:ext cx="4553743" cy="529537"/>
          </a:xfrm>
          <a:prstGeom prst="borderCallout1">
            <a:avLst>
              <a:gd name="adj1" fmla="val 18750"/>
              <a:gd name="adj2" fmla="val -8333"/>
              <a:gd name="adj3" fmla="val -160618"/>
              <a:gd name="adj4" fmla="val -53139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9900"/>
                </a:solidFill>
              </a:rPr>
              <a:t>pop</a:t>
            </a:r>
            <a:r>
              <a:rPr lang="zh-CN" altLang="en-US" b="1" dirty="0">
                <a:solidFill>
                  <a:srgbClr val="FF9900"/>
                </a:solidFill>
              </a:rPr>
              <a:t>方法删除元素同时会返回该元素</a:t>
            </a:r>
          </a:p>
        </p:txBody>
      </p:sp>
    </p:spTree>
    <p:extLst>
      <p:ext uri="{BB962C8B-B14F-4D97-AF65-F5344CB8AC3E}">
        <p14:creationId xmlns:p14="http://schemas.microsoft.com/office/powerpoint/2010/main" val="1020491496"/>
      </p:ext>
    </p:extLst>
  </p:cSld>
  <p:clrMapOvr>
    <a:masterClrMapping/>
  </p:clrMapOvr>
  <p:transition spd="slow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——pop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方法（续）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按值删除元素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——remove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8060521" y="2499399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缺省索引参数时，</a:t>
            </a:r>
            <a:r>
              <a:rPr lang="en-US" altLang="zh-CN" b="1" dirty="0">
                <a:solidFill>
                  <a:srgbClr val="C00000"/>
                </a:solidFill>
              </a:rPr>
              <a:t>pop</a:t>
            </a:r>
            <a:r>
              <a:rPr lang="zh-CN" altLang="en-US" b="1" dirty="0">
                <a:solidFill>
                  <a:srgbClr val="C00000"/>
                </a:solidFill>
              </a:rPr>
              <a:t>默认删除最后一个元素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4123DA-7A06-4905-824F-FA1FBE5E76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9"/>
          <a:stretch/>
        </p:blipFill>
        <p:spPr>
          <a:xfrm>
            <a:off x="1250146" y="2415941"/>
            <a:ext cx="6781800" cy="12986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A08412-5A2C-489E-93CE-65EF4199B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46" y="4448975"/>
            <a:ext cx="7239000" cy="113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44052"/>
      </p:ext>
    </p:extLst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按值删除元素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——remove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方法（续）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036903" y="1231344"/>
            <a:ext cx="3791517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列表中包含多个待删除元素时，</a:t>
            </a:r>
            <a:r>
              <a:rPr lang="en-US" altLang="zh-CN" b="1" dirty="0">
                <a:solidFill>
                  <a:srgbClr val="C00000"/>
                </a:solidFill>
              </a:rPr>
              <a:t>remove</a:t>
            </a: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zh-CN" b="1" dirty="0">
                <a:solidFill>
                  <a:srgbClr val="C00000"/>
                </a:solidFill>
              </a:rPr>
              <a:t>索引值相对</a:t>
            </a:r>
            <a:r>
              <a:rPr lang="zh-CN" altLang="en-US" b="1" dirty="0">
                <a:solidFill>
                  <a:srgbClr val="C00000"/>
                </a:solidFill>
              </a:rPr>
              <a:t>较</a:t>
            </a:r>
            <a:r>
              <a:rPr lang="zh-CN" altLang="zh-CN" b="1" dirty="0">
                <a:solidFill>
                  <a:srgbClr val="C00000"/>
                </a:solidFill>
              </a:rPr>
              <a:t>小</a:t>
            </a:r>
            <a:r>
              <a:rPr lang="zh-CN" altLang="en-US" b="1" dirty="0">
                <a:solidFill>
                  <a:srgbClr val="C00000"/>
                </a:solidFill>
              </a:rPr>
              <a:t>的那个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1AA2EC-B1BE-4FD4-9F82-5FA45E3C5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45" y="2499398"/>
            <a:ext cx="10368351" cy="929601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E6100327-CC75-4AF3-8370-4E798FF76C19}"/>
              </a:ext>
            </a:extLst>
          </p:cNvPr>
          <p:cNvSpPr/>
          <p:nvPr/>
        </p:nvSpPr>
        <p:spPr>
          <a:xfrm>
            <a:off x="7526956" y="2387065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BE14C8-F1F3-48F8-AEC4-B107720ADFDD}"/>
              </a:ext>
            </a:extLst>
          </p:cNvPr>
          <p:cNvSpPr/>
          <p:nvPr/>
        </p:nvSpPr>
        <p:spPr>
          <a:xfrm>
            <a:off x="9946880" y="2387065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675E32-AD88-4694-98B0-DC65346AD768}"/>
              </a:ext>
            </a:extLst>
          </p:cNvPr>
          <p:cNvCxnSpPr>
            <a:stCxn id="14" idx="4"/>
          </p:cNvCxnSpPr>
          <p:nvPr/>
        </p:nvCxnSpPr>
        <p:spPr>
          <a:xfrm flipH="1">
            <a:off x="8484032" y="2867278"/>
            <a:ext cx="1867109" cy="29943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BDAC2A7D-0739-42A7-B29A-931ABEB8EE06}"/>
              </a:ext>
            </a:extLst>
          </p:cNvPr>
          <p:cNvSpPr/>
          <p:nvPr/>
        </p:nvSpPr>
        <p:spPr>
          <a:xfrm>
            <a:off x="7675510" y="3044274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B8D0A9-05DC-40F7-9B94-4B6B4D29EA72}"/>
              </a:ext>
            </a:extLst>
          </p:cNvPr>
          <p:cNvSpPr/>
          <p:nvPr/>
        </p:nvSpPr>
        <p:spPr>
          <a:xfrm>
            <a:off x="991403" y="4280072"/>
            <a:ext cx="10368351" cy="214735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已知待删除元素的索引时，可使用</a:t>
            </a:r>
            <a:r>
              <a:rPr lang="en-US" altLang="zh-CN" dirty="0"/>
              <a:t>del</a:t>
            </a:r>
            <a:r>
              <a:rPr lang="zh-CN" altLang="zh-CN" dirty="0"/>
              <a:t>命令和</a:t>
            </a:r>
            <a:r>
              <a:rPr lang="en-US" altLang="zh-CN" dirty="0"/>
              <a:t>pop</a:t>
            </a:r>
            <a:r>
              <a:rPr lang="zh-CN" altLang="zh-CN" dirty="0"/>
              <a:t>方法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pop</a:t>
            </a:r>
            <a:r>
              <a:rPr lang="zh-CN" altLang="zh-CN" dirty="0"/>
              <a:t>方法对于删除列表最末尾元素最为简单方便；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明确知道待删除元素值时，用</a:t>
            </a:r>
            <a:r>
              <a:rPr lang="en-US" altLang="zh-CN" dirty="0"/>
              <a:t>remove</a:t>
            </a:r>
            <a:r>
              <a:rPr lang="zh-CN" altLang="zh-CN" dirty="0"/>
              <a:t>方法更为简单。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与</a:t>
            </a:r>
            <a:r>
              <a:rPr lang="en-US" altLang="zh-CN" dirty="0"/>
              <a:t>del</a:t>
            </a:r>
            <a:r>
              <a:rPr lang="zh-CN" altLang="zh-CN" dirty="0"/>
              <a:t>命令和</a:t>
            </a:r>
            <a:r>
              <a:rPr lang="en-US" altLang="zh-CN" dirty="0"/>
              <a:t>remove</a:t>
            </a:r>
            <a:r>
              <a:rPr lang="zh-CN" altLang="zh-CN" dirty="0"/>
              <a:t>方法不同，</a:t>
            </a:r>
            <a:r>
              <a:rPr lang="en-US" altLang="zh-CN" dirty="0"/>
              <a:t>pop</a:t>
            </a:r>
            <a:r>
              <a:rPr lang="zh-CN" altLang="zh-CN" dirty="0"/>
              <a:t>方法在删除元素的同时会“弹出”这个被删除的元素，如果需要可以用一个变量“接住”它，以便进行进一步的后期操作。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1227380"/>
      </p:ext>
    </p:extLst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其他常用操作：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函数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（列表）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indent="-3429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统计和返回指定列表的长度，即列表中元素的个数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运算 和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 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运算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 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 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）列表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00150" lvl="2" indent="-3429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用来判断指定的元素是否在列表中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index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.index(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1314450" lvl="2" indent="-4572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用来在列表中查找指定的元素，如果找到返回第一个元素对应的索引；如果找不到，会直接报错。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count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.count(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1314450" lvl="2" indent="-4572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用来统计并返回列表中指定元素的个数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893632"/>
      </p:ext>
    </p:extLst>
  </p:cSld>
  <p:clrMapOvr>
    <a:masterClrMapping/>
  </p:clrMapOvr>
  <p:transition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dirty="0"/>
              <a:t>遍历，简单的说就是“从头到尾”的访问列表元素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guests[ 0 ]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guests[ 1 ]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guests[ 2 ]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……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</a:t>
            </a: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……</a:t>
            </a: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03635D-899E-48FF-ABD4-427DC4DB7B10}"/>
              </a:ext>
            </a:extLst>
          </p:cNvPr>
          <p:cNvGrpSpPr/>
          <p:nvPr/>
        </p:nvGrpSpPr>
        <p:grpSpPr>
          <a:xfrm>
            <a:off x="2319688" y="2362945"/>
            <a:ext cx="1491916" cy="3003072"/>
            <a:chOff x="1809549" y="2358189"/>
            <a:chExt cx="1491916" cy="300307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950EAF7-9242-44D5-AFAB-FFACCE2E680F}"/>
                </a:ext>
              </a:extLst>
            </p:cNvPr>
            <p:cNvSpPr/>
            <p:nvPr/>
          </p:nvSpPr>
          <p:spPr>
            <a:xfrm>
              <a:off x="1809549" y="2358189"/>
              <a:ext cx="240632" cy="30030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C34CC31-6EE1-464C-98A5-94501F31FAFE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2050181" y="3859725"/>
              <a:ext cx="125128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4D4560C-F463-42C3-8C1D-1D4E4DA90943}"/>
              </a:ext>
            </a:extLst>
          </p:cNvPr>
          <p:cNvSpPr/>
          <p:nvPr/>
        </p:nvSpPr>
        <p:spPr>
          <a:xfrm>
            <a:off x="4218655" y="3566126"/>
            <a:ext cx="4161743" cy="596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0, 1, 2, 3, …,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, …, </a:t>
            </a:r>
            <a:r>
              <a:rPr lang="en-US" altLang="zh-CN" sz="2400" dirty="0" err="1">
                <a:solidFill>
                  <a:srgbClr val="FF0000"/>
                </a:solidFill>
              </a:rPr>
              <a:t>len</a:t>
            </a:r>
            <a:r>
              <a:rPr lang="en-US" altLang="zh-CN" sz="2400" dirty="0">
                <a:solidFill>
                  <a:srgbClr val="FF0000"/>
                </a:solidFill>
              </a:rPr>
              <a:t>(guests)-1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85B57ABE-AADD-428D-9882-7F32733009E7}"/>
              </a:ext>
            </a:extLst>
          </p:cNvPr>
          <p:cNvSpPr/>
          <p:nvPr/>
        </p:nvSpPr>
        <p:spPr>
          <a:xfrm>
            <a:off x="6166166" y="4222202"/>
            <a:ext cx="266719" cy="346566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D1AA21-0039-4C6C-8BB6-2FCB78FFEDF7}"/>
              </a:ext>
            </a:extLst>
          </p:cNvPr>
          <p:cNvSpPr/>
          <p:nvPr/>
        </p:nvSpPr>
        <p:spPr>
          <a:xfrm>
            <a:off x="4839806" y="4628135"/>
            <a:ext cx="3019258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range(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(guests))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14057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使用</a:t>
            </a:r>
            <a:r>
              <a:rPr lang="en-US" altLang="zh-CN" sz="2400" dirty="0"/>
              <a:t>range</a:t>
            </a:r>
            <a:r>
              <a:rPr lang="zh-CN" altLang="en-US" sz="2400" dirty="0"/>
              <a:t>函数</a:t>
            </a:r>
            <a:r>
              <a:rPr lang="zh-CN" altLang="zh-CN" sz="2400" dirty="0"/>
              <a:t>遍历列表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254D03-0ED6-4B19-9BE8-DAEDDE55B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922" y="2517090"/>
            <a:ext cx="8201296" cy="2197419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66CE2C-32AA-475B-967A-9E22AF0C3F20}"/>
              </a:ext>
            </a:extLst>
          </p:cNvPr>
          <p:cNvCxnSpPr/>
          <p:nvPr/>
        </p:nvCxnSpPr>
        <p:spPr>
          <a:xfrm>
            <a:off x="2810577" y="2877954"/>
            <a:ext cx="1905802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标注: 线形 11">
            <a:extLst>
              <a:ext uri="{FF2B5EF4-FFF2-40B4-BE49-F238E27FC236}">
                <a16:creationId xmlns:a16="http://schemas.microsoft.com/office/drawing/2014/main" id="{EA0B6316-F30B-4D7E-8DA8-D3572095EB93}"/>
              </a:ext>
            </a:extLst>
          </p:cNvPr>
          <p:cNvSpPr/>
          <p:nvPr/>
        </p:nvSpPr>
        <p:spPr>
          <a:xfrm>
            <a:off x="5539338" y="3375979"/>
            <a:ext cx="4022879" cy="683390"/>
          </a:xfrm>
          <a:prstGeom prst="borderCallout1">
            <a:avLst>
              <a:gd name="adj1" fmla="val 18750"/>
              <a:gd name="adj2" fmla="val -8333"/>
              <a:gd name="adj3" fmla="val -70600"/>
              <a:gd name="adj4" fmla="val -201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修改</a:t>
            </a:r>
            <a:r>
              <a:rPr lang="en-US" altLang="zh-CN" dirty="0">
                <a:solidFill>
                  <a:srgbClr val="C00000"/>
                </a:solidFill>
              </a:rPr>
              <a:t>range</a:t>
            </a:r>
            <a:r>
              <a:rPr lang="zh-CN" altLang="en-US" dirty="0">
                <a:solidFill>
                  <a:srgbClr val="C00000"/>
                </a:solidFill>
              </a:rPr>
              <a:t>函数的参数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可以灵活访问列表的部分元素</a:t>
            </a:r>
          </a:p>
        </p:txBody>
      </p:sp>
    </p:spTree>
    <p:extLst>
      <p:ext uri="{BB962C8B-B14F-4D97-AF65-F5344CB8AC3E}">
        <p14:creationId xmlns:p14="http://schemas.microsoft.com/office/powerpoint/2010/main" val="4288389317"/>
      </p:ext>
    </p:extLst>
  </p:cSld>
  <p:clrMapOvr>
    <a:masterClrMapping/>
  </p:clrMapOvr>
  <p:transition spd="slow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/>
              <a:t>直接的元素</a:t>
            </a:r>
            <a:r>
              <a:rPr lang="zh-CN" altLang="zh-CN" sz="2400" dirty="0"/>
              <a:t>遍历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37B781-D31A-4EDA-A78F-BC750678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99" y="2557462"/>
            <a:ext cx="9040088" cy="2476551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662EA8-AAB7-4300-9EC4-4B570597ECEE}"/>
              </a:ext>
            </a:extLst>
          </p:cNvPr>
          <p:cNvCxnSpPr/>
          <p:nvPr/>
        </p:nvCxnSpPr>
        <p:spPr>
          <a:xfrm>
            <a:off x="2367814" y="2991132"/>
            <a:ext cx="1905802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9C448571-A339-406F-BA92-F076C4E8BF74}"/>
              </a:ext>
            </a:extLst>
          </p:cNvPr>
          <p:cNvSpPr/>
          <p:nvPr/>
        </p:nvSpPr>
        <p:spPr>
          <a:xfrm>
            <a:off x="4778942" y="3364029"/>
            <a:ext cx="2815391" cy="466826"/>
          </a:xfrm>
          <a:prstGeom prst="borderCallout1">
            <a:avLst>
              <a:gd name="adj1" fmla="val 18750"/>
              <a:gd name="adj2" fmla="val -8333"/>
              <a:gd name="adj3" fmla="val -70600"/>
              <a:gd name="adj4" fmla="val -201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表达更为直观</a:t>
            </a:r>
          </a:p>
        </p:txBody>
      </p:sp>
    </p:spTree>
    <p:extLst>
      <p:ext uri="{BB962C8B-B14F-4D97-AF65-F5344CB8AC3E}">
        <p14:creationId xmlns:p14="http://schemas.microsoft.com/office/powerpoint/2010/main" val="1612526470"/>
      </p:ext>
    </p:extLst>
  </p:cSld>
  <p:clrMapOvr>
    <a:masterClrMapping/>
  </p:clrMapOvr>
  <p:transition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sort</a:t>
            </a:r>
            <a:r>
              <a:rPr lang="zh-CN" altLang="en-US" sz="2400" dirty="0"/>
              <a:t>方法排序。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E2D6D8-0D58-4441-8F5F-1D3FA539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77" y="2599673"/>
            <a:ext cx="3296504" cy="9041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3F2616-122A-4B75-9EA0-FEE06D882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877" y="4340477"/>
            <a:ext cx="4158878" cy="90410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0204E16-6B5F-41E0-B1C2-21C029CF535F}"/>
              </a:ext>
            </a:extLst>
          </p:cNvPr>
          <p:cNvSpPr/>
          <p:nvPr/>
        </p:nvSpPr>
        <p:spPr>
          <a:xfrm>
            <a:off x="6358169" y="2599673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缺省参数的</a:t>
            </a:r>
            <a:r>
              <a:rPr lang="en-US" altLang="zh-CN" b="1" dirty="0">
                <a:solidFill>
                  <a:srgbClr val="C00000"/>
                </a:solidFill>
              </a:rPr>
              <a:t>sort</a:t>
            </a:r>
            <a:r>
              <a:rPr lang="zh-CN" altLang="en-US" b="1" dirty="0">
                <a:solidFill>
                  <a:srgbClr val="C00000"/>
                </a:solidFill>
              </a:rPr>
              <a:t>方法默认对列表元素按升序排序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7F58EA-8845-407B-871B-FB53776B1FC3}"/>
              </a:ext>
            </a:extLst>
          </p:cNvPr>
          <p:cNvSpPr/>
          <p:nvPr/>
        </p:nvSpPr>
        <p:spPr>
          <a:xfrm>
            <a:off x="6358169" y="4291497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嵌套结构的列表默认元素的第一个子元素为关键字按升序排序</a:t>
            </a:r>
          </a:p>
        </p:txBody>
      </p:sp>
    </p:spTree>
    <p:extLst>
      <p:ext uri="{BB962C8B-B14F-4D97-AF65-F5344CB8AC3E}">
        <p14:creationId xmlns:p14="http://schemas.microsoft.com/office/powerpoint/2010/main" val="3291965866"/>
      </p:ext>
    </p:extLst>
  </p:cSld>
  <p:clrMapOvr>
    <a:masterClrMapping/>
  </p:clrMapOvr>
  <p:transition spd="slow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sort</a:t>
            </a:r>
            <a:r>
              <a:rPr lang="zh-CN" altLang="en-US" sz="2400" dirty="0"/>
              <a:t>方法排序</a:t>
            </a:r>
            <a:r>
              <a:rPr lang="en-US" altLang="zh-CN" sz="2400" dirty="0"/>
              <a:t>(</a:t>
            </a:r>
            <a:r>
              <a:rPr lang="zh-CN" altLang="en-US" sz="2400" dirty="0"/>
              <a:t>续</a:t>
            </a:r>
            <a:r>
              <a:rPr lang="en-US" altLang="zh-CN" sz="2400" dirty="0"/>
              <a:t>)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204E16-6B5F-41E0-B1C2-21C029CF535F}"/>
              </a:ext>
            </a:extLst>
          </p:cNvPr>
          <p:cNvSpPr/>
          <p:nvPr/>
        </p:nvSpPr>
        <p:spPr>
          <a:xfrm>
            <a:off x="7193599" y="3429000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9900"/>
                </a:solidFill>
              </a:rPr>
              <a:t>reverse</a:t>
            </a:r>
            <a:r>
              <a:rPr lang="zh-CN" altLang="en-US" b="1" dirty="0">
                <a:solidFill>
                  <a:srgbClr val="C00000"/>
                </a:solidFill>
              </a:rPr>
              <a:t>参数为</a:t>
            </a:r>
            <a:r>
              <a:rPr lang="en-US" altLang="zh-CN" b="1" dirty="0">
                <a:solidFill>
                  <a:srgbClr val="C00000"/>
                </a:solidFill>
              </a:rPr>
              <a:t>”</a:t>
            </a:r>
            <a:r>
              <a:rPr lang="en-US" altLang="zh-CN" b="1" dirty="0">
                <a:solidFill>
                  <a:srgbClr val="FF9900"/>
                </a:solidFill>
              </a:rPr>
              <a:t>True</a:t>
            </a:r>
            <a:r>
              <a:rPr lang="en-US" altLang="zh-CN" b="1" dirty="0">
                <a:solidFill>
                  <a:srgbClr val="C00000"/>
                </a:solidFill>
              </a:rPr>
              <a:t>”</a:t>
            </a:r>
            <a:r>
              <a:rPr lang="zh-CN" altLang="en-US" b="1" dirty="0">
                <a:solidFill>
                  <a:srgbClr val="C00000"/>
                </a:solidFill>
              </a:rPr>
              <a:t>时对列表元素按</a:t>
            </a:r>
            <a:r>
              <a:rPr lang="zh-CN" altLang="en-US" b="1" dirty="0">
                <a:solidFill>
                  <a:srgbClr val="FF9900"/>
                </a:solidFill>
              </a:rPr>
              <a:t>降</a:t>
            </a:r>
            <a:r>
              <a:rPr lang="zh-CN" altLang="en-US" b="1" dirty="0">
                <a:solidFill>
                  <a:srgbClr val="C00000"/>
                </a:solidFill>
              </a:rPr>
              <a:t>序排序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1664C7-0532-4133-9AE1-13410E30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03" y="2489267"/>
            <a:ext cx="4048557" cy="10239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9B98242-9494-4DCF-9DE9-263D019B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24" y="4104805"/>
            <a:ext cx="5487683" cy="1055939"/>
          </a:xfrm>
          <a:prstGeom prst="rect">
            <a:avLst/>
          </a:prstGeom>
        </p:spPr>
      </p:pic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579D62F2-2006-42C3-82D3-6DF391A7554A}"/>
              </a:ext>
            </a:extLst>
          </p:cNvPr>
          <p:cNvSpPr txBox="1">
            <a:spLocks/>
          </p:cNvSpPr>
          <p:nvPr/>
        </p:nvSpPr>
        <p:spPr>
          <a:xfrm>
            <a:off x="1091944" y="5485330"/>
            <a:ext cx="7625206" cy="67300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sort</a:t>
            </a:r>
            <a:r>
              <a:rPr lang="zh-CN" altLang="en-US" dirty="0">
                <a:solidFill>
                  <a:srgbClr val="FF0000"/>
                </a:solidFill>
              </a:rPr>
              <a:t>方法原地排序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改变原来的列表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endParaRPr lang="zh-CN" altLang="zh-CN" sz="24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956078"/>
      </p:ext>
    </p:extLst>
  </p:cSld>
  <p:clrMapOvr>
    <a:masterClrMapping/>
  </p:clrMapOvr>
  <p:transition spd="slow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400" dirty="0"/>
              <a:t>sorted</a:t>
            </a:r>
            <a:r>
              <a:rPr lang="zh-CN" altLang="en-US" sz="2400" dirty="0"/>
              <a:t>函数排序。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579D62F2-2006-42C3-82D3-6DF391A7554A}"/>
              </a:ext>
            </a:extLst>
          </p:cNvPr>
          <p:cNvSpPr txBox="1">
            <a:spLocks/>
          </p:cNvSpPr>
          <p:nvPr/>
        </p:nvSpPr>
        <p:spPr>
          <a:xfrm>
            <a:off x="674376" y="4649107"/>
            <a:ext cx="10804881" cy="144443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zh-CN" altLang="en-US" dirty="0">
                <a:solidFill>
                  <a:srgbClr val="FF0000"/>
                </a:solidFill>
              </a:rPr>
              <a:t>命令的使用和参数含义和</a:t>
            </a:r>
            <a:r>
              <a:rPr lang="en-US" altLang="zh-CN" dirty="0">
                <a:solidFill>
                  <a:srgbClr val="FF0000"/>
                </a:solidFill>
              </a:rPr>
              <a:t>sort</a:t>
            </a:r>
            <a:r>
              <a:rPr lang="zh-CN" altLang="en-US" dirty="0">
                <a:solidFill>
                  <a:srgbClr val="FF0000"/>
                </a:solidFill>
              </a:rPr>
              <a:t>方法一致。</a:t>
            </a:r>
            <a:endParaRPr lang="en-US" altLang="zh-CN" dirty="0">
              <a:solidFill>
                <a:srgbClr val="FF0000"/>
              </a:solidFill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但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zh-CN" altLang="en-US" dirty="0">
                <a:solidFill>
                  <a:srgbClr val="FF0000"/>
                </a:solidFill>
              </a:rPr>
              <a:t>命令生成新的有序列表，不改变原来的列表。</a:t>
            </a:r>
            <a:endParaRPr lang="zh-CN" altLang="zh-CN" sz="36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B5C2A1-4F59-4988-B075-A86DBCAF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24" y="2334016"/>
            <a:ext cx="3537278" cy="1183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BBA062-5542-480A-87B7-3BC7DC426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013" y="2345207"/>
            <a:ext cx="3902888" cy="11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28190"/>
      </p:ext>
    </p:extLst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列表切片：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dirty="0"/>
              <a:t>列表切片和</a:t>
            </a:r>
            <a:r>
              <a:rPr lang="zh-CN" altLang="zh-CN" dirty="0"/>
              <a:t>字符串切片操作</a:t>
            </a:r>
            <a:r>
              <a:rPr lang="en-US" altLang="zh-CN" dirty="0"/>
              <a:t> </a:t>
            </a:r>
            <a:r>
              <a:rPr lang="zh-CN" altLang="zh-CN" dirty="0"/>
              <a:t>类似，直接指定切片的起始索引</a:t>
            </a:r>
            <a:r>
              <a:rPr lang="zh-CN" altLang="en-US" dirty="0"/>
              <a:t>、</a:t>
            </a:r>
            <a:r>
              <a:rPr lang="zh-CN" altLang="zh-CN" dirty="0"/>
              <a:t>终止索引</a:t>
            </a:r>
            <a:r>
              <a:rPr lang="zh-CN" altLang="en-US" dirty="0"/>
              <a:t>和切片方式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/>
              <a:t>			</a:t>
            </a:r>
            <a:r>
              <a:rPr lang="zh-CN" altLang="zh-CN" dirty="0"/>
              <a:t>列表</a:t>
            </a:r>
            <a:r>
              <a:rPr lang="en-US" altLang="zh-CN" dirty="0"/>
              <a:t>[</a:t>
            </a:r>
            <a:r>
              <a:rPr lang="zh-CN" altLang="zh-CN" dirty="0"/>
              <a:t>起始索引 ：终止索引 ：</a:t>
            </a:r>
            <a:r>
              <a:rPr lang="en-US" altLang="zh-CN" dirty="0"/>
              <a:t>n]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82BC62-069B-466E-8671-F6FFC41AD6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0"/>
          <a:stretch/>
        </p:blipFill>
        <p:spPr>
          <a:xfrm>
            <a:off x="1025295" y="3850103"/>
            <a:ext cx="10141409" cy="1751799"/>
          </a:xfrm>
          <a:prstGeom prst="rect">
            <a:avLst/>
          </a:prstGeom>
        </p:spPr>
      </p:pic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B13A2070-3F96-461D-9798-DC3EE85F4AC3}"/>
              </a:ext>
            </a:extLst>
          </p:cNvPr>
          <p:cNvSpPr txBox="1">
            <a:spLocks/>
          </p:cNvSpPr>
          <p:nvPr/>
        </p:nvSpPr>
        <p:spPr>
          <a:xfrm>
            <a:off x="1025294" y="5762239"/>
            <a:ext cx="10141409" cy="6625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字符串中关于索引和切片方式的规定都适用于列表切片。</a:t>
            </a:r>
            <a:endParaRPr lang="zh-CN" altLang="zh-CN" sz="24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4468"/>
      </p:ext>
    </p:extLst>
  </p:cSld>
  <p:clrMapOvr>
    <a:masterClrMapping/>
  </p:clrMapOvr>
  <p:transition spd="slow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dirty="0"/>
              <a:t>列表的扩充是将两个列表合并成一个新的列表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	</a:t>
            </a:r>
            <a:r>
              <a:rPr lang="zh-CN" altLang="zh-CN" dirty="0"/>
              <a:t>“</a:t>
            </a:r>
            <a:r>
              <a:rPr lang="en-US" altLang="zh-CN" dirty="0"/>
              <a:t>+</a:t>
            </a:r>
            <a:r>
              <a:rPr lang="zh-CN" altLang="zh-CN" dirty="0"/>
              <a:t>”运算</a:t>
            </a:r>
            <a:r>
              <a:rPr lang="en-US" altLang="zh-CN" sz="2400" dirty="0"/>
              <a:t>	</a:t>
            </a:r>
            <a:r>
              <a:rPr lang="zh-CN" altLang="en-US" sz="2400" dirty="0"/>
              <a:t>，也可以理解为“连接”操作。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8D5C76-8B55-436F-9D9F-08C339027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52" y="3244526"/>
            <a:ext cx="10332682" cy="13948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6FAF93-B7C5-4914-BC50-3DD488FE2F7E}"/>
              </a:ext>
            </a:extLst>
          </p:cNvPr>
          <p:cNvSpPr/>
          <p:nvPr/>
        </p:nvSpPr>
        <p:spPr>
          <a:xfrm>
            <a:off x="530360" y="5362811"/>
            <a:ext cx="11253096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zh-CN" sz="2400" dirty="0">
                <a:solidFill>
                  <a:srgbClr val="FF0000"/>
                </a:solidFill>
              </a:rPr>
              <a:t>”运算将两个列表连接生成一个新列表</a:t>
            </a:r>
            <a:r>
              <a:rPr lang="zh-CN" altLang="en-US" sz="2400" dirty="0">
                <a:solidFill>
                  <a:srgbClr val="FF0000"/>
                </a:solidFill>
              </a:rPr>
              <a:t>，而不改变</a:t>
            </a:r>
            <a:r>
              <a:rPr lang="zh-CN" altLang="zh-CN" sz="2400" dirty="0">
                <a:solidFill>
                  <a:srgbClr val="FF0000"/>
                </a:solidFill>
              </a:rPr>
              <a:t>参与运算的列</a:t>
            </a:r>
            <a:r>
              <a:rPr lang="zh-CN" altLang="en-US" sz="2400" dirty="0">
                <a:solidFill>
                  <a:srgbClr val="FF0000"/>
                </a:solidFill>
              </a:rPr>
              <a:t>表</a:t>
            </a:r>
            <a:r>
              <a:rPr lang="zh-CN" altLang="zh-CN" sz="2400" dirty="0">
                <a:solidFill>
                  <a:srgbClr val="FF0000"/>
                </a:solidFill>
              </a:rPr>
              <a:t>本身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6072228"/>
      </p:ext>
    </p:extLst>
  </p:cSld>
  <p:clrMapOvr>
    <a:masterClrMapping/>
  </p:clrMapOvr>
  <p:transition spd="slow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400" dirty="0"/>
              <a:t>	</a:t>
            </a:r>
            <a:r>
              <a:rPr lang="en-US" altLang="zh-CN" dirty="0"/>
              <a:t>extend</a:t>
            </a:r>
            <a:r>
              <a:rPr lang="zh-CN" altLang="en-US" dirty="0"/>
              <a:t>方法</a:t>
            </a:r>
            <a:r>
              <a:rPr lang="en-US" altLang="zh-CN" sz="2400" dirty="0"/>
              <a:t>	</a:t>
            </a:r>
            <a:r>
              <a:rPr lang="zh-CN" altLang="en-US" sz="2400" dirty="0"/>
              <a:t>，将参数列表添加至原列表中。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558642-C7AD-454B-9692-62F428EE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2"/>
          <a:stretch/>
        </p:blipFill>
        <p:spPr>
          <a:xfrm>
            <a:off x="1254052" y="2829827"/>
            <a:ext cx="10271581" cy="20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73667"/>
      </p:ext>
    </p:extLst>
  </p:cSld>
  <p:clrMapOvr>
    <a:masterClrMapping/>
  </p:clrMapOvr>
  <p:transition spd="slow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zh-CN" sz="2400" dirty="0"/>
              <a:t>	</a:t>
            </a:r>
            <a:r>
              <a:rPr lang="zh-CN" altLang="en-US" dirty="0"/>
              <a:t>“*”运算</a:t>
            </a:r>
            <a:r>
              <a:rPr lang="en-US" altLang="zh-CN" sz="2400" dirty="0"/>
              <a:t>	</a:t>
            </a:r>
            <a:r>
              <a:rPr lang="zh-CN" altLang="en-US" sz="2400" dirty="0"/>
              <a:t>，通过重复指定遍数扩充列表长度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2E9368-D96C-4C8D-B579-7725AACE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89" y="2952449"/>
            <a:ext cx="9213641" cy="149442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0FA020B-42D5-453F-8545-7668A3172BD7}"/>
              </a:ext>
            </a:extLst>
          </p:cNvPr>
          <p:cNvSpPr/>
          <p:nvPr/>
        </p:nvSpPr>
        <p:spPr>
          <a:xfrm>
            <a:off x="516556" y="5295434"/>
            <a:ext cx="11253096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与</a:t>
            </a:r>
            <a:r>
              <a:rPr lang="zh-CN" altLang="zh-CN" sz="2400" dirty="0">
                <a:solidFill>
                  <a:srgbClr val="FF0000"/>
                </a:solidFill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zh-CN" sz="2400" dirty="0">
                <a:solidFill>
                  <a:srgbClr val="FF0000"/>
                </a:solidFill>
              </a:rPr>
              <a:t>”运算</a:t>
            </a:r>
            <a:r>
              <a:rPr lang="zh-CN" altLang="en-US" sz="2400" dirty="0">
                <a:solidFill>
                  <a:srgbClr val="FF0000"/>
                </a:solidFill>
              </a:rPr>
              <a:t>类似，“*”运算也</a:t>
            </a:r>
            <a:r>
              <a:rPr lang="zh-CN" altLang="zh-CN" sz="2400" dirty="0">
                <a:solidFill>
                  <a:srgbClr val="FF0000"/>
                </a:solidFill>
              </a:rPr>
              <a:t>生成新列表</a:t>
            </a:r>
            <a:r>
              <a:rPr lang="zh-CN" altLang="en-US" sz="2400" dirty="0">
                <a:solidFill>
                  <a:srgbClr val="FF0000"/>
                </a:solidFill>
              </a:rPr>
              <a:t>、而不改变</a:t>
            </a:r>
            <a:r>
              <a:rPr lang="zh-CN" altLang="zh-CN" sz="2400" dirty="0">
                <a:solidFill>
                  <a:srgbClr val="FF0000"/>
                </a:solidFill>
              </a:rPr>
              <a:t>参与运算的列</a:t>
            </a:r>
            <a:r>
              <a:rPr lang="zh-CN" altLang="en-US" sz="2400" dirty="0">
                <a:solidFill>
                  <a:srgbClr val="FF0000"/>
                </a:solidFill>
              </a:rPr>
              <a:t>表</a:t>
            </a:r>
            <a:r>
              <a:rPr lang="zh-CN" altLang="zh-CN" sz="2400" dirty="0">
                <a:solidFill>
                  <a:srgbClr val="FF0000"/>
                </a:solidFill>
              </a:rPr>
              <a:t>本身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52205678"/>
      </p:ext>
    </p:extLst>
  </p:cSld>
  <p:clrMapOvr>
    <a:masterClrMapping/>
  </p:clrMapOvr>
  <p:transition spd="slow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列表的复制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sz="2400" dirty="0"/>
              <a:t>复制，即生成“一模一样”的列表。除了可以通过“提取所有”的特殊切片操作实现外，还可以：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使用列表的</a:t>
            </a:r>
            <a:r>
              <a:rPr lang="en-US" altLang="zh-CN" sz="2400" dirty="0"/>
              <a:t>copy</a:t>
            </a:r>
            <a:r>
              <a:rPr lang="zh-CN" altLang="en-US" sz="2400" dirty="0"/>
              <a:t>方法。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通过列表之间的赋值操作。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FA020B-42D5-453F-8545-7668A3172BD7}"/>
              </a:ext>
            </a:extLst>
          </p:cNvPr>
          <p:cNvSpPr/>
          <p:nvPr/>
        </p:nvSpPr>
        <p:spPr>
          <a:xfrm>
            <a:off x="762124" y="4602415"/>
            <a:ext cx="9836048" cy="114133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copy</a:t>
            </a:r>
            <a:r>
              <a:rPr lang="zh-CN" altLang="en-US" sz="2400" dirty="0">
                <a:solidFill>
                  <a:srgbClr val="FF0000"/>
                </a:solidFill>
              </a:rPr>
              <a:t>方法和赋值操作都能得到“一样”的列表，但是两者的实现机制有着本质的区别。</a:t>
            </a:r>
          </a:p>
        </p:txBody>
      </p:sp>
    </p:spTree>
    <p:extLst>
      <p:ext uri="{BB962C8B-B14F-4D97-AF65-F5344CB8AC3E}">
        <p14:creationId xmlns:p14="http://schemas.microsoft.com/office/powerpoint/2010/main" val="903092652"/>
      </p:ext>
    </p:extLst>
  </p:cSld>
  <p:clrMapOvr>
    <a:masterClrMapping/>
  </p:clrMapOvr>
  <p:transition spd="slow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列表的复制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148EE3C-CDFA-4F99-9CD9-45D4ADA028B6}"/>
              </a:ext>
            </a:extLst>
          </p:cNvPr>
          <p:cNvCxnSpPr>
            <a:cxnSpLocks/>
          </p:cNvCxnSpPr>
          <p:nvPr/>
        </p:nvCxnSpPr>
        <p:spPr>
          <a:xfrm>
            <a:off x="5925614" y="1261249"/>
            <a:ext cx="0" cy="3605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8EA3BBD6-61C7-4DE7-B968-B8BCCE3F376D}"/>
              </a:ext>
            </a:extLst>
          </p:cNvPr>
          <p:cNvPicPr/>
          <p:nvPr/>
        </p:nvPicPr>
        <p:blipFill rotWithShape="1">
          <a:blip r:embed="rId3"/>
          <a:srcRect l="2800" t="6718" r="2751" b="8714"/>
          <a:stretch/>
        </p:blipFill>
        <p:spPr bwMode="auto">
          <a:xfrm>
            <a:off x="699930" y="2376585"/>
            <a:ext cx="4650163" cy="20251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B00C9E-ABAE-44CE-92EB-24B08166DB89}"/>
              </a:ext>
            </a:extLst>
          </p:cNvPr>
          <p:cNvPicPr/>
          <p:nvPr/>
        </p:nvPicPr>
        <p:blipFill rotWithShape="1">
          <a:blip r:embed="rId4"/>
          <a:srcRect t="15312" r="-138"/>
          <a:stretch/>
        </p:blipFill>
        <p:spPr bwMode="auto">
          <a:xfrm>
            <a:off x="6552246" y="2617216"/>
            <a:ext cx="4385702" cy="15439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AB8C0CE-EAF2-4B7A-A88E-1D2BB8CA4EF1}"/>
              </a:ext>
            </a:extLst>
          </p:cNvPr>
          <p:cNvSpPr/>
          <p:nvPr/>
        </p:nvSpPr>
        <p:spPr>
          <a:xfrm>
            <a:off x="1666386" y="1877546"/>
            <a:ext cx="224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使用列表的</a:t>
            </a:r>
            <a:r>
              <a:rPr lang="en-US" altLang="zh-CN" dirty="0"/>
              <a:t>copy</a:t>
            </a:r>
            <a:r>
              <a:rPr lang="zh-CN" altLang="en-US" dirty="0"/>
              <a:t>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02A31A-C4CA-4EA0-AA30-E9743A84308A}"/>
              </a:ext>
            </a:extLst>
          </p:cNvPr>
          <p:cNvSpPr/>
          <p:nvPr/>
        </p:nvSpPr>
        <p:spPr>
          <a:xfrm>
            <a:off x="7109135" y="1877546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通过列表之间的赋值操作</a:t>
            </a:r>
          </a:p>
        </p:txBody>
      </p:sp>
      <p:sp>
        <p:nvSpPr>
          <p:cNvPr id="15" name="内容占位符 12">
            <a:extLst>
              <a:ext uri="{FF2B5EF4-FFF2-40B4-BE49-F238E27FC236}">
                <a16:creationId xmlns:a16="http://schemas.microsoft.com/office/drawing/2014/main" id="{35BB398D-223D-4CBD-AD9A-3697781E9DF8}"/>
              </a:ext>
            </a:extLst>
          </p:cNvPr>
          <p:cNvSpPr txBox="1">
            <a:spLocks/>
          </p:cNvSpPr>
          <p:nvPr/>
        </p:nvSpPr>
        <p:spPr>
          <a:xfrm>
            <a:off x="699930" y="4732688"/>
            <a:ext cx="4594145" cy="68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</a:rPr>
              <a:t>深拷贝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两个列表有独立空间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7" name="内容占位符 12">
            <a:extLst>
              <a:ext uri="{FF2B5EF4-FFF2-40B4-BE49-F238E27FC236}">
                <a16:creationId xmlns:a16="http://schemas.microsoft.com/office/drawing/2014/main" id="{2EE86A2B-BF91-4D90-B263-69C0B0597C30}"/>
              </a:ext>
            </a:extLst>
          </p:cNvPr>
          <p:cNvSpPr txBox="1">
            <a:spLocks/>
          </p:cNvSpPr>
          <p:nvPr/>
        </p:nvSpPr>
        <p:spPr>
          <a:xfrm>
            <a:off x="7109135" y="4732687"/>
            <a:ext cx="4594145" cy="68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</a:rPr>
              <a:t>浅拷贝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两个列表共享空间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924043-E189-4867-9B37-A071CB332378}"/>
              </a:ext>
            </a:extLst>
          </p:cNvPr>
          <p:cNvSpPr/>
          <p:nvPr/>
        </p:nvSpPr>
        <p:spPr>
          <a:xfrm>
            <a:off x="2075510" y="5671392"/>
            <a:ext cx="7700208" cy="7736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FF9900"/>
                </a:solidFill>
              </a:rPr>
              <a:t>del guests[0]</a:t>
            </a:r>
            <a:r>
              <a:rPr lang="en-US" altLang="zh-CN" dirty="0"/>
              <a:t>	</a:t>
            </a:r>
            <a:r>
              <a:rPr lang="zh-CN" altLang="en-US" dirty="0"/>
              <a:t>操作后，</a:t>
            </a:r>
            <a:r>
              <a:rPr lang="en-US" altLang="zh-CN" dirty="0" err="1"/>
              <a:t>guestsCopy</a:t>
            </a:r>
            <a:r>
              <a:rPr lang="zh-CN" altLang="en-US" dirty="0"/>
              <a:t>和</a:t>
            </a:r>
            <a:r>
              <a:rPr lang="en-US" altLang="zh-CN" dirty="0" err="1"/>
              <a:t>guests1</a:t>
            </a:r>
            <a:r>
              <a:rPr lang="zh-CN" altLang="en-US" dirty="0"/>
              <a:t>列表会有什么变化？</a:t>
            </a:r>
          </a:p>
        </p:txBody>
      </p:sp>
    </p:spTree>
    <p:extLst>
      <p:ext uri="{BB962C8B-B14F-4D97-AF65-F5344CB8AC3E}">
        <p14:creationId xmlns:p14="http://schemas.microsoft.com/office/powerpoint/2010/main" val="1308901050"/>
      </p:ext>
    </p:extLst>
  </p:cSld>
  <p:clrMapOvr>
    <a:masterClrMapping/>
  </p:clrMapOvr>
  <p:transition spd="slow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列表的删除：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列表的清空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C68F31-FF64-49AB-9383-9FEC2516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59" y="2620477"/>
            <a:ext cx="7999498" cy="142213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762124" y="4602415"/>
            <a:ext cx="9836048" cy="114133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经过删除“所有元素”的</a:t>
            </a:r>
            <a:r>
              <a:rPr lang="en-US" altLang="zh-CN" sz="2400" dirty="0">
                <a:solidFill>
                  <a:srgbClr val="FF0000"/>
                </a:solidFill>
              </a:rPr>
              <a:t>del</a:t>
            </a:r>
            <a:r>
              <a:rPr lang="zh-CN" altLang="en-US" sz="2400" dirty="0">
                <a:solidFill>
                  <a:srgbClr val="FF0000"/>
                </a:solidFill>
              </a:rPr>
              <a:t>操作后，列表中不包含任何元素，但是仍保留其列表的本质。</a:t>
            </a:r>
          </a:p>
        </p:txBody>
      </p:sp>
    </p:spTree>
    <p:extLst>
      <p:ext uri="{BB962C8B-B14F-4D97-AF65-F5344CB8AC3E}">
        <p14:creationId xmlns:p14="http://schemas.microsoft.com/office/powerpoint/2010/main" val="2676288755"/>
      </p:ext>
    </p:extLst>
  </p:cSld>
  <p:clrMapOvr>
    <a:masterClrMapping/>
  </p:clrMapOvr>
  <p:transition spd="slow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3932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列表的删除：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674376" y="5173626"/>
            <a:ext cx="9836048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del</a:t>
            </a:r>
            <a:r>
              <a:rPr lang="zh-CN" altLang="en-US" sz="2400" dirty="0">
                <a:solidFill>
                  <a:srgbClr val="FF0000"/>
                </a:solidFill>
              </a:rPr>
              <a:t>后直接跟列表名，则将彻底删除该列表对象！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4F658B-C3E9-491C-A6B0-09667751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52" y="2423968"/>
            <a:ext cx="9402357" cy="18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79911"/>
      </p:ext>
    </p:extLst>
  </p:cSld>
  <p:clrMapOvr>
    <a:masterClrMapping/>
  </p:clrMapOvr>
  <p:transition spd="slow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511825" y="2633682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数值列表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02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78122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输入列表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902051" y="5146799"/>
            <a:ext cx="9836048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不管以何种形式输入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函数</a:t>
            </a:r>
            <a:r>
              <a:rPr lang="zh-CN" altLang="en-US" sz="2400" dirty="0">
                <a:solidFill>
                  <a:srgbClr val="FF0000"/>
                </a:solidFill>
                <a:latin typeface="Calibri"/>
                <a:ea typeface="微软雅黑"/>
              </a:rPr>
              <a:t>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默认从键盘输入的是字符串。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C04E46-40A3-4BA1-A50F-5EB254138C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08"/>
          <a:stretch/>
        </p:blipFill>
        <p:spPr>
          <a:xfrm>
            <a:off x="818392" y="2391315"/>
            <a:ext cx="5001683" cy="19111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148E04-4203-4098-AA7F-3BFBEA4D4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927" y="2391314"/>
            <a:ext cx="5384156" cy="19111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A5AE446-17C2-41AB-AEF3-309B7445D0EC}"/>
              </a:ext>
            </a:extLst>
          </p:cNvPr>
          <p:cNvSpPr/>
          <p:nvPr/>
        </p:nvSpPr>
        <p:spPr>
          <a:xfrm>
            <a:off x="818392" y="2887579"/>
            <a:ext cx="1510922" cy="317634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5A1856-14A3-4462-837F-E3ABDEA54397}"/>
              </a:ext>
            </a:extLst>
          </p:cNvPr>
          <p:cNvSpPr/>
          <p:nvPr/>
        </p:nvSpPr>
        <p:spPr>
          <a:xfrm>
            <a:off x="6371927" y="2887579"/>
            <a:ext cx="1559290" cy="317634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151865"/>
      </p:ext>
    </p:extLst>
  </p:cSld>
  <p:clrMapOvr>
    <a:masterClrMapping/>
  </p:clrMapOvr>
  <p:transition spd="slow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输入列表（续）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1489192" y="4916632"/>
            <a:ext cx="6990665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eval</a:t>
            </a:r>
            <a:r>
              <a:rPr lang="zh-CN" altLang="en-US" sz="2400" dirty="0">
                <a:solidFill>
                  <a:srgbClr val="FF0000"/>
                </a:solidFill>
              </a:rPr>
              <a:t>函数能将带“</a:t>
            </a:r>
            <a:r>
              <a:rPr lang="en-US" altLang="zh-CN" sz="2400" dirty="0">
                <a:solidFill>
                  <a:srgbClr val="FF0000"/>
                </a:solidFill>
              </a:rPr>
              <a:t>[]</a:t>
            </a:r>
            <a:r>
              <a:rPr lang="zh-CN" altLang="en-US" sz="2400" dirty="0">
                <a:solidFill>
                  <a:srgbClr val="FF0000"/>
                </a:solidFill>
              </a:rPr>
              <a:t>”的输入转换为列表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CFF2A0-62E9-4738-8FE0-483504D09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430" y="2346038"/>
            <a:ext cx="7980742" cy="2165923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5A3972D3-2B8A-4D36-A4AB-EFA5F075153E}"/>
              </a:ext>
            </a:extLst>
          </p:cNvPr>
          <p:cNvGrpSpPr/>
          <p:nvPr/>
        </p:nvGrpSpPr>
        <p:grpSpPr>
          <a:xfrm>
            <a:off x="1580055" y="2704699"/>
            <a:ext cx="3124561" cy="604788"/>
            <a:chOff x="1580055" y="2704699"/>
            <a:chExt cx="3124561" cy="604788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A4A5EA9-D12C-4E7A-A687-1250F80B8E39}"/>
                </a:ext>
              </a:extLst>
            </p:cNvPr>
            <p:cNvCxnSpPr>
              <a:cxnSpLocks/>
            </p:cNvCxnSpPr>
            <p:nvPr/>
          </p:nvCxnSpPr>
          <p:spPr>
            <a:xfrm>
              <a:off x="3214838" y="2704699"/>
              <a:ext cx="1489778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E2AE5CF-62AB-4317-8C07-C028AFF90797}"/>
                </a:ext>
              </a:extLst>
            </p:cNvPr>
            <p:cNvCxnSpPr>
              <a:cxnSpLocks/>
            </p:cNvCxnSpPr>
            <p:nvPr/>
          </p:nvCxnSpPr>
          <p:spPr>
            <a:xfrm>
              <a:off x="1580055" y="3309487"/>
              <a:ext cx="2895693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C35392E-3D3B-41D3-87E9-248649C8B8E4}"/>
              </a:ext>
            </a:extLst>
          </p:cNvPr>
          <p:cNvCxnSpPr>
            <a:cxnSpLocks/>
          </p:cNvCxnSpPr>
          <p:nvPr/>
        </p:nvCxnSpPr>
        <p:spPr>
          <a:xfrm flipH="1">
            <a:off x="4059724" y="2704699"/>
            <a:ext cx="644892" cy="15422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94363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通过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list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函数转换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61FE4B-D3F8-4F66-9737-E59BFDF2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37" y="2462469"/>
            <a:ext cx="3487380" cy="10074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1E559C-C72A-4778-88F6-5C3C3CBEB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51" y="2684476"/>
            <a:ext cx="1945257" cy="28172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198924E-29B8-47DA-B604-83357DEBCDC3}"/>
              </a:ext>
            </a:extLst>
          </p:cNvPr>
          <p:cNvGrpSpPr/>
          <p:nvPr/>
        </p:nvGrpSpPr>
        <p:grpSpPr>
          <a:xfrm>
            <a:off x="920151" y="3048587"/>
            <a:ext cx="2387065" cy="658913"/>
            <a:chOff x="920151" y="3048587"/>
            <a:chExt cx="2387065" cy="658913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0C844786-27B6-4E12-9525-5DB566F43F62}"/>
                </a:ext>
              </a:extLst>
            </p:cNvPr>
            <p:cNvSpPr/>
            <p:nvPr/>
          </p:nvSpPr>
          <p:spPr>
            <a:xfrm rot="5400000">
              <a:off x="1789872" y="2412040"/>
              <a:ext cx="205813" cy="1478907"/>
            </a:xfrm>
            <a:prstGeom prst="rightBrace">
              <a:avLst/>
            </a:prstGeom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BCD80A-234A-4B58-A1BA-2E78AEACCA8F}"/>
                </a:ext>
              </a:extLst>
            </p:cNvPr>
            <p:cNvSpPr/>
            <p:nvPr/>
          </p:nvSpPr>
          <p:spPr>
            <a:xfrm>
              <a:off x="920151" y="3253606"/>
              <a:ext cx="2387065" cy="453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4"/>
                  </a:solidFill>
                </a:rPr>
                <a:t>与</a:t>
              </a:r>
              <a:r>
                <a:rPr lang="en-US" altLang="zh-CN" dirty="0">
                  <a:solidFill>
                    <a:schemeClr val="accent4"/>
                  </a:solidFill>
                </a:rPr>
                <a:t>range(1,6)</a:t>
              </a:r>
              <a:r>
                <a:rPr lang="zh-CN" altLang="en-US" dirty="0">
                  <a:solidFill>
                    <a:schemeClr val="accent4"/>
                  </a:solidFill>
                </a:rPr>
                <a:t>取值相同</a:t>
              </a:r>
            </a:p>
          </p:txBody>
        </p:sp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EE6BC030-FC00-41B6-BF6F-A10C5AA57346}"/>
              </a:ext>
            </a:extLst>
          </p:cNvPr>
          <p:cNvSpPr/>
          <p:nvPr/>
        </p:nvSpPr>
        <p:spPr>
          <a:xfrm>
            <a:off x="3359387" y="2966202"/>
            <a:ext cx="361768" cy="205019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8A79C0-BB7A-4DA3-8BB2-D111D6FEC14A}"/>
              </a:ext>
            </a:extLst>
          </p:cNvPr>
          <p:cNvSpPr/>
          <p:nvPr/>
        </p:nvSpPr>
        <p:spPr>
          <a:xfrm>
            <a:off x="3872990" y="2825339"/>
            <a:ext cx="2387065" cy="45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/>
                </a:solidFill>
              </a:rPr>
              <a:t>用</a:t>
            </a:r>
            <a:r>
              <a:rPr lang="en-US" altLang="zh-CN" dirty="0">
                <a:solidFill>
                  <a:schemeClr val="accent4"/>
                </a:solidFill>
              </a:rPr>
              <a:t>range</a:t>
            </a:r>
            <a:r>
              <a:rPr lang="zh-CN" altLang="en-US" dirty="0">
                <a:solidFill>
                  <a:schemeClr val="accent4"/>
                </a:solidFill>
              </a:rPr>
              <a:t>函数生成列表</a:t>
            </a:r>
            <a:r>
              <a:rPr lang="en-US" altLang="zh-CN" dirty="0">
                <a:solidFill>
                  <a:schemeClr val="accent4"/>
                </a:solidFill>
              </a:rPr>
              <a:t>?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1AA26E9B-B593-4D52-9942-195B98CD706A}"/>
              </a:ext>
            </a:extLst>
          </p:cNvPr>
          <p:cNvSpPr/>
          <p:nvPr/>
        </p:nvSpPr>
        <p:spPr>
          <a:xfrm>
            <a:off x="6549277" y="2946077"/>
            <a:ext cx="361768" cy="205019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9039BC-1EBC-415F-980E-851D4DB63C6E}"/>
              </a:ext>
            </a:extLst>
          </p:cNvPr>
          <p:cNvSpPr/>
          <p:nvPr/>
        </p:nvSpPr>
        <p:spPr>
          <a:xfrm>
            <a:off x="7159956" y="3253606"/>
            <a:ext cx="2051421" cy="2269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D51E38-B24D-44D8-9CCA-19B7CFD29E45}"/>
              </a:ext>
            </a:extLst>
          </p:cNvPr>
          <p:cNvSpPr/>
          <p:nvPr/>
        </p:nvSpPr>
        <p:spPr>
          <a:xfrm>
            <a:off x="7504989" y="3470726"/>
            <a:ext cx="3412775" cy="45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range</a:t>
            </a:r>
            <a:r>
              <a:rPr lang="zh-CN" altLang="en-US" dirty="0">
                <a:solidFill>
                  <a:srgbClr val="C00000"/>
                </a:solidFill>
              </a:rPr>
              <a:t>函数无法直接生成列表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1EB130-2691-4CBA-9EC7-A9C183D7C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957" y="4561793"/>
            <a:ext cx="5138925" cy="1613384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CEBEB6C4-355D-42A0-93BC-EBAEF2E6FEE8}"/>
              </a:ext>
            </a:extLst>
          </p:cNvPr>
          <p:cNvSpPr/>
          <p:nvPr/>
        </p:nvSpPr>
        <p:spPr>
          <a:xfrm>
            <a:off x="8585735" y="4026386"/>
            <a:ext cx="221381" cy="328154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36DD54-0C8F-44CF-B631-2E7A76BBA15A}"/>
              </a:ext>
            </a:extLst>
          </p:cNvPr>
          <p:cNvSpPr/>
          <p:nvPr/>
        </p:nvSpPr>
        <p:spPr>
          <a:xfrm>
            <a:off x="244744" y="5074815"/>
            <a:ext cx="5241327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 err="1">
                <a:solidFill>
                  <a:srgbClr val="FF0000"/>
                </a:solidFill>
              </a:rPr>
              <a:t>lsit</a:t>
            </a:r>
            <a:r>
              <a:rPr lang="zh-CN" altLang="en-US" sz="2400" dirty="0">
                <a:solidFill>
                  <a:srgbClr val="FF0000"/>
                </a:solidFill>
              </a:rPr>
              <a:t>函数可以将</a:t>
            </a:r>
            <a:r>
              <a:rPr lang="en-US" altLang="zh-CN" sz="2400" dirty="0">
                <a:solidFill>
                  <a:srgbClr val="FF0000"/>
                </a:solidFill>
              </a:rPr>
              <a:t>range</a:t>
            </a:r>
            <a:r>
              <a:rPr lang="zh-CN" altLang="en-US" sz="2400" dirty="0">
                <a:solidFill>
                  <a:srgbClr val="FF0000"/>
                </a:solidFill>
              </a:rPr>
              <a:t>对象转换为列表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307649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/>
      <p:bldP spid="21" grpId="0" animBg="1"/>
      <p:bldP spid="10" grpId="0" animBg="1"/>
      <p:bldP spid="24" grpId="0"/>
      <p:bldP spid="12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zh-CN" dirty="0"/>
              <a:t>创建一个由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10</a:t>
            </a:r>
            <a:r>
              <a:rPr lang="zh-CN" altLang="zh-CN" dirty="0"/>
              <a:t>这十个数的平方值组成的数值列表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2CB37A-822B-4DC4-9842-D1F88551E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92" y="2554662"/>
            <a:ext cx="5165645" cy="1517669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01C16EA3-884A-4439-97FC-EC71E9519F10}"/>
              </a:ext>
            </a:extLst>
          </p:cNvPr>
          <p:cNvSpPr/>
          <p:nvPr/>
        </p:nvSpPr>
        <p:spPr>
          <a:xfrm>
            <a:off x="6810556" y="2898832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range</a:t>
            </a:r>
            <a:r>
              <a:rPr lang="zh-CN" altLang="zh-CN" b="1" dirty="0">
                <a:solidFill>
                  <a:srgbClr val="C00000"/>
                </a:solidFill>
              </a:rPr>
              <a:t>函数配合</a:t>
            </a:r>
            <a:r>
              <a:rPr lang="en-US" altLang="zh-CN" b="1" dirty="0">
                <a:solidFill>
                  <a:srgbClr val="C00000"/>
                </a:solidFill>
              </a:rPr>
              <a:t>for</a:t>
            </a:r>
            <a:r>
              <a:rPr lang="zh-CN" altLang="zh-CN" b="1" dirty="0">
                <a:solidFill>
                  <a:srgbClr val="C00000"/>
                </a:solidFill>
              </a:rPr>
              <a:t>循环生成</a:t>
            </a:r>
            <a:r>
              <a:rPr lang="zh-CN" altLang="en-US" b="1" dirty="0">
                <a:solidFill>
                  <a:srgbClr val="C00000"/>
                </a:solidFill>
              </a:rPr>
              <a:t>列表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42F9A0-ABFE-4613-B2FA-40D956AB1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92" y="4502251"/>
            <a:ext cx="5234685" cy="76276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1AFC8BE-24A6-4003-B15C-14D0AF1427B3}"/>
              </a:ext>
            </a:extLst>
          </p:cNvPr>
          <p:cNvSpPr/>
          <p:nvPr/>
        </p:nvSpPr>
        <p:spPr>
          <a:xfrm>
            <a:off x="6810556" y="4435692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用列表生成式</a:t>
            </a:r>
            <a:r>
              <a:rPr lang="zh-CN" altLang="zh-CN" b="1" dirty="0">
                <a:solidFill>
                  <a:srgbClr val="C00000"/>
                </a:solidFill>
              </a:rPr>
              <a:t>生成</a:t>
            </a:r>
            <a:r>
              <a:rPr lang="zh-CN" altLang="en-US" b="1" dirty="0">
                <a:solidFill>
                  <a:srgbClr val="C00000"/>
                </a:solidFill>
              </a:rPr>
              <a:t>列表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18802-0BCC-4998-90E9-2B1BD374904B}"/>
              </a:ext>
            </a:extLst>
          </p:cNvPr>
          <p:cNvSpPr/>
          <p:nvPr/>
        </p:nvSpPr>
        <p:spPr>
          <a:xfrm>
            <a:off x="2066522" y="5724644"/>
            <a:ext cx="7835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=  [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循环变量相关表达式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for 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 range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89443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已知有学生信息列表如下：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请根据该列表用列表生成式生成包含学生姓名的列表。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   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如果需要生成包含学生姓名和籍贯的列表，列表生成式该如何写？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3053EC-6204-4DC7-B5F2-19ED6F88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179" y="2160393"/>
            <a:ext cx="8572058" cy="5058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7D4205-AAA7-42D9-BD8B-5CB109E04F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12"/>
          <a:stretch/>
        </p:blipFill>
        <p:spPr>
          <a:xfrm>
            <a:off x="1980178" y="3465095"/>
            <a:ext cx="7634883" cy="108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78669"/>
      </p:ext>
    </p:extLst>
  </p:cSld>
  <p:clrMapOvr>
    <a:masterClrMapping/>
  </p:clrMapOvr>
  <p:transition spd="slow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列表生成式是允许嵌套的，其嵌套格式如下：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	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列表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= [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循环变量相关表达式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for 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外循环 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for 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内循环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7C97B2-F06E-4E57-A40F-2F21855F6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48" y="3590223"/>
            <a:ext cx="5571632" cy="10010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6E7F06-3543-493F-94FB-52249290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35" y="3254242"/>
            <a:ext cx="4362450" cy="1847850"/>
          </a:xfrm>
          <a:prstGeom prst="rect">
            <a:avLst/>
          </a:prstGeom>
        </p:spPr>
      </p:pic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FF8E005E-34C4-4154-878A-4D813CFC2075}"/>
              </a:ext>
            </a:extLst>
          </p:cNvPr>
          <p:cNvSpPr/>
          <p:nvPr/>
        </p:nvSpPr>
        <p:spPr>
          <a:xfrm>
            <a:off x="5318361" y="5522887"/>
            <a:ext cx="1754967" cy="5452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1050894425"/>
      </p:ext>
    </p:extLst>
  </p:cSld>
  <p:clrMapOvr>
    <a:masterClrMapping/>
  </p:clrMapOvr>
  <p:transition spd="slow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请用列表生成式生成九九乘法表列表并输出。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分析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九九表中每一项可以写作 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	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 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*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 = r 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971550" lvl="1" indent="-571500">
              <a:buFont typeface="+mj-lt"/>
              <a:buAutoNum type="romanUcPeriod"/>
            </a:pP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对应行号，看作外循环；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对应列号，看作内循环。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乘法表共有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9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行，即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的取值范围为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1~9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；第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行共有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项乘法式子，即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的取值范围为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1~i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10346-A5A6-41C2-9771-5816E175F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93"/>
          <a:stretch/>
        </p:blipFill>
        <p:spPr>
          <a:xfrm>
            <a:off x="2365708" y="2158465"/>
            <a:ext cx="6465048" cy="20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79771"/>
      </p:ext>
    </p:extLst>
  </p:cSld>
  <p:clrMapOvr>
    <a:masterClrMapping/>
  </p:clrMapOvr>
  <p:transition spd="slow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请用列表生成式生成九九乘法表列表并输出。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   &gt;&gt;&gt;ls = [str(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) + '*' + str(j) + '=' + str(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*j) + ('\n' if 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==j else ' ‘) 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            </a:t>
            </a: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           for 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i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in range(1,10)  for j in range(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1,i+1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)]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          &gt;&gt;&gt;for item in ls: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		print(</a:t>
            </a:r>
            <a:r>
              <a:rPr lang="en-US" altLang="zh-CN" sz="28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item,end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=‘ ‘)</a:t>
            </a: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072332-A5D4-4441-BFCA-3E97E5E141ED}"/>
              </a:ext>
            </a:extLst>
          </p:cNvPr>
          <p:cNvCxnSpPr/>
          <p:nvPr/>
        </p:nvCxnSpPr>
        <p:spPr>
          <a:xfrm>
            <a:off x="6689558" y="2839453"/>
            <a:ext cx="247369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4C494F-C72E-4591-95E1-8DEB8E13D495}"/>
              </a:ext>
            </a:extLst>
          </p:cNvPr>
          <p:cNvSpPr/>
          <p:nvPr/>
        </p:nvSpPr>
        <p:spPr>
          <a:xfrm>
            <a:off x="5164635" y="2854710"/>
            <a:ext cx="5769663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每行最后一项后加上回车符，其余各项后加上空格</a:t>
            </a:r>
          </a:p>
        </p:txBody>
      </p:sp>
    </p:spTree>
    <p:extLst>
      <p:ext uri="{BB962C8B-B14F-4D97-AF65-F5344CB8AC3E}">
        <p14:creationId xmlns:p14="http://schemas.microsoft.com/office/powerpoint/2010/main" val="300046737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数值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列表的简单统计计算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B1FF22-E58B-4A71-A719-4D1535A450C7}"/>
              </a:ext>
            </a:extLst>
          </p:cNvPr>
          <p:cNvSpPr/>
          <p:nvPr/>
        </p:nvSpPr>
        <p:spPr>
          <a:xfrm>
            <a:off x="1276952" y="2215844"/>
            <a:ext cx="8810324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min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数值列表中的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最小值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元素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max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数值列表中的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最大值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元素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sum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数值列表中元素之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022810"/>
      </p:ext>
    </p:extLst>
  </p:cSld>
  <p:clrMapOvr>
    <a:masterClrMapping/>
  </p:clrMapOvr>
  <p:transition spd="slow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86" y="-5782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680228" y="2326968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元组与元组操作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03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849680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1C909074-6B07-4A7B-AC17-105FA2C50C09}"/>
              </a:ext>
            </a:extLst>
          </p:cNvPr>
          <p:cNvSpPr/>
          <p:nvPr/>
        </p:nvSpPr>
        <p:spPr>
          <a:xfrm>
            <a:off x="530360" y="1465457"/>
            <a:ext cx="10813742" cy="260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元组（</a:t>
            </a:r>
            <a:r>
              <a:rPr lang="en-US" altLang="zh-CN" sz="2800" dirty="0">
                <a:latin typeface="+mn-ea"/>
              </a:rPr>
              <a:t>tuple</a:t>
            </a:r>
            <a:r>
              <a:rPr lang="zh-CN" altLang="zh-CN" sz="2800" dirty="0">
                <a:latin typeface="+mn-ea"/>
              </a:rPr>
              <a:t>）与列表类似，也是用来存放一组相关的数据。两者的不同之处主要有两点：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800" dirty="0">
                <a:latin typeface="+mn-ea"/>
              </a:rPr>
              <a:t>元组使用圆括号（），列表使用方括号</a:t>
            </a:r>
            <a:r>
              <a:rPr lang="en-US" altLang="zh-CN" sz="2800" dirty="0">
                <a:latin typeface="+mn-ea"/>
              </a:rPr>
              <a:t>[]</a:t>
            </a:r>
            <a:r>
              <a:rPr lang="zh-CN" altLang="zh-CN" sz="2800" dirty="0">
                <a:latin typeface="+mn-ea"/>
              </a:rPr>
              <a:t>；</a:t>
            </a:r>
            <a:endParaRPr lang="en-US" altLang="zh-CN" sz="2800" dirty="0">
              <a:latin typeface="+mn-ea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800" dirty="0">
                <a:latin typeface="+mn-ea"/>
              </a:rPr>
              <a:t>元组的元素不能修</a:t>
            </a:r>
            <a:r>
              <a:rPr lang="zh-CN" altLang="en-US" sz="2800" dirty="0">
                <a:latin typeface="+mn-ea"/>
              </a:rPr>
              <a:t>改。</a:t>
            </a:r>
            <a:endParaRPr lang="zh-CN" altLang="zh-CN" sz="2800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B281D2-8062-4131-9E84-08771A34D7A6}"/>
              </a:ext>
            </a:extLst>
          </p:cNvPr>
          <p:cNvSpPr/>
          <p:nvPr/>
        </p:nvSpPr>
        <p:spPr>
          <a:xfrm>
            <a:off x="1385018" y="5023211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可以将元组理解为不能修改的“列表”。</a:t>
            </a:r>
          </a:p>
        </p:txBody>
      </p:sp>
    </p:spTree>
    <p:extLst>
      <p:ext uri="{BB962C8B-B14F-4D97-AF65-F5344CB8AC3E}">
        <p14:creationId xmlns:p14="http://schemas.microsoft.com/office/powerpoint/2010/main" val="4120843363"/>
      </p:ext>
    </p:extLst>
  </p:cSld>
  <p:clrMapOvr>
    <a:masterClrMapping/>
  </p:clrMapOvr>
  <p:transition spd="slow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73FBE836-15F5-4E8C-B5E7-92F11AF2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1374164"/>
            <a:ext cx="6769461" cy="1215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6B43E7-C1AB-45A9-B408-2D6E9E636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01" y="3139436"/>
            <a:ext cx="6758257" cy="96092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83EF2E8-64B7-47E8-A69D-AB6DF2B402B2}"/>
              </a:ext>
            </a:extLst>
          </p:cNvPr>
          <p:cNvSpPr/>
          <p:nvPr/>
        </p:nvSpPr>
        <p:spPr>
          <a:xfrm>
            <a:off x="8166604" y="1837300"/>
            <a:ext cx="3499556" cy="1926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元组是不可变的：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9900"/>
                </a:solidFill>
              </a:rPr>
              <a:t>	</a:t>
            </a:r>
            <a:r>
              <a:rPr lang="zh-CN" altLang="en-US" b="1" dirty="0">
                <a:solidFill>
                  <a:srgbClr val="FF9900"/>
                </a:solidFill>
              </a:rPr>
              <a:t>既不能增加元素；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9900"/>
                </a:solidFill>
              </a:rPr>
              <a:t>	</a:t>
            </a:r>
            <a:r>
              <a:rPr lang="zh-CN" altLang="en-US" b="1" dirty="0">
                <a:solidFill>
                  <a:srgbClr val="FF9900"/>
                </a:solidFill>
              </a:rPr>
              <a:t>也不能修改元素。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7A14AB-FFE3-4F84-A375-C8543FE0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01" y="4922470"/>
            <a:ext cx="5872485" cy="12280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4DCC532-4983-4C50-B3E6-843191BD524F}"/>
              </a:ext>
            </a:extLst>
          </p:cNvPr>
          <p:cNvSpPr/>
          <p:nvPr/>
        </p:nvSpPr>
        <p:spPr>
          <a:xfrm>
            <a:off x="8166604" y="4573394"/>
            <a:ext cx="3499556" cy="1926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不使用“（）”，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直接的</a:t>
            </a:r>
            <a:r>
              <a:rPr lang="zh-CN" altLang="zh-CN" b="1" dirty="0">
                <a:solidFill>
                  <a:srgbClr val="FF9900"/>
                </a:solidFill>
              </a:rPr>
              <a:t>多个数据用“，”隔开也可以定义元组</a:t>
            </a:r>
            <a:r>
              <a:rPr lang="zh-CN" altLang="en-US" b="1" dirty="0">
                <a:solidFill>
                  <a:srgbClr val="FF99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19615360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83EF2E8-64B7-47E8-A69D-AB6DF2B402B2}"/>
              </a:ext>
            </a:extLst>
          </p:cNvPr>
          <p:cNvSpPr/>
          <p:nvPr/>
        </p:nvSpPr>
        <p:spPr>
          <a:xfrm>
            <a:off x="7454335" y="2022586"/>
            <a:ext cx="3499556" cy="1230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元组</a:t>
            </a:r>
            <a:r>
              <a:rPr lang="zh-CN" altLang="zh-CN" b="1" dirty="0">
                <a:solidFill>
                  <a:srgbClr val="FF9900"/>
                </a:solidFill>
              </a:rPr>
              <a:t>只有</a:t>
            </a:r>
            <a:r>
              <a:rPr lang="en-US" altLang="zh-CN" b="1" dirty="0">
                <a:solidFill>
                  <a:srgbClr val="FF9900"/>
                </a:solidFill>
              </a:rPr>
              <a:t>1</a:t>
            </a:r>
            <a:r>
              <a:rPr lang="zh-CN" altLang="zh-CN" b="1" dirty="0">
                <a:solidFill>
                  <a:srgbClr val="FF9900"/>
                </a:solidFill>
              </a:rPr>
              <a:t>个元素时，系统将其视作单个的字符串</a:t>
            </a:r>
            <a:r>
              <a:rPr lang="zh-CN" altLang="en-US" b="1" dirty="0">
                <a:solidFill>
                  <a:srgbClr val="FF9900"/>
                </a:solidFill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DCC532-4983-4C50-B3E6-843191BD524F}"/>
              </a:ext>
            </a:extLst>
          </p:cNvPr>
          <p:cNvSpPr/>
          <p:nvPr/>
        </p:nvSpPr>
        <p:spPr>
          <a:xfrm>
            <a:off x="7454335" y="3902611"/>
            <a:ext cx="3499556" cy="1131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在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个元素后跟上‘，’才能</a:t>
            </a:r>
            <a:r>
              <a:rPr lang="zh-CN" altLang="zh-CN" b="1" dirty="0">
                <a:solidFill>
                  <a:srgbClr val="C00000"/>
                </a:solidFill>
              </a:rPr>
              <a:t>定义</a:t>
            </a:r>
            <a:r>
              <a:rPr lang="zh-CN" altLang="en-US" b="1" dirty="0">
                <a:solidFill>
                  <a:srgbClr val="C00000"/>
                </a:solidFill>
              </a:rPr>
              <a:t>单元素的</a:t>
            </a:r>
            <a:r>
              <a:rPr lang="zh-CN" altLang="zh-CN" b="1" dirty="0">
                <a:solidFill>
                  <a:srgbClr val="C00000"/>
                </a:solidFill>
              </a:rPr>
              <a:t>元组</a:t>
            </a:r>
            <a:r>
              <a:rPr lang="zh-CN" altLang="en-US" b="1" dirty="0">
                <a:solidFill>
                  <a:srgbClr val="C00000"/>
                </a:solidFill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C49CE2F-D8DF-440E-9CC6-242A1B9F6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6" y="1867570"/>
            <a:ext cx="5384387" cy="3280810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B272D88F-27D7-4769-90ED-87DC8B8C2007}"/>
              </a:ext>
            </a:extLst>
          </p:cNvPr>
          <p:cNvSpPr/>
          <p:nvPr/>
        </p:nvSpPr>
        <p:spPr>
          <a:xfrm>
            <a:off x="2261937" y="4292867"/>
            <a:ext cx="240631" cy="2502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4BF756B-DC8D-4E04-A5FD-E631FEAD6F3A}"/>
              </a:ext>
            </a:extLst>
          </p:cNvPr>
          <p:cNvCxnSpPr>
            <a:stCxn id="13" idx="1"/>
            <a:endCxn id="3" idx="6"/>
          </p:cNvCxnSpPr>
          <p:nvPr/>
        </p:nvCxnSpPr>
        <p:spPr>
          <a:xfrm flipH="1" flipV="1">
            <a:off x="2502568" y="4417996"/>
            <a:ext cx="4951767" cy="503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935699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元组的操作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7A7FA327-38F6-49B4-9E9D-27B0DCFDB785}"/>
              </a:ext>
            </a:extLst>
          </p:cNvPr>
          <p:cNvSpPr/>
          <p:nvPr/>
        </p:nvSpPr>
        <p:spPr>
          <a:xfrm>
            <a:off x="776097" y="1219048"/>
            <a:ext cx="9812981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元组是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“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不能修改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”的</a:t>
            </a:r>
            <a:r>
              <a:rPr lang="zh-CN" altLang="zh-CN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列表，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因此列表中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不涉及</a:t>
            </a:r>
            <a:r>
              <a:rPr lang="zh-CN" altLang="zh-CN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的操作都适用于元组。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7E1BC8-986A-4A5F-B8B4-D272C05C3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03966"/>
              </p:ext>
            </p:extLst>
          </p:nvPr>
        </p:nvGraphicFramePr>
        <p:xfrm>
          <a:off x="1406457" y="2805656"/>
          <a:ext cx="8854074" cy="3739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7715">
                  <a:extLst>
                    <a:ext uri="{9D8B030D-6E8A-4147-A177-3AD203B41FA5}">
                      <a16:colId xmlns:a16="http://schemas.microsoft.com/office/drawing/2014/main" val="3318288981"/>
                    </a:ext>
                  </a:extLst>
                </a:gridCol>
                <a:gridCol w="2839722">
                  <a:extLst>
                    <a:ext uri="{9D8B030D-6E8A-4147-A177-3AD203B41FA5}">
                      <a16:colId xmlns:a16="http://schemas.microsoft.com/office/drawing/2014/main" val="1354642338"/>
                    </a:ext>
                  </a:extLst>
                </a:gridCol>
                <a:gridCol w="3006637">
                  <a:extLst>
                    <a:ext uri="{9D8B030D-6E8A-4147-A177-3AD203B41FA5}">
                      <a16:colId xmlns:a16="http://schemas.microsoft.com/office/drawing/2014/main" val="4020182990"/>
                    </a:ext>
                  </a:extLst>
                </a:gridCol>
              </a:tblGrid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操作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54705864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读元素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2779847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写元素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39791579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append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8221976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insert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04118485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pop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038243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del</a:t>
                      </a:r>
                      <a:r>
                        <a:rPr lang="zh-CN" sz="1600" kern="100">
                          <a:effectLst/>
                        </a:rPr>
                        <a:t>命令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只支持删除整个元组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33351482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remove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7151953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len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5502847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1438647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not in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49830879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index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2483761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count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√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265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904860"/>
      </p:ext>
    </p:extLst>
  </p:cSld>
  <p:clrMapOvr>
    <a:masterClrMapping/>
  </p:clrMapOvr>
  <p:transition spd="slow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元组的操作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8C0D8C1-0AC3-4149-AC32-33A35D416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9322"/>
              </p:ext>
            </p:extLst>
          </p:nvPr>
        </p:nvGraphicFramePr>
        <p:xfrm>
          <a:off x="1396833" y="1477369"/>
          <a:ext cx="8988826" cy="4230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3490">
                  <a:extLst>
                    <a:ext uri="{9D8B030D-6E8A-4147-A177-3AD203B41FA5}">
                      <a16:colId xmlns:a16="http://schemas.microsoft.com/office/drawing/2014/main" val="2396322050"/>
                    </a:ext>
                  </a:extLst>
                </a:gridCol>
                <a:gridCol w="2882940">
                  <a:extLst>
                    <a:ext uri="{9D8B030D-6E8A-4147-A177-3AD203B41FA5}">
                      <a16:colId xmlns:a16="http://schemas.microsoft.com/office/drawing/2014/main" val="816966312"/>
                    </a:ext>
                  </a:extLst>
                </a:gridCol>
                <a:gridCol w="3052396">
                  <a:extLst>
                    <a:ext uri="{9D8B030D-6E8A-4147-A177-3AD203B41FA5}">
                      <a16:colId xmlns:a16="http://schemas.microsoft.com/office/drawing/2014/main" val="1678520383"/>
                    </a:ext>
                  </a:extLst>
                </a:gridCol>
              </a:tblGrid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操作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45454314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遍历元素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67979516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sort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39464875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sorted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排序结果为列表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56100077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切片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2478214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+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5819810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*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90476907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extend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37991450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copy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29441035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赋值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7009416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max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826608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min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39711550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sum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适用于数值元组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7034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183610"/>
      </p:ext>
    </p:extLst>
  </p:cSld>
  <p:clrMapOvr>
    <a:masterClrMapping/>
  </p:clrMapOvr>
  <p:transition spd="slow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序列转换函数</a:t>
            </a:r>
            <a:endParaRPr lang="zh-CN" altLang="en-US" sz="4800" b="1" dirty="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造字工房尚黑（非商用）细体" pitchFamily="50" charset="-122"/>
              <a:ea typeface="造字工房尚黑（非商用）细体" pitchFamily="50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04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781252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序列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4AE0B44C-31F8-4A4E-95C7-70B172ECD8EB}"/>
              </a:ext>
            </a:extLst>
          </p:cNvPr>
          <p:cNvSpPr txBox="1">
            <a:spLocks/>
          </p:cNvSpPr>
          <p:nvPr/>
        </p:nvSpPr>
        <p:spPr>
          <a:xfrm>
            <a:off x="674376" y="1931802"/>
            <a:ext cx="10515600" cy="3420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本章介绍的列表、元组和前面学习的字符串都属于</a:t>
            </a:r>
            <a:r>
              <a:rPr lang="en-US" altLang="zh-CN" sz="2800" dirty="0">
                <a:latin typeface="+mn-ea"/>
              </a:rPr>
              <a:t>Python</a:t>
            </a:r>
            <a:r>
              <a:rPr lang="zh-CN" altLang="zh-CN" sz="2800" dirty="0">
                <a:latin typeface="+mn-ea"/>
              </a:rPr>
              <a:t>的一种基本数据类型——序列（</a:t>
            </a:r>
            <a:r>
              <a:rPr lang="en-US" altLang="zh-CN" sz="2800" dirty="0">
                <a:latin typeface="+mn-ea"/>
              </a:rPr>
              <a:t>sequence</a:t>
            </a:r>
            <a:r>
              <a:rPr lang="zh-CN" altLang="zh-CN" sz="2800" dirty="0">
                <a:latin typeface="+mn-ea"/>
              </a:rPr>
              <a:t>）。</a:t>
            </a:r>
            <a:endParaRPr lang="en-US" altLang="zh-CN" sz="2800" dirty="0">
              <a:latin typeface="+mn-ea"/>
            </a:endParaRPr>
          </a:p>
          <a:p>
            <a:pPr indent="2667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序列的最大特点是元素的有序性，所以序列都是通过序号索引来访问元素的。</a:t>
            </a:r>
            <a:endParaRPr lang="en-US" altLang="zh-CN" sz="2800" dirty="0">
              <a:latin typeface="+mn-ea"/>
            </a:endParaRPr>
          </a:p>
          <a:p>
            <a:pPr indent="266700">
              <a:lnSpc>
                <a:spcPct val="150000"/>
              </a:lnSpc>
            </a:pP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序列之间可以通过转换函数进行互相转换。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505568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元组与列表之间的转换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B309F82-9375-41C5-A9B9-E739EAFCC8B3}"/>
              </a:ext>
            </a:extLst>
          </p:cNvPr>
          <p:cNvSpPr/>
          <p:nvPr/>
        </p:nvSpPr>
        <p:spPr>
          <a:xfrm>
            <a:off x="3270962" y="192822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元组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F35834-C66D-49B6-ACD6-F8A5CECBE8FF}"/>
              </a:ext>
            </a:extLst>
          </p:cNvPr>
          <p:cNvSpPr/>
          <p:nvPr/>
        </p:nvSpPr>
        <p:spPr>
          <a:xfrm>
            <a:off x="7056154" y="192884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列表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F937584-0D35-4906-B661-FAB3E217F29F}"/>
              </a:ext>
            </a:extLst>
          </p:cNvPr>
          <p:cNvCxnSpPr/>
          <p:nvPr/>
        </p:nvCxnSpPr>
        <p:spPr>
          <a:xfrm>
            <a:off x="4398745" y="2014226"/>
            <a:ext cx="2107932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26D8B60-8AE7-4D76-99E2-AA5172AFBCF1}"/>
              </a:ext>
            </a:extLst>
          </p:cNvPr>
          <p:cNvSpPr/>
          <p:nvPr/>
        </p:nvSpPr>
        <p:spPr>
          <a:xfrm>
            <a:off x="4494997" y="1541967"/>
            <a:ext cx="1828800" cy="48188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9900"/>
                </a:solidFill>
              </a:rPr>
              <a:t>list</a:t>
            </a:r>
            <a:r>
              <a:rPr lang="zh-CN" altLang="en-US" sz="2000" b="1" dirty="0">
                <a:solidFill>
                  <a:srgbClr val="FF9900"/>
                </a:solidFill>
              </a:rPr>
              <a:t>函数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C3C57A-AD0B-4CE0-9C6D-E04C983BF1CC}"/>
              </a:ext>
            </a:extLst>
          </p:cNvPr>
          <p:cNvSpPr/>
          <p:nvPr/>
        </p:nvSpPr>
        <p:spPr>
          <a:xfrm>
            <a:off x="4494997" y="2331860"/>
            <a:ext cx="1828800" cy="481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</a:rPr>
              <a:t>tuple</a:t>
            </a:r>
            <a:r>
              <a:rPr lang="zh-CN" altLang="en-US" sz="2000" b="1" dirty="0">
                <a:solidFill>
                  <a:schemeClr val="accent1"/>
                </a:solidFill>
              </a:rPr>
              <a:t>函数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FF8AB8B-497A-450A-B445-5402C97BE57E}"/>
              </a:ext>
            </a:extLst>
          </p:cNvPr>
          <p:cNvCxnSpPr/>
          <p:nvPr/>
        </p:nvCxnSpPr>
        <p:spPr>
          <a:xfrm flipH="1">
            <a:off x="4398745" y="2331860"/>
            <a:ext cx="21079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42291127-5B4A-43C4-8E32-F55B805AA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0" y="3777627"/>
            <a:ext cx="5730906" cy="16835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09FBE3B-D375-443A-AFC9-3108FCDB1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85" y="3777627"/>
            <a:ext cx="5527593" cy="16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45555"/>
      </p:ext>
    </p:extLst>
  </p:cSld>
  <p:clrMapOvr>
    <a:masterClrMapping/>
  </p:clrMapOvr>
  <p:transition spd="slow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字符串转换成列表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4D12849B-EAC5-4FA3-8848-7820EC95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2269463"/>
            <a:ext cx="4886077" cy="99531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7FFC3F2-53C3-4329-AF46-956FDFA36FD1}"/>
              </a:ext>
            </a:extLst>
          </p:cNvPr>
          <p:cNvSpPr/>
          <p:nvPr/>
        </p:nvSpPr>
        <p:spPr>
          <a:xfrm>
            <a:off x="6096000" y="2582453"/>
            <a:ext cx="562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list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转换后字符串中的</a:t>
            </a:r>
            <a:r>
              <a:rPr lang="zh-CN" altLang="zh-CN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单个字符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依次成为列表元素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86E253-56A5-4392-8664-EA3F0AED72A3}"/>
              </a:ext>
            </a:extLst>
          </p:cNvPr>
          <p:cNvSpPr/>
          <p:nvPr/>
        </p:nvSpPr>
        <p:spPr>
          <a:xfrm>
            <a:off x="845222" y="1466151"/>
            <a:ext cx="8385629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使用</a:t>
            </a:r>
            <a:r>
              <a:rPr lang="en-US" altLang="zh-CN" sz="2800" dirty="0"/>
              <a:t>list</a:t>
            </a:r>
            <a:r>
              <a:rPr lang="zh-CN" altLang="en-US" sz="2800" dirty="0"/>
              <a:t>函数</a:t>
            </a: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使用字符串的</a:t>
            </a:r>
            <a:r>
              <a:rPr lang="en-US" altLang="zh-CN" sz="2800" dirty="0"/>
              <a:t>split</a:t>
            </a:r>
            <a:r>
              <a:rPr lang="zh-CN" altLang="en-US" sz="2800" dirty="0"/>
              <a:t>方法</a:t>
            </a:r>
            <a:r>
              <a:rPr lang="en-US" altLang="zh-CN" sz="2800" dirty="0"/>
              <a:t>		</a:t>
            </a:r>
            <a:r>
              <a:rPr lang="zh-CN" altLang="zh-CN" dirty="0"/>
              <a:t>列表</a:t>
            </a:r>
            <a:r>
              <a:rPr lang="en-US" altLang="zh-CN" dirty="0"/>
              <a:t> = </a:t>
            </a:r>
            <a:r>
              <a:rPr lang="zh-CN" altLang="zh-CN" dirty="0"/>
              <a:t>字符串</a:t>
            </a:r>
            <a:r>
              <a:rPr lang="en-US" altLang="zh-CN" dirty="0"/>
              <a:t>.split(</a:t>
            </a:r>
            <a:r>
              <a:rPr lang="zh-CN" altLang="zh-CN" dirty="0"/>
              <a:t>分隔符</a:t>
            </a:r>
            <a:r>
              <a:rPr lang="en-US" altLang="zh-CN" dirty="0"/>
              <a:t>)</a:t>
            </a:r>
            <a:endParaRPr lang="zh-CN" altLang="en-US" sz="28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701DB2-998C-4ACD-AE01-D5944DD45290}"/>
              </a:ext>
            </a:extLst>
          </p:cNvPr>
          <p:cNvGrpSpPr/>
          <p:nvPr/>
        </p:nvGrpSpPr>
        <p:grpSpPr>
          <a:xfrm>
            <a:off x="8643486" y="4052236"/>
            <a:ext cx="693022" cy="413886"/>
            <a:chOff x="6805061" y="4052236"/>
            <a:chExt cx="1530417" cy="413886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74918DA-5FD6-4A8D-9839-511F0CD31ECC}"/>
                </a:ext>
              </a:extLst>
            </p:cNvPr>
            <p:cNvCxnSpPr/>
            <p:nvPr/>
          </p:nvCxnSpPr>
          <p:spPr>
            <a:xfrm>
              <a:off x="6814686" y="4052236"/>
              <a:ext cx="0" cy="40426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7369869-80D0-4FCF-8AAD-BC9295A2E73C}"/>
                </a:ext>
              </a:extLst>
            </p:cNvPr>
            <p:cNvCxnSpPr/>
            <p:nvPr/>
          </p:nvCxnSpPr>
          <p:spPr>
            <a:xfrm>
              <a:off x="6805061" y="4466122"/>
              <a:ext cx="153041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104EC7D-B872-4856-AD4B-61FE0E41542C}"/>
              </a:ext>
            </a:extLst>
          </p:cNvPr>
          <p:cNvSpPr/>
          <p:nvPr/>
        </p:nvSpPr>
        <p:spPr>
          <a:xfrm>
            <a:off x="9336508" y="4133331"/>
            <a:ext cx="27238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chemeClr val="accent1"/>
                </a:solidFill>
              </a:rPr>
              <a:t>分隔符如果缺省的话，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zh-CN" altLang="zh-CN" dirty="0">
                <a:solidFill>
                  <a:schemeClr val="accent1"/>
                </a:solidFill>
              </a:rPr>
              <a:t>默认按照空格拆分字符串</a:t>
            </a:r>
            <a:endParaRPr lang="zh-CN" altLang="en-US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D96EF75-A1DE-453D-BBBD-DB9A66AE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" y="4596381"/>
            <a:ext cx="5093567" cy="92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34329"/>
      </p:ext>
    </p:extLst>
  </p:cSld>
  <p:clrMapOvr>
    <a:masterClrMapping/>
  </p:clrMapOvr>
  <p:transition spd="slow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综合应用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05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72860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6B3709-25A1-48D7-9A80-0C4E10C4A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72649"/>
              </p:ext>
            </p:extLst>
          </p:nvPr>
        </p:nvGraphicFramePr>
        <p:xfrm>
          <a:off x="925095" y="2558092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B0BFAF5-9158-46D6-BA19-21740F503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03502"/>
              </p:ext>
            </p:extLst>
          </p:nvPr>
        </p:nvGraphicFramePr>
        <p:xfrm>
          <a:off x="925095" y="2949925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64CE011-0DDE-4807-B058-3BFE1ACC75D7}"/>
              </a:ext>
            </a:extLst>
          </p:cNvPr>
          <p:cNvSpPr/>
          <p:nvPr/>
        </p:nvSpPr>
        <p:spPr>
          <a:xfrm>
            <a:off x="9555833" y="258059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所有数标记为素数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BE4F8E9-AFC6-450A-AD91-795A8242D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80936"/>
              </p:ext>
            </p:extLst>
          </p:nvPr>
        </p:nvGraphicFramePr>
        <p:xfrm>
          <a:off x="925095" y="3928316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D2A0337-362E-4608-9E0C-1363887D4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602756"/>
              </p:ext>
            </p:extLst>
          </p:nvPr>
        </p:nvGraphicFramePr>
        <p:xfrm>
          <a:off x="925095" y="4320149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1F7DF1E0-DDFB-42CB-AD87-0D89E9BB44CD}"/>
              </a:ext>
            </a:extLst>
          </p:cNvPr>
          <p:cNvSpPr/>
          <p:nvPr/>
        </p:nvSpPr>
        <p:spPr>
          <a:xfrm>
            <a:off x="9555833" y="3980583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0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剔除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6B729D6-0129-4400-B0BF-9F0B5469F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668531"/>
              </p:ext>
            </p:extLst>
          </p:nvPr>
        </p:nvGraphicFramePr>
        <p:xfrm>
          <a:off x="925095" y="5167227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FE26D96-67F5-4D86-B777-9CE28863A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764214"/>
              </p:ext>
            </p:extLst>
          </p:nvPr>
        </p:nvGraphicFramePr>
        <p:xfrm>
          <a:off x="925095" y="5559060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6338CAB-B7D4-489A-BC63-BF74BC13EA52}"/>
              </a:ext>
            </a:extLst>
          </p:cNvPr>
          <p:cNvSpPr/>
          <p:nvPr/>
        </p:nvSpPr>
        <p:spPr>
          <a:xfrm>
            <a:off x="9555833" y="5219494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</p:spTree>
    <p:extLst>
      <p:ext uri="{BB962C8B-B14F-4D97-AF65-F5344CB8AC3E}">
        <p14:creationId xmlns:p14="http://schemas.microsoft.com/office/powerpoint/2010/main" val="1074781651"/>
      </p:ext>
    </p:extLst>
  </p:cSld>
  <p:clrMapOvr>
    <a:masterClrMapping/>
  </p:clrMapOvr>
  <p:transition spd="slow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6B729D6-0129-4400-B0BF-9F0B5469F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166798"/>
              </p:ext>
            </p:extLst>
          </p:nvPr>
        </p:nvGraphicFramePr>
        <p:xfrm>
          <a:off x="818392" y="2452902"/>
          <a:ext cx="8127993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056742299"/>
                    </a:ext>
                  </a:extLst>
                </a:gridCol>
                <a:gridCol w="1161141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FE26D96-67F5-4D86-B777-9CE28863A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063653"/>
              </p:ext>
            </p:extLst>
          </p:nvPr>
        </p:nvGraphicFramePr>
        <p:xfrm>
          <a:off x="818392" y="2844735"/>
          <a:ext cx="8127993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980824770"/>
                    </a:ext>
                  </a:extLst>
                </a:gridCol>
                <a:gridCol w="1161141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6338CAB-B7D4-489A-BC63-BF74BC13EA52}"/>
              </a:ext>
            </a:extLst>
          </p:cNvPr>
          <p:cNvSpPr/>
          <p:nvPr/>
        </p:nvSpPr>
        <p:spPr>
          <a:xfrm>
            <a:off x="9449130" y="2505169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EAFD6A-18B7-49E9-9E4D-F73A422AE741}"/>
              </a:ext>
            </a:extLst>
          </p:cNvPr>
          <p:cNvSpPr/>
          <p:nvPr/>
        </p:nvSpPr>
        <p:spPr>
          <a:xfrm>
            <a:off x="4500662" y="3679768"/>
            <a:ext cx="628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…….</a:t>
            </a:r>
            <a:endParaRPr lang="zh-CN" altLang="en-US" dirty="0"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0724EE-9FDF-4503-9BFD-6240E0AAF1E3}"/>
              </a:ext>
            </a:extLst>
          </p:cNvPr>
          <p:cNvSpPr/>
          <p:nvPr/>
        </p:nvSpPr>
        <p:spPr>
          <a:xfrm>
            <a:off x="7073328" y="3699937"/>
            <a:ext cx="4251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将下一个</a:t>
            </a:r>
            <a:r>
              <a:rPr lang="zh-CN" altLang="en-US" b="1" dirty="0">
                <a:solidFill>
                  <a:srgbClr val="FF9900"/>
                </a:solidFill>
                <a:latin typeface="+mn-ea"/>
              </a:rPr>
              <a:t>元素为</a:t>
            </a:r>
            <a:r>
              <a:rPr lang="en-US" altLang="zh-CN" b="1" dirty="0">
                <a:solidFill>
                  <a:srgbClr val="FF9900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rgbClr val="FF9900"/>
                </a:solidFill>
                <a:latin typeface="+mn-ea"/>
              </a:rPr>
              <a:t>的下标对应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77CA7E-FADB-46BC-8550-99D2E626AFFA}"/>
              </a:ext>
            </a:extLst>
          </p:cNvPr>
          <p:cNvSpPr/>
          <p:nvPr/>
        </p:nvSpPr>
        <p:spPr>
          <a:xfrm>
            <a:off x="933339" y="4402427"/>
            <a:ext cx="8392041" cy="18846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具体算法：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用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从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开始遍历整个列表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如果第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个元素值为</a:t>
            </a:r>
            <a:r>
              <a:rPr lang="en-US" altLang="zh-CN" sz="2000" dirty="0">
                <a:latin typeface="+mn-ea"/>
              </a:rPr>
              <a:t>1,</a:t>
            </a:r>
            <a:r>
              <a:rPr lang="zh-CN" altLang="en-US" sz="2000" dirty="0">
                <a:latin typeface="+mn-ea"/>
              </a:rPr>
              <a:t>将后面所有能被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整除的下标对应的元素改写为</a:t>
            </a:r>
            <a:r>
              <a:rPr lang="en-US" altLang="zh-CN" sz="2000" dirty="0">
                <a:latin typeface="+mn-ea"/>
              </a:rPr>
              <a:t>0;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遍历结束后</a:t>
            </a:r>
            <a:r>
              <a:rPr lang="en-US" altLang="zh-CN" sz="2000" dirty="0">
                <a:latin typeface="+mn-ea"/>
              </a:rPr>
              <a:t>,</a:t>
            </a:r>
            <a:r>
              <a:rPr lang="zh-CN" altLang="en-US" sz="2000" dirty="0">
                <a:latin typeface="+mn-ea"/>
              </a:rPr>
              <a:t>保持为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的元素对应的下标即为要求的素数。</a:t>
            </a:r>
          </a:p>
        </p:txBody>
      </p:sp>
    </p:spTree>
    <p:extLst>
      <p:ext uri="{BB962C8B-B14F-4D97-AF65-F5344CB8AC3E}">
        <p14:creationId xmlns:p14="http://schemas.microsoft.com/office/powerpoint/2010/main" val="585095125"/>
      </p:ext>
    </p:extLst>
  </p:cSld>
  <p:clrMapOvr>
    <a:masterClrMapping/>
  </p:clrMapOvr>
  <p:transition spd="slow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A2440DB-478B-4608-9701-E29302323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74947"/>
              </p:ext>
            </p:extLst>
          </p:nvPr>
        </p:nvGraphicFramePr>
        <p:xfrm>
          <a:off x="1035820" y="2031318"/>
          <a:ext cx="7504331" cy="446466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03857">
                  <a:extLst>
                    <a:ext uri="{9D8B030D-6E8A-4147-A177-3AD203B41FA5}">
                      <a16:colId xmlns:a16="http://schemas.microsoft.com/office/drawing/2014/main" val="260253343"/>
                    </a:ext>
                  </a:extLst>
                </a:gridCol>
                <a:gridCol w="7100474">
                  <a:extLst>
                    <a:ext uri="{9D8B030D-6E8A-4147-A177-3AD203B41FA5}">
                      <a16:colId xmlns:a16="http://schemas.microsoft.com/office/drawing/2014/main" val="247097738"/>
                    </a:ext>
                  </a:extLst>
                </a:gridCol>
              </a:tblGrid>
              <a:tr h="342042"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筛选法求素数。</a:t>
                      </a:r>
                      <a:r>
                        <a:rPr lang="en-US" sz="2000" kern="100" dirty="0">
                          <a:effectLst/>
                        </a:rPr>
                        <a:t> 4-4.py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76475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primes = [1] * 300;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67878988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primes[0:2] = [0,0]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460137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for 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in range(2 , 300):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5098993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if primes[i]==1: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712112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for j in range(i+1,300):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333663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if primes[j] != 0 and j % i == 0: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4315815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    primes[j] = 0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8273140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19679970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print("300</a:t>
                      </a:r>
                      <a:r>
                        <a:rPr lang="zh-CN" sz="2000" kern="100">
                          <a:effectLst/>
                        </a:rPr>
                        <a:t>以内的素数包括：</a:t>
                      </a:r>
                      <a:r>
                        <a:rPr lang="en-US" sz="2000" kern="100">
                          <a:effectLst/>
                        </a:rPr>
                        <a:t>")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5144474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for 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in range(2 , 300):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55432334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if primes[i]: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7265181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print(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, end = ' ')    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6800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671854"/>
      </p:ext>
    </p:extLst>
  </p:cSld>
  <p:clrMapOvr>
    <a:masterClrMapping/>
  </p:clrMapOvr>
  <p:transition spd="slow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9A5CB83-623C-4F45-A4F5-43CBD227D5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4376" y="2472681"/>
            <a:ext cx="6732486" cy="12522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04F548-F17B-489F-A371-F0D00A80FB90}"/>
              </a:ext>
            </a:extLst>
          </p:cNvPr>
          <p:cNvSpPr/>
          <p:nvPr/>
        </p:nvSpPr>
        <p:spPr>
          <a:xfrm>
            <a:off x="8069869" y="2914163"/>
            <a:ext cx="3110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确定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low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high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mid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的初值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C45A142-8F98-4FDC-8FEF-0F430A04681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74376" y="4318173"/>
            <a:ext cx="6732486" cy="1252296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7CD8C932-1CD8-4296-84CE-99A39AB86532}"/>
              </a:ext>
            </a:extLst>
          </p:cNvPr>
          <p:cNvSpPr/>
          <p:nvPr/>
        </p:nvSpPr>
        <p:spPr>
          <a:xfrm>
            <a:off x="8069869" y="4705073"/>
            <a:ext cx="2662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ls[mid]&gt;key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high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前移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313652"/>
      </p:ext>
    </p:extLst>
  </p:cSld>
  <p:clrMapOvr>
    <a:masterClrMapping/>
  </p:clrMapOvr>
  <p:transition spd="slow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4F548-F17B-489F-A371-F0D00A80FB90}"/>
              </a:ext>
            </a:extLst>
          </p:cNvPr>
          <p:cNvSpPr/>
          <p:nvPr/>
        </p:nvSpPr>
        <p:spPr>
          <a:xfrm>
            <a:off x="1016980" y="2449971"/>
            <a:ext cx="9810956" cy="12899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按如下规则重复：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zh-CN" altLang="zh-CN" dirty="0">
                <a:solidFill>
                  <a:srgbClr val="C00000"/>
                </a:solidFill>
                <a:latin typeface="+mn-ea"/>
              </a:rPr>
              <a:t>如果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x &gt; ls[mid]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，确定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(</a:t>
            </a:r>
            <a:r>
              <a:rPr lang="en-US" altLang="zh-CN" dirty="0" err="1">
                <a:solidFill>
                  <a:srgbClr val="C00000"/>
                </a:solidFill>
                <a:latin typeface="+mn-ea"/>
              </a:rPr>
              <a:t>mid,high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为下一查找区间，重新赋值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low,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计算新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mid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，继续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；</a:t>
            </a:r>
          </a:p>
          <a:p>
            <a:pPr lvl="2">
              <a:lnSpc>
                <a:spcPct val="150000"/>
              </a:lnSpc>
            </a:pPr>
            <a:r>
              <a:rPr lang="zh-CN" altLang="zh-CN" dirty="0">
                <a:solidFill>
                  <a:srgbClr val="C00000"/>
                </a:solidFill>
                <a:latin typeface="+mn-ea"/>
              </a:rPr>
              <a:t>如果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x &lt; ls[mid]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，确定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[</a:t>
            </a:r>
            <a:r>
              <a:rPr lang="en-US" altLang="zh-CN" dirty="0" err="1">
                <a:solidFill>
                  <a:srgbClr val="C00000"/>
                </a:solidFill>
                <a:latin typeface="+mn-ea"/>
              </a:rPr>
              <a:t>low,mid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)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为下一查找区间，重新赋值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high,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计算新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mid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，继续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D8C932-1CD8-4296-84CE-99A39AB86532}"/>
              </a:ext>
            </a:extLst>
          </p:cNvPr>
          <p:cNvSpPr/>
          <p:nvPr/>
        </p:nvSpPr>
        <p:spPr>
          <a:xfrm>
            <a:off x="7846185" y="5021321"/>
            <a:ext cx="3579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</a:rPr>
              <a:t>直到</a:t>
            </a:r>
            <a:r>
              <a:rPr lang="en-US" altLang="zh-CN" dirty="0">
                <a:solidFill>
                  <a:srgbClr val="C00000"/>
                </a:solidFill>
              </a:rPr>
              <a:t>mid==3</a:t>
            </a:r>
            <a:r>
              <a:rPr lang="zh-CN" altLang="zh-CN" dirty="0">
                <a:solidFill>
                  <a:srgbClr val="C00000"/>
                </a:solidFill>
              </a:rPr>
              <a:t>时，</a:t>
            </a:r>
            <a:r>
              <a:rPr lang="en-US" altLang="zh-CN" dirty="0">
                <a:solidFill>
                  <a:srgbClr val="C00000"/>
                </a:solidFill>
              </a:rPr>
              <a:t>ls[mid]==x</a:t>
            </a:r>
            <a:r>
              <a:rPr lang="zh-CN" altLang="en-US" dirty="0">
                <a:solidFill>
                  <a:srgbClr val="C00000"/>
                </a:solidFill>
              </a:rPr>
              <a:t>，找到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691C9F-CD38-4D46-9D06-A8C62D50BB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0360" y="4657745"/>
            <a:ext cx="6732485" cy="13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09460"/>
      </p:ext>
    </p:extLst>
  </p:cSld>
  <p:clrMapOvr>
    <a:masterClrMapping/>
  </p:clrMapOvr>
  <p:transition spd="slow"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77309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BBB825-125D-4398-9155-66E614EA3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896002"/>
              </p:ext>
            </p:extLst>
          </p:nvPr>
        </p:nvGraphicFramePr>
        <p:xfrm>
          <a:off x="1062154" y="1886554"/>
          <a:ext cx="9872145" cy="496275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1285">
                  <a:extLst>
                    <a:ext uri="{9D8B030D-6E8A-4147-A177-3AD203B41FA5}">
                      <a16:colId xmlns:a16="http://schemas.microsoft.com/office/drawing/2014/main" val="1391519523"/>
                    </a:ext>
                  </a:extLst>
                </a:gridCol>
                <a:gridCol w="9340860">
                  <a:extLst>
                    <a:ext uri="{9D8B030D-6E8A-4147-A177-3AD203B41FA5}">
                      <a16:colId xmlns:a16="http://schemas.microsoft.com/office/drawing/2014/main" val="2886022491"/>
                    </a:ext>
                  </a:extLst>
                </a:gridCol>
              </a:tblGrid>
              <a:tr h="274565"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#</a:t>
                      </a:r>
                      <a:r>
                        <a:rPr lang="zh-CN" sz="1800" kern="100">
                          <a:effectLst/>
                        </a:rPr>
                        <a:t>二分查找</a:t>
                      </a:r>
                      <a:r>
                        <a:rPr lang="en-US" sz="1800" kern="100">
                          <a:effectLst/>
                        </a:rPr>
                        <a:t>     4-5.py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7044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ls = [34, 64, 67, 72, 73, 82, 83, 85, 87, 88, 90, 91, 96,  98]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720467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 = int(input("</a:t>
                      </a:r>
                      <a:r>
                        <a:rPr lang="zh-CN" sz="1800" kern="100">
                          <a:effectLst/>
                        </a:rPr>
                        <a:t>请输入待查找的数</a:t>
                      </a:r>
                      <a:r>
                        <a:rPr lang="en-US" sz="1800" kern="100">
                          <a:effectLst/>
                        </a:rPr>
                        <a:t>:"))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451824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2791345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low = 0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34193436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high = len(ls) - 1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05850611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6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301951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7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while low &lt; high: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3474480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mid = (low + high) // 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6370340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9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if ls[mid] &lt; x: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82308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10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low = mid + 1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7138281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11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elif ls[mid] &gt; x: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736972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high = mid - 1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08434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13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else: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35744363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14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print("</a:t>
                      </a:r>
                      <a:r>
                        <a:rPr lang="zh-CN" sz="1800" kern="100">
                          <a:effectLst/>
                        </a:rPr>
                        <a:t>找到</a:t>
                      </a:r>
                      <a:r>
                        <a:rPr lang="en-US" sz="1800" kern="100">
                          <a:effectLst/>
                        </a:rPr>
                        <a:t>{},</a:t>
                      </a:r>
                      <a:r>
                        <a:rPr lang="zh-CN" sz="1800" kern="100">
                          <a:effectLst/>
                        </a:rPr>
                        <a:t>索引为</a:t>
                      </a:r>
                      <a:r>
                        <a:rPr lang="en-US" sz="1800" kern="100">
                          <a:effectLst/>
                        </a:rPr>
                        <a:t>{}!".format(x,mid));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9505132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break;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85409599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16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else: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11250136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17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print("</a:t>
                      </a:r>
                      <a:r>
                        <a:rPr lang="zh-CN" sz="1800" kern="100" dirty="0">
                          <a:effectLst/>
                        </a:rPr>
                        <a:t>没有找到</a:t>
                      </a:r>
                      <a:r>
                        <a:rPr lang="en-US" sz="1800" kern="100" dirty="0">
                          <a:effectLst/>
                        </a:rPr>
                        <a:t>{}".format(x))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8797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97895"/>
      </p:ext>
    </p:extLst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4538</TotalTime>
  <Words>2299</Words>
  <Application>Microsoft Office PowerPoint</Application>
  <PresentationFormat>宽屏</PresentationFormat>
  <Paragraphs>663</Paragraphs>
  <Slides>55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Helvetica Light</vt:lpstr>
      <vt:lpstr>等线</vt:lpstr>
      <vt:lpstr>微软雅黑</vt:lpstr>
      <vt:lpstr>造字工房尚黑（非商用）细体</vt:lpstr>
      <vt:lpstr>Arial</vt:lpstr>
      <vt:lpstr>Calibri</vt:lpstr>
      <vt:lpstr>Gill Sans MT Condensed</vt:lpstr>
      <vt:lpstr>Gill Sans Ultra Bold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ZhaoLu</cp:lastModifiedBy>
  <cp:revision>231</cp:revision>
  <dcterms:created xsi:type="dcterms:W3CDTF">2019-01-13T07:44:05Z</dcterms:created>
  <dcterms:modified xsi:type="dcterms:W3CDTF">2019-03-03T18:02:07Z</dcterms:modified>
</cp:coreProperties>
</file>