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6"/>
  </p:notesMasterIdLst>
  <p:sldIdLst>
    <p:sldId id="342" r:id="rId2"/>
    <p:sldId id="376" r:id="rId3"/>
    <p:sldId id="343" r:id="rId4"/>
    <p:sldId id="377" r:id="rId5"/>
    <p:sldId id="378" r:id="rId6"/>
    <p:sldId id="428" r:id="rId7"/>
    <p:sldId id="429" r:id="rId8"/>
    <p:sldId id="430" r:id="rId9"/>
    <p:sldId id="431" r:id="rId10"/>
    <p:sldId id="432" r:id="rId11"/>
    <p:sldId id="433" r:id="rId12"/>
    <p:sldId id="434" r:id="rId13"/>
    <p:sldId id="435" r:id="rId14"/>
    <p:sldId id="436" r:id="rId15"/>
    <p:sldId id="437" r:id="rId16"/>
    <p:sldId id="438" r:id="rId17"/>
    <p:sldId id="440" r:id="rId18"/>
    <p:sldId id="439" r:id="rId19"/>
    <p:sldId id="441" r:id="rId20"/>
    <p:sldId id="443" r:id="rId21"/>
    <p:sldId id="444" r:id="rId22"/>
    <p:sldId id="446" r:id="rId23"/>
    <p:sldId id="445" r:id="rId24"/>
    <p:sldId id="447" r:id="rId25"/>
    <p:sldId id="442" r:id="rId26"/>
    <p:sldId id="448" r:id="rId27"/>
    <p:sldId id="449" r:id="rId28"/>
    <p:sldId id="450" r:id="rId29"/>
    <p:sldId id="451" r:id="rId30"/>
    <p:sldId id="452" r:id="rId31"/>
    <p:sldId id="453" r:id="rId32"/>
    <p:sldId id="454" r:id="rId33"/>
    <p:sldId id="456" r:id="rId34"/>
    <p:sldId id="457" r:id="rId35"/>
    <p:sldId id="455" r:id="rId36"/>
    <p:sldId id="458" r:id="rId37"/>
    <p:sldId id="459" r:id="rId38"/>
    <p:sldId id="460" r:id="rId39"/>
    <p:sldId id="461" r:id="rId40"/>
    <p:sldId id="462" r:id="rId41"/>
    <p:sldId id="463" r:id="rId42"/>
    <p:sldId id="464" r:id="rId43"/>
    <p:sldId id="465" r:id="rId44"/>
    <p:sldId id="466" r:id="rId4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u.zhao@163.com" initials="l" lastIdx="1" clrIdx="0">
    <p:extLst>
      <p:ext uri="{19B8F6BF-5375-455C-9EA6-DF929625EA0E}">
        <p15:presenceInfo xmlns:p15="http://schemas.microsoft.com/office/powerpoint/2012/main" userId="728258828dffa6c2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9900"/>
    <a:srgbClr val="6BE137"/>
    <a:srgbClr val="0000FF"/>
    <a:srgbClr val="9900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E171933-4619-4E11-9A3F-F7608DF75F80}" styleName="中度样式 1 - 强调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22838BEF-8BB2-4498-84A7-C5851F593DF1}" styleName="中度样式 4 - 强调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C4B1156A-380E-4F78-BDF5-A606A8083BF9}" styleName="中度样式 4 - 强调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E25E649-3F16-4E02-A733-19D2CDBF48F0}" styleName="中度样式 3 - 强调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25" autoAdjust="0"/>
    <p:restoredTop sz="93560" autoAdjust="0"/>
  </p:normalViewPr>
  <p:slideViewPr>
    <p:cSldViewPr snapToGrid="0">
      <p:cViewPr varScale="1">
        <p:scale>
          <a:sx n="90" d="100"/>
          <a:sy n="90" d="100"/>
        </p:scale>
        <p:origin x="100" y="6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77" d="100"/>
        <a:sy n="77" d="100"/>
      </p:scale>
      <p:origin x="0" y="-116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commentAuthors" Target="commentAuthors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F41353-A0F4-4DD2-AF90-B2B2D232929F}" type="datetimeFigureOut">
              <a:rPr lang="zh-CN" altLang="en-US" smtClean="0"/>
              <a:t>2019/05/05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A74753-AFF2-43A3-98C7-386D01E4961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369436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936B7B-B83E-48FC-9145-C5D7D2DAFA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564941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936B7B-B83E-48FC-9145-C5D7D2DAFA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8703423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936B7B-B83E-48FC-9145-C5D7D2DAFA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692558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936B7B-B83E-48FC-9145-C5D7D2DAFA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1065166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936B7B-B83E-48FC-9145-C5D7D2DAFA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9143506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936B7B-B83E-48FC-9145-C5D7D2DAFA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2809652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936B7B-B83E-48FC-9145-C5D7D2DAFA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8722938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936B7B-B83E-48FC-9145-C5D7D2DAFA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2577952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936B7B-B83E-48FC-9145-C5D7D2DAFA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5860712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936B7B-B83E-48FC-9145-C5D7D2DAFA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315357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936B7B-B83E-48FC-9145-C5D7D2DAFA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1001516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936B7B-B83E-48FC-9145-C5D7D2DAFA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5869041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936B7B-B83E-48FC-9145-C5D7D2DAFA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5109927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936B7B-B83E-48FC-9145-C5D7D2DAFA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1336792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936B7B-B83E-48FC-9145-C5D7D2DAFA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8612749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936B7B-B83E-48FC-9145-C5D7D2DAFA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9363895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936B7B-B83E-48FC-9145-C5D7D2DAFA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5740881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936B7B-B83E-48FC-9145-C5D7D2DAFA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4652223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936B7B-B83E-48FC-9145-C5D7D2DAFA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4099691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936B7B-B83E-48FC-9145-C5D7D2DAFA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700652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936B7B-B83E-48FC-9145-C5D7D2DAFA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5298565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936B7B-B83E-48FC-9145-C5D7D2DAFA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196042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936B7B-B83E-48FC-9145-C5D7D2DAFA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1192097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936B7B-B83E-48FC-9145-C5D7D2DAFA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7485945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936B7B-B83E-48FC-9145-C5D7D2DAFA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6278180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936B7B-B83E-48FC-9145-C5D7D2DAFA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6246785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936B7B-B83E-48FC-9145-C5D7D2DAFA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7740466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936B7B-B83E-48FC-9145-C5D7D2DAFA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1133057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936B7B-B83E-48FC-9145-C5D7D2DAFA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8929182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936B7B-B83E-48FC-9145-C5D7D2DAFA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9011543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936B7B-B83E-48FC-9145-C5D7D2DAFA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406943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936B7B-B83E-48FC-9145-C5D7D2DAFA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75416823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936B7B-B83E-48FC-9145-C5D7D2DAFA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37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39581772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936B7B-B83E-48FC-9145-C5D7D2DAFA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38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39565832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936B7B-B83E-48FC-9145-C5D7D2DAFA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12006750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936B7B-B83E-48FC-9145-C5D7D2DAFA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82859228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936B7B-B83E-48FC-9145-C5D7D2DAFA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14201424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936B7B-B83E-48FC-9145-C5D7D2DAFA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83947858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936B7B-B83E-48FC-9145-C5D7D2DAFA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4689506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936B7B-B83E-48FC-9145-C5D7D2DAFA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991501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自定义版式">
    <p:bg>
      <p:bgPr>
        <a:pattFill prst="ltUpDiag">
          <a:fgClr>
            <a:srgbClr val="F2F2F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969677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528912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分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471788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教学分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732514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策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358609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教学策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832800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过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230818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教学过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92054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教学效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145699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教学效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557563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ltUpDiag">
          <a:fgClr>
            <a:schemeClr val="bg1">
              <a:lumMod val="9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extBox 31" hidden="1"/>
          <p:cNvSpPr txBox="1"/>
          <p:nvPr userDrawn="1"/>
        </p:nvSpPr>
        <p:spPr>
          <a:xfrm>
            <a:off x="25138" y="-14371"/>
            <a:ext cx="229983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solidFill>
                  <a:srgbClr val="333333"/>
                </a:solidFill>
                <a:latin typeface="Gill Sans Ultra Bold" pitchFamily="34" charset="0"/>
              </a:rPr>
              <a:t>LOGO</a:t>
            </a:r>
            <a:endParaRPr lang="zh-CN" altLang="en-US" sz="3200" dirty="0">
              <a:solidFill>
                <a:srgbClr val="333333"/>
              </a:solidFill>
              <a:latin typeface="Gill Sans Ultra Bold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54258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9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8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0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图片 18">
            <a:extLst>
              <a:ext uri="{FF2B5EF4-FFF2-40B4-BE49-F238E27FC236}">
                <a16:creationId xmlns:a16="http://schemas.microsoft.com/office/drawing/2014/main" id="{F8014AE3-2F6F-4D03-ABA5-98B6F9BB3E23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DFF"/>
              </a:clrFrom>
              <a:clrTo>
                <a:srgbClr val="FFFD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0" y="-31693"/>
            <a:ext cx="12192001" cy="6870567"/>
          </a:xfrm>
          <a:prstGeom prst="rect">
            <a:avLst/>
          </a:prstGeom>
        </p:spPr>
      </p:pic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3AF7CF07-C3D1-48FA-AC1F-1CC74323FA7E}"/>
              </a:ext>
            </a:extLst>
          </p:cNvPr>
          <p:cNvCxnSpPr>
            <a:cxnSpLocks/>
          </p:cNvCxnSpPr>
          <p:nvPr/>
        </p:nvCxnSpPr>
        <p:spPr>
          <a:xfrm>
            <a:off x="2149057" y="3429000"/>
            <a:ext cx="7342288" cy="0"/>
          </a:xfrm>
          <a:prstGeom prst="line">
            <a:avLst/>
          </a:prstGeom>
          <a:ln w="25400">
            <a:solidFill>
              <a:schemeClr val="bg1"/>
            </a:solidFill>
          </a:ln>
          <a:effectLst>
            <a:outerShdw dist="254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Freeform 284">
            <a:extLst>
              <a:ext uri="{FF2B5EF4-FFF2-40B4-BE49-F238E27FC236}">
                <a16:creationId xmlns:a16="http://schemas.microsoft.com/office/drawing/2014/main" id="{F0A56CFD-663E-4AFB-BF60-D093C87FDC59}"/>
              </a:ext>
            </a:extLst>
          </p:cNvPr>
          <p:cNvSpPr>
            <a:spLocks noEditPoints="1"/>
          </p:cNvSpPr>
          <p:nvPr/>
        </p:nvSpPr>
        <p:spPr bwMode="auto">
          <a:xfrm>
            <a:off x="9239652" y="4817013"/>
            <a:ext cx="1914405" cy="1419137"/>
          </a:xfrm>
          <a:custGeom>
            <a:avLst/>
            <a:gdLst>
              <a:gd name="T0" fmla="*/ 1 w 85"/>
              <a:gd name="T1" fmla="*/ 0 h 63"/>
              <a:gd name="T2" fmla="*/ 0 w 85"/>
              <a:gd name="T3" fmla="*/ 62 h 63"/>
              <a:gd name="T4" fmla="*/ 16 w 85"/>
              <a:gd name="T5" fmla="*/ 63 h 63"/>
              <a:gd name="T6" fmla="*/ 18 w 85"/>
              <a:gd name="T7" fmla="*/ 1 h 63"/>
              <a:gd name="T8" fmla="*/ 2 w 85"/>
              <a:gd name="T9" fmla="*/ 5 h 63"/>
              <a:gd name="T10" fmla="*/ 14 w 85"/>
              <a:gd name="T11" fmla="*/ 4 h 63"/>
              <a:gd name="T12" fmla="*/ 16 w 85"/>
              <a:gd name="T13" fmla="*/ 28 h 63"/>
              <a:gd name="T14" fmla="*/ 3 w 85"/>
              <a:gd name="T15" fmla="*/ 29 h 63"/>
              <a:gd name="T16" fmla="*/ 2 w 85"/>
              <a:gd name="T17" fmla="*/ 5 h 63"/>
              <a:gd name="T18" fmla="*/ 2 w 85"/>
              <a:gd name="T19" fmla="*/ 56 h 63"/>
              <a:gd name="T20" fmla="*/ 2 w 85"/>
              <a:gd name="T21" fmla="*/ 55 h 63"/>
              <a:gd name="T22" fmla="*/ 16 w 85"/>
              <a:gd name="T23" fmla="*/ 56 h 63"/>
              <a:gd name="T24" fmla="*/ 16 w 85"/>
              <a:gd name="T25" fmla="*/ 52 h 63"/>
              <a:gd name="T26" fmla="*/ 2 w 85"/>
              <a:gd name="T27" fmla="*/ 52 h 63"/>
              <a:gd name="T28" fmla="*/ 16 w 85"/>
              <a:gd name="T29" fmla="*/ 51 h 63"/>
              <a:gd name="T30" fmla="*/ 16 w 85"/>
              <a:gd name="T31" fmla="*/ 52 h 63"/>
              <a:gd name="T32" fmla="*/ 21 w 85"/>
              <a:gd name="T33" fmla="*/ 0 h 63"/>
              <a:gd name="T34" fmla="*/ 19 w 85"/>
              <a:gd name="T35" fmla="*/ 62 h 63"/>
              <a:gd name="T36" fmla="*/ 36 w 85"/>
              <a:gd name="T37" fmla="*/ 63 h 63"/>
              <a:gd name="T38" fmla="*/ 38 w 85"/>
              <a:gd name="T39" fmla="*/ 1 h 63"/>
              <a:gd name="T40" fmla="*/ 22 w 85"/>
              <a:gd name="T41" fmla="*/ 5 h 63"/>
              <a:gd name="T42" fmla="*/ 34 w 85"/>
              <a:gd name="T43" fmla="*/ 4 h 63"/>
              <a:gd name="T44" fmla="*/ 35 w 85"/>
              <a:gd name="T45" fmla="*/ 28 h 63"/>
              <a:gd name="T46" fmla="*/ 23 w 85"/>
              <a:gd name="T47" fmla="*/ 29 h 63"/>
              <a:gd name="T48" fmla="*/ 22 w 85"/>
              <a:gd name="T49" fmla="*/ 5 h 63"/>
              <a:gd name="T50" fmla="*/ 22 w 85"/>
              <a:gd name="T51" fmla="*/ 56 h 63"/>
              <a:gd name="T52" fmla="*/ 22 w 85"/>
              <a:gd name="T53" fmla="*/ 55 h 63"/>
              <a:gd name="T54" fmla="*/ 36 w 85"/>
              <a:gd name="T55" fmla="*/ 56 h 63"/>
              <a:gd name="T56" fmla="*/ 35 w 85"/>
              <a:gd name="T57" fmla="*/ 52 h 63"/>
              <a:gd name="T58" fmla="*/ 21 w 85"/>
              <a:gd name="T59" fmla="*/ 52 h 63"/>
              <a:gd name="T60" fmla="*/ 35 w 85"/>
              <a:gd name="T61" fmla="*/ 51 h 63"/>
              <a:gd name="T62" fmla="*/ 35 w 85"/>
              <a:gd name="T63" fmla="*/ 52 h 63"/>
              <a:gd name="T64" fmla="*/ 53 w 85"/>
              <a:gd name="T65" fmla="*/ 1 h 63"/>
              <a:gd name="T66" fmla="*/ 38 w 85"/>
              <a:gd name="T67" fmla="*/ 9 h 63"/>
              <a:gd name="T68" fmla="*/ 69 w 85"/>
              <a:gd name="T69" fmla="*/ 62 h 63"/>
              <a:gd name="T70" fmla="*/ 84 w 85"/>
              <a:gd name="T71" fmla="*/ 55 h 63"/>
              <a:gd name="T72" fmla="*/ 64 w 85"/>
              <a:gd name="T73" fmla="*/ 27 h 63"/>
              <a:gd name="T74" fmla="*/ 53 w 85"/>
              <a:gd name="T75" fmla="*/ 32 h 63"/>
              <a:gd name="T76" fmla="*/ 42 w 85"/>
              <a:gd name="T77" fmla="*/ 11 h 63"/>
              <a:gd name="T78" fmla="*/ 53 w 85"/>
              <a:gd name="T79" fmla="*/ 6 h 63"/>
              <a:gd name="T80" fmla="*/ 64 w 85"/>
              <a:gd name="T81" fmla="*/ 27 h 63"/>
              <a:gd name="T82" fmla="*/ 66 w 85"/>
              <a:gd name="T83" fmla="*/ 52 h 63"/>
              <a:gd name="T84" fmla="*/ 78 w 85"/>
              <a:gd name="T85" fmla="*/ 46 h 63"/>
              <a:gd name="T86" fmla="*/ 66 w 85"/>
              <a:gd name="T87" fmla="*/ 53 h 63"/>
              <a:gd name="T88" fmla="*/ 80 w 85"/>
              <a:gd name="T89" fmla="*/ 49 h 63"/>
              <a:gd name="T90" fmla="*/ 68 w 85"/>
              <a:gd name="T91" fmla="*/ 56 h 63"/>
              <a:gd name="T92" fmla="*/ 79 w 85"/>
              <a:gd name="T93" fmla="*/ 49 h 63"/>
              <a:gd name="T94" fmla="*/ 80 w 85"/>
              <a:gd name="T95" fmla="*/ 49 h 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</a:cxnLst>
            <a:rect l="0" t="0" r="r" b="b"/>
            <a:pathLst>
              <a:path w="85" h="63">
                <a:moveTo>
                  <a:pt x="16" y="0"/>
                </a:moveTo>
                <a:cubicBezTo>
                  <a:pt x="1" y="0"/>
                  <a:pt x="1" y="0"/>
                  <a:pt x="1" y="0"/>
                </a:cubicBezTo>
                <a:cubicBezTo>
                  <a:pt x="1" y="0"/>
                  <a:pt x="0" y="1"/>
                  <a:pt x="0" y="1"/>
                </a:cubicBezTo>
                <a:cubicBezTo>
                  <a:pt x="0" y="62"/>
                  <a:pt x="0" y="62"/>
                  <a:pt x="0" y="62"/>
                </a:cubicBezTo>
                <a:cubicBezTo>
                  <a:pt x="0" y="62"/>
                  <a:pt x="1" y="63"/>
                  <a:pt x="1" y="63"/>
                </a:cubicBezTo>
                <a:cubicBezTo>
                  <a:pt x="16" y="63"/>
                  <a:pt x="16" y="63"/>
                  <a:pt x="16" y="63"/>
                </a:cubicBezTo>
                <a:cubicBezTo>
                  <a:pt x="17" y="63"/>
                  <a:pt x="18" y="62"/>
                  <a:pt x="18" y="62"/>
                </a:cubicBezTo>
                <a:cubicBezTo>
                  <a:pt x="18" y="1"/>
                  <a:pt x="18" y="1"/>
                  <a:pt x="18" y="1"/>
                </a:cubicBezTo>
                <a:cubicBezTo>
                  <a:pt x="18" y="1"/>
                  <a:pt x="17" y="0"/>
                  <a:pt x="16" y="0"/>
                </a:cubicBezTo>
                <a:close/>
                <a:moveTo>
                  <a:pt x="2" y="5"/>
                </a:moveTo>
                <a:cubicBezTo>
                  <a:pt x="2" y="4"/>
                  <a:pt x="3" y="4"/>
                  <a:pt x="3" y="4"/>
                </a:cubicBezTo>
                <a:cubicBezTo>
                  <a:pt x="14" y="4"/>
                  <a:pt x="14" y="4"/>
                  <a:pt x="14" y="4"/>
                </a:cubicBezTo>
                <a:cubicBezTo>
                  <a:pt x="15" y="4"/>
                  <a:pt x="16" y="4"/>
                  <a:pt x="16" y="5"/>
                </a:cubicBezTo>
                <a:cubicBezTo>
                  <a:pt x="16" y="28"/>
                  <a:pt x="16" y="28"/>
                  <a:pt x="16" y="28"/>
                </a:cubicBezTo>
                <a:cubicBezTo>
                  <a:pt x="16" y="28"/>
                  <a:pt x="15" y="29"/>
                  <a:pt x="14" y="29"/>
                </a:cubicBezTo>
                <a:cubicBezTo>
                  <a:pt x="3" y="29"/>
                  <a:pt x="3" y="29"/>
                  <a:pt x="3" y="29"/>
                </a:cubicBezTo>
                <a:cubicBezTo>
                  <a:pt x="3" y="29"/>
                  <a:pt x="2" y="28"/>
                  <a:pt x="2" y="28"/>
                </a:cubicBezTo>
                <a:lnTo>
                  <a:pt x="2" y="5"/>
                </a:lnTo>
                <a:close/>
                <a:moveTo>
                  <a:pt x="16" y="56"/>
                </a:moveTo>
                <a:cubicBezTo>
                  <a:pt x="2" y="56"/>
                  <a:pt x="2" y="56"/>
                  <a:pt x="2" y="56"/>
                </a:cubicBezTo>
                <a:cubicBezTo>
                  <a:pt x="2" y="56"/>
                  <a:pt x="2" y="56"/>
                  <a:pt x="2" y="56"/>
                </a:cubicBezTo>
                <a:cubicBezTo>
                  <a:pt x="2" y="55"/>
                  <a:pt x="2" y="55"/>
                  <a:pt x="2" y="55"/>
                </a:cubicBezTo>
                <a:cubicBezTo>
                  <a:pt x="16" y="55"/>
                  <a:pt x="16" y="55"/>
                  <a:pt x="16" y="55"/>
                </a:cubicBezTo>
                <a:cubicBezTo>
                  <a:pt x="16" y="55"/>
                  <a:pt x="16" y="55"/>
                  <a:pt x="16" y="56"/>
                </a:cubicBezTo>
                <a:cubicBezTo>
                  <a:pt x="16" y="56"/>
                  <a:pt x="16" y="56"/>
                  <a:pt x="16" y="56"/>
                </a:cubicBezTo>
                <a:close/>
                <a:moveTo>
                  <a:pt x="16" y="52"/>
                </a:moveTo>
                <a:cubicBezTo>
                  <a:pt x="2" y="52"/>
                  <a:pt x="2" y="52"/>
                  <a:pt x="2" y="52"/>
                </a:cubicBezTo>
                <a:cubicBezTo>
                  <a:pt x="2" y="52"/>
                  <a:pt x="2" y="52"/>
                  <a:pt x="2" y="52"/>
                </a:cubicBezTo>
                <a:cubicBezTo>
                  <a:pt x="2" y="52"/>
                  <a:pt x="2" y="51"/>
                  <a:pt x="2" y="51"/>
                </a:cubicBezTo>
                <a:cubicBezTo>
                  <a:pt x="16" y="51"/>
                  <a:pt x="16" y="51"/>
                  <a:pt x="16" y="51"/>
                </a:cubicBezTo>
                <a:cubicBezTo>
                  <a:pt x="16" y="51"/>
                  <a:pt x="16" y="52"/>
                  <a:pt x="16" y="52"/>
                </a:cubicBezTo>
                <a:cubicBezTo>
                  <a:pt x="16" y="52"/>
                  <a:pt x="16" y="52"/>
                  <a:pt x="16" y="52"/>
                </a:cubicBezTo>
                <a:close/>
                <a:moveTo>
                  <a:pt x="36" y="0"/>
                </a:moveTo>
                <a:cubicBezTo>
                  <a:pt x="21" y="0"/>
                  <a:pt x="21" y="0"/>
                  <a:pt x="21" y="0"/>
                </a:cubicBezTo>
                <a:cubicBezTo>
                  <a:pt x="20" y="0"/>
                  <a:pt x="19" y="1"/>
                  <a:pt x="19" y="1"/>
                </a:cubicBezTo>
                <a:cubicBezTo>
                  <a:pt x="19" y="62"/>
                  <a:pt x="19" y="62"/>
                  <a:pt x="19" y="62"/>
                </a:cubicBezTo>
                <a:cubicBezTo>
                  <a:pt x="19" y="62"/>
                  <a:pt x="20" y="63"/>
                  <a:pt x="21" y="63"/>
                </a:cubicBezTo>
                <a:cubicBezTo>
                  <a:pt x="36" y="63"/>
                  <a:pt x="36" y="63"/>
                  <a:pt x="36" y="63"/>
                </a:cubicBezTo>
                <a:cubicBezTo>
                  <a:pt x="37" y="63"/>
                  <a:pt x="38" y="62"/>
                  <a:pt x="38" y="62"/>
                </a:cubicBezTo>
                <a:cubicBezTo>
                  <a:pt x="38" y="1"/>
                  <a:pt x="38" y="1"/>
                  <a:pt x="38" y="1"/>
                </a:cubicBezTo>
                <a:cubicBezTo>
                  <a:pt x="38" y="1"/>
                  <a:pt x="37" y="0"/>
                  <a:pt x="36" y="0"/>
                </a:cubicBezTo>
                <a:close/>
                <a:moveTo>
                  <a:pt x="22" y="5"/>
                </a:moveTo>
                <a:cubicBezTo>
                  <a:pt x="22" y="4"/>
                  <a:pt x="22" y="4"/>
                  <a:pt x="23" y="4"/>
                </a:cubicBezTo>
                <a:cubicBezTo>
                  <a:pt x="34" y="4"/>
                  <a:pt x="34" y="4"/>
                  <a:pt x="34" y="4"/>
                </a:cubicBezTo>
                <a:cubicBezTo>
                  <a:pt x="35" y="4"/>
                  <a:pt x="35" y="4"/>
                  <a:pt x="35" y="5"/>
                </a:cubicBezTo>
                <a:cubicBezTo>
                  <a:pt x="35" y="28"/>
                  <a:pt x="35" y="28"/>
                  <a:pt x="35" y="28"/>
                </a:cubicBezTo>
                <a:cubicBezTo>
                  <a:pt x="35" y="28"/>
                  <a:pt x="35" y="29"/>
                  <a:pt x="34" y="29"/>
                </a:cubicBezTo>
                <a:cubicBezTo>
                  <a:pt x="23" y="29"/>
                  <a:pt x="23" y="29"/>
                  <a:pt x="23" y="29"/>
                </a:cubicBezTo>
                <a:cubicBezTo>
                  <a:pt x="22" y="29"/>
                  <a:pt x="22" y="28"/>
                  <a:pt x="22" y="28"/>
                </a:cubicBezTo>
                <a:lnTo>
                  <a:pt x="22" y="5"/>
                </a:lnTo>
                <a:close/>
                <a:moveTo>
                  <a:pt x="35" y="56"/>
                </a:moveTo>
                <a:cubicBezTo>
                  <a:pt x="22" y="56"/>
                  <a:pt x="22" y="56"/>
                  <a:pt x="22" y="56"/>
                </a:cubicBezTo>
                <a:cubicBezTo>
                  <a:pt x="22" y="56"/>
                  <a:pt x="21" y="56"/>
                  <a:pt x="21" y="56"/>
                </a:cubicBezTo>
                <a:cubicBezTo>
                  <a:pt x="21" y="55"/>
                  <a:pt x="22" y="55"/>
                  <a:pt x="22" y="55"/>
                </a:cubicBezTo>
                <a:cubicBezTo>
                  <a:pt x="35" y="55"/>
                  <a:pt x="35" y="55"/>
                  <a:pt x="35" y="55"/>
                </a:cubicBezTo>
                <a:cubicBezTo>
                  <a:pt x="35" y="55"/>
                  <a:pt x="36" y="55"/>
                  <a:pt x="36" y="56"/>
                </a:cubicBezTo>
                <a:cubicBezTo>
                  <a:pt x="36" y="56"/>
                  <a:pt x="35" y="56"/>
                  <a:pt x="35" y="56"/>
                </a:cubicBezTo>
                <a:close/>
                <a:moveTo>
                  <a:pt x="35" y="52"/>
                </a:moveTo>
                <a:cubicBezTo>
                  <a:pt x="22" y="52"/>
                  <a:pt x="22" y="52"/>
                  <a:pt x="22" y="52"/>
                </a:cubicBezTo>
                <a:cubicBezTo>
                  <a:pt x="22" y="52"/>
                  <a:pt x="21" y="52"/>
                  <a:pt x="21" y="52"/>
                </a:cubicBezTo>
                <a:cubicBezTo>
                  <a:pt x="21" y="52"/>
                  <a:pt x="22" y="51"/>
                  <a:pt x="22" y="51"/>
                </a:cubicBezTo>
                <a:cubicBezTo>
                  <a:pt x="35" y="51"/>
                  <a:pt x="35" y="51"/>
                  <a:pt x="35" y="51"/>
                </a:cubicBezTo>
                <a:cubicBezTo>
                  <a:pt x="35" y="51"/>
                  <a:pt x="36" y="52"/>
                  <a:pt x="36" y="52"/>
                </a:cubicBezTo>
                <a:cubicBezTo>
                  <a:pt x="36" y="52"/>
                  <a:pt x="35" y="52"/>
                  <a:pt x="35" y="52"/>
                </a:cubicBezTo>
                <a:close/>
                <a:moveTo>
                  <a:pt x="85" y="53"/>
                </a:moveTo>
                <a:cubicBezTo>
                  <a:pt x="53" y="1"/>
                  <a:pt x="53" y="1"/>
                  <a:pt x="53" y="1"/>
                </a:cubicBezTo>
                <a:cubicBezTo>
                  <a:pt x="53" y="1"/>
                  <a:pt x="52" y="1"/>
                  <a:pt x="51" y="1"/>
                </a:cubicBezTo>
                <a:cubicBezTo>
                  <a:pt x="38" y="9"/>
                  <a:pt x="38" y="9"/>
                  <a:pt x="38" y="9"/>
                </a:cubicBezTo>
                <a:cubicBezTo>
                  <a:pt x="38" y="10"/>
                  <a:pt x="37" y="10"/>
                  <a:pt x="38" y="11"/>
                </a:cubicBezTo>
                <a:cubicBezTo>
                  <a:pt x="69" y="62"/>
                  <a:pt x="69" y="62"/>
                  <a:pt x="69" y="62"/>
                </a:cubicBezTo>
                <a:cubicBezTo>
                  <a:pt x="70" y="63"/>
                  <a:pt x="70" y="63"/>
                  <a:pt x="71" y="62"/>
                </a:cubicBezTo>
                <a:cubicBezTo>
                  <a:pt x="84" y="55"/>
                  <a:pt x="84" y="55"/>
                  <a:pt x="84" y="55"/>
                </a:cubicBezTo>
                <a:cubicBezTo>
                  <a:pt x="85" y="54"/>
                  <a:pt x="85" y="53"/>
                  <a:pt x="85" y="53"/>
                </a:cubicBezTo>
                <a:close/>
                <a:moveTo>
                  <a:pt x="64" y="27"/>
                </a:moveTo>
                <a:cubicBezTo>
                  <a:pt x="55" y="32"/>
                  <a:pt x="55" y="32"/>
                  <a:pt x="55" y="32"/>
                </a:cubicBezTo>
                <a:cubicBezTo>
                  <a:pt x="54" y="33"/>
                  <a:pt x="54" y="33"/>
                  <a:pt x="53" y="32"/>
                </a:cubicBezTo>
                <a:cubicBezTo>
                  <a:pt x="42" y="13"/>
                  <a:pt x="42" y="13"/>
                  <a:pt x="42" y="13"/>
                </a:cubicBezTo>
                <a:cubicBezTo>
                  <a:pt x="41" y="12"/>
                  <a:pt x="41" y="11"/>
                  <a:pt x="42" y="11"/>
                </a:cubicBezTo>
                <a:cubicBezTo>
                  <a:pt x="51" y="5"/>
                  <a:pt x="51" y="5"/>
                  <a:pt x="51" y="5"/>
                </a:cubicBezTo>
                <a:cubicBezTo>
                  <a:pt x="52" y="5"/>
                  <a:pt x="53" y="5"/>
                  <a:pt x="53" y="6"/>
                </a:cubicBezTo>
                <a:cubicBezTo>
                  <a:pt x="65" y="25"/>
                  <a:pt x="65" y="25"/>
                  <a:pt x="65" y="25"/>
                </a:cubicBezTo>
                <a:cubicBezTo>
                  <a:pt x="65" y="26"/>
                  <a:pt x="65" y="26"/>
                  <a:pt x="64" y="27"/>
                </a:cubicBezTo>
                <a:close/>
                <a:moveTo>
                  <a:pt x="66" y="53"/>
                </a:moveTo>
                <a:cubicBezTo>
                  <a:pt x="66" y="53"/>
                  <a:pt x="66" y="53"/>
                  <a:pt x="66" y="52"/>
                </a:cubicBezTo>
                <a:cubicBezTo>
                  <a:pt x="77" y="45"/>
                  <a:pt x="77" y="45"/>
                  <a:pt x="77" y="45"/>
                </a:cubicBezTo>
                <a:cubicBezTo>
                  <a:pt x="78" y="45"/>
                  <a:pt x="78" y="45"/>
                  <a:pt x="78" y="46"/>
                </a:cubicBezTo>
                <a:cubicBezTo>
                  <a:pt x="78" y="46"/>
                  <a:pt x="78" y="46"/>
                  <a:pt x="78" y="46"/>
                </a:cubicBezTo>
                <a:cubicBezTo>
                  <a:pt x="66" y="53"/>
                  <a:pt x="66" y="53"/>
                  <a:pt x="66" y="53"/>
                </a:cubicBezTo>
                <a:cubicBezTo>
                  <a:pt x="66" y="53"/>
                  <a:pt x="66" y="53"/>
                  <a:pt x="66" y="53"/>
                </a:cubicBezTo>
                <a:close/>
                <a:moveTo>
                  <a:pt x="80" y="49"/>
                </a:moveTo>
                <a:cubicBezTo>
                  <a:pt x="68" y="56"/>
                  <a:pt x="68" y="56"/>
                  <a:pt x="68" y="56"/>
                </a:cubicBezTo>
                <a:cubicBezTo>
                  <a:pt x="68" y="56"/>
                  <a:pt x="68" y="56"/>
                  <a:pt x="68" y="56"/>
                </a:cubicBezTo>
                <a:cubicBezTo>
                  <a:pt x="68" y="56"/>
                  <a:pt x="68" y="56"/>
                  <a:pt x="68" y="56"/>
                </a:cubicBezTo>
                <a:cubicBezTo>
                  <a:pt x="79" y="49"/>
                  <a:pt x="79" y="49"/>
                  <a:pt x="79" y="49"/>
                </a:cubicBezTo>
                <a:cubicBezTo>
                  <a:pt x="80" y="48"/>
                  <a:pt x="80" y="49"/>
                  <a:pt x="80" y="49"/>
                </a:cubicBezTo>
                <a:cubicBezTo>
                  <a:pt x="80" y="49"/>
                  <a:pt x="80" y="49"/>
                  <a:pt x="80" y="49"/>
                </a:cubicBezTo>
                <a:close/>
              </a:path>
            </a:pathLst>
          </a:custGeom>
          <a:solidFill>
            <a:schemeClr val="accent2">
              <a:lumMod val="50000"/>
            </a:schemeClr>
          </a:solidFill>
          <a:ln>
            <a:noFill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dirty="0"/>
          </a:p>
        </p:txBody>
      </p:sp>
      <p:grpSp>
        <p:nvGrpSpPr>
          <p:cNvPr id="74" name="组合 73">
            <a:extLst>
              <a:ext uri="{FF2B5EF4-FFF2-40B4-BE49-F238E27FC236}">
                <a16:creationId xmlns:a16="http://schemas.microsoft.com/office/drawing/2014/main" id="{3D44ABC1-E21D-46A6-AF90-9746A111A621}"/>
              </a:ext>
            </a:extLst>
          </p:cNvPr>
          <p:cNvGrpSpPr/>
          <p:nvPr/>
        </p:nvGrpSpPr>
        <p:grpSpPr>
          <a:xfrm>
            <a:off x="-17094" y="-399144"/>
            <a:ext cx="863598" cy="7656288"/>
            <a:chOff x="-11273" y="-594773"/>
            <a:chExt cx="719786" cy="7462505"/>
          </a:xfrm>
        </p:grpSpPr>
        <p:sp>
          <p:nvSpPr>
            <p:cNvPr id="75" name="等腰三角形 74">
              <a:extLst>
                <a:ext uri="{FF2B5EF4-FFF2-40B4-BE49-F238E27FC236}">
                  <a16:creationId xmlns:a16="http://schemas.microsoft.com/office/drawing/2014/main" id="{9D978FFE-21AB-4973-AC5C-6DDD0B0417D6}"/>
                </a:ext>
              </a:extLst>
            </p:cNvPr>
            <p:cNvSpPr/>
            <p:nvPr/>
          </p:nvSpPr>
          <p:spPr>
            <a:xfrm rot="5400000">
              <a:off x="-68856" y="2776017"/>
              <a:ext cx="834952" cy="719786"/>
            </a:xfrm>
            <a:prstGeom prst="triangl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76" name="等腰三角形 75">
              <a:extLst>
                <a:ext uri="{FF2B5EF4-FFF2-40B4-BE49-F238E27FC236}">
                  <a16:creationId xmlns:a16="http://schemas.microsoft.com/office/drawing/2014/main" id="{5920837E-20BF-4C1A-AB52-C42C213E6CEF}"/>
                </a:ext>
              </a:extLst>
            </p:cNvPr>
            <p:cNvSpPr/>
            <p:nvPr/>
          </p:nvSpPr>
          <p:spPr>
            <a:xfrm rot="5400000">
              <a:off x="-68856" y="1958050"/>
              <a:ext cx="834952" cy="719786"/>
            </a:xfrm>
            <a:prstGeom prst="triangl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77" name="等腰三角形 76">
              <a:extLst>
                <a:ext uri="{FF2B5EF4-FFF2-40B4-BE49-F238E27FC236}">
                  <a16:creationId xmlns:a16="http://schemas.microsoft.com/office/drawing/2014/main" id="{2E2B046E-4F44-45B0-81C6-0C98BE11AEBD}"/>
                </a:ext>
              </a:extLst>
            </p:cNvPr>
            <p:cNvSpPr/>
            <p:nvPr/>
          </p:nvSpPr>
          <p:spPr>
            <a:xfrm rot="5400000">
              <a:off x="-68856" y="1114606"/>
              <a:ext cx="834952" cy="71978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78" name="等腰三角形 77">
              <a:extLst>
                <a:ext uri="{FF2B5EF4-FFF2-40B4-BE49-F238E27FC236}">
                  <a16:creationId xmlns:a16="http://schemas.microsoft.com/office/drawing/2014/main" id="{54F5B9E1-B9C4-4E6A-BAC8-B698C4D76C19}"/>
                </a:ext>
              </a:extLst>
            </p:cNvPr>
            <p:cNvSpPr/>
            <p:nvPr/>
          </p:nvSpPr>
          <p:spPr>
            <a:xfrm rot="5400000">
              <a:off x="-68856" y="296639"/>
              <a:ext cx="834952" cy="719786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79" name="等腰三角形 78">
              <a:extLst>
                <a:ext uri="{FF2B5EF4-FFF2-40B4-BE49-F238E27FC236}">
                  <a16:creationId xmlns:a16="http://schemas.microsoft.com/office/drawing/2014/main" id="{A05BE209-FBDF-4191-8712-F6215DE4CD3A}"/>
                </a:ext>
              </a:extLst>
            </p:cNvPr>
            <p:cNvSpPr/>
            <p:nvPr/>
          </p:nvSpPr>
          <p:spPr>
            <a:xfrm rot="5400000">
              <a:off x="-68856" y="3610969"/>
              <a:ext cx="834952" cy="719786"/>
            </a:xfrm>
            <a:prstGeom prst="triangl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80" name="等腰三角形 79">
              <a:extLst>
                <a:ext uri="{FF2B5EF4-FFF2-40B4-BE49-F238E27FC236}">
                  <a16:creationId xmlns:a16="http://schemas.microsoft.com/office/drawing/2014/main" id="{7315F6CE-D3BC-4B15-B5E6-653ED8A8DBA5}"/>
                </a:ext>
              </a:extLst>
            </p:cNvPr>
            <p:cNvSpPr/>
            <p:nvPr/>
          </p:nvSpPr>
          <p:spPr>
            <a:xfrm rot="5400000">
              <a:off x="-68856" y="4443673"/>
              <a:ext cx="834952" cy="719786"/>
            </a:xfrm>
            <a:prstGeom prst="triangle">
              <a:avLst/>
            </a:prstGeom>
            <a:solidFill>
              <a:srgbClr val="94CA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81" name="等腰三角形 80">
              <a:extLst>
                <a:ext uri="{FF2B5EF4-FFF2-40B4-BE49-F238E27FC236}">
                  <a16:creationId xmlns:a16="http://schemas.microsoft.com/office/drawing/2014/main" id="{8A69D79C-1A42-4021-82FC-6331F9AA87D6}"/>
                </a:ext>
              </a:extLst>
            </p:cNvPr>
            <p:cNvSpPr/>
            <p:nvPr/>
          </p:nvSpPr>
          <p:spPr>
            <a:xfrm rot="5400000">
              <a:off x="-68856" y="5264883"/>
              <a:ext cx="834952" cy="719786"/>
            </a:xfrm>
            <a:prstGeom prst="triangl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82" name="等腰三角形 81">
              <a:extLst>
                <a:ext uri="{FF2B5EF4-FFF2-40B4-BE49-F238E27FC236}">
                  <a16:creationId xmlns:a16="http://schemas.microsoft.com/office/drawing/2014/main" id="{ABB0925A-C905-4AEB-A7B9-2A4A52B649B8}"/>
                </a:ext>
              </a:extLst>
            </p:cNvPr>
            <p:cNvSpPr/>
            <p:nvPr/>
          </p:nvSpPr>
          <p:spPr>
            <a:xfrm rot="5400000">
              <a:off x="-68856" y="6090363"/>
              <a:ext cx="834952" cy="719786"/>
            </a:xfrm>
            <a:prstGeom prst="triangl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83" name="等腰三角形 82">
              <a:extLst>
                <a:ext uri="{FF2B5EF4-FFF2-40B4-BE49-F238E27FC236}">
                  <a16:creationId xmlns:a16="http://schemas.microsoft.com/office/drawing/2014/main" id="{8AAF126E-DD1E-4E03-AA7D-C0E9D162295B}"/>
                </a:ext>
              </a:extLst>
            </p:cNvPr>
            <p:cNvSpPr/>
            <p:nvPr/>
          </p:nvSpPr>
          <p:spPr>
            <a:xfrm rot="5400000">
              <a:off x="-68856" y="-537190"/>
              <a:ext cx="834952" cy="719786"/>
            </a:xfrm>
            <a:prstGeom prst="triangl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</p:grpSp>
      <p:sp>
        <p:nvSpPr>
          <p:cNvPr id="95" name="TextBox 1">
            <a:extLst>
              <a:ext uri="{FF2B5EF4-FFF2-40B4-BE49-F238E27FC236}">
                <a16:creationId xmlns:a16="http://schemas.microsoft.com/office/drawing/2014/main" id="{9CD66783-D6B8-4855-929A-848959D1A623}"/>
              </a:ext>
            </a:extLst>
          </p:cNvPr>
          <p:cNvSpPr txBox="1"/>
          <p:nvPr/>
        </p:nvSpPr>
        <p:spPr>
          <a:xfrm>
            <a:off x="3996625" y="2538434"/>
            <a:ext cx="364715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5400" b="1" dirty="0">
                <a:ln w="12700">
                  <a:noFill/>
                  <a:prstDash val="solid"/>
                </a:ln>
                <a:solidFill>
                  <a:prstClr val="white"/>
                </a:solidFill>
                <a:effectLst>
                  <a:outerShdw dist="50800" dir="4800000" algn="tl" rotWithShape="0">
                    <a:srgbClr val="000000">
                      <a:alpha val="40000"/>
                    </a:srgbClr>
                  </a:outerShdw>
                </a:effectLst>
                <a:latin typeface="造字工房尚黑（非商用）细体" pitchFamily="50" charset="-122"/>
                <a:ea typeface="造字工房尚黑（非商用）细体" pitchFamily="50" charset="-122"/>
              </a:rPr>
              <a:t>文件与异常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774CA0B-BB91-4218-8868-5072915B00A5}"/>
              </a:ext>
            </a:extLst>
          </p:cNvPr>
          <p:cNvSpPr txBox="1"/>
          <p:nvPr/>
        </p:nvSpPr>
        <p:spPr>
          <a:xfrm>
            <a:off x="5493870" y="3844958"/>
            <a:ext cx="42126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chemeClr val="bg1">
                    <a:lumMod val="95000"/>
                  </a:schemeClr>
                </a:solidFill>
              </a:rPr>
              <a:t>南京工业大学     计算机科学与技术学院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9F6AF580-37DC-47FB-84B1-37A2A0644A1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59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39720" y="384590"/>
            <a:ext cx="828675" cy="1000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05387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8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8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8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8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800" tmFilter="0,0; .5, 1; 1, 1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" grpId="0" animBg="1"/>
      <p:bldP spid="9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81968" y="245839"/>
            <a:ext cx="62549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300" normalizeH="0" baseline="0" noProof="0" dirty="0">
                <a:ln>
                  <a:noFill/>
                </a:ln>
                <a:solidFill>
                  <a:srgbClr val="1E6787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程序流程控制</a:t>
            </a:r>
          </a:p>
        </p:txBody>
      </p:sp>
      <p:grpSp>
        <p:nvGrpSpPr>
          <p:cNvPr id="56" name="组合 55">
            <a:extLst>
              <a:ext uri="{FF2B5EF4-FFF2-40B4-BE49-F238E27FC236}">
                <a16:creationId xmlns:a16="http://schemas.microsoft.com/office/drawing/2014/main" id="{B3ECA4EB-10D1-4B65-B604-4032302CDAF4}"/>
              </a:ext>
            </a:extLst>
          </p:cNvPr>
          <p:cNvGrpSpPr/>
          <p:nvPr/>
        </p:nvGrpSpPr>
        <p:grpSpPr>
          <a:xfrm>
            <a:off x="170320" y="203448"/>
            <a:ext cx="504056" cy="504056"/>
            <a:chOff x="11207774" y="442662"/>
            <a:chExt cx="504056" cy="504056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57" name="椭圆 56">
              <a:extLst>
                <a:ext uri="{FF2B5EF4-FFF2-40B4-BE49-F238E27FC236}">
                  <a16:creationId xmlns:a16="http://schemas.microsoft.com/office/drawing/2014/main" id="{FF372EA1-AB4F-47B1-B450-59AB8827ECD5}"/>
                </a:ext>
              </a:extLst>
            </p:cNvPr>
            <p:cNvSpPr/>
            <p:nvPr/>
          </p:nvSpPr>
          <p:spPr>
            <a:xfrm>
              <a:off x="11351790" y="601230"/>
              <a:ext cx="216024" cy="216024"/>
            </a:xfrm>
            <a:prstGeom prst="ellipse">
              <a:avLst/>
            </a:prstGeom>
            <a:solidFill>
              <a:srgbClr val="B3DF63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微软雅黑"/>
                <a:cs typeface="+mn-cs"/>
              </a:endParaRPr>
            </a:p>
          </p:txBody>
        </p:sp>
        <p:sp>
          <p:nvSpPr>
            <p:cNvPr id="58" name="椭圆 57">
              <a:extLst>
                <a:ext uri="{FF2B5EF4-FFF2-40B4-BE49-F238E27FC236}">
                  <a16:creationId xmlns:a16="http://schemas.microsoft.com/office/drawing/2014/main" id="{0BEE7D95-9E9C-4C6D-91AA-6429F74B9F98}"/>
                </a:ext>
              </a:extLst>
            </p:cNvPr>
            <p:cNvSpPr/>
            <p:nvPr/>
          </p:nvSpPr>
          <p:spPr>
            <a:xfrm>
              <a:off x="11207774" y="442662"/>
              <a:ext cx="504056" cy="504056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微软雅黑"/>
                <a:cs typeface="+mn-cs"/>
              </a:endParaRPr>
            </a:p>
          </p:txBody>
        </p:sp>
      </p:grp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C4FBB3C1-88AA-4E76-B54C-31018E3BFAA0}"/>
              </a:ext>
            </a:extLst>
          </p:cNvPr>
          <p:cNvCxnSpPr/>
          <p:nvPr/>
        </p:nvCxnSpPr>
        <p:spPr>
          <a:xfrm>
            <a:off x="776097" y="707504"/>
            <a:ext cx="1647495" cy="0"/>
          </a:xfrm>
          <a:prstGeom prst="line">
            <a:avLst/>
          </a:prstGeom>
          <a:ln>
            <a:solidFill>
              <a:srgbClr val="B3DF6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组合 5">
            <a:extLst>
              <a:ext uri="{FF2B5EF4-FFF2-40B4-BE49-F238E27FC236}">
                <a16:creationId xmlns:a16="http://schemas.microsoft.com/office/drawing/2014/main" id="{B8D97126-B16B-47C5-9313-C5740A7E571D}"/>
              </a:ext>
            </a:extLst>
          </p:cNvPr>
          <p:cNvGrpSpPr/>
          <p:nvPr/>
        </p:nvGrpSpPr>
        <p:grpSpPr>
          <a:xfrm>
            <a:off x="1908935" y="1619278"/>
            <a:ext cx="7889000" cy="1149470"/>
            <a:chOff x="1908935" y="1619278"/>
            <a:chExt cx="7889000" cy="1149470"/>
          </a:xfrm>
        </p:grpSpPr>
        <p:sp>
          <p:nvSpPr>
            <p:cNvPr id="9" name="椭圆 8">
              <a:extLst>
                <a:ext uri="{FF2B5EF4-FFF2-40B4-BE49-F238E27FC236}">
                  <a16:creationId xmlns:a16="http://schemas.microsoft.com/office/drawing/2014/main" id="{4F2A0BB7-159C-4E8B-B99A-E844EB2704C8}"/>
                </a:ext>
              </a:extLst>
            </p:cNvPr>
            <p:cNvSpPr/>
            <p:nvPr/>
          </p:nvSpPr>
          <p:spPr>
            <a:xfrm>
              <a:off x="1908935" y="1619278"/>
              <a:ext cx="1149560" cy="1149470"/>
            </a:xfrm>
            <a:prstGeom prst="ellipse">
              <a:avLst/>
            </a:prstGeom>
            <a:solidFill>
              <a:srgbClr val="1E6787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00" tIns="45699" rIns="91400" bIns="45699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36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Impact MT Std" pitchFamily="34" charset="0"/>
                  <a:ea typeface="微软雅黑" panose="020B0503020204020204" pitchFamily="34" charset="-122"/>
                  <a:cs typeface="+mn-cs"/>
                </a:rPr>
                <a:t>1</a:t>
              </a:r>
              <a:endPara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Impact MT Std" pitchFamily="34" charset="0"/>
                <a:ea typeface="微软雅黑" panose="020B0503020204020204" pitchFamily="34" charset="-122"/>
                <a:cs typeface="+mn-cs"/>
              </a:endParaRPr>
            </a:p>
          </p:txBody>
        </p:sp>
        <p:cxnSp>
          <p:nvCxnSpPr>
            <p:cNvPr id="10" name="直接连接符 9">
              <a:extLst>
                <a:ext uri="{FF2B5EF4-FFF2-40B4-BE49-F238E27FC236}">
                  <a16:creationId xmlns:a16="http://schemas.microsoft.com/office/drawing/2014/main" id="{BADF11BB-395B-4DEA-9578-2BEC6AFACF03}"/>
                </a:ext>
              </a:extLst>
            </p:cNvPr>
            <p:cNvCxnSpPr/>
            <p:nvPr/>
          </p:nvCxnSpPr>
          <p:spPr>
            <a:xfrm>
              <a:off x="3221461" y="2194013"/>
              <a:ext cx="1006860" cy="0"/>
            </a:xfrm>
            <a:prstGeom prst="line">
              <a:avLst/>
            </a:prstGeom>
            <a:ln w="38100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3" name="文本框 2">
              <a:extLst>
                <a:ext uri="{FF2B5EF4-FFF2-40B4-BE49-F238E27FC236}">
                  <a16:creationId xmlns:a16="http://schemas.microsoft.com/office/drawing/2014/main" id="{C2D18244-5218-4AD9-84A5-ACEB087E6A27}"/>
                </a:ext>
              </a:extLst>
            </p:cNvPr>
            <p:cNvSpPr txBox="1"/>
            <p:nvPr/>
          </p:nvSpPr>
          <p:spPr>
            <a:xfrm>
              <a:off x="4562061" y="1804019"/>
              <a:ext cx="5235874" cy="646331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3600" spc="600" dirty="0">
                  <a:solidFill>
                    <a:prstClr val="black"/>
                  </a:solidFill>
                  <a:latin typeface="Calibri"/>
                  <a:ea typeface="微软雅黑"/>
                </a:rPr>
                <a:t>文件及文件基本操作</a:t>
              </a:r>
              <a:endParaRPr kumimoji="0" lang="zh-CN" altLang="en-US" sz="3600" b="0" i="0" u="none" strike="noStrike" kern="1200" cap="none" spc="6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软雅黑"/>
                <a:cs typeface="+mn-cs"/>
              </a:endParaRPr>
            </a:p>
          </p:txBody>
        </p:sp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E0882916-F2D4-4840-AC5F-E12E306AE0FB}"/>
              </a:ext>
            </a:extLst>
          </p:cNvPr>
          <p:cNvGrpSpPr/>
          <p:nvPr/>
        </p:nvGrpSpPr>
        <p:grpSpPr>
          <a:xfrm>
            <a:off x="1921631" y="2972130"/>
            <a:ext cx="7876305" cy="1149470"/>
            <a:chOff x="1921631" y="2972130"/>
            <a:chExt cx="6610340" cy="1149470"/>
          </a:xfrm>
        </p:grpSpPr>
        <p:sp>
          <p:nvSpPr>
            <p:cNvPr id="12" name="椭圆 11">
              <a:extLst>
                <a:ext uri="{FF2B5EF4-FFF2-40B4-BE49-F238E27FC236}">
                  <a16:creationId xmlns:a16="http://schemas.microsoft.com/office/drawing/2014/main" id="{31485000-8B22-41F5-A4AF-5605D3A5A726}"/>
                </a:ext>
              </a:extLst>
            </p:cNvPr>
            <p:cNvSpPr/>
            <p:nvPr/>
          </p:nvSpPr>
          <p:spPr>
            <a:xfrm>
              <a:off x="1921631" y="2972130"/>
              <a:ext cx="1149560" cy="1149470"/>
            </a:xfrm>
            <a:prstGeom prst="ellipse">
              <a:avLst/>
            </a:prstGeom>
            <a:solidFill>
              <a:srgbClr val="B3DF63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00" tIns="45699" rIns="91400" bIns="45699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36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Impact MT Std" pitchFamily="34" charset="0"/>
                  <a:ea typeface="微软雅黑" panose="020B0503020204020204" pitchFamily="34" charset="-122"/>
                  <a:cs typeface="+mn-cs"/>
                </a:rPr>
                <a:t>2</a:t>
              </a:r>
              <a:endPara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Impact MT Std" pitchFamily="34" charset="0"/>
                <a:ea typeface="微软雅黑" panose="020B0503020204020204" pitchFamily="34" charset="-122"/>
                <a:cs typeface="+mn-cs"/>
              </a:endParaRPr>
            </a:p>
          </p:txBody>
        </p:sp>
        <p:cxnSp>
          <p:nvCxnSpPr>
            <p:cNvPr id="13" name="直接连接符 12">
              <a:extLst>
                <a:ext uri="{FF2B5EF4-FFF2-40B4-BE49-F238E27FC236}">
                  <a16:creationId xmlns:a16="http://schemas.microsoft.com/office/drawing/2014/main" id="{185EE8C7-2D6E-43EC-BB42-5AC882B410DD}"/>
                </a:ext>
              </a:extLst>
            </p:cNvPr>
            <p:cNvCxnSpPr/>
            <p:nvPr/>
          </p:nvCxnSpPr>
          <p:spPr>
            <a:xfrm>
              <a:off x="3221461" y="3546865"/>
              <a:ext cx="1006860" cy="0"/>
            </a:xfrm>
            <a:prstGeom prst="line">
              <a:avLst/>
            </a:prstGeom>
            <a:ln w="38100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FDE7EECC-2D33-4E1A-BD00-09CC33CECA6C}"/>
                </a:ext>
              </a:extLst>
            </p:cNvPr>
            <p:cNvSpPr txBox="1"/>
            <p:nvPr/>
          </p:nvSpPr>
          <p:spPr>
            <a:xfrm>
              <a:off x="4192515" y="3223699"/>
              <a:ext cx="4339456" cy="646331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zh-CN" sz="3600" spc="600" dirty="0">
                  <a:solidFill>
                    <a:prstClr val="black"/>
                  </a:solidFill>
                  <a:latin typeface="Calibri"/>
                  <a:ea typeface="微软雅黑"/>
                </a:rPr>
                <a:t>CSV</a:t>
              </a:r>
              <a:r>
                <a:rPr lang="zh-CN" altLang="en-US" sz="3600" spc="600" dirty="0">
                  <a:solidFill>
                    <a:prstClr val="black"/>
                  </a:solidFill>
                  <a:latin typeface="Calibri"/>
                  <a:ea typeface="微软雅黑"/>
                </a:rPr>
                <a:t>文件操作</a:t>
              </a:r>
              <a:endParaRPr kumimoji="0" lang="zh-CN" altLang="en-US" sz="3600" b="0" i="0" u="none" strike="noStrike" kern="1200" cap="none" spc="6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软雅黑"/>
                <a:cs typeface="+mn-cs"/>
              </a:endParaRPr>
            </a:p>
          </p:txBody>
        </p:sp>
      </p:grpSp>
      <p:grpSp>
        <p:nvGrpSpPr>
          <p:cNvPr id="8" name="组合 7">
            <a:extLst>
              <a:ext uri="{FF2B5EF4-FFF2-40B4-BE49-F238E27FC236}">
                <a16:creationId xmlns:a16="http://schemas.microsoft.com/office/drawing/2014/main" id="{CBF52373-CB1B-4463-9F77-41BF82BE8AF1}"/>
              </a:ext>
            </a:extLst>
          </p:cNvPr>
          <p:cNvGrpSpPr/>
          <p:nvPr/>
        </p:nvGrpSpPr>
        <p:grpSpPr>
          <a:xfrm>
            <a:off x="1921631" y="4324982"/>
            <a:ext cx="7876304" cy="1149470"/>
            <a:chOff x="1921631" y="4324982"/>
            <a:chExt cx="6042050" cy="1149470"/>
          </a:xfrm>
        </p:grpSpPr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BE069451-7BAF-480B-A2E5-83CB4BDB524E}"/>
                </a:ext>
              </a:extLst>
            </p:cNvPr>
            <p:cNvSpPr/>
            <p:nvPr/>
          </p:nvSpPr>
          <p:spPr>
            <a:xfrm>
              <a:off x="1921631" y="4324982"/>
              <a:ext cx="1149560" cy="1149470"/>
            </a:xfrm>
            <a:prstGeom prst="ellipse">
              <a:avLst/>
            </a:prstGeom>
            <a:solidFill>
              <a:srgbClr val="1E6787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00" tIns="45699" rIns="91400" bIns="45699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36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Impact MT Std" pitchFamily="34" charset="0"/>
                  <a:ea typeface="微软雅黑" panose="020B0503020204020204" pitchFamily="34" charset="-122"/>
                  <a:cs typeface="+mn-cs"/>
                </a:rPr>
                <a:t>3</a:t>
              </a:r>
              <a:endPara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Impact MT Std" pitchFamily="34" charset="0"/>
                <a:ea typeface="微软雅黑" panose="020B0503020204020204" pitchFamily="34" charset="-122"/>
                <a:cs typeface="+mn-cs"/>
              </a:endParaRPr>
            </a:p>
          </p:txBody>
        </p:sp>
        <p:cxnSp>
          <p:nvCxnSpPr>
            <p:cNvPr id="15" name="直接连接符 14">
              <a:extLst>
                <a:ext uri="{FF2B5EF4-FFF2-40B4-BE49-F238E27FC236}">
                  <a16:creationId xmlns:a16="http://schemas.microsoft.com/office/drawing/2014/main" id="{687E6291-9804-4CCA-B93F-9CAE522E559F}"/>
                </a:ext>
              </a:extLst>
            </p:cNvPr>
            <p:cNvCxnSpPr/>
            <p:nvPr/>
          </p:nvCxnSpPr>
          <p:spPr>
            <a:xfrm>
              <a:off x="3221461" y="4926095"/>
              <a:ext cx="1006860" cy="0"/>
            </a:xfrm>
            <a:prstGeom prst="line">
              <a:avLst/>
            </a:prstGeom>
            <a:ln w="38100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2C92EFF7-C741-4F8B-B13A-3B350F0FBC98}"/>
                </a:ext>
              </a:extLst>
            </p:cNvPr>
            <p:cNvSpPr txBox="1"/>
            <p:nvPr/>
          </p:nvSpPr>
          <p:spPr>
            <a:xfrm>
              <a:off x="3997287" y="4662564"/>
              <a:ext cx="3966394" cy="646331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3600" b="0" i="0" u="none" strike="noStrike" kern="1200" cap="none" spc="6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软雅黑"/>
                  <a:cs typeface="+mn-cs"/>
                </a:rPr>
                <a:t>异常和异常处理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27335631"/>
      </p:ext>
    </p:extLst>
  </p:cSld>
  <p:clrMapOvr>
    <a:masterClrMapping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图片 18">
            <a:extLst>
              <a:ext uri="{FF2B5EF4-FFF2-40B4-BE49-F238E27FC236}">
                <a16:creationId xmlns:a16="http://schemas.microsoft.com/office/drawing/2014/main" id="{F8014AE3-2F6F-4D03-ABA5-98B6F9BB3E23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DFF"/>
              </a:clrFrom>
              <a:clrTo>
                <a:srgbClr val="FFFD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-1" y="0"/>
            <a:ext cx="12192001" cy="6870567"/>
          </a:xfrm>
          <a:prstGeom prst="rect">
            <a:avLst/>
          </a:prstGeom>
        </p:spPr>
      </p:pic>
      <p:sp>
        <p:nvSpPr>
          <p:cNvPr id="10" name="TextBox 1">
            <a:extLst>
              <a:ext uri="{FF2B5EF4-FFF2-40B4-BE49-F238E27FC236}">
                <a16:creationId xmlns:a16="http://schemas.microsoft.com/office/drawing/2014/main" id="{9852CEF3-AF68-464A-8EBB-F8859FB71535}"/>
              </a:ext>
            </a:extLst>
          </p:cNvPr>
          <p:cNvSpPr txBox="1"/>
          <p:nvPr/>
        </p:nvSpPr>
        <p:spPr>
          <a:xfrm>
            <a:off x="3917593" y="2933114"/>
            <a:ext cx="572464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800" b="1" dirty="0">
                <a:ln w="12700">
                  <a:noFill/>
                  <a:prstDash val="solid"/>
                </a:ln>
                <a:solidFill>
                  <a:prstClr val="white"/>
                </a:solidFill>
                <a:effectLst>
                  <a:outerShdw dist="50800" dir="4800000" algn="tl" rotWithShape="0">
                    <a:srgbClr val="000000">
                      <a:alpha val="40000"/>
                    </a:srgbClr>
                  </a:outerShdw>
                </a:effectLst>
                <a:latin typeface="造字工房尚黑（非商用）细体" pitchFamily="50" charset="-122"/>
                <a:ea typeface="造字工房尚黑（非商用）细体" pitchFamily="50" charset="-122"/>
              </a:rPr>
              <a:t>文件及文件基本操作</a:t>
            </a:r>
          </a:p>
        </p:txBody>
      </p:sp>
      <p:grpSp>
        <p:nvGrpSpPr>
          <p:cNvPr id="13" name="Group 5">
            <a:extLst>
              <a:ext uri="{FF2B5EF4-FFF2-40B4-BE49-F238E27FC236}">
                <a16:creationId xmlns:a16="http://schemas.microsoft.com/office/drawing/2014/main" id="{D4E457FC-7ABC-46A4-AA05-460516D34D97}"/>
              </a:ext>
            </a:extLst>
          </p:cNvPr>
          <p:cNvGrpSpPr/>
          <p:nvPr/>
        </p:nvGrpSpPr>
        <p:grpSpPr>
          <a:xfrm>
            <a:off x="8825614" y="4241498"/>
            <a:ext cx="2169488" cy="2175406"/>
            <a:chOff x="5292553" y="3355717"/>
            <a:chExt cx="1711365" cy="2494000"/>
          </a:xfrm>
          <a:solidFill>
            <a:schemeClr val="bg1">
              <a:lumMod val="95000"/>
            </a:schemeClr>
          </a:solidFill>
        </p:grpSpPr>
        <p:sp>
          <p:nvSpPr>
            <p:cNvPr id="14" name="Rectangle 5">
              <a:extLst>
                <a:ext uri="{FF2B5EF4-FFF2-40B4-BE49-F238E27FC236}">
                  <a16:creationId xmlns:a16="http://schemas.microsoft.com/office/drawing/2014/main" id="{92665014-DCFC-4389-9C6A-F93E9F8C55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92553" y="3573075"/>
              <a:ext cx="992082" cy="190188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15" name="Rectangle 6">
              <a:extLst>
                <a:ext uri="{FF2B5EF4-FFF2-40B4-BE49-F238E27FC236}">
                  <a16:creationId xmlns:a16="http://schemas.microsoft.com/office/drawing/2014/main" id="{EF3EFA7A-78BB-47D6-BE99-3EE9E3B71F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02008" y="4624848"/>
              <a:ext cx="804223" cy="291104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16" name="Rectangle 7">
              <a:extLst>
                <a:ext uri="{FF2B5EF4-FFF2-40B4-BE49-F238E27FC236}">
                  <a16:creationId xmlns:a16="http://schemas.microsoft.com/office/drawing/2014/main" id="{058493F4-5F10-4640-8C9D-0CB576F6D1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71873" y="3355717"/>
              <a:ext cx="1124825" cy="219686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17" name="Rectangle 8">
              <a:extLst>
                <a:ext uri="{FF2B5EF4-FFF2-40B4-BE49-F238E27FC236}">
                  <a16:creationId xmlns:a16="http://schemas.microsoft.com/office/drawing/2014/main" id="{0C69EF19-DB4B-4B37-B32F-74A6E48FE6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82601" y="3902993"/>
              <a:ext cx="1127154" cy="78404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20" name="Rectangle 9">
              <a:extLst>
                <a:ext uri="{FF2B5EF4-FFF2-40B4-BE49-F238E27FC236}">
                  <a16:creationId xmlns:a16="http://schemas.microsoft.com/office/drawing/2014/main" id="{C42AAB68-43AB-415D-A741-A21AA5CC8B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92196" y="3981397"/>
              <a:ext cx="1004502" cy="114113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22" name="Rectangle 10">
              <a:extLst>
                <a:ext uri="{FF2B5EF4-FFF2-40B4-BE49-F238E27FC236}">
                  <a16:creationId xmlns:a16="http://schemas.microsoft.com/office/drawing/2014/main" id="{2FF85755-A50E-4545-A1DB-E47E58A521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71873" y="4093379"/>
              <a:ext cx="874864" cy="73746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23" name="Rectangle 11">
              <a:extLst>
                <a:ext uri="{FF2B5EF4-FFF2-40B4-BE49-F238E27FC236}">
                  <a16:creationId xmlns:a16="http://schemas.microsoft.com/office/drawing/2014/main" id="{99E19DCB-AACF-4D06-86E1-5E525529F4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92196" y="4166845"/>
              <a:ext cx="1026238" cy="254619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25" name="Rectangle 12">
              <a:extLst>
                <a:ext uri="{FF2B5EF4-FFF2-40B4-BE49-F238E27FC236}">
                  <a16:creationId xmlns:a16="http://schemas.microsoft.com/office/drawing/2014/main" id="{8DD2322D-625A-4087-B7F3-2B20CA9F94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70460" y="4915952"/>
              <a:ext cx="902034" cy="52011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27" name="Rectangle 13">
              <a:extLst>
                <a:ext uri="{FF2B5EF4-FFF2-40B4-BE49-F238E27FC236}">
                  <a16:creationId xmlns:a16="http://schemas.microsoft.com/office/drawing/2014/main" id="{2FA9C19B-9DE3-4109-88DD-09A4015E9E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90783" y="4967962"/>
              <a:ext cx="693215" cy="141282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28" name="Rectangle 14">
              <a:extLst>
                <a:ext uri="{FF2B5EF4-FFF2-40B4-BE49-F238E27FC236}">
                  <a16:creationId xmlns:a16="http://schemas.microsoft.com/office/drawing/2014/main" id="{E0E32E6A-E28E-48C4-B20A-677FE8EEE9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09771" y="5109245"/>
              <a:ext cx="936966" cy="234436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30" name="Rectangle 16">
              <a:extLst>
                <a:ext uri="{FF2B5EF4-FFF2-40B4-BE49-F238E27FC236}">
                  <a16:creationId xmlns:a16="http://schemas.microsoft.com/office/drawing/2014/main" id="{02F916DA-1539-4D39-AA70-3EC92AD56B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32562" y="5343680"/>
              <a:ext cx="877193" cy="114113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31" name="Rectangle 17">
              <a:extLst>
                <a:ext uri="{FF2B5EF4-FFF2-40B4-BE49-F238E27FC236}">
                  <a16:creationId xmlns:a16="http://schemas.microsoft.com/office/drawing/2014/main" id="{BB3FA358-821C-4D1A-A707-A68DF726EA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40682" y="5458288"/>
              <a:ext cx="823630" cy="166900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32" name="Rectangle 18">
              <a:extLst>
                <a:ext uri="{FF2B5EF4-FFF2-40B4-BE49-F238E27FC236}">
                  <a16:creationId xmlns:a16="http://schemas.microsoft.com/office/drawing/2014/main" id="{02A6F228-49CC-4714-AAC2-E3F6594C69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36304" y="5625188"/>
              <a:ext cx="1110076" cy="224344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33" name="Rectangle 19">
              <a:extLst>
                <a:ext uri="{FF2B5EF4-FFF2-40B4-BE49-F238E27FC236}">
                  <a16:creationId xmlns:a16="http://schemas.microsoft.com/office/drawing/2014/main" id="{BE0167A9-BDDD-4BAB-A716-5F33BC58CA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11944" y="3355717"/>
              <a:ext cx="24841" cy="219686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34" name="Rectangle 20">
              <a:extLst>
                <a:ext uri="{FF2B5EF4-FFF2-40B4-BE49-F238E27FC236}">
                  <a16:creationId xmlns:a16="http://schemas.microsoft.com/office/drawing/2014/main" id="{3C7D64CC-2562-4099-9D5E-6F3D4B2821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36785" y="3575404"/>
              <a:ext cx="776" cy="776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35" name="Rectangle 21">
              <a:extLst>
                <a:ext uri="{FF2B5EF4-FFF2-40B4-BE49-F238E27FC236}">
                  <a16:creationId xmlns:a16="http://schemas.microsoft.com/office/drawing/2014/main" id="{94B094DA-4C85-418A-ABB5-A5E9406311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92196" y="3355717"/>
              <a:ext cx="40366" cy="219686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36" name="Rectangle 22">
              <a:extLst>
                <a:ext uri="{FF2B5EF4-FFF2-40B4-BE49-F238E27FC236}">
                  <a16:creationId xmlns:a16="http://schemas.microsoft.com/office/drawing/2014/main" id="{3E399475-D326-404C-93F7-37D0F271F1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09755" y="4166845"/>
              <a:ext cx="16302" cy="254619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37" name="Rectangle 23">
              <a:extLst>
                <a:ext uri="{FF2B5EF4-FFF2-40B4-BE49-F238E27FC236}">
                  <a16:creationId xmlns:a16="http://schemas.microsoft.com/office/drawing/2014/main" id="{9A2A5F54-B98F-4337-AC05-ED458A97DC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76034" y="4166845"/>
              <a:ext cx="158360" cy="254619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38" name="Freeform 24">
              <a:extLst>
                <a:ext uri="{FF2B5EF4-FFF2-40B4-BE49-F238E27FC236}">
                  <a16:creationId xmlns:a16="http://schemas.microsoft.com/office/drawing/2014/main" id="{6F4F9818-8003-40F2-AEA8-9F26A0CC72EE}"/>
                </a:ext>
              </a:extLst>
            </p:cNvPr>
            <p:cNvSpPr>
              <a:spLocks/>
            </p:cNvSpPr>
            <p:nvPr/>
          </p:nvSpPr>
          <p:spPr bwMode="auto">
            <a:xfrm>
              <a:off x="6455866" y="4793204"/>
              <a:ext cx="548052" cy="1056513"/>
            </a:xfrm>
            <a:custGeom>
              <a:avLst/>
              <a:gdLst>
                <a:gd name="T0" fmla="*/ 393 w 706"/>
                <a:gd name="T1" fmla="*/ 1361 h 1361"/>
                <a:gd name="T2" fmla="*/ 0 w 706"/>
                <a:gd name="T3" fmla="*/ 98 h 1361"/>
                <a:gd name="T4" fmla="*/ 314 w 706"/>
                <a:gd name="T5" fmla="*/ 0 h 1361"/>
                <a:gd name="T6" fmla="*/ 706 w 706"/>
                <a:gd name="T7" fmla="*/ 1263 h 1361"/>
                <a:gd name="T8" fmla="*/ 393 w 706"/>
                <a:gd name="T9" fmla="*/ 1361 h 13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06" h="1361">
                  <a:moveTo>
                    <a:pt x="393" y="1361"/>
                  </a:moveTo>
                  <a:lnTo>
                    <a:pt x="0" y="98"/>
                  </a:lnTo>
                  <a:lnTo>
                    <a:pt x="314" y="0"/>
                  </a:lnTo>
                  <a:lnTo>
                    <a:pt x="706" y="1263"/>
                  </a:lnTo>
                  <a:lnTo>
                    <a:pt x="393" y="1361"/>
                  </a:lnTo>
                  <a:close/>
                </a:path>
              </a:pathLst>
            </a:custGeom>
            <a:solidFill>
              <a:srgbClr val="6BE137"/>
            </a:solidFill>
            <a:ln w="9525">
              <a:solidFill>
                <a:schemeClr val="accent1"/>
              </a:solidFill>
              <a:round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 dirty="0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39" name="Freeform 25">
              <a:extLst>
                <a:ext uri="{FF2B5EF4-FFF2-40B4-BE49-F238E27FC236}">
                  <a16:creationId xmlns:a16="http://schemas.microsoft.com/office/drawing/2014/main" id="{9EF0C857-DA9B-4519-85D9-B60F89BD6791}"/>
                </a:ext>
              </a:extLst>
            </p:cNvPr>
            <p:cNvSpPr>
              <a:spLocks/>
            </p:cNvSpPr>
            <p:nvPr/>
          </p:nvSpPr>
          <p:spPr bwMode="auto">
            <a:xfrm>
              <a:off x="6731444" y="5683594"/>
              <a:ext cx="248409" cy="91601"/>
            </a:xfrm>
            <a:custGeom>
              <a:avLst/>
              <a:gdLst>
                <a:gd name="T0" fmla="*/ 7 w 320"/>
                <a:gd name="T1" fmla="*/ 118 h 118"/>
                <a:gd name="T2" fmla="*/ 0 w 320"/>
                <a:gd name="T3" fmla="*/ 97 h 118"/>
                <a:gd name="T4" fmla="*/ 314 w 320"/>
                <a:gd name="T5" fmla="*/ 0 h 118"/>
                <a:gd name="T6" fmla="*/ 320 w 320"/>
                <a:gd name="T7" fmla="*/ 21 h 118"/>
                <a:gd name="T8" fmla="*/ 7 w 320"/>
                <a:gd name="T9" fmla="*/ 118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0" h="118">
                  <a:moveTo>
                    <a:pt x="7" y="118"/>
                  </a:moveTo>
                  <a:lnTo>
                    <a:pt x="0" y="97"/>
                  </a:lnTo>
                  <a:lnTo>
                    <a:pt x="314" y="0"/>
                  </a:lnTo>
                  <a:lnTo>
                    <a:pt x="320" y="21"/>
                  </a:lnTo>
                  <a:lnTo>
                    <a:pt x="7" y="118"/>
                  </a:lnTo>
                  <a:close/>
                </a:path>
              </a:pathLst>
            </a:custGeom>
            <a:grpFill/>
            <a:ln w="9525">
              <a:solidFill>
                <a:schemeClr val="accent1"/>
              </a:solidFill>
              <a:round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40" name="Freeform 26">
              <a:extLst>
                <a:ext uri="{FF2B5EF4-FFF2-40B4-BE49-F238E27FC236}">
                  <a16:creationId xmlns:a16="http://schemas.microsoft.com/office/drawing/2014/main" id="{2E59EB70-1015-4512-AC21-D0F475D034AA}"/>
                </a:ext>
              </a:extLst>
            </p:cNvPr>
            <p:cNvSpPr>
              <a:spLocks/>
            </p:cNvSpPr>
            <p:nvPr/>
          </p:nvSpPr>
          <p:spPr bwMode="auto">
            <a:xfrm>
              <a:off x="6481483" y="4874713"/>
              <a:ext cx="290328" cy="226673"/>
            </a:xfrm>
            <a:custGeom>
              <a:avLst/>
              <a:gdLst>
                <a:gd name="T0" fmla="*/ 61 w 374"/>
                <a:gd name="T1" fmla="*/ 292 h 292"/>
                <a:gd name="T2" fmla="*/ 0 w 374"/>
                <a:gd name="T3" fmla="*/ 98 h 292"/>
                <a:gd name="T4" fmla="*/ 314 w 374"/>
                <a:gd name="T5" fmla="*/ 0 h 292"/>
                <a:gd name="T6" fmla="*/ 374 w 374"/>
                <a:gd name="T7" fmla="*/ 194 h 292"/>
                <a:gd name="T8" fmla="*/ 61 w 374"/>
                <a:gd name="T9" fmla="*/ 292 h 2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4" h="292">
                  <a:moveTo>
                    <a:pt x="61" y="292"/>
                  </a:moveTo>
                  <a:lnTo>
                    <a:pt x="0" y="98"/>
                  </a:lnTo>
                  <a:lnTo>
                    <a:pt x="314" y="0"/>
                  </a:lnTo>
                  <a:lnTo>
                    <a:pt x="374" y="194"/>
                  </a:lnTo>
                  <a:lnTo>
                    <a:pt x="61" y="292"/>
                  </a:lnTo>
                  <a:close/>
                </a:path>
              </a:pathLst>
            </a:custGeom>
            <a:grpFill/>
            <a:ln w="9525">
              <a:solidFill>
                <a:schemeClr val="accent1"/>
              </a:solidFill>
              <a:round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41" name="Rectangle 27">
              <a:extLst>
                <a:ext uri="{FF2B5EF4-FFF2-40B4-BE49-F238E27FC236}">
                  <a16:creationId xmlns:a16="http://schemas.microsoft.com/office/drawing/2014/main" id="{BA03F342-0396-4C16-8834-78EF529F54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06526" y="4421463"/>
              <a:ext cx="817420" cy="203385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42" name="Rectangle 28">
              <a:extLst>
                <a:ext uri="{FF2B5EF4-FFF2-40B4-BE49-F238E27FC236}">
                  <a16:creationId xmlns:a16="http://schemas.microsoft.com/office/drawing/2014/main" id="{96B6A2F7-A8E4-49C2-AB28-29FE56A077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08001" y="4421463"/>
              <a:ext cx="60550" cy="203385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43" name="Rectangle 29">
              <a:extLst>
                <a:ext uri="{FF2B5EF4-FFF2-40B4-BE49-F238E27FC236}">
                  <a16:creationId xmlns:a16="http://schemas.microsoft.com/office/drawing/2014/main" id="{5B95C07C-C2FD-431C-8EFF-17E7E40AD5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52745" y="4421463"/>
              <a:ext cx="62102" cy="203385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44" name="Rectangle 30">
              <a:extLst>
                <a:ext uri="{FF2B5EF4-FFF2-40B4-BE49-F238E27FC236}">
                  <a16:creationId xmlns:a16="http://schemas.microsoft.com/office/drawing/2014/main" id="{993E383B-994E-4D7F-B66E-CD16C11375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38136" y="4624848"/>
              <a:ext cx="126533" cy="291104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45" name="Rectangle 31">
              <a:extLst>
                <a:ext uri="{FF2B5EF4-FFF2-40B4-BE49-F238E27FC236}">
                  <a16:creationId xmlns:a16="http://schemas.microsoft.com/office/drawing/2014/main" id="{60A3D686-1CA8-48B6-89B6-51998533CF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38136" y="4967962"/>
              <a:ext cx="16302" cy="141282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46" name="Rectangle 32">
              <a:extLst>
                <a:ext uri="{FF2B5EF4-FFF2-40B4-BE49-F238E27FC236}">
                  <a16:creationId xmlns:a16="http://schemas.microsoft.com/office/drawing/2014/main" id="{E8EF4CAD-9253-4658-85B4-A3668DE360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72292" y="4967962"/>
              <a:ext cx="16302" cy="141282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47" name="Rectangle 33">
              <a:extLst>
                <a:ext uri="{FF2B5EF4-FFF2-40B4-BE49-F238E27FC236}">
                  <a16:creationId xmlns:a16="http://schemas.microsoft.com/office/drawing/2014/main" id="{A52B571C-64C2-4B89-8993-66E8E67928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4452" y="4967962"/>
              <a:ext cx="19407" cy="141282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48" name="Rectangle 34">
              <a:extLst>
                <a:ext uri="{FF2B5EF4-FFF2-40B4-BE49-F238E27FC236}">
                  <a16:creationId xmlns:a16="http://schemas.microsoft.com/office/drawing/2014/main" id="{A8BA74F2-0316-451F-8C70-A26F6D50CC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11804" y="4967962"/>
              <a:ext cx="14749" cy="141282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49" name="Rectangle 35">
              <a:extLst>
                <a:ext uri="{FF2B5EF4-FFF2-40B4-BE49-F238E27FC236}">
                  <a16:creationId xmlns:a16="http://schemas.microsoft.com/office/drawing/2014/main" id="{2156F5CB-A99E-412B-B5FD-7B257B2E2A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90783" y="3761710"/>
              <a:ext cx="693215" cy="141282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50" name="Rectangle 36">
              <a:extLst>
                <a:ext uri="{FF2B5EF4-FFF2-40B4-BE49-F238E27FC236}">
                  <a16:creationId xmlns:a16="http://schemas.microsoft.com/office/drawing/2014/main" id="{A79E93FA-6C27-400F-97C4-6522F2C002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38136" y="3761710"/>
              <a:ext cx="16302" cy="141282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51" name="Rectangle 37">
              <a:extLst>
                <a:ext uri="{FF2B5EF4-FFF2-40B4-BE49-F238E27FC236}">
                  <a16:creationId xmlns:a16="http://schemas.microsoft.com/office/drawing/2014/main" id="{4E2EB931-9110-4098-9C3B-4B4CD819A2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72292" y="3761710"/>
              <a:ext cx="16302" cy="141282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52" name="Rectangle 38">
              <a:extLst>
                <a:ext uri="{FF2B5EF4-FFF2-40B4-BE49-F238E27FC236}">
                  <a16:creationId xmlns:a16="http://schemas.microsoft.com/office/drawing/2014/main" id="{DB0A8F99-1214-48CD-BC9B-77D10B917F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4452" y="3761710"/>
              <a:ext cx="19407" cy="141282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53" name="Rectangle 39">
              <a:extLst>
                <a:ext uri="{FF2B5EF4-FFF2-40B4-BE49-F238E27FC236}">
                  <a16:creationId xmlns:a16="http://schemas.microsoft.com/office/drawing/2014/main" id="{55AB096E-46FB-4184-B802-A0978E46AC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11804" y="3761710"/>
              <a:ext cx="14749" cy="141282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54" name="Freeform 40">
              <a:extLst>
                <a:ext uri="{FF2B5EF4-FFF2-40B4-BE49-F238E27FC236}">
                  <a16:creationId xmlns:a16="http://schemas.microsoft.com/office/drawing/2014/main" id="{E95E694A-A30E-4932-8CD4-3FB943046FFE}"/>
                </a:ext>
              </a:extLst>
            </p:cNvPr>
            <p:cNvSpPr>
              <a:spLocks/>
            </p:cNvSpPr>
            <p:nvPr/>
          </p:nvSpPr>
          <p:spPr bwMode="auto">
            <a:xfrm>
              <a:off x="5604616" y="5664002"/>
              <a:ext cx="416084" cy="148269"/>
            </a:xfrm>
            <a:custGeom>
              <a:avLst/>
              <a:gdLst>
                <a:gd name="T0" fmla="*/ 328 w 328"/>
                <a:gd name="T1" fmla="*/ 90 h 117"/>
                <a:gd name="T2" fmla="*/ 301 w 328"/>
                <a:gd name="T3" fmla="*/ 117 h 117"/>
                <a:gd name="T4" fmla="*/ 27 w 328"/>
                <a:gd name="T5" fmla="*/ 117 h 117"/>
                <a:gd name="T6" fmla="*/ 0 w 328"/>
                <a:gd name="T7" fmla="*/ 90 h 117"/>
                <a:gd name="T8" fmla="*/ 0 w 328"/>
                <a:gd name="T9" fmla="*/ 27 h 117"/>
                <a:gd name="T10" fmla="*/ 27 w 328"/>
                <a:gd name="T11" fmla="*/ 0 h 117"/>
                <a:gd name="T12" fmla="*/ 301 w 328"/>
                <a:gd name="T13" fmla="*/ 0 h 117"/>
                <a:gd name="T14" fmla="*/ 328 w 328"/>
                <a:gd name="T15" fmla="*/ 27 h 117"/>
                <a:gd name="T16" fmla="*/ 328 w 328"/>
                <a:gd name="T17" fmla="*/ 9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28" h="117">
                  <a:moveTo>
                    <a:pt x="328" y="90"/>
                  </a:moveTo>
                  <a:cubicBezTo>
                    <a:pt x="328" y="105"/>
                    <a:pt x="316" y="117"/>
                    <a:pt x="301" y="117"/>
                  </a:cubicBezTo>
                  <a:cubicBezTo>
                    <a:pt x="27" y="117"/>
                    <a:pt x="27" y="117"/>
                    <a:pt x="27" y="117"/>
                  </a:cubicBezTo>
                  <a:cubicBezTo>
                    <a:pt x="12" y="117"/>
                    <a:pt x="0" y="105"/>
                    <a:pt x="0" y="90"/>
                  </a:cubicBezTo>
                  <a:cubicBezTo>
                    <a:pt x="0" y="27"/>
                    <a:pt x="0" y="27"/>
                    <a:pt x="0" y="27"/>
                  </a:cubicBezTo>
                  <a:cubicBezTo>
                    <a:pt x="0" y="12"/>
                    <a:pt x="12" y="0"/>
                    <a:pt x="27" y="0"/>
                  </a:cubicBezTo>
                  <a:cubicBezTo>
                    <a:pt x="301" y="0"/>
                    <a:pt x="301" y="0"/>
                    <a:pt x="301" y="0"/>
                  </a:cubicBezTo>
                  <a:cubicBezTo>
                    <a:pt x="316" y="0"/>
                    <a:pt x="328" y="12"/>
                    <a:pt x="328" y="27"/>
                  </a:cubicBezTo>
                  <a:lnTo>
                    <a:pt x="328" y="90"/>
                  </a:lnTo>
                  <a:close/>
                </a:path>
              </a:pathLst>
            </a:custGeom>
            <a:grpFill/>
            <a:ln w="9525">
              <a:solidFill>
                <a:schemeClr val="accent1"/>
              </a:solidFill>
              <a:round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55" name="Freeform 41">
              <a:extLst>
                <a:ext uri="{FF2B5EF4-FFF2-40B4-BE49-F238E27FC236}">
                  <a16:creationId xmlns:a16="http://schemas.microsoft.com/office/drawing/2014/main" id="{563BFF38-2F07-42FF-9032-0A2D023B6B41}"/>
                </a:ext>
              </a:extLst>
            </p:cNvPr>
            <p:cNvSpPr>
              <a:spLocks/>
            </p:cNvSpPr>
            <p:nvPr/>
          </p:nvSpPr>
          <p:spPr bwMode="auto">
            <a:xfrm>
              <a:off x="6547793" y="5664002"/>
              <a:ext cx="40366" cy="167676"/>
            </a:xfrm>
            <a:custGeom>
              <a:avLst/>
              <a:gdLst>
                <a:gd name="T0" fmla="*/ 32 w 32"/>
                <a:gd name="T1" fmla="*/ 116 h 132"/>
                <a:gd name="T2" fmla="*/ 16 w 32"/>
                <a:gd name="T3" fmla="*/ 132 h 132"/>
                <a:gd name="T4" fmla="*/ 16 w 32"/>
                <a:gd name="T5" fmla="*/ 132 h 132"/>
                <a:gd name="T6" fmla="*/ 0 w 32"/>
                <a:gd name="T7" fmla="*/ 116 h 132"/>
                <a:gd name="T8" fmla="*/ 0 w 32"/>
                <a:gd name="T9" fmla="*/ 16 h 132"/>
                <a:gd name="T10" fmla="*/ 16 w 32"/>
                <a:gd name="T11" fmla="*/ 0 h 132"/>
                <a:gd name="T12" fmla="*/ 16 w 32"/>
                <a:gd name="T13" fmla="*/ 0 h 132"/>
                <a:gd name="T14" fmla="*/ 32 w 32"/>
                <a:gd name="T15" fmla="*/ 16 h 132"/>
                <a:gd name="T16" fmla="*/ 32 w 32"/>
                <a:gd name="T17" fmla="*/ 116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2" h="132">
                  <a:moveTo>
                    <a:pt x="32" y="116"/>
                  </a:moveTo>
                  <a:cubicBezTo>
                    <a:pt x="32" y="125"/>
                    <a:pt x="25" y="132"/>
                    <a:pt x="16" y="132"/>
                  </a:cubicBezTo>
                  <a:cubicBezTo>
                    <a:pt x="16" y="132"/>
                    <a:pt x="16" y="132"/>
                    <a:pt x="16" y="132"/>
                  </a:cubicBezTo>
                  <a:cubicBezTo>
                    <a:pt x="7" y="132"/>
                    <a:pt x="0" y="125"/>
                    <a:pt x="0" y="116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7"/>
                    <a:pt x="7" y="0"/>
                    <a:pt x="16" y="0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25" y="0"/>
                    <a:pt x="32" y="7"/>
                    <a:pt x="32" y="16"/>
                  </a:cubicBezTo>
                  <a:lnTo>
                    <a:pt x="32" y="116"/>
                  </a:lnTo>
                  <a:close/>
                </a:path>
              </a:pathLst>
            </a:custGeom>
            <a:grpFill/>
            <a:ln w="9525">
              <a:solidFill>
                <a:schemeClr val="accent1"/>
              </a:solidFill>
              <a:round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56" name="Freeform 42">
              <a:extLst>
                <a:ext uri="{FF2B5EF4-FFF2-40B4-BE49-F238E27FC236}">
                  <a16:creationId xmlns:a16="http://schemas.microsoft.com/office/drawing/2014/main" id="{0B7847E0-FA80-4A28-B935-5A7817EBE109}"/>
                </a:ext>
              </a:extLst>
            </p:cNvPr>
            <p:cNvSpPr>
              <a:spLocks/>
            </p:cNvSpPr>
            <p:nvPr/>
          </p:nvSpPr>
          <p:spPr bwMode="auto">
            <a:xfrm>
              <a:off x="5409771" y="5514180"/>
              <a:ext cx="70641" cy="72194"/>
            </a:xfrm>
            <a:custGeom>
              <a:avLst/>
              <a:gdLst>
                <a:gd name="T0" fmla="*/ 56 w 56"/>
                <a:gd name="T1" fmla="*/ 29 h 57"/>
                <a:gd name="T2" fmla="*/ 28 w 56"/>
                <a:gd name="T3" fmla="*/ 57 h 57"/>
                <a:gd name="T4" fmla="*/ 27 w 56"/>
                <a:gd name="T5" fmla="*/ 57 h 57"/>
                <a:gd name="T6" fmla="*/ 0 w 56"/>
                <a:gd name="T7" fmla="*/ 29 h 57"/>
                <a:gd name="T8" fmla="*/ 0 w 56"/>
                <a:gd name="T9" fmla="*/ 28 h 57"/>
                <a:gd name="T10" fmla="*/ 27 w 56"/>
                <a:gd name="T11" fmla="*/ 0 h 57"/>
                <a:gd name="T12" fmla="*/ 28 w 56"/>
                <a:gd name="T13" fmla="*/ 0 h 57"/>
                <a:gd name="T14" fmla="*/ 56 w 56"/>
                <a:gd name="T15" fmla="*/ 28 h 57"/>
                <a:gd name="T16" fmla="*/ 56 w 56"/>
                <a:gd name="T17" fmla="*/ 29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6" h="57">
                  <a:moveTo>
                    <a:pt x="56" y="29"/>
                  </a:moveTo>
                  <a:cubicBezTo>
                    <a:pt x="56" y="44"/>
                    <a:pt x="44" y="57"/>
                    <a:pt x="28" y="57"/>
                  </a:cubicBezTo>
                  <a:cubicBezTo>
                    <a:pt x="27" y="57"/>
                    <a:pt x="27" y="57"/>
                    <a:pt x="27" y="57"/>
                  </a:cubicBezTo>
                  <a:cubicBezTo>
                    <a:pt x="12" y="57"/>
                    <a:pt x="0" y="44"/>
                    <a:pt x="0" y="29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13"/>
                    <a:pt x="12" y="0"/>
                    <a:pt x="27" y="0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44" y="0"/>
                    <a:pt x="56" y="13"/>
                    <a:pt x="56" y="28"/>
                  </a:cubicBezTo>
                  <a:lnTo>
                    <a:pt x="56" y="29"/>
                  </a:lnTo>
                  <a:close/>
                </a:path>
              </a:pathLst>
            </a:custGeom>
            <a:grpFill/>
            <a:ln w="9525">
              <a:solidFill>
                <a:schemeClr val="accent1"/>
              </a:solidFill>
              <a:round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57" name="Freeform 43">
              <a:extLst>
                <a:ext uri="{FF2B5EF4-FFF2-40B4-BE49-F238E27FC236}">
                  <a16:creationId xmlns:a16="http://schemas.microsoft.com/office/drawing/2014/main" id="{73B4B591-FCC4-4551-B7D1-02D1641ACC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2620" y="5514180"/>
              <a:ext cx="71417" cy="72194"/>
            </a:xfrm>
            <a:custGeom>
              <a:avLst/>
              <a:gdLst>
                <a:gd name="T0" fmla="*/ 56 w 56"/>
                <a:gd name="T1" fmla="*/ 29 h 57"/>
                <a:gd name="T2" fmla="*/ 29 w 56"/>
                <a:gd name="T3" fmla="*/ 57 h 57"/>
                <a:gd name="T4" fmla="*/ 28 w 56"/>
                <a:gd name="T5" fmla="*/ 57 h 57"/>
                <a:gd name="T6" fmla="*/ 0 w 56"/>
                <a:gd name="T7" fmla="*/ 29 h 57"/>
                <a:gd name="T8" fmla="*/ 0 w 56"/>
                <a:gd name="T9" fmla="*/ 28 h 57"/>
                <a:gd name="T10" fmla="*/ 28 w 56"/>
                <a:gd name="T11" fmla="*/ 0 h 57"/>
                <a:gd name="T12" fmla="*/ 29 w 56"/>
                <a:gd name="T13" fmla="*/ 0 h 57"/>
                <a:gd name="T14" fmla="*/ 56 w 56"/>
                <a:gd name="T15" fmla="*/ 28 h 57"/>
                <a:gd name="T16" fmla="*/ 56 w 56"/>
                <a:gd name="T17" fmla="*/ 29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6" h="57">
                  <a:moveTo>
                    <a:pt x="56" y="29"/>
                  </a:moveTo>
                  <a:cubicBezTo>
                    <a:pt x="56" y="44"/>
                    <a:pt x="44" y="57"/>
                    <a:pt x="29" y="57"/>
                  </a:cubicBezTo>
                  <a:cubicBezTo>
                    <a:pt x="28" y="57"/>
                    <a:pt x="28" y="57"/>
                    <a:pt x="28" y="57"/>
                  </a:cubicBezTo>
                  <a:cubicBezTo>
                    <a:pt x="13" y="57"/>
                    <a:pt x="0" y="44"/>
                    <a:pt x="0" y="29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13"/>
                    <a:pt x="13" y="0"/>
                    <a:pt x="28" y="0"/>
                  </a:cubicBezTo>
                  <a:cubicBezTo>
                    <a:pt x="29" y="0"/>
                    <a:pt x="29" y="0"/>
                    <a:pt x="29" y="0"/>
                  </a:cubicBezTo>
                  <a:cubicBezTo>
                    <a:pt x="44" y="0"/>
                    <a:pt x="56" y="13"/>
                    <a:pt x="56" y="28"/>
                  </a:cubicBezTo>
                  <a:lnTo>
                    <a:pt x="56" y="29"/>
                  </a:lnTo>
                  <a:close/>
                </a:path>
              </a:pathLst>
            </a:custGeom>
            <a:grpFill/>
            <a:ln w="9525">
              <a:solidFill>
                <a:schemeClr val="accent1"/>
              </a:solidFill>
              <a:round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58" name="Freeform 44">
              <a:extLst>
                <a:ext uri="{FF2B5EF4-FFF2-40B4-BE49-F238E27FC236}">
                  <a16:creationId xmlns:a16="http://schemas.microsoft.com/office/drawing/2014/main" id="{440F120C-E752-4984-AF5B-294A2CBF69AA}"/>
                </a:ext>
              </a:extLst>
            </p:cNvPr>
            <p:cNvSpPr>
              <a:spLocks/>
            </p:cNvSpPr>
            <p:nvPr/>
          </p:nvSpPr>
          <p:spPr bwMode="auto">
            <a:xfrm>
              <a:off x="5576670" y="5179886"/>
              <a:ext cx="665269" cy="93153"/>
            </a:xfrm>
            <a:custGeom>
              <a:avLst/>
              <a:gdLst>
                <a:gd name="T0" fmla="*/ 524 w 524"/>
                <a:gd name="T1" fmla="*/ 45 h 73"/>
                <a:gd name="T2" fmla="*/ 497 w 524"/>
                <a:gd name="T3" fmla="*/ 73 h 73"/>
                <a:gd name="T4" fmla="*/ 28 w 524"/>
                <a:gd name="T5" fmla="*/ 73 h 73"/>
                <a:gd name="T6" fmla="*/ 0 w 524"/>
                <a:gd name="T7" fmla="*/ 45 h 73"/>
                <a:gd name="T8" fmla="*/ 0 w 524"/>
                <a:gd name="T9" fmla="*/ 27 h 73"/>
                <a:gd name="T10" fmla="*/ 28 w 524"/>
                <a:gd name="T11" fmla="*/ 0 h 73"/>
                <a:gd name="T12" fmla="*/ 497 w 524"/>
                <a:gd name="T13" fmla="*/ 0 h 73"/>
                <a:gd name="T14" fmla="*/ 524 w 524"/>
                <a:gd name="T15" fmla="*/ 27 h 73"/>
                <a:gd name="T16" fmla="*/ 524 w 524"/>
                <a:gd name="T17" fmla="*/ 45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24" h="73">
                  <a:moveTo>
                    <a:pt x="524" y="45"/>
                  </a:moveTo>
                  <a:cubicBezTo>
                    <a:pt x="524" y="61"/>
                    <a:pt x="512" y="73"/>
                    <a:pt x="497" y="73"/>
                  </a:cubicBezTo>
                  <a:cubicBezTo>
                    <a:pt x="28" y="73"/>
                    <a:pt x="28" y="73"/>
                    <a:pt x="28" y="73"/>
                  </a:cubicBezTo>
                  <a:cubicBezTo>
                    <a:pt x="12" y="73"/>
                    <a:pt x="0" y="61"/>
                    <a:pt x="0" y="45"/>
                  </a:cubicBezTo>
                  <a:cubicBezTo>
                    <a:pt x="0" y="27"/>
                    <a:pt x="0" y="27"/>
                    <a:pt x="0" y="27"/>
                  </a:cubicBezTo>
                  <a:cubicBezTo>
                    <a:pt x="0" y="12"/>
                    <a:pt x="12" y="0"/>
                    <a:pt x="28" y="0"/>
                  </a:cubicBezTo>
                  <a:cubicBezTo>
                    <a:pt x="497" y="0"/>
                    <a:pt x="497" y="0"/>
                    <a:pt x="497" y="0"/>
                  </a:cubicBezTo>
                  <a:cubicBezTo>
                    <a:pt x="512" y="0"/>
                    <a:pt x="524" y="12"/>
                    <a:pt x="524" y="27"/>
                  </a:cubicBezTo>
                  <a:lnTo>
                    <a:pt x="524" y="45"/>
                  </a:lnTo>
                  <a:close/>
                </a:path>
              </a:pathLst>
            </a:custGeom>
            <a:grpFill/>
            <a:ln w="9525">
              <a:solidFill>
                <a:schemeClr val="accent1"/>
              </a:solidFill>
              <a:round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59" name="Oval 45">
              <a:extLst>
                <a:ext uri="{FF2B5EF4-FFF2-40B4-BE49-F238E27FC236}">
                  <a16:creationId xmlns:a16="http://schemas.microsoft.com/office/drawing/2014/main" id="{4316F2F3-5FF5-4483-9AFA-4804D0CDA2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28603" y="3612665"/>
              <a:ext cx="111784" cy="111008"/>
            </a:xfrm>
            <a:prstGeom prst="ellipse">
              <a:avLst/>
            </a:prstGeom>
            <a:grpFill/>
            <a:ln w="9525">
              <a:solidFill>
                <a:schemeClr val="accent1"/>
              </a:solidFill>
              <a:round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60" name="Oval 46">
              <a:extLst>
                <a:ext uri="{FF2B5EF4-FFF2-40B4-BE49-F238E27FC236}">
                  <a16:creationId xmlns:a16="http://schemas.microsoft.com/office/drawing/2014/main" id="{13112507-81B4-4F17-BE2F-A6D91E4333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25933" y="3617323"/>
              <a:ext cx="111784" cy="111784"/>
            </a:xfrm>
            <a:prstGeom prst="ellipse">
              <a:avLst/>
            </a:prstGeom>
            <a:grpFill/>
            <a:ln w="9525">
              <a:solidFill>
                <a:schemeClr val="accent1"/>
              </a:solidFill>
              <a:round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</p:grpSp>
      <p:grpSp>
        <p:nvGrpSpPr>
          <p:cNvPr id="3" name="组合 2">
            <a:extLst>
              <a:ext uri="{FF2B5EF4-FFF2-40B4-BE49-F238E27FC236}">
                <a16:creationId xmlns:a16="http://schemas.microsoft.com/office/drawing/2014/main" id="{C2461B74-A819-4A83-9663-12536D2079CC}"/>
              </a:ext>
            </a:extLst>
          </p:cNvPr>
          <p:cNvGrpSpPr/>
          <p:nvPr/>
        </p:nvGrpSpPr>
        <p:grpSpPr>
          <a:xfrm>
            <a:off x="443983" y="1112313"/>
            <a:ext cx="1936868" cy="1936868"/>
            <a:chOff x="2572456" y="958222"/>
            <a:chExt cx="1936868" cy="1936868"/>
          </a:xfrm>
        </p:grpSpPr>
        <p:grpSp>
          <p:nvGrpSpPr>
            <p:cNvPr id="61" name="组合 60">
              <a:extLst>
                <a:ext uri="{FF2B5EF4-FFF2-40B4-BE49-F238E27FC236}">
                  <a16:creationId xmlns:a16="http://schemas.microsoft.com/office/drawing/2014/main" id="{E101FB23-2A31-47FF-9EB9-CFBD1D4D64F2}"/>
                </a:ext>
              </a:extLst>
            </p:cNvPr>
            <p:cNvGrpSpPr/>
            <p:nvPr/>
          </p:nvGrpSpPr>
          <p:grpSpPr>
            <a:xfrm>
              <a:off x="2572456" y="958222"/>
              <a:ext cx="1936868" cy="1936868"/>
              <a:chOff x="11207774" y="442662"/>
              <a:chExt cx="504056" cy="504056"/>
            </a:xfrm>
            <a:solidFill>
              <a:srgbClr val="B3DF63"/>
            </a:solidFill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grpSpPr>
          <p:sp>
            <p:nvSpPr>
              <p:cNvPr id="62" name="椭圆 61">
                <a:extLst>
                  <a:ext uri="{FF2B5EF4-FFF2-40B4-BE49-F238E27FC236}">
                    <a16:creationId xmlns:a16="http://schemas.microsoft.com/office/drawing/2014/main" id="{FF045C64-65A6-454D-8459-BA881DFB0159}"/>
                  </a:ext>
                </a:extLst>
              </p:cNvPr>
              <p:cNvSpPr/>
              <p:nvPr/>
            </p:nvSpPr>
            <p:spPr>
              <a:xfrm>
                <a:off x="11273029" y="517620"/>
                <a:ext cx="373547" cy="373547"/>
              </a:xfrm>
              <a:prstGeom prst="ellipse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prstClr val="white"/>
                  </a:solidFill>
                  <a:latin typeface="Calibri"/>
                  <a:ea typeface="微软雅黑"/>
                </a:endParaRPr>
              </a:p>
            </p:txBody>
          </p:sp>
          <p:sp>
            <p:nvSpPr>
              <p:cNvPr id="63" name="椭圆 62">
                <a:extLst>
                  <a:ext uri="{FF2B5EF4-FFF2-40B4-BE49-F238E27FC236}">
                    <a16:creationId xmlns:a16="http://schemas.microsoft.com/office/drawing/2014/main" id="{A03140CE-37E4-4604-B76C-9AEBE595F5F9}"/>
                  </a:ext>
                </a:extLst>
              </p:cNvPr>
              <p:cNvSpPr/>
              <p:nvPr/>
            </p:nvSpPr>
            <p:spPr>
              <a:xfrm>
                <a:off x="11207774" y="442662"/>
                <a:ext cx="504056" cy="504056"/>
              </a:xfrm>
              <a:prstGeom prst="ellipse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prstClr val="white"/>
                  </a:solidFill>
                  <a:latin typeface="Calibri"/>
                  <a:ea typeface="微软雅黑"/>
                </a:endParaRPr>
              </a:p>
            </p:txBody>
          </p:sp>
        </p:grpSp>
        <p:sp>
          <p:nvSpPr>
            <p:cNvPr id="64" name="TextBox 1">
              <a:extLst>
                <a:ext uri="{FF2B5EF4-FFF2-40B4-BE49-F238E27FC236}">
                  <a16:creationId xmlns:a16="http://schemas.microsoft.com/office/drawing/2014/main" id="{F45F1328-8259-42E9-BE98-A45AFDCB6EAE}"/>
                </a:ext>
              </a:extLst>
            </p:cNvPr>
            <p:cNvSpPr txBox="1"/>
            <p:nvPr/>
          </p:nvSpPr>
          <p:spPr>
            <a:xfrm>
              <a:off x="2815371" y="1264937"/>
              <a:ext cx="1451038" cy="132343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8000" b="1" dirty="0">
                  <a:ln w="12700">
                    <a:noFill/>
                    <a:prstDash val="solid"/>
                  </a:ln>
                  <a:solidFill>
                    <a:prstClr val="white"/>
                  </a:solidFill>
                  <a:effectLst>
                    <a:outerShdw dist="50800" dir="4800000" algn="tl" rotWithShape="0">
                      <a:srgbClr val="000000">
                        <a:alpha val="40000"/>
                      </a:srgbClr>
                    </a:outerShdw>
                  </a:effectLst>
                  <a:latin typeface="造字工房尚黑（非商用）细体" pitchFamily="50" charset="-122"/>
                  <a:ea typeface="造字工房尚黑（非商用）细体" pitchFamily="50" charset="-122"/>
                </a:rPr>
                <a:t>01</a:t>
              </a:r>
              <a:endParaRPr lang="zh-CN" altLang="en-US" sz="8000" b="1" dirty="0">
                <a:ln w="12700">
                  <a:noFill/>
                  <a:prstDash val="solid"/>
                </a:ln>
                <a:solidFill>
                  <a:prstClr val="white"/>
                </a:solidFill>
                <a:effectLst>
                  <a:outerShdw dist="50800" dir="4800000" algn="tl" rotWithShape="0">
                    <a:srgbClr val="000000">
                      <a:alpha val="40000"/>
                    </a:srgbClr>
                  </a:outerShdw>
                </a:effectLst>
                <a:latin typeface="造字工房尚黑（非商用）细体" pitchFamily="50" charset="-122"/>
                <a:ea typeface="造字工房尚黑（非商用）细体" pitchFamily="50" charset="-122"/>
              </a:endParaRPr>
            </a:p>
          </p:txBody>
        </p:sp>
      </p:grpSp>
      <p:grpSp>
        <p:nvGrpSpPr>
          <p:cNvPr id="65" name="组合 64">
            <a:extLst>
              <a:ext uri="{FF2B5EF4-FFF2-40B4-BE49-F238E27FC236}">
                <a16:creationId xmlns:a16="http://schemas.microsoft.com/office/drawing/2014/main" id="{C1C2C104-F13A-4AF1-8295-FE73E656BCD1}"/>
              </a:ext>
            </a:extLst>
          </p:cNvPr>
          <p:cNvGrpSpPr/>
          <p:nvPr/>
        </p:nvGrpSpPr>
        <p:grpSpPr>
          <a:xfrm rot="5400000">
            <a:off x="7939470" y="-3214903"/>
            <a:ext cx="942183" cy="7462505"/>
            <a:chOff x="-11273" y="-594773"/>
            <a:chExt cx="719786" cy="7462505"/>
          </a:xfrm>
        </p:grpSpPr>
        <p:sp>
          <p:nvSpPr>
            <p:cNvPr id="66" name="等腰三角形 65">
              <a:extLst>
                <a:ext uri="{FF2B5EF4-FFF2-40B4-BE49-F238E27FC236}">
                  <a16:creationId xmlns:a16="http://schemas.microsoft.com/office/drawing/2014/main" id="{58839FDC-22C4-4CA7-B863-C67559C21699}"/>
                </a:ext>
              </a:extLst>
            </p:cNvPr>
            <p:cNvSpPr/>
            <p:nvPr/>
          </p:nvSpPr>
          <p:spPr>
            <a:xfrm rot="5400000">
              <a:off x="-68856" y="2776017"/>
              <a:ext cx="834952" cy="719786"/>
            </a:xfrm>
            <a:prstGeom prst="triangl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67" name="等腰三角形 66">
              <a:extLst>
                <a:ext uri="{FF2B5EF4-FFF2-40B4-BE49-F238E27FC236}">
                  <a16:creationId xmlns:a16="http://schemas.microsoft.com/office/drawing/2014/main" id="{A5264352-D114-4656-BC14-E38E3FE58AC7}"/>
                </a:ext>
              </a:extLst>
            </p:cNvPr>
            <p:cNvSpPr/>
            <p:nvPr/>
          </p:nvSpPr>
          <p:spPr>
            <a:xfrm rot="5400000">
              <a:off x="-68856" y="1958050"/>
              <a:ext cx="834952" cy="719786"/>
            </a:xfrm>
            <a:prstGeom prst="triangl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68" name="等腰三角形 67">
              <a:extLst>
                <a:ext uri="{FF2B5EF4-FFF2-40B4-BE49-F238E27FC236}">
                  <a16:creationId xmlns:a16="http://schemas.microsoft.com/office/drawing/2014/main" id="{D2787C4C-1049-4848-A392-0F96696494DB}"/>
                </a:ext>
              </a:extLst>
            </p:cNvPr>
            <p:cNvSpPr/>
            <p:nvPr/>
          </p:nvSpPr>
          <p:spPr>
            <a:xfrm rot="5400000">
              <a:off x="-68856" y="1114606"/>
              <a:ext cx="834952" cy="71978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69" name="等腰三角形 68">
              <a:extLst>
                <a:ext uri="{FF2B5EF4-FFF2-40B4-BE49-F238E27FC236}">
                  <a16:creationId xmlns:a16="http://schemas.microsoft.com/office/drawing/2014/main" id="{EE61B577-3444-4CAB-92C2-AFFB2FFB8904}"/>
                </a:ext>
              </a:extLst>
            </p:cNvPr>
            <p:cNvSpPr/>
            <p:nvPr/>
          </p:nvSpPr>
          <p:spPr>
            <a:xfrm rot="5400000">
              <a:off x="-68856" y="296639"/>
              <a:ext cx="834952" cy="719786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70" name="等腰三角形 69">
              <a:extLst>
                <a:ext uri="{FF2B5EF4-FFF2-40B4-BE49-F238E27FC236}">
                  <a16:creationId xmlns:a16="http://schemas.microsoft.com/office/drawing/2014/main" id="{3AEDED66-0861-468F-8D6E-CFA4F090C0E2}"/>
                </a:ext>
              </a:extLst>
            </p:cNvPr>
            <p:cNvSpPr/>
            <p:nvPr/>
          </p:nvSpPr>
          <p:spPr>
            <a:xfrm rot="5400000">
              <a:off x="-68856" y="3610969"/>
              <a:ext cx="834952" cy="719786"/>
            </a:xfrm>
            <a:prstGeom prst="triangl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71" name="等腰三角形 70">
              <a:extLst>
                <a:ext uri="{FF2B5EF4-FFF2-40B4-BE49-F238E27FC236}">
                  <a16:creationId xmlns:a16="http://schemas.microsoft.com/office/drawing/2014/main" id="{0F6FF0BF-FA43-40F1-9E2D-D32B05AE8788}"/>
                </a:ext>
              </a:extLst>
            </p:cNvPr>
            <p:cNvSpPr/>
            <p:nvPr/>
          </p:nvSpPr>
          <p:spPr>
            <a:xfrm rot="5400000">
              <a:off x="-68856" y="4443673"/>
              <a:ext cx="834952" cy="719786"/>
            </a:xfrm>
            <a:prstGeom prst="triangle">
              <a:avLst/>
            </a:prstGeom>
            <a:solidFill>
              <a:srgbClr val="94CA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72" name="等腰三角形 71">
              <a:extLst>
                <a:ext uri="{FF2B5EF4-FFF2-40B4-BE49-F238E27FC236}">
                  <a16:creationId xmlns:a16="http://schemas.microsoft.com/office/drawing/2014/main" id="{4CF11EF2-5B94-45E8-842B-40755A182437}"/>
                </a:ext>
              </a:extLst>
            </p:cNvPr>
            <p:cNvSpPr/>
            <p:nvPr/>
          </p:nvSpPr>
          <p:spPr>
            <a:xfrm rot="5400000">
              <a:off x="-68856" y="5264883"/>
              <a:ext cx="834952" cy="719786"/>
            </a:xfrm>
            <a:prstGeom prst="triangl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73" name="等腰三角形 72">
              <a:extLst>
                <a:ext uri="{FF2B5EF4-FFF2-40B4-BE49-F238E27FC236}">
                  <a16:creationId xmlns:a16="http://schemas.microsoft.com/office/drawing/2014/main" id="{2399D565-C0DA-4F00-B731-140755CC1CD7}"/>
                </a:ext>
              </a:extLst>
            </p:cNvPr>
            <p:cNvSpPr/>
            <p:nvPr/>
          </p:nvSpPr>
          <p:spPr>
            <a:xfrm rot="5400000">
              <a:off x="-68856" y="6090363"/>
              <a:ext cx="834952" cy="719786"/>
            </a:xfrm>
            <a:prstGeom prst="triangl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74" name="等腰三角形 73">
              <a:extLst>
                <a:ext uri="{FF2B5EF4-FFF2-40B4-BE49-F238E27FC236}">
                  <a16:creationId xmlns:a16="http://schemas.microsoft.com/office/drawing/2014/main" id="{101F5175-7DA4-411A-B158-0E4A24C9421D}"/>
                </a:ext>
              </a:extLst>
            </p:cNvPr>
            <p:cNvSpPr/>
            <p:nvPr/>
          </p:nvSpPr>
          <p:spPr>
            <a:xfrm rot="5400000">
              <a:off x="-68856" y="-537190"/>
              <a:ext cx="834952" cy="719786"/>
            </a:xfrm>
            <a:prstGeom prst="triangl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942236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8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8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8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8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800" tmFilter="0,0; .5, 1; 1, 1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44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组合 31">
            <a:extLst>
              <a:ext uri="{FF2B5EF4-FFF2-40B4-BE49-F238E27FC236}">
                <a16:creationId xmlns:a16="http://schemas.microsoft.com/office/drawing/2014/main" id="{032EF26F-0D58-4A0E-97C1-668713F80B14}"/>
              </a:ext>
            </a:extLst>
          </p:cNvPr>
          <p:cNvGrpSpPr/>
          <p:nvPr/>
        </p:nvGrpSpPr>
        <p:grpSpPr>
          <a:xfrm>
            <a:off x="170320" y="203448"/>
            <a:ext cx="6511833" cy="504056"/>
            <a:chOff x="169526" y="203448"/>
            <a:chExt cx="6511833" cy="504056"/>
          </a:xfrm>
        </p:grpSpPr>
        <p:sp>
          <p:nvSpPr>
            <p:cNvPr id="4" name="TextBox 3"/>
            <p:cNvSpPr txBox="1"/>
            <p:nvPr/>
          </p:nvSpPr>
          <p:spPr>
            <a:xfrm>
              <a:off x="781172" y="245839"/>
              <a:ext cx="590018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spc="300" dirty="0">
                  <a:solidFill>
                    <a:srgbClr val="1E6787"/>
                  </a:solidFill>
                  <a:latin typeface="微软雅黑" pitchFamily="34" charset="-122"/>
                  <a:ea typeface="微软雅黑" pitchFamily="34" charset="-122"/>
                </a:rPr>
                <a:t>文件简介</a:t>
              </a:r>
              <a:endParaRPr lang="zh-CN" altLang="en-US" sz="2000" b="1" spc="300" dirty="0">
                <a:solidFill>
                  <a:srgbClr val="1E6787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grpSp>
          <p:nvGrpSpPr>
            <p:cNvPr id="56" name="组合 55">
              <a:extLst>
                <a:ext uri="{FF2B5EF4-FFF2-40B4-BE49-F238E27FC236}">
                  <a16:creationId xmlns:a16="http://schemas.microsoft.com/office/drawing/2014/main" id="{B3ECA4EB-10D1-4B65-B604-4032302CDAF4}"/>
                </a:ext>
              </a:extLst>
            </p:cNvPr>
            <p:cNvGrpSpPr/>
            <p:nvPr/>
          </p:nvGrpSpPr>
          <p:grpSpPr>
            <a:xfrm>
              <a:off x="169526" y="203448"/>
              <a:ext cx="504056" cy="504056"/>
              <a:chOff x="11207774" y="442662"/>
              <a:chExt cx="504056" cy="504056"/>
            </a:xfr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grpSpPr>
          <p:sp>
            <p:nvSpPr>
              <p:cNvPr id="57" name="椭圆 56">
                <a:extLst>
                  <a:ext uri="{FF2B5EF4-FFF2-40B4-BE49-F238E27FC236}">
                    <a16:creationId xmlns:a16="http://schemas.microsoft.com/office/drawing/2014/main" id="{FF372EA1-AB4F-47B1-B450-59AB8827ECD5}"/>
                  </a:ext>
                </a:extLst>
              </p:cNvPr>
              <p:cNvSpPr/>
              <p:nvPr/>
            </p:nvSpPr>
            <p:spPr>
              <a:xfrm>
                <a:off x="11351790" y="601230"/>
                <a:ext cx="216024" cy="216024"/>
              </a:xfrm>
              <a:prstGeom prst="ellipse">
                <a:avLst/>
              </a:prstGeom>
              <a:solidFill>
                <a:srgbClr val="B3DF63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prstClr val="white"/>
                  </a:solidFill>
                  <a:latin typeface="Calibri"/>
                  <a:ea typeface="微软雅黑"/>
                </a:endParaRPr>
              </a:p>
            </p:txBody>
          </p:sp>
          <p:sp>
            <p:nvSpPr>
              <p:cNvPr id="58" name="椭圆 57">
                <a:extLst>
                  <a:ext uri="{FF2B5EF4-FFF2-40B4-BE49-F238E27FC236}">
                    <a16:creationId xmlns:a16="http://schemas.microsoft.com/office/drawing/2014/main" id="{0BEE7D95-9E9C-4C6D-91AA-6429F74B9F98}"/>
                  </a:ext>
                </a:extLst>
              </p:cNvPr>
              <p:cNvSpPr/>
              <p:nvPr/>
            </p:nvSpPr>
            <p:spPr>
              <a:xfrm>
                <a:off x="11207774" y="442662"/>
                <a:ext cx="504056" cy="504056"/>
              </a:xfrm>
              <a:prstGeom prst="ellipse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Calibri"/>
                  <a:ea typeface="微软雅黑"/>
                </a:endParaRPr>
              </a:p>
            </p:txBody>
          </p:sp>
        </p:grpSp>
        <p:cxnSp>
          <p:nvCxnSpPr>
            <p:cNvPr id="20" name="直接连接符 19">
              <a:extLst>
                <a:ext uri="{FF2B5EF4-FFF2-40B4-BE49-F238E27FC236}">
                  <a16:creationId xmlns:a16="http://schemas.microsoft.com/office/drawing/2014/main" id="{C4FBB3C1-88AA-4E76-B54C-31018E3BFAA0}"/>
                </a:ext>
              </a:extLst>
            </p:cNvPr>
            <p:cNvCxnSpPr>
              <a:cxnSpLocks/>
            </p:cNvCxnSpPr>
            <p:nvPr/>
          </p:nvCxnSpPr>
          <p:spPr>
            <a:xfrm>
              <a:off x="775303" y="707504"/>
              <a:ext cx="1833288" cy="0"/>
            </a:xfrm>
            <a:prstGeom prst="line">
              <a:avLst/>
            </a:prstGeom>
            <a:ln>
              <a:solidFill>
                <a:srgbClr val="B3DF6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9" name="矩形 48">
            <a:extLst>
              <a:ext uri="{FF2B5EF4-FFF2-40B4-BE49-F238E27FC236}">
                <a16:creationId xmlns:a16="http://schemas.microsoft.com/office/drawing/2014/main" id="{2D834A0F-3130-4C5B-B4A3-49FE07333EE4}"/>
              </a:ext>
            </a:extLst>
          </p:cNvPr>
          <p:cNvSpPr/>
          <p:nvPr/>
        </p:nvSpPr>
        <p:spPr>
          <a:xfrm>
            <a:off x="740005" y="978316"/>
            <a:ext cx="9905828" cy="5833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266700" algn="just">
              <a:lnSpc>
                <a:spcPct val="150000"/>
              </a:lnSpc>
              <a:spcAft>
                <a:spcPts val="0"/>
              </a:spcAft>
            </a:pPr>
            <a:r>
              <a:rPr lang="zh-CN" altLang="en-US" sz="2800" dirty="0"/>
              <a:t>文件，是一组</a:t>
            </a:r>
            <a:r>
              <a:rPr lang="zh-CN" altLang="en-US" sz="2800" dirty="0">
                <a:solidFill>
                  <a:srgbClr val="FF0000"/>
                </a:solidFill>
              </a:rPr>
              <a:t>相关数据</a:t>
            </a:r>
            <a:r>
              <a:rPr lang="zh-CN" altLang="en-US" sz="2800" dirty="0"/>
              <a:t>的集合。组成文件的数据可以是</a:t>
            </a:r>
            <a:r>
              <a:rPr lang="en-US" altLang="zh-CN" sz="2800" dirty="0"/>
              <a:t>ASCII</a:t>
            </a:r>
            <a:r>
              <a:rPr lang="zh-CN" altLang="en-US" sz="2800" dirty="0"/>
              <a:t>编码，也可以是二进制编码。</a:t>
            </a:r>
            <a:endParaRPr lang="en-US" altLang="zh-CN" sz="2800" dirty="0"/>
          </a:p>
          <a:p>
            <a:pPr indent="266700" algn="just">
              <a:lnSpc>
                <a:spcPct val="150000"/>
              </a:lnSpc>
              <a:spcAft>
                <a:spcPts val="0"/>
              </a:spcAft>
            </a:pPr>
            <a:r>
              <a:rPr lang="zh-CN" altLang="en-US" sz="2800" dirty="0"/>
              <a:t>文件名都包含两个部分：主文件名和扩展名，两者之间用“</a:t>
            </a:r>
            <a:r>
              <a:rPr lang="en-US" altLang="zh-CN" sz="2800" dirty="0"/>
              <a:t>.”</a:t>
            </a:r>
            <a:r>
              <a:rPr lang="zh-CN" altLang="en-US" sz="2800" dirty="0"/>
              <a:t>隔开。</a:t>
            </a:r>
            <a:endParaRPr lang="en-US" altLang="zh-CN" sz="2800" dirty="0"/>
          </a:p>
          <a:p>
            <a:pPr indent="266700"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2800" dirty="0"/>
              <a:t>			         </a:t>
            </a:r>
            <a:r>
              <a:rPr lang="zh-CN" altLang="en-US" sz="2800" dirty="0"/>
              <a:t>主文件名</a:t>
            </a:r>
            <a:r>
              <a:rPr lang="en-US" altLang="zh-CN" sz="2800" dirty="0"/>
              <a:t>.</a:t>
            </a:r>
            <a:r>
              <a:rPr lang="zh-CN" altLang="en-US" sz="2800" dirty="0"/>
              <a:t>扩展名</a:t>
            </a:r>
            <a:endParaRPr lang="en-US" altLang="zh-CN" sz="2800" dirty="0"/>
          </a:p>
          <a:p>
            <a:pPr indent="266700" algn="just">
              <a:lnSpc>
                <a:spcPct val="150000"/>
              </a:lnSpc>
              <a:spcAft>
                <a:spcPts val="0"/>
              </a:spcAft>
            </a:pPr>
            <a:endParaRPr lang="en-US" altLang="zh-CN" sz="2800" dirty="0"/>
          </a:p>
          <a:p>
            <a:pPr indent="266700" algn="just">
              <a:lnSpc>
                <a:spcPct val="150000"/>
              </a:lnSpc>
              <a:spcAft>
                <a:spcPts val="0"/>
              </a:spcAft>
            </a:pPr>
            <a:endParaRPr lang="en-US" altLang="zh-CN" sz="2800" dirty="0"/>
          </a:p>
          <a:p>
            <a:pPr indent="266700" algn="just">
              <a:lnSpc>
                <a:spcPct val="150000"/>
              </a:lnSpc>
              <a:spcAft>
                <a:spcPts val="0"/>
              </a:spcAft>
            </a:pPr>
            <a:endParaRPr lang="en-US" altLang="zh-CN" sz="2800" dirty="0"/>
          </a:p>
          <a:p>
            <a:pPr indent="266700" algn="just">
              <a:lnSpc>
                <a:spcPct val="150000"/>
              </a:lnSpc>
              <a:spcAft>
                <a:spcPts val="0"/>
              </a:spcAft>
            </a:pPr>
            <a:endParaRPr lang="zh-CN" altLang="zh-CN" sz="2800" kern="100" dirty="0">
              <a:latin typeface="+mn-ea"/>
              <a:cs typeface="Times New Roman" panose="02020603050405020304" pitchFamily="18" charset="0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2C727301-5B4B-4B84-A066-850FA385F2E3}"/>
              </a:ext>
            </a:extLst>
          </p:cNvPr>
          <p:cNvSpPr/>
          <p:nvPr/>
        </p:nvSpPr>
        <p:spPr>
          <a:xfrm>
            <a:off x="530360" y="5071571"/>
            <a:ext cx="4466706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zh-CN" sz="2000" dirty="0">
                <a:solidFill>
                  <a:schemeClr val="accent1">
                    <a:lumMod val="75000"/>
                  </a:schemeClr>
                </a:solidFill>
              </a:rPr>
              <a:t>由用户自行命名，</a:t>
            </a:r>
            <a:endParaRPr lang="en-US" altLang="zh-CN" sz="2000" dirty="0">
              <a:solidFill>
                <a:schemeClr val="accent1">
                  <a:lumMod val="75000"/>
                </a:schemeClr>
              </a:solidFill>
            </a:endParaRPr>
          </a:p>
          <a:p>
            <a:pPr algn="ctr"/>
            <a:r>
              <a:rPr lang="zh-CN" altLang="zh-CN" sz="2000" dirty="0">
                <a:solidFill>
                  <a:schemeClr val="accent1">
                    <a:lumMod val="75000"/>
                  </a:schemeClr>
                </a:solidFill>
              </a:rPr>
              <a:t>用来与其他文件加以区别</a:t>
            </a:r>
            <a:endParaRPr lang="zh-CN" altLang="en-US" sz="20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C0B6B853-1EE1-44F2-8647-67352C865871}"/>
              </a:ext>
            </a:extLst>
          </p:cNvPr>
          <p:cNvSpPr/>
          <p:nvPr/>
        </p:nvSpPr>
        <p:spPr>
          <a:xfrm>
            <a:off x="6461759" y="5067992"/>
            <a:ext cx="4721630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zh-CN" sz="2000" dirty="0">
                <a:solidFill>
                  <a:srgbClr val="FF9900"/>
                </a:solidFill>
              </a:rPr>
              <a:t>文件类型对应缩写，</a:t>
            </a:r>
            <a:endParaRPr lang="en-US" altLang="zh-CN" sz="2000" dirty="0">
              <a:solidFill>
                <a:srgbClr val="FF9900"/>
              </a:solidFill>
            </a:endParaRPr>
          </a:p>
          <a:p>
            <a:pPr algn="ctr"/>
            <a:r>
              <a:rPr lang="zh-CN" altLang="zh-CN" sz="2000" dirty="0">
                <a:solidFill>
                  <a:srgbClr val="FF9900"/>
                </a:solidFill>
              </a:rPr>
              <a:t>用来指定打开和操作该文件的应用程序</a:t>
            </a:r>
            <a:endParaRPr lang="zh-CN" altLang="en-US" sz="2000" dirty="0">
              <a:solidFill>
                <a:srgbClr val="FF9900"/>
              </a:solidFill>
            </a:endParaRPr>
          </a:p>
        </p:txBody>
      </p:sp>
      <p:cxnSp>
        <p:nvCxnSpPr>
          <p:cNvPr id="3" name="直接箭头连接符 2">
            <a:extLst>
              <a:ext uri="{FF2B5EF4-FFF2-40B4-BE49-F238E27FC236}">
                <a16:creationId xmlns:a16="http://schemas.microsoft.com/office/drawing/2014/main" id="{F6DB30D8-674B-49B0-B72A-E2A771A2FA81}"/>
              </a:ext>
            </a:extLst>
          </p:cNvPr>
          <p:cNvCxnSpPr/>
          <p:nvPr/>
        </p:nvCxnSpPr>
        <p:spPr>
          <a:xfrm flipH="1">
            <a:off x="3120044" y="4184073"/>
            <a:ext cx="1895301" cy="88391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C454B858-79D3-4B76-8A6A-DFBA21A8911A}"/>
              </a:ext>
            </a:extLst>
          </p:cNvPr>
          <p:cNvCxnSpPr/>
          <p:nvPr/>
        </p:nvCxnSpPr>
        <p:spPr>
          <a:xfrm>
            <a:off x="6461759" y="4150822"/>
            <a:ext cx="1540626" cy="917170"/>
          </a:xfrm>
          <a:prstGeom prst="straightConnector1">
            <a:avLst/>
          </a:prstGeom>
          <a:ln w="28575">
            <a:solidFill>
              <a:srgbClr val="FF99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103990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组合 31">
            <a:extLst>
              <a:ext uri="{FF2B5EF4-FFF2-40B4-BE49-F238E27FC236}">
                <a16:creationId xmlns:a16="http://schemas.microsoft.com/office/drawing/2014/main" id="{032EF26F-0D58-4A0E-97C1-668713F80B14}"/>
              </a:ext>
            </a:extLst>
          </p:cNvPr>
          <p:cNvGrpSpPr/>
          <p:nvPr/>
        </p:nvGrpSpPr>
        <p:grpSpPr>
          <a:xfrm>
            <a:off x="170320" y="203448"/>
            <a:ext cx="6511833" cy="504056"/>
            <a:chOff x="169526" y="203448"/>
            <a:chExt cx="6511833" cy="504056"/>
          </a:xfrm>
        </p:grpSpPr>
        <p:sp>
          <p:nvSpPr>
            <p:cNvPr id="4" name="TextBox 3"/>
            <p:cNvSpPr txBox="1"/>
            <p:nvPr/>
          </p:nvSpPr>
          <p:spPr>
            <a:xfrm>
              <a:off x="781172" y="245839"/>
              <a:ext cx="590018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spc="300" dirty="0">
                  <a:solidFill>
                    <a:srgbClr val="1E6787"/>
                  </a:solidFill>
                  <a:latin typeface="微软雅黑" pitchFamily="34" charset="-122"/>
                  <a:ea typeface="微软雅黑" pitchFamily="34" charset="-122"/>
                </a:rPr>
                <a:t>目录与文件路径</a:t>
              </a:r>
              <a:endParaRPr lang="zh-CN" altLang="en-US" sz="2000" b="1" spc="300" dirty="0">
                <a:solidFill>
                  <a:srgbClr val="1E6787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grpSp>
          <p:nvGrpSpPr>
            <p:cNvPr id="56" name="组合 55">
              <a:extLst>
                <a:ext uri="{FF2B5EF4-FFF2-40B4-BE49-F238E27FC236}">
                  <a16:creationId xmlns:a16="http://schemas.microsoft.com/office/drawing/2014/main" id="{B3ECA4EB-10D1-4B65-B604-4032302CDAF4}"/>
                </a:ext>
              </a:extLst>
            </p:cNvPr>
            <p:cNvGrpSpPr/>
            <p:nvPr/>
          </p:nvGrpSpPr>
          <p:grpSpPr>
            <a:xfrm>
              <a:off x="169526" y="203448"/>
              <a:ext cx="504056" cy="504056"/>
              <a:chOff x="11207774" y="442662"/>
              <a:chExt cx="504056" cy="504056"/>
            </a:xfr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grpSpPr>
          <p:sp>
            <p:nvSpPr>
              <p:cNvPr id="57" name="椭圆 56">
                <a:extLst>
                  <a:ext uri="{FF2B5EF4-FFF2-40B4-BE49-F238E27FC236}">
                    <a16:creationId xmlns:a16="http://schemas.microsoft.com/office/drawing/2014/main" id="{FF372EA1-AB4F-47B1-B450-59AB8827ECD5}"/>
                  </a:ext>
                </a:extLst>
              </p:cNvPr>
              <p:cNvSpPr/>
              <p:nvPr/>
            </p:nvSpPr>
            <p:spPr>
              <a:xfrm>
                <a:off x="11351790" y="601230"/>
                <a:ext cx="216024" cy="216024"/>
              </a:xfrm>
              <a:prstGeom prst="ellipse">
                <a:avLst/>
              </a:prstGeom>
              <a:solidFill>
                <a:srgbClr val="B3DF63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prstClr val="white"/>
                  </a:solidFill>
                  <a:latin typeface="Calibri"/>
                  <a:ea typeface="微软雅黑"/>
                </a:endParaRPr>
              </a:p>
            </p:txBody>
          </p:sp>
          <p:sp>
            <p:nvSpPr>
              <p:cNvPr id="58" name="椭圆 57">
                <a:extLst>
                  <a:ext uri="{FF2B5EF4-FFF2-40B4-BE49-F238E27FC236}">
                    <a16:creationId xmlns:a16="http://schemas.microsoft.com/office/drawing/2014/main" id="{0BEE7D95-9E9C-4C6D-91AA-6429F74B9F98}"/>
                  </a:ext>
                </a:extLst>
              </p:cNvPr>
              <p:cNvSpPr/>
              <p:nvPr/>
            </p:nvSpPr>
            <p:spPr>
              <a:xfrm>
                <a:off x="11207774" y="442662"/>
                <a:ext cx="504056" cy="504056"/>
              </a:xfrm>
              <a:prstGeom prst="ellipse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Calibri"/>
                  <a:ea typeface="微软雅黑"/>
                </a:endParaRPr>
              </a:p>
            </p:txBody>
          </p:sp>
        </p:grpSp>
        <p:cxnSp>
          <p:nvCxnSpPr>
            <p:cNvPr id="20" name="直接连接符 19">
              <a:extLst>
                <a:ext uri="{FF2B5EF4-FFF2-40B4-BE49-F238E27FC236}">
                  <a16:creationId xmlns:a16="http://schemas.microsoft.com/office/drawing/2014/main" id="{C4FBB3C1-88AA-4E76-B54C-31018E3BFAA0}"/>
                </a:ext>
              </a:extLst>
            </p:cNvPr>
            <p:cNvCxnSpPr>
              <a:cxnSpLocks/>
            </p:cNvCxnSpPr>
            <p:nvPr/>
          </p:nvCxnSpPr>
          <p:spPr>
            <a:xfrm>
              <a:off x="775303" y="707504"/>
              <a:ext cx="1833288" cy="0"/>
            </a:xfrm>
            <a:prstGeom prst="line">
              <a:avLst/>
            </a:prstGeom>
            <a:ln>
              <a:solidFill>
                <a:srgbClr val="B3DF6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9" name="矩形 48">
            <a:extLst>
              <a:ext uri="{FF2B5EF4-FFF2-40B4-BE49-F238E27FC236}">
                <a16:creationId xmlns:a16="http://schemas.microsoft.com/office/drawing/2014/main" id="{2D834A0F-3130-4C5B-B4A3-49FE07333EE4}"/>
              </a:ext>
            </a:extLst>
          </p:cNvPr>
          <p:cNvSpPr/>
          <p:nvPr/>
        </p:nvSpPr>
        <p:spPr>
          <a:xfrm>
            <a:off x="294433" y="846904"/>
            <a:ext cx="10869053" cy="19552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>
              <a:lnSpc>
                <a:spcPct val="150000"/>
              </a:lnSpc>
            </a:pPr>
            <a:r>
              <a:rPr lang="zh-CN" altLang="zh-CN" sz="2800" dirty="0"/>
              <a:t>文件</a:t>
            </a:r>
            <a:r>
              <a:rPr lang="en-US" altLang="zh-CN" sz="2800" dirty="0"/>
              <a:t>——</a:t>
            </a:r>
            <a:r>
              <a:rPr lang="zh-CN" altLang="zh-CN" sz="2800" dirty="0"/>
              <a:t>用来组织和管理一组相关数据的；</a:t>
            </a:r>
            <a:endParaRPr lang="en-US" altLang="zh-CN" sz="2800" dirty="0"/>
          </a:p>
          <a:p>
            <a:pPr lvl="1">
              <a:lnSpc>
                <a:spcPct val="150000"/>
              </a:lnSpc>
            </a:pPr>
            <a:r>
              <a:rPr lang="zh-CN" altLang="zh-CN" sz="2800" dirty="0"/>
              <a:t>目录</a:t>
            </a:r>
            <a:r>
              <a:rPr lang="en-US" altLang="zh-CN" sz="2800" dirty="0"/>
              <a:t>——</a:t>
            </a:r>
            <a:r>
              <a:rPr lang="zh-CN" altLang="zh-CN" sz="2800" dirty="0"/>
              <a:t>是用来组织和管理一组相关文件的。</a:t>
            </a:r>
            <a:endParaRPr lang="en-US" altLang="zh-CN" sz="2800" dirty="0"/>
          </a:p>
          <a:p>
            <a:pPr lvl="1">
              <a:lnSpc>
                <a:spcPct val="150000"/>
              </a:lnSpc>
            </a:pPr>
            <a:r>
              <a:rPr lang="zh-CN" altLang="zh-CN" sz="2800" dirty="0"/>
              <a:t>目录，又可称为文件夹，可以包含文件，也可以包含其他目录。</a:t>
            </a:r>
            <a:endParaRPr lang="zh-CN" altLang="zh-CN" sz="2800" kern="100" dirty="0">
              <a:latin typeface="+mn-ea"/>
              <a:cs typeface="Times New Roman" panose="02020603050405020304" pitchFamily="18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82AAFF60-BDE5-42BC-97EB-1D4CD3F2B7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5634" y="2993907"/>
            <a:ext cx="2770998" cy="3333347"/>
          </a:xfrm>
          <a:prstGeom prst="rect">
            <a:avLst/>
          </a:prstGeom>
        </p:spPr>
      </p:pic>
      <p:grpSp>
        <p:nvGrpSpPr>
          <p:cNvPr id="7" name="组合 6">
            <a:extLst>
              <a:ext uri="{FF2B5EF4-FFF2-40B4-BE49-F238E27FC236}">
                <a16:creationId xmlns:a16="http://schemas.microsoft.com/office/drawing/2014/main" id="{3ABB7742-5A56-4C1E-ABEF-C36FB0E50B52}"/>
              </a:ext>
            </a:extLst>
          </p:cNvPr>
          <p:cNvGrpSpPr/>
          <p:nvPr/>
        </p:nvGrpSpPr>
        <p:grpSpPr>
          <a:xfrm>
            <a:off x="422348" y="3087256"/>
            <a:ext cx="2603286" cy="452388"/>
            <a:chOff x="1307869" y="3301465"/>
            <a:chExt cx="2603286" cy="452388"/>
          </a:xfrm>
        </p:grpSpPr>
        <p:cxnSp>
          <p:nvCxnSpPr>
            <p:cNvPr id="5" name="直接箭头连接符 4">
              <a:extLst>
                <a:ext uri="{FF2B5EF4-FFF2-40B4-BE49-F238E27FC236}">
                  <a16:creationId xmlns:a16="http://schemas.microsoft.com/office/drawing/2014/main" id="{B615332B-9A45-4410-9CEC-82401A37B57C}"/>
                </a:ext>
              </a:extLst>
            </p:cNvPr>
            <p:cNvCxnSpPr/>
            <p:nvPr/>
          </p:nvCxnSpPr>
          <p:spPr>
            <a:xfrm>
              <a:off x="2916455" y="3551722"/>
              <a:ext cx="994700" cy="0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691E516A-5B7F-4325-9A9B-80B0B2CEA88A}"/>
                </a:ext>
              </a:extLst>
            </p:cNvPr>
            <p:cNvSpPr/>
            <p:nvPr/>
          </p:nvSpPr>
          <p:spPr>
            <a:xfrm>
              <a:off x="1307869" y="3301465"/>
              <a:ext cx="1512333" cy="45238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/>
                <a:t>盘符</a:t>
              </a:r>
              <a:r>
                <a:rPr lang="en-US" altLang="zh-CN" dirty="0"/>
                <a:t>(</a:t>
              </a:r>
              <a:r>
                <a:rPr lang="zh-CN" altLang="en-US" dirty="0"/>
                <a:t>根目录）</a:t>
              </a:r>
            </a:p>
          </p:txBody>
        </p:sp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7BE7251D-B36E-4B52-8781-27A1C908A329}"/>
              </a:ext>
            </a:extLst>
          </p:cNvPr>
          <p:cNvGrpSpPr/>
          <p:nvPr/>
        </p:nvGrpSpPr>
        <p:grpSpPr>
          <a:xfrm>
            <a:off x="422348" y="4049387"/>
            <a:ext cx="2603286" cy="1126551"/>
            <a:chOff x="1307869" y="4263596"/>
            <a:chExt cx="2603286" cy="1126551"/>
          </a:xfrm>
        </p:grpSpPr>
        <p:grpSp>
          <p:nvGrpSpPr>
            <p:cNvPr id="14" name="组合 13">
              <a:extLst>
                <a:ext uri="{FF2B5EF4-FFF2-40B4-BE49-F238E27FC236}">
                  <a16:creationId xmlns:a16="http://schemas.microsoft.com/office/drawing/2014/main" id="{B4608990-623A-4335-9571-13C4CC2191A3}"/>
                </a:ext>
              </a:extLst>
            </p:cNvPr>
            <p:cNvGrpSpPr/>
            <p:nvPr/>
          </p:nvGrpSpPr>
          <p:grpSpPr>
            <a:xfrm>
              <a:off x="1307869" y="4263596"/>
              <a:ext cx="2603286" cy="452388"/>
              <a:chOff x="1307869" y="3301465"/>
              <a:chExt cx="2603286" cy="452388"/>
            </a:xfrm>
          </p:grpSpPr>
          <p:cxnSp>
            <p:nvCxnSpPr>
              <p:cNvPr id="15" name="直接箭头连接符 14">
                <a:extLst>
                  <a:ext uri="{FF2B5EF4-FFF2-40B4-BE49-F238E27FC236}">
                    <a16:creationId xmlns:a16="http://schemas.microsoft.com/office/drawing/2014/main" id="{26C4D977-2AAC-426D-B881-91BBFE66C124}"/>
                  </a:ext>
                </a:extLst>
              </p:cNvPr>
              <p:cNvCxnSpPr/>
              <p:nvPr/>
            </p:nvCxnSpPr>
            <p:spPr>
              <a:xfrm>
                <a:off x="2916455" y="3551722"/>
                <a:ext cx="994700" cy="0"/>
              </a:xfrm>
              <a:prstGeom prst="straightConnector1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6" name="矩形 15">
                <a:extLst>
                  <a:ext uri="{FF2B5EF4-FFF2-40B4-BE49-F238E27FC236}">
                    <a16:creationId xmlns:a16="http://schemas.microsoft.com/office/drawing/2014/main" id="{CCCD7DE7-BE96-47DF-8C21-01FA035CFD71}"/>
                  </a:ext>
                </a:extLst>
              </p:cNvPr>
              <p:cNvSpPr/>
              <p:nvPr/>
            </p:nvSpPr>
            <p:spPr>
              <a:xfrm>
                <a:off x="1307869" y="3301465"/>
                <a:ext cx="1512333" cy="452388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dirty="0"/>
                  <a:t>文件夹</a:t>
                </a:r>
                <a:r>
                  <a:rPr lang="en-US" altLang="zh-CN" dirty="0"/>
                  <a:t>(</a:t>
                </a:r>
                <a:r>
                  <a:rPr lang="zh-CN" altLang="en-US" dirty="0"/>
                  <a:t>目录</a:t>
                </a:r>
                <a:r>
                  <a:rPr lang="en-US" altLang="zh-CN" dirty="0"/>
                  <a:t>)</a:t>
                </a:r>
                <a:endParaRPr lang="zh-CN" altLang="en-US" dirty="0"/>
              </a:p>
            </p:txBody>
          </p:sp>
        </p:grpSp>
        <p:cxnSp>
          <p:nvCxnSpPr>
            <p:cNvPr id="9" name="直接箭头连接符 8">
              <a:extLst>
                <a:ext uri="{FF2B5EF4-FFF2-40B4-BE49-F238E27FC236}">
                  <a16:creationId xmlns:a16="http://schemas.microsoft.com/office/drawing/2014/main" id="{B5624DF0-EA10-4071-8C6B-2C6AA96C0826}"/>
                </a:ext>
              </a:extLst>
            </p:cNvPr>
            <p:cNvCxnSpPr/>
            <p:nvPr/>
          </p:nvCxnSpPr>
          <p:spPr>
            <a:xfrm>
              <a:off x="2916455" y="4513853"/>
              <a:ext cx="994700" cy="876294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矩形 22">
            <a:extLst>
              <a:ext uri="{FF2B5EF4-FFF2-40B4-BE49-F238E27FC236}">
                <a16:creationId xmlns:a16="http://schemas.microsoft.com/office/drawing/2014/main" id="{61AA3B39-8921-4E8F-B9C6-F9BE6923D2FE}"/>
              </a:ext>
            </a:extLst>
          </p:cNvPr>
          <p:cNvSpPr/>
          <p:nvPr/>
        </p:nvSpPr>
        <p:spPr>
          <a:xfrm>
            <a:off x="422348" y="5377892"/>
            <a:ext cx="1512333" cy="452388"/>
          </a:xfrm>
          <a:prstGeom prst="rect">
            <a:avLst/>
          </a:prstGeom>
          <a:solidFill>
            <a:srgbClr val="FF9900"/>
          </a:solidFill>
          <a:ln>
            <a:solidFill>
              <a:srgbClr val="FF99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文件</a:t>
            </a:r>
          </a:p>
        </p:txBody>
      </p: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20F69627-CCB2-4696-BF90-137E48AE66F9}"/>
              </a:ext>
            </a:extLst>
          </p:cNvPr>
          <p:cNvCxnSpPr>
            <a:cxnSpLocks/>
          </p:cNvCxnSpPr>
          <p:nvPr/>
        </p:nvCxnSpPr>
        <p:spPr>
          <a:xfrm>
            <a:off x="2034436" y="5604087"/>
            <a:ext cx="894945" cy="355289"/>
          </a:xfrm>
          <a:prstGeom prst="straightConnector1">
            <a:avLst/>
          </a:prstGeom>
          <a:ln w="28575">
            <a:solidFill>
              <a:srgbClr val="FF99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连接符 38">
            <a:extLst>
              <a:ext uri="{FF2B5EF4-FFF2-40B4-BE49-F238E27FC236}">
                <a16:creationId xmlns:a16="http://schemas.microsoft.com/office/drawing/2014/main" id="{9C4B623A-7733-4299-8A17-F241FB7DF6EE}"/>
              </a:ext>
            </a:extLst>
          </p:cNvPr>
          <p:cNvCxnSpPr/>
          <p:nvPr/>
        </p:nvCxnSpPr>
        <p:spPr>
          <a:xfrm>
            <a:off x="4013738" y="4660580"/>
            <a:ext cx="914400" cy="0"/>
          </a:xfrm>
          <a:prstGeom prst="line">
            <a:avLst/>
          </a:prstGeom>
          <a:ln w="28575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接连接符 43">
            <a:extLst>
              <a:ext uri="{FF2B5EF4-FFF2-40B4-BE49-F238E27FC236}">
                <a16:creationId xmlns:a16="http://schemas.microsoft.com/office/drawing/2014/main" id="{E19CFBBB-AD4B-4906-A31F-DD2281EEF111}"/>
              </a:ext>
            </a:extLst>
          </p:cNvPr>
          <p:cNvCxnSpPr>
            <a:cxnSpLocks/>
          </p:cNvCxnSpPr>
          <p:nvPr/>
        </p:nvCxnSpPr>
        <p:spPr>
          <a:xfrm>
            <a:off x="4129242" y="5583002"/>
            <a:ext cx="591954" cy="0"/>
          </a:xfrm>
          <a:prstGeom prst="line">
            <a:avLst/>
          </a:prstGeom>
          <a:ln w="28575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接连接符 45">
            <a:extLst>
              <a:ext uri="{FF2B5EF4-FFF2-40B4-BE49-F238E27FC236}">
                <a16:creationId xmlns:a16="http://schemas.microsoft.com/office/drawing/2014/main" id="{16E89F77-C954-4D9B-9E81-D4C63C9AEADF}"/>
              </a:ext>
            </a:extLst>
          </p:cNvPr>
          <p:cNvCxnSpPr>
            <a:cxnSpLocks/>
          </p:cNvCxnSpPr>
          <p:nvPr/>
        </p:nvCxnSpPr>
        <p:spPr>
          <a:xfrm>
            <a:off x="5070914" y="5583002"/>
            <a:ext cx="591954" cy="0"/>
          </a:xfrm>
          <a:prstGeom prst="line">
            <a:avLst/>
          </a:prstGeom>
          <a:ln w="28575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接连接符 46">
            <a:extLst>
              <a:ext uri="{FF2B5EF4-FFF2-40B4-BE49-F238E27FC236}">
                <a16:creationId xmlns:a16="http://schemas.microsoft.com/office/drawing/2014/main" id="{4273E1DE-EBEA-450E-A545-3BD7D8416589}"/>
              </a:ext>
            </a:extLst>
          </p:cNvPr>
          <p:cNvCxnSpPr>
            <a:cxnSpLocks/>
          </p:cNvCxnSpPr>
          <p:nvPr/>
        </p:nvCxnSpPr>
        <p:spPr>
          <a:xfrm>
            <a:off x="3107360" y="6327254"/>
            <a:ext cx="591954" cy="0"/>
          </a:xfrm>
          <a:prstGeom prst="line">
            <a:avLst/>
          </a:prstGeom>
          <a:ln w="28575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矩形 10">
            <a:extLst>
              <a:ext uri="{FF2B5EF4-FFF2-40B4-BE49-F238E27FC236}">
                <a16:creationId xmlns:a16="http://schemas.microsoft.com/office/drawing/2014/main" id="{357369C7-4E1A-4B36-BD79-EC5E40B38017}"/>
              </a:ext>
            </a:extLst>
          </p:cNvPr>
          <p:cNvSpPr/>
          <p:nvPr/>
        </p:nvSpPr>
        <p:spPr>
          <a:xfrm>
            <a:off x="5829940" y="2886208"/>
            <a:ext cx="6672852" cy="96654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F</a:t>
            </a: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盘根目录下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包含：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r>
              <a:rPr lang="zh-CN" altLang="zh-CN" sz="2000" dirty="0"/>
              <a:t>文件夹“</a:t>
            </a:r>
            <a:r>
              <a:rPr lang="en-US" altLang="zh-CN" sz="2000" dirty="0"/>
              <a:t>documents</a:t>
            </a:r>
            <a:r>
              <a:rPr lang="zh-CN" altLang="zh-CN" sz="2000" dirty="0"/>
              <a:t>”和</a:t>
            </a:r>
            <a:r>
              <a:rPr lang="zh-CN" altLang="en-US" sz="2000" dirty="0"/>
              <a:t> 文件“</a:t>
            </a:r>
            <a:r>
              <a:rPr lang="zh-CN" altLang="zh-CN" sz="2000" dirty="0"/>
              <a:t>文件与异常处理</a:t>
            </a:r>
            <a:r>
              <a:rPr lang="en-US" altLang="zh-CN" sz="2000" dirty="0"/>
              <a:t>.doc</a:t>
            </a:r>
            <a:r>
              <a:rPr lang="zh-CN" altLang="zh-CN" sz="2000" dirty="0"/>
              <a:t>”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13A8DD6-FDD1-4FEB-AACC-F27D91F3F386}"/>
              </a:ext>
            </a:extLst>
          </p:cNvPr>
          <p:cNvSpPr/>
          <p:nvPr/>
        </p:nvSpPr>
        <p:spPr>
          <a:xfrm>
            <a:off x="5829940" y="3936844"/>
            <a:ext cx="5052730" cy="142821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000" dirty="0">
                <a:latin typeface="+mn-ea"/>
                <a:cs typeface="Times New Roman" panose="02020603050405020304" pitchFamily="18" charset="0"/>
              </a:rPr>
              <a:t>文件夹“</a:t>
            </a:r>
            <a:r>
              <a:rPr lang="en-US" altLang="zh-CN" sz="2000" dirty="0">
                <a:latin typeface="+mn-ea"/>
                <a:cs typeface="Times New Roman" panose="02020603050405020304" pitchFamily="18" charset="0"/>
              </a:rPr>
              <a:t>documents</a:t>
            </a:r>
            <a:r>
              <a:rPr lang="zh-CN" altLang="zh-CN" sz="2000" dirty="0">
                <a:latin typeface="+mn-ea"/>
                <a:cs typeface="Times New Roman" panose="02020603050405020304" pitchFamily="18" charset="0"/>
              </a:rPr>
              <a:t>”</a:t>
            </a:r>
            <a:r>
              <a:rPr lang="zh-CN" altLang="en-US" sz="2000" dirty="0">
                <a:latin typeface="+mn-ea"/>
                <a:cs typeface="Times New Roman" panose="02020603050405020304" pitchFamily="18" charset="0"/>
              </a:rPr>
              <a:t>下包含：</a:t>
            </a:r>
            <a:endParaRPr lang="en-US" altLang="zh-CN" sz="2000" dirty="0">
              <a:latin typeface="+mn-ea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r>
              <a:rPr lang="zh-CN" altLang="zh-CN" sz="2000" dirty="0"/>
              <a:t>文件夹“</a:t>
            </a:r>
            <a:r>
              <a:rPr lang="en-US" altLang="zh-CN" sz="2000" dirty="0"/>
              <a:t>python</a:t>
            </a:r>
            <a:r>
              <a:rPr lang="zh-CN" altLang="zh-CN" sz="2000" dirty="0"/>
              <a:t>”</a:t>
            </a:r>
            <a:r>
              <a:rPr lang="zh-CN" altLang="en-US" sz="2000" dirty="0"/>
              <a:t>、</a:t>
            </a:r>
            <a:r>
              <a:rPr lang="zh-CN" altLang="zh-CN" sz="2000" dirty="0"/>
              <a:t>文件“</a:t>
            </a:r>
            <a:r>
              <a:rPr lang="en-US" altLang="zh-CN" sz="2000" dirty="0"/>
              <a:t>scores.xlsx</a:t>
            </a:r>
            <a:r>
              <a:rPr lang="zh-CN" altLang="zh-CN" sz="2000" dirty="0"/>
              <a:t>”</a:t>
            </a:r>
            <a:endParaRPr lang="en-US" altLang="zh-CN" sz="2000" dirty="0"/>
          </a:p>
          <a:p>
            <a:pPr lvl="1">
              <a:lnSpc>
                <a:spcPct val="150000"/>
              </a:lnSpc>
            </a:pPr>
            <a:r>
              <a:rPr lang="zh-CN" altLang="zh-CN" sz="2000" dirty="0"/>
              <a:t>和文件“</a:t>
            </a:r>
            <a:r>
              <a:rPr lang="en-US" altLang="zh-CN" sz="2000" dirty="0"/>
              <a:t>data.txt</a:t>
            </a:r>
            <a:r>
              <a:rPr lang="zh-CN" altLang="zh-CN" sz="2000" dirty="0"/>
              <a:t>”</a:t>
            </a:r>
            <a:endParaRPr lang="zh-CN" altLang="en-US" sz="2000" dirty="0">
              <a:latin typeface="+mn-ea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E53BD1A2-76DB-4294-8912-0962FCD1AB46}"/>
              </a:ext>
            </a:extLst>
          </p:cNvPr>
          <p:cNvSpPr/>
          <p:nvPr/>
        </p:nvSpPr>
        <p:spPr>
          <a:xfrm>
            <a:off x="5892885" y="5449144"/>
            <a:ext cx="3370603" cy="96654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000" dirty="0">
                <a:latin typeface="+mn-ea"/>
                <a:cs typeface="Times New Roman" panose="02020603050405020304" pitchFamily="18" charset="0"/>
              </a:rPr>
              <a:t>文件夹“</a:t>
            </a:r>
            <a:r>
              <a:rPr lang="en-US" altLang="zh-CN" sz="2000" dirty="0">
                <a:latin typeface="+mn-ea"/>
                <a:cs typeface="Times New Roman" panose="02020603050405020304" pitchFamily="18" charset="0"/>
              </a:rPr>
              <a:t>python</a:t>
            </a:r>
            <a:r>
              <a:rPr lang="zh-CN" altLang="zh-CN" sz="2000" dirty="0">
                <a:latin typeface="+mn-ea"/>
                <a:cs typeface="Times New Roman" panose="02020603050405020304" pitchFamily="18" charset="0"/>
              </a:rPr>
              <a:t>”</a:t>
            </a:r>
            <a:r>
              <a:rPr lang="zh-CN" altLang="en-US" sz="2000" dirty="0">
                <a:latin typeface="+mn-ea"/>
                <a:cs typeface="Times New Roman" panose="02020603050405020304" pitchFamily="18" charset="0"/>
              </a:rPr>
              <a:t>下包含：</a:t>
            </a:r>
            <a:endParaRPr lang="en-US" altLang="zh-CN" sz="2000" dirty="0">
              <a:latin typeface="+mn-ea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r>
              <a:rPr lang="zh-CN" altLang="zh-CN" sz="2000" dirty="0"/>
              <a:t>文件“</a:t>
            </a:r>
            <a:r>
              <a:rPr lang="en-US" altLang="zh-CN" sz="2000" dirty="0"/>
              <a:t>5-1.py</a:t>
            </a:r>
            <a:r>
              <a:rPr lang="zh-CN" altLang="zh-CN" sz="2000" dirty="0"/>
              <a:t>”</a:t>
            </a:r>
            <a:endParaRPr lang="zh-CN" altLang="en-US" sz="2000" dirty="0">
              <a:latin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28945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组合 31">
            <a:extLst>
              <a:ext uri="{FF2B5EF4-FFF2-40B4-BE49-F238E27FC236}">
                <a16:creationId xmlns:a16="http://schemas.microsoft.com/office/drawing/2014/main" id="{032EF26F-0D58-4A0E-97C1-668713F80B14}"/>
              </a:ext>
            </a:extLst>
          </p:cNvPr>
          <p:cNvGrpSpPr/>
          <p:nvPr/>
        </p:nvGrpSpPr>
        <p:grpSpPr>
          <a:xfrm>
            <a:off x="170320" y="203448"/>
            <a:ext cx="6511833" cy="504056"/>
            <a:chOff x="169526" y="203448"/>
            <a:chExt cx="6511833" cy="504056"/>
          </a:xfrm>
        </p:grpSpPr>
        <p:sp>
          <p:nvSpPr>
            <p:cNvPr id="4" name="TextBox 3"/>
            <p:cNvSpPr txBox="1"/>
            <p:nvPr/>
          </p:nvSpPr>
          <p:spPr>
            <a:xfrm>
              <a:off x="781172" y="245839"/>
              <a:ext cx="590018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spc="300" dirty="0">
                  <a:solidFill>
                    <a:srgbClr val="1E6787"/>
                  </a:solidFill>
                  <a:latin typeface="微软雅黑" pitchFamily="34" charset="-122"/>
                  <a:ea typeface="微软雅黑" pitchFamily="34" charset="-122"/>
                </a:rPr>
                <a:t>目录与文件路径</a:t>
              </a:r>
              <a:endParaRPr lang="zh-CN" altLang="en-US" sz="2000" b="1" spc="300" dirty="0">
                <a:solidFill>
                  <a:srgbClr val="1E6787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grpSp>
          <p:nvGrpSpPr>
            <p:cNvPr id="56" name="组合 55">
              <a:extLst>
                <a:ext uri="{FF2B5EF4-FFF2-40B4-BE49-F238E27FC236}">
                  <a16:creationId xmlns:a16="http://schemas.microsoft.com/office/drawing/2014/main" id="{B3ECA4EB-10D1-4B65-B604-4032302CDAF4}"/>
                </a:ext>
              </a:extLst>
            </p:cNvPr>
            <p:cNvGrpSpPr/>
            <p:nvPr/>
          </p:nvGrpSpPr>
          <p:grpSpPr>
            <a:xfrm>
              <a:off x="169526" y="203448"/>
              <a:ext cx="504056" cy="504056"/>
              <a:chOff x="11207774" y="442662"/>
              <a:chExt cx="504056" cy="504056"/>
            </a:xfr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grpSpPr>
          <p:sp>
            <p:nvSpPr>
              <p:cNvPr id="57" name="椭圆 56">
                <a:extLst>
                  <a:ext uri="{FF2B5EF4-FFF2-40B4-BE49-F238E27FC236}">
                    <a16:creationId xmlns:a16="http://schemas.microsoft.com/office/drawing/2014/main" id="{FF372EA1-AB4F-47B1-B450-59AB8827ECD5}"/>
                  </a:ext>
                </a:extLst>
              </p:cNvPr>
              <p:cNvSpPr/>
              <p:nvPr/>
            </p:nvSpPr>
            <p:spPr>
              <a:xfrm>
                <a:off x="11351790" y="601230"/>
                <a:ext cx="216024" cy="216024"/>
              </a:xfrm>
              <a:prstGeom prst="ellipse">
                <a:avLst/>
              </a:prstGeom>
              <a:solidFill>
                <a:srgbClr val="B3DF63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prstClr val="white"/>
                  </a:solidFill>
                  <a:latin typeface="Calibri"/>
                  <a:ea typeface="微软雅黑"/>
                </a:endParaRPr>
              </a:p>
            </p:txBody>
          </p:sp>
          <p:sp>
            <p:nvSpPr>
              <p:cNvPr id="58" name="椭圆 57">
                <a:extLst>
                  <a:ext uri="{FF2B5EF4-FFF2-40B4-BE49-F238E27FC236}">
                    <a16:creationId xmlns:a16="http://schemas.microsoft.com/office/drawing/2014/main" id="{0BEE7D95-9E9C-4C6D-91AA-6429F74B9F98}"/>
                  </a:ext>
                </a:extLst>
              </p:cNvPr>
              <p:cNvSpPr/>
              <p:nvPr/>
            </p:nvSpPr>
            <p:spPr>
              <a:xfrm>
                <a:off x="11207774" y="442662"/>
                <a:ext cx="504056" cy="504056"/>
              </a:xfrm>
              <a:prstGeom prst="ellipse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Calibri"/>
                  <a:ea typeface="微软雅黑"/>
                </a:endParaRPr>
              </a:p>
            </p:txBody>
          </p:sp>
        </p:grpSp>
        <p:cxnSp>
          <p:nvCxnSpPr>
            <p:cNvPr id="20" name="直接连接符 19">
              <a:extLst>
                <a:ext uri="{FF2B5EF4-FFF2-40B4-BE49-F238E27FC236}">
                  <a16:creationId xmlns:a16="http://schemas.microsoft.com/office/drawing/2014/main" id="{C4FBB3C1-88AA-4E76-B54C-31018E3BFAA0}"/>
                </a:ext>
              </a:extLst>
            </p:cNvPr>
            <p:cNvCxnSpPr>
              <a:cxnSpLocks/>
            </p:cNvCxnSpPr>
            <p:nvPr/>
          </p:nvCxnSpPr>
          <p:spPr>
            <a:xfrm>
              <a:off x="775303" y="707504"/>
              <a:ext cx="1833288" cy="0"/>
            </a:xfrm>
            <a:prstGeom prst="line">
              <a:avLst/>
            </a:prstGeom>
            <a:ln>
              <a:solidFill>
                <a:srgbClr val="B3DF6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9" name="矩形 48">
            <a:extLst>
              <a:ext uri="{FF2B5EF4-FFF2-40B4-BE49-F238E27FC236}">
                <a16:creationId xmlns:a16="http://schemas.microsoft.com/office/drawing/2014/main" id="{2D834A0F-3130-4C5B-B4A3-49FE07333EE4}"/>
              </a:ext>
            </a:extLst>
          </p:cNvPr>
          <p:cNvSpPr/>
          <p:nvPr/>
        </p:nvSpPr>
        <p:spPr>
          <a:xfrm>
            <a:off x="314335" y="1039705"/>
            <a:ext cx="10869053" cy="17813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>
              <a:lnSpc>
                <a:spcPct val="150000"/>
              </a:lnSpc>
            </a:pPr>
            <a:r>
              <a:rPr lang="zh-CN" altLang="zh-CN" sz="2800" dirty="0"/>
              <a:t>文件保存的位置被称为路径。</a:t>
            </a:r>
            <a:endParaRPr lang="en-US" altLang="zh-CN" sz="2800" dirty="0"/>
          </a:p>
          <a:p>
            <a:pPr lvl="2">
              <a:lnSpc>
                <a:spcPct val="150000"/>
              </a:lnSpc>
            </a:pPr>
            <a:r>
              <a:rPr lang="zh-CN" altLang="en-US" sz="2400" kern="100" dirty="0">
                <a:latin typeface="+mn-ea"/>
                <a:cs typeface="Times New Roman" panose="02020603050405020304" pitchFamily="18" charset="0"/>
              </a:rPr>
              <a:t>绝对路径</a:t>
            </a:r>
            <a:r>
              <a:rPr lang="en-US" altLang="zh-CN" sz="2400" kern="100" dirty="0">
                <a:latin typeface="+mn-ea"/>
                <a:cs typeface="Times New Roman" panose="02020603050405020304" pitchFamily="18" charset="0"/>
              </a:rPr>
              <a:t>——</a:t>
            </a:r>
            <a:r>
              <a:rPr lang="zh-CN" altLang="zh-CN" sz="2400" dirty="0">
                <a:solidFill>
                  <a:srgbClr val="FF9900"/>
                </a:solidFill>
              </a:rPr>
              <a:t>从</a:t>
            </a:r>
            <a:r>
              <a:rPr lang="zh-CN" altLang="zh-CN" sz="2400" dirty="0"/>
              <a:t>文件所在</a:t>
            </a:r>
            <a:r>
              <a:rPr lang="zh-CN" altLang="zh-CN" sz="2400" dirty="0">
                <a:solidFill>
                  <a:srgbClr val="FF9900"/>
                </a:solidFill>
              </a:rPr>
              <a:t>驱动器名字</a:t>
            </a:r>
            <a:r>
              <a:rPr lang="zh-CN" altLang="zh-CN" sz="2400" dirty="0"/>
              <a:t>（又称为“盘符”）</a:t>
            </a:r>
            <a:r>
              <a:rPr lang="zh-CN" altLang="zh-CN" sz="2400" dirty="0">
                <a:solidFill>
                  <a:srgbClr val="FF9900"/>
                </a:solidFill>
              </a:rPr>
              <a:t>开始</a:t>
            </a:r>
            <a:r>
              <a:rPr lang="zh-CN" altLang="zh-CN" sz="2400" dirty="0"/>
              <a:t>描述文件的保存位置。</a:t>
            </a:r>
            <a:endParaRPr lang="zh-CN" altLang="zh-CN" sz="2400" kern="100" dirty="0">
              <a:latin typeface="+mn-ea"/>
              <a:cs typeface="Times New Roman" panose="02020603050405020304" pitchFamily="18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82AAFF60-BDE5-42BC-97EB-1D4CD3F2B7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90650" y="2628584"/>
            <a:ext cx="2770998" cy="3333347"/>
          </a:xfrm>
          <a:prstGeom prst="rect">
            <a:avLst/>
          </a:prstGeom>
        </p:spPr>
      </p:pic>
      <p:sp>
        <p:nvSpPr>
          <p:cNvPr id="2" name="椭圆 1">
            <a:extLst>
              <a:ext uri="{FF2B5EF4-FFF2-40B4-BE49-F238E27FC236}">
                <a16:creationId xmlns:a16="http://schemas.microsoft.com/office/drawing/2014/main" id="{1122DC96-23BA-466B-9E2B-D287AC678DAE}"/>
              </a:ext>
            </a:extLst>
          </p:cNvPr>
          <p:cNvSpPr/>
          <p:nvPr/>
        </p:nvSpPr>
        <p:spPr>
          <a:xfrm>
            <a:off x="8290650" y="5216892"/>
            <a:ext cx="741145" cy="779646"/>
          </a:xfrm>
          <a:prstGeom prst="ellipse">
            <a:avLst/>
          </a:prstGeom>
          <a:noFill/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0DC4C725-0022-4AB3-AEA3-6F6203F1D21E}"/>
              </a:ext>
            </a:extLst>
          </p:cNvPr>
          <p:cNvCxnSpPr>
            <a:cxnSpLocks/>
          </p:cNvCxnSpPr>
          <p:nvPr/>
        </p:nvCxnSpPr>
        <p:spPr>
          <a:xfrm>
            <a:off x="8364353" y="3147462"/>
            <a:ext cx="0" cy="2194560"/>
          </a:xfrm>
          <a:prstGeom prst="line">
            <a:avLst/>
          </a:prstGeom>
          <a:ln w="38100">
            <a:headEnd type="none" w="med" len="med"/>
            <a:tailEnd type="triangle" w="med" len="med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7" name="矩形 16">
            <a:extLst>
              <a:ext uri="{FF2B5EF4-FFF2-40B4-BE49-F238E27FC236}">
                <a16:creationId xmlns:a16="http://schemas.microsoft.com/office/drawing/2014/main" id="{8EFD06A0-398B-4157-B3AE-2A147578CBFD}"/>
              </a:ext>
            </a:extLst>
          </p:cNvPr>
          <p:cNvSpPr/>
          <p:nvPr/>
        </p:nvSpPr>
        <p:spPr>
          <a:xfrm>
            <a:off x="2644101" y="3053074"/>
            <a:ext cx="445160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altLang="zh-CN" sz="2800" dirty="0"/>
              <a:t>F:\documents\python\5-1.py</a:t>
            </a:r>
            <a:endParaRPr lang="zh-CN" altLang="en-US" sz="2800" dirty="0"/>
          </a:p>
        </p:txBody>
      </p: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2D1B1D0C-EA13-47ED-9C62-AF4F8C8D7096}"/>
              </a:ext>
            </a:extLst>
          </p:cNvPr>
          <p:cNvGrpSpPr/>
          <p:nvPr/>
        </p:nvGrpSpPr>
        <p:grpSpPr>
          <a:xfrm>
            <a:off x="2979031" y="3570804"/>
            <a:ext cx="3137835" cy="5490"/>
            <a:chOff x="2127183" y="3511866"/>
            <a:chExt cx="3137835" cy="5490"/>
          </a:xfrm>
        </p:grpSpPr>
        <p:cxnSp>
          <p:nvCxnSpPr>
            <p:cNvPr id="19" name="直接连接符 18">
              <a:extLst>
                <a:ext uri="{FF2B5EF4-FFF2-40B4-BE49-F238E27FC236}">
                  <a16:creationId xmlns:a16="http://schemas.microsoft.com/office/drawing/2014/main" id="{C68B24F1-48A9-431E-9F1B-6F98D17B4CC0}"/>
                </a:ext>
              </a:extLst>
            </p:cNvPr>
            <p:cNvCxnSpPr>
              <a:cxnSpLocks/>
            </p:cNvCxnSpPr>
            <p:nvPr/>
          </p:nvCxnSpPr>
          <p:spPr>
            <a:xfrm>
              <a:off x="2127183" y="3511866"/>
              <a:ext cx="173255" cy="0"/>
            </a:xfrm>
            <a:prstGeom prst="line">
              <a:avLst/>
            </a:prstGeom>
            <a:ln w="28575"/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33" name="直接连接符 32">
              <a:extLst>
                <a:ext uri="{FF2B5EF4-FFF2-40B4-BE49-F238E27FC236}">
                  <a16:creationId xmlns:a16="http://schemas.microsoft.com/office/drawing/2014/main" id="{F42A7B63-30DA-4D65-9D8D-9C3775519523}"/>
                </a:ext>
              </a:extLst>
            </p:cNvPr>
            <p:cNvCxnSpPr>
              <a:cxnSpLocks/>
            </p:cNvCxnSpPr>
            <p:nvPr/>
          </p:nvCxnSpPr>
          <p:spPr>
            <a:xfrm>
              <a:off x="3931426" y="3517356"/>
              <a:ext cx="173255" cy="0"/>
            </a:xfrm>
            <a:prstGeom prst="line">
              <a:avLst/>
            </a:prstGeom>
            <a:ln w="28575"/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34" name="直接连接符 33">
              <a:extLst>
                <a:ext uri="{FF2B5EF4-FFF2-40B4-BE49-F238E27FC236}">
                  <a16:creationId xmlns:a16="http://schemas.microsoft.com/office/drawing/2014/main" id="{EA241D57-213A-4872-B2A8-F7B2BB933B79}"/>
                </a:ext>
              </a:extLst>
            </p:cNvPr>
            <p:cNvCxnSpPr>
              <a:cxnSpLocks/>
            </p:cNvCxnSpPr>
            <p:nvPr/>
          </p:nvCxnSpPr>
          <p:spPr>
            <a:xfrm>
              <a:off x="5091763" y="3517356"/>
              <a:ext cx="173255" cy="0"/>
            </a:xfrm>
            <a:prstGeom prst="line">
              <a:avLst/>
            </a:prstGeom>
            <a:ln w="28575"/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sp>
        <p:nvSpPr>
          <p:cNvPr id="24" name="矩形 23">
            <a:extLst>
              <a:ext uri="{FF2B5EF4-FFF2-40B4-BE49-F238E27FC236}">
                <a16:creationId xmlns:a16="http://schemas.microsoft.com/office/drawing/2014/main" id="{3FDF017A-578F-4E57-A91D-BBDC7CF8FB89}"/>
              </a:ext>
            </a:extLst>
          </p:cNvPr>
          <p:cNvSpPr/>
          <p:nvPr/>
        </p:nvSpPr>
        <p:spPr>
          <a:xfrm>
            <a:off x="394021" y="3099335"/>
            <a:ext cx="1427275" cy="36440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solidFill>
                  <a:schemeClr val="accent6"/>
                </a:solidFill>
              </a:rPr>
              <a:t>分隔符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D4513E9A-2EEF-4FEC-B019-451AC57711E1}"/>
              </a:ext>
            </a:extLst>
          </p:cNvPr>
          <p:cNvSpPr/>
          <p:nvPr/>
        </p:nvSpPr>
        <p:spPr>
          <a:xfrm>
            <a:off x="2199385" y="4117411"/>
            <a:ext cx="518225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dirty="0">
                <a:ea typeface="宋体" panose="02010600030101010101" pitchFamily="2" charset="-122"/>
                <a:cs typeface="Times New Roman" panose="02020603050405020304" pitchFamily="18" charset="0"/>
              </a:rPr>
              <a:t>“F:</a:t>
            </a:r>
            <a:r>
              <a:rPr lang="en-US" altLang="zh-CN" sz="2800" dirty="0">
                <a:solidFill>
                  <a:schemeClr val="accent6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\\</a:t>
            </a:r>
            <a:r>
              <a:rPr lang="en-US" altLang="zh-CN" sz="2800" dirty="0">
                <a:ea typeface="宋体" panose="02010600030101010101" pitchFamily="2" charset="-122"/>
                <a:cs typeface="Times New Roman" panose="02020603050405020304" pitchFamily="18" charset="0"/>
              </a:rPr>
              <a:t>documents</a:t>
            </a:r>
            <a:r>
              <a:rPr lang="en-US" altLang="zh-CN" sz="2800" dirty="0">
                <a:solidFill>
                  <a:schemeClr val="accent6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\\</a:t>
            </a:r>
            <a:r>
              <a:rPr lang="en-US" altLang="zh-CN" sz="2800" dirty="0">
                <a:ea typeface="宋体" panose="02010600030101010101" pitchFamily="2" charset="-122"/>
                <a:cs typeface="Times New Roman" panose="02020603050405020304" pitchFamily="18" charset="0"/>
              </a:rPr>
              <a:t>python</a:t>
            </a:r>
            <a:r>
              <a:rPr lang="en-US" altLang="zh-CN" sz="2800" dirty="0">
                <a:solidFill>
                  <a:schemeClr val="accent6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\\</a:t>
            </a:r>
            <a:r>
              <a:rPr lang="en-US" altLang="zh-CN" sz="2800" dirty="0">
                <a:ea typeface="宋体" panose="02010600030101010101" pitchFamily="2" charset="-122"/>
                <a:cs typeface="Times New Roman" panose="02020603050405020304" pitchFamily="18" charset="0"/>
              </a:rPr>
              <a:t>5-1.py”</a:t>
            </a:r>
            <a:endParaRPr lang="zh-CN" altLang="en-US" sz="2800" dirty="0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AAE8E9B2-FE62-47D6-8F32-A477E838715C}"/>
              </a:ext>
            </a:extLst>
          </p:cNvPr>
          <p:cNvSpPr/>
          <p:nvPr/>
        </p:nvSpPr>
        <p:spPr>
          <a:xfrm>
            <a:off x="2318808" y="5206726"/>
            <a:ext cx="530440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dirty="0">
                <a:solidFill>
                  <a:schemeClr val="accent6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r</a:t>
            </a:r>
            <a:r>
              <a:rPr lang="en-US" altLang="zh-CN" sz="2800" dirty="0">
                <a:ea typeface="宋体" panose="02010600030101010101" pitchFamily="2" charset="-122"/>
                <a:cs typeface="Times New Roman" panose="02020603050405020304" pitchFamily="18" charset="0"/>
              </a:rPr>
              <a:t> “ F:\documents\python\5-1.py ”</a:t>
            </a:r>
            <a:endParaRPr lang="zh-CN" altLang="en-US" sz="2800" dirty="0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9E2078BA-E164-467F-A4DC-3F0D800BC571}"/>
              </a:ext>
            </a:extLst>
          </p:cNvPr>
          <p:cNvSpPr/>
          <p:nvPr/>
        </p:nvSpPr>
        <p:spPr>
          <a:xfrm>
            <a:off x="140533" y="4215865"/>
            <a:ext cx="1849469" cy="369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zh-CN" altLang="zh-CN" sz="2400" dirty="0">
                <a:solidFill>
                  <a:schemeClr val="accent6"/>
                </a:solidFill>
              </a:rPr>
              <a:t>路径字符串</a:t>
            </a:r>
            <a:endParaRPr lang="zh-CN" altLang="en-US" sz="2400" dirty="0">
              <a:solidFill>
                <a:schemeClr val="accent6"/>
              </a:solidFill>
            </a:endParaRP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D7B07E42-6136-48DB-8190-DCCD74F30BB2}"/>
              </a:ext>
            </a:extLst>
          </p:cNvPr>
          <p:cNvSpPr/>
          <p:nvPr/>
        </p:nvSpPr>
        <p:spPr>
          <a:xfrm>
            <a:off x="195420" y="5140034"/>
            <a:ext cx="1849469" cy="67826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zh-CN" altLang="en-US" sz="2400" dirty="0">
                <a:solidFill>
                  <a:schemeClr val="accent6"/>
                </a:solidFill>
              </a:rPr>
              <a:t>简便的</a:t>
            </a:r>
            <a:endParaRPr lang="en-US" altLang="zh-CN" sz="2400" dirty="0">
              <a:solidFill>
                <a:schemeClr val="accent6"/>
              </a:solidFill>
            </a:endParaRPr>
          </a:p>
          <a:p>
            <a:pPr algn="ctr"/>
            <a:r>
              <a:rPr lang="zh-CN" altLang="zh-CN" sz="2400" dirty="0">
                <a:solidFill>
                  <a:schemeClr val="accent6"/>
                </a:solidFill>
              </a:rPr>
              <a:t>路径字符串</a:t>
            </a:r>
            <a:endParaRPr lang="zh-CN" altLang="en-US" sz="2400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669214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2" presetClass="entr" presetSubtype="1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7" grpId="0"/>
      <p:bldP spid="24" grpId="0"/>
      <p:bldP spid="25" grpId="0"/>
      <p:bldP spid="26" grpId="0"/>
      <p:bldP spid="27" grpId="0"/>
      <p:bldP spid="4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组合 31">
            <a:extLst>
              <a:ext uri="{FF2B5EF4-FFF2-40B4-BE49-F238E27FC236}">
                <a16:creationId xmlns:a16="http://schemas.microsoft.com/office/drawing/2014/main" id="{032EF26F-0D58-4A0E-97C1-668713F80B14}"/>
              </a:ext>
            </a:extLst>
          </p:cNvPr>
          <p:cNvGrpSpPr/>
          <p:nvPr/>
        </p:nvGrpSpPr>
        <p:grpSpPr>
          <a:xfrm>
            <a:off x="170320" y="203448"/>
            <a:ext cx="6511833" cy="504056"/>
            <a:chOff x="169526" y="203448"/>
            <a:chExt cx="6511833" cy="504056"/>
          </a:xfrm>
        </p:grpSpPr>
        <p:sp>
          <p:nvSpPr>
            <p:cNvPr id="4" name="TextBox 3"/>
            <p:cNvSpPr txBox="1"/>
            <p:nvPr/>
          </p:nvSpPr>
          <p:spPr>
            <a:xfrm>
              <a:off x="781172" y="245839"/>
              <a:ext cx="590018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spc="300" dirty="0">
                  <a:solidFill>
                    <a:srgbClr val="1E6787"/>
                  </a:solidFill>
                  <a:latin typeface="微软雅黑" pitchFamily="34" charset="-122"/>
                  <a:ea typeface="微软雅黑" pitchFamily="34" charset="-122"/>
                </a:rPr>
                <a:t>目录与文件路径</a:t>
              </a:r>
              <a:endParaRPr lang="zh-CN" altLang="en-US" sz="2000" b="1" spc="300" dirty="0">
                <a:solidFill>
                  <a:srgbClr val="1E6787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grpSp>
          <p:nvGrpSpPr>
            <p:cNvPr id="56" name="组合 55">
              <a:extLst>
                <a:ext uri="{FF2B5EF4-FFF2-40B4-BE49-F238E27FC236}">
                  <a16:creationId xmlns:a16="http://schemas.microsoft.com/office/drawing/2014/main" id="{B3ECA4EB-10D1-4B65-B604-4032302CDAF4}"/>
                </a:ext>
              </a:extLst>
            </p:cNvPr>
            <p:cNvGrpSpPr/>
            <p:nvPr/>
          </p:nvGrpSpPr>
          <p:grpSpPr>
            <a:xfrm>
              <a:off x="169526" y="203448"/>
              <a:ext cx="504056" cy="504056"/>
              <a:chOff x="11207774" y="442662"/>
              <a:chExt cx="504056" cy="504056"/>
            </a:xfr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grpSpPr>
          <p:sp>
            <p:nvSpPr>
              <p:cNvPr id="57" name="椭圆 56">
                <a:extLst>
                  <a:ext uri="{FF2B5EF4-FFF2-40B4-BE49-F238E27FC236}">
                    <a16:creationId xmlns:a16="http://schemas.microsoft.com/office/drawing/2014/main" id="{FF372EA1-AB4F-47B1-B450-59AB8827ECD5}"/>
                  </a:ext>
                </a:extLst>
              </p:cNvPr>
              <p:cNvSpPr/>
              <p:nvPr/>
            </p:nvSpPr>
            <p:spPr>
              <a:xfrm>
                <a:off x="11351790" y="601230"/>
                <a:ext cx="216024" cy="216024"/>
              </a:xfrm>
              <a:prstGeom prst="ellipse">
                <a:avLst/>
              </a:prstGeom>
              <a:solidFill>
                <a:srgbClr val="B3DF63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prstClr val="white"/>
                  </a:solidFill>
                  <a:latin typeface="Calibri"/>
                  <a:ea typeface="微软雅黑"/>
                </a:endParaRPr>
              </a:p>
            </p:txBody>
          </p:sp>
          <p:sp>
            <p:nvSpPr>
              <p:cNvPr id="58" name="椭圆 57">
                <a:extLst>
                  <a:ext uri="{FF2B5EF4-FFF2-40B4-BE49-F238E27FC236}">
                    <a16:creationId xmlns:a16="http://schemas.microsoft.com/office/drawing/2014/main" id="{0BEE7D95-9E9C-4C6D-91AA-6429F74B9F98}"/>
                  </a:ext>
                </a:extLst>
              </p:cNvPr>
              <p:cNvSpPr/>
              <p:nvPr/>
            </p:nvSpPr>
            <p:spPr>
              <a:xfrm>
                <a:off x="11207774" y="442662"/>
                <a:ext cx="504056" cy="504056"/>
              </a:xfrm>
              <a:prstGeom prst="ellipse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Calibri"/>
                  <a:ea typeface="微软雅黑"/>
                </a:endParaRPr>
              </a:p>
            </p:txBody>
          </p:sp>
        </p:grpSp>
        <p:cxnSp>
          <p:nvCxnSpPr>
            <p:cNvPr id="20" name="直接连接符 19">
              <a:extLst>
                <a:ext uri="{FF2B5EF4-FFF2-40B4-BE49-F238E27FC236}">
                  <a16:creationId xmlns:a16="http://schemas.microsoft.com/office/drawing/2014/main" id="{C4FBB3C1-88AA-4E76-B54C-31018E3BFAA0}"/>
                </a:ext>
              </a:extLst>
            </p:cNvPr>
            <p:cNvCxnSpPr>
              <a:cxnSpLocks/>
            </p:cNvCxnSpPr>
            <p:nvPr/>
          </p:nvCxnSpPr>
          <p:spPr>
            <a:xfrm>
              <a:off x="775303" y="707504"/>
              <a:ext cx="1833288" cy="0"/>
            </a:xfrm>
            <a:prstGeom prst="line">
              <a:avLst/>
            </a:prstGeom>
            <a:ln>
              <a:solidFill>
                <a:srgbClr val="B3DF6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9" name="矩形 48">
            <a:extLst>
              <a:ext uri="{FF2B5EF4-FFF2-40B4-BE49-F238E27FC236}">
                <a16:creationId xmlns:a16="http://schemas.microsoft.com/office/drawing/2014/main" id="{2D834A0F-3130-4C5B-B4A3-49FE07333EE4}"/>
              </a:ext>
            </a:extLst>
          </p:cNvPr>
          <p:cNvSpPr/>
          <p:nvPr/>
        </p:nvSpPr>
        <p:spPr>
          <a:xfrm>
            <a:off x="314335" y="1039705"/>
            <a:ext cx="10869053" cy="12273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>
              <a:lnSpc>
                <a:spcPct val="150000"/>
              </a:lnSpc>
            </a:pPr>
            <a:r>
              <a:rPr lang="zh-CN" altLang="zh-CN" sz="2800" dirty="0"/>
              <a:t>文件保存的位置被称为路径。</a:t>
            </a:r>
            <a:endParaRPr lang="en-US" altLang="zh-CN" sz="2800" dirty="0"/>
          </a:p>
          <a:p>
            <a:pPr lvl="2">
              <a:lnSpc>
                <a:spcPct val="150000"/>
              </a:lnSpc>
            </a:pPr>
            <a:r>
              <a:rPr lang="zh-CN" altLang="en-US" sz="2400" kern="100" dirty="0">
                <a:latin typeface="+mn-ea"/>
                <a:cs typeface="Times New Roman" panose="02020603050405020304" pitchFamily="18" charset="0"/>
              </a:rPr>
              <a:t>相对路径</a:t>
            </a:r>
            <a:r>
              <a:rPr lang="en-US" altLang="zh-CN" sz="2400" kern="100" dirty="0">
                <a:latin typeface="+mn-ea"/>
                <a:cs typeface="Times New Roman" panose="02020603050405020304" pitchFamily="18" charset="0"/>
              </a:rPr>
              <a:t>——</a:t>
            </a:r>
            <a:r>
              <a:rPr lang="zh-CN" altLang="zh-CN" sz="2400" dirty="0">
                <a:solidFill>
                  <a:srgbClr val="FF9900"/>
                </a:solidFill>
              </a:rPr>
              <a:t>从当前工作目录开始</a:t>
            </a:r>
            <a:r>
              <a:rPr lang="zh-CN" altLang="zh-CN" sz="2400" dirty="0"/>
              <a:t>描述文件的保存位置。</a:t>
            </a:r>
            <a:endParaRPr lang="zh-CN" altLang="zh-CN" sz="2400" kern="100" dirty="0">
              <a:latin typeface="+mn-ea"/>
              <a:cs typeface="Times New Roman" panose="02020603050405020304" pitchFamily="18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82AAFF60-BDE5-42BC-97EB-1D4CD3F2B7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33633" y="3068493"/>
            <a:ext cx="2770998" cy="3333347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21401F51-A671-4FAE-817F-89CDDB2CC35E}"/>
              </a:ext>
            </a:extLst>
          </p:cNvPr>
          <p:cNvSpPr/>
          <p:nvPr/>
        </p:nvSpPr>
        <p:spPr>
          <a:xfrm>
            <a:off x="853603" y="2373986"/>
            <a:ext cx="5242397" cy="96128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457200">
              <a:lnSpc>
                <a:spcPct val="150000"/>
              </a:lnSpc>
            </a:pPr>
            <a:r>
              <a:rPr lang="zh-CN" altLang="en-US" sz="2000" dirty="0">
                <a:latin typeface="+mn-ea"/>
              </a:rPr>
              <a:t>当前工作目录，</a:t>
            </a:r>
            <a:r>
              <a:rPr lang="en-US" altLang="zh-CN" sz="2000" dirty="0" err="1">
                <a:latin typeface="+mn-ea"/>
              </a:rPr>
              <a:t>cwd</a:t>
            </a:r>
            <a:r>
              <a:rPr lang="zh-CN" altLang="en-US" sz="2000" dirty="0">
                <a:latin typeface="+mn-ea"/>
              </a:rPr>
              <a:t>，默认为安装目录。</a:t>
            </a:r>
            <a:endParaRPr lang="en-US" altLang="zh-CN" sz="20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latin typeface="+mn-ea"/>
              </a:rPr>
              <a:t>可通过</a:t>
            </a:r>
            <a:r>
              <a:rPr lang="en-US" altLang="zh-CN" sz="2000" dirty="0" err="1">
                <a:latin typeface="+mn-ea"/>
              </a:rPr>
              <a:t>os</a:t>
            </a:r>
            <a:r>
              <a:rPr lang="zh-CN" altLang="en-US" sz="2000" dirty="0">
                <a:latin typeface="+mn-ea"/>
              </a:rPr>
              <a:t>库的方法查看和重设。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5D89FDC-77B7-47F1-AA73-FC7582DA9F52}"/>
              </a:ext>
            </a:extLst>
          </p:cNvPr>
          <p:cNvSpPr/>
          <p:nvPr/>
        </p:nvSpPr>
        <p:spPr>
          <a:xfrm>
            <a:off x="279394" y="3335275"/>
            <a:ext cx="6096000" cy="327128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sv-SE" altLang="zh-CN" sz="2000" kern="100" dirty="0">
                <a:solidFill>
                  <a:srgbClr val="990033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&gt;&gt;&gt;</a:t>
            </a:r>
            <a:r>
              <a:rPr lang="sv-SE" altLang="zh-CN" sz="2000" kern="1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sv-SE" altLang="zh-CN" sz="2000" kern="100" dirty="0">
                <a:solidFill>
                  <a:srgbClr val="FF99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import</a:t>
            </a:r>
            <a:r>
              <a:rPr lang="sv-SE" altLang="zh-CN" sz="2000" kern="1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os</a:t>
            </a:r>
          </a:p>
          <a:p>
            <a:pPr>
              <a:lnSpc>
                <a:spcPct val="150000"/>
              </a:lnSpc>
            </a:pPr>
            <a:r>
              <a:rPr lang="sv-SE" altLang="zh-CN" sz="2000" kern="100" dirty="0">
                <a:solidFill>
                  <a:srgbClr val="990033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&gt;&gt;&gt;</a:t>
            </a:r>
            <a:r>
              <a:rPr lang="sv-SE" altLang="zh-CN" sz="2000" kern="1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os.getcwd()</a:t>
            </a:r>
          </a:p>
          <a:p>
            <a:pPr>
              <a:lnSpc>
                <a:spcPct val="150000"/>
              </a:lnSpc>
            </a:pPr>
            <a:r>
              <a:rPr lang="sv-SE" altLang="zh-CN" sz="2000" kern="100" dirty="0">
                <a:solidFill>
                  <a:srgbClr val="0000FF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'C:\\Programs\\Python\\Python37-32’</a:t>
            </a:r>
          </a:p>
          <a:p>
            <a:pPr>
              <a:lnSpc>
                <a:spcPct val="150000"/>
              </a:lnSpc>
            </a:pPr>
            <a:r>
              <a:rPr lang="en-US" altLang="zh-CN" sz="2000" kern="1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#</a:t>
            </a:r>
            <a:r>
              <a:rPr lang="zh-CN" altLang="zh-CN" sz="2000" kern="1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修改当前工作目录为</a:t>
            </a:r>
            <a:r>
              <a:rPr lang="en-US" altLang="zh-CN" sz="2000" kern="1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zh-CN" altLang="zh-CN" sz="2000" kern="1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盘根目录下</a:t>
            </a:r>
            <a:r>
              <a:rPr lang="en-US" altLang="zh-CN" sz="2000" kern="1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documents</a:t>
            </a:r>
            <a:endParaRPr lang="sv-SE" altLang="zh-CN" sz="2000" kern="100" dirty="0">
              <a:solidFill>
                <a:srgbClr val="0000FF"/>
              </a:solidFill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 kern="100" dirty="0">
                <a:solidFill>
                  <a:srgbClr val="990033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&gt;&gt;&gt;</a:t>
            </a:r>
            <a:r>
              <a:rPr lang="en-US" altLang="zh-CN" sz="2000" kern="1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 kern="100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os.chdir</a:t>
            </a:r>
            <a:r>
              <a:rPr lang="en-US" altLang="zh-CN" sz="2000" kern="1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('F:\\documents')	</a:t>
            </a:r>
            <a:endParaRPr lang="zh-CN" altLang="zh-CN" sz="2000" kern="100" dirty="0"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 kern="100" dirty="0">
                <a:solidFill>
                  <a:srgbClr val="990033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&gt;&gt;&gt;</a:t>
            </a:r>
            <a:r>
              <a:rPr lang="en-US" altLang="zh-CN" sz="2000" kern="1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 kern="100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os.getcwd</a:t>
            </a:r>
            <a:r>
              <a:rPr lang="en-US" altLang="zh-CN" sz="2000" kern="1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()</a:t>
            </a:r>
            <a:endParaRPr lang="zh-CN" altLang="zh-CN" sz="2000" kern="100" dirty="0"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 kern="100" dirty="0">
                <a:solidFill>
                  <a:srgbClr val="0000FF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'F:\\documents'</a:t>
            </a:r>
            <a:endParaRPr lang="zh-CN" altLang="zh-CN" sz="2000" kern="100" dirty="0">
              <a:solidFill>
                <a:srgbClr val="0000FF"/>
              </a:solidFill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" name="对话气泡: 矩形 5">
            <a:extLst>
              <a:ext uri="{FF2B5EF4-FFF2-40B4-BE49-F238E27FC236}">
                <a16:creationId xmlns:a16="http://schemas.microsoft.com/office/drawing/2014/main" id="{A5EA003C-CCAF-4155-9588-39BC85B29873}"/>
              </a:ext>
            </a:extLst>
          </p:cNvPr>
          <p:cNvSpPr/>
          <p:nvPr/>
        </p:nvSpPr>
        <p:spPr>
          <a:xfrm>
            <a:off x="2414081" y="3426178"/>
            <a:ext cx="2635956" cy="625941"/>
          </a:xfrm>
          <a:prstGeom prst="wedgeRectCallout">
            <a:avLst>
              <a:gd name="adj1" fmla="val -50670"/>
              <a:gd name="adj2" fmla="val 106686"/>
            </a:avLst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solidFill>
                  <a:schemeClr val="accent6"/>
                </a:solidFill>
              </a:rPr>
              <a:t>默认的当前工作目录</a:t>
            </a:r>
          </a:p>
        </p:txBody>
      </p:sp>
      <p:sp>
        <p:nvSpPr>
          <p:cNvPr id="13" name="对话气泡: 矩形 12">
            <a:extLst>
              <a:ext uri="{FF2B5EF4-FFF2-40B4-BE49-F238E27FC236}">
                <a16:creationId xmlns:a16="http://schemas.microsoft.com/office/drawing/2014/main" id="{2D891660-B5F7-42FC-8514-663C707CC38A}"/>
              </a:ext>
            </a:extLst>
          </p:cNvPr>
          <p:cNvSpPr/>
          <p:nvPr/>
        </p:nvSpPr>
        <p:spPr>
          <a:xfrm>
            <a:off x="2470526" y="5650075"/>
            <a:ext cx="2863474" cy="625941"/>
          </a:xfrm>
          <a:prstGeom prst="wedgeRectCallout">
            <a:avLst>
              <a:gd name="adj1" fmla="val -63783"/>
              <a:gd name="adj2" fmla="val 69714"/>
            </a:avLst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solidFill>
                  <a:schemeClr val="accent6"/>
                </a:solidFill>
              </a:rPr>
              <a:t>重新设置后的当前目录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AED7A86-CE18-4EDB-82F6-AB56844F14F1}"/>
              </a:ext>
            </a:extLst>
          </p:cNvPr>
          <p:cNvSpPr/>
          <p:nvPr/>
        </p:nvSpPr>
        <p:spPr>
          <a:xfrm>
            <a:off x="5991137" y="4131142"/>
            <a:ext cx="1896533" cy="53879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当前工作目录 </a:t>
            </a:r>
            <a:r>
              <a:rPr lang="en-US" altLang="zh-CN" dirty="0"/>
              <a:t>‘</a:t>
            </a:r>
            <a:r>
              <a:rPr lang="en-US" altLang="zh-CN" dirty="0">
                <a:solidFill>
                  <a:schemeClr val="accent6"/>
                </a:solidFill>
              </a:rPr>
              <a:t>\\</a:t>
            </a:r>
            <a:r>
              <a:rPr lang="en-US" altLang="zh-CN" dirty="0"/>
              <a:t>’</a:t>
            </a:r>
            <a:endParaRPr lang="zh-CN" altLang="en-US" dirty="0"/>
          </a:p>
        </p:txBody>
      </p: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05DE962D-10F4-46C3-8331-B736871A5BDE}"/>
              </a:ext>
            </a:extLst>
          </p:cNvPr>
          <p:cNvCxnSpPr/>
          <p:nvPr/>
        </p:nvCxnSpPr>
        <p:spPr>
          <a:xfrm>
            <a:off x="7998178" y="4400537"/>
            <a:ext cx="801511" cy="0"/>
          </a:xfrm>
          <a:prstGeom prst="straightConnector1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矩形 16">
            <a:extLst>
              <a:ext uri="{FF2B5EF4-FFF2-40B4-BE49-F238E27FC236}">
                <a16:creationId xmlns:a16="http://schemas.microsoft.com/office/drawing/2014/main" id="{9CDE44E8-B6F4-413C-95F2-B1509FD8AB40}"/>
              </a:ext>
            </a:extLst>
          </p:cNvPr>
          <p:cNvSpPr/>
          <p:nvPr/>
        </p:nvSpPr>
        <p:spPr>
          <a:xfrm>
            <a:off x="5991137" y="3028073"/>
            <a:ext cx="1896533" cy="828191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当前目录的上一级目录    </a:t>
            </a:r>
            <a:r>
              <a:rPr lang="en-US" altLang="zh-CN" dirty="0"/>
              <a:t>’</a:t>
            </a:r>
            <a:r>
              <a:rPr lang="en-US" altLang="zh-CN" b="1" dirty="0">
                <a:solidFill>
                  <a:schemeClr val="accent6"/>
                </a:solidFill>
              </a:rPr>
              <a:t>..</a:t>
            </a:r>
            <a:r>
              <a:rPr lang="en-US" altLang="zh-CN" dirty="0"/>
              <a:t>’</a:t>
            </a:r>
            <a:endParaRPr lang="zh-CN" altLang="en-US" dirty="0"/>
          </a:p>
        </p:txBody>
      </p: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D71DF7C9-DEF4-4D3F-B105-C7880D487BF1}"/>
              </a:ext>
            </a:extLst>
          </p:cNvPr>
          <p:cNvCxnSpPr/>
          <p:nvPr/>
        </p:nvCxnSpPr>
        <p:spPr>
          <a:xfrm>
            <a:off x="7998178" y="3454401"/>
            <a:ext cx="801511" cy="0"/>
          </a:xfrm>
          <a:prstGeom prst="straightConnector1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矩形 18">
            <a:extLst>
              <a:ext uri="{FF2B5EF4-FFF2-40B4-BE49-F238E27FC236}">
                <a16:creationId xmlns:a16="http://schemas.microsoft.com/office/drawing/2014/main" id="{B09F5DCE-E8F5-406D-AEE0-6BB3A455075E}"/>
              </a:ext>
            </a:extLst>
          </p:cNvPr>
          <p:cNvSpPr/>
          <p:nvPr/>
        </p:nvSpPr>
        <p:spPr>
          <a:xfrm>
            <a:off x="5991137" y="4977133"/>
            <a:ext cx="1896533" cy="65407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当前目录的下一级目录</a:t>
            </a:r>
          </a:p>
        </p:txBody>
      </p: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6013EDE6-E9E8-4EA0-B2DA-9D1AF567B866}"/>
              </a:ext>
            </a:extLst>
          </p:cNvPr>
          <p:cNvCxnSpPr/>
          <p:nvPr/>
        </p:nvCxnSpPr>
        <p:spPr>
          <a:xfrm>
            <a:off x="7998178" y="5314262"/>
            <a:ext cx="801511" cy="0"/>
          </a:xfrm>
          <a:prstGeom prst="straightConnector1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927475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4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  <p:bldP spid="6" grpId="0" animBg="1"/>
      <p:bldP spid="13" grpId="0" animBg="1"/>
      <p:bldP spid="7" grpId="0" animBg="1"/>
      <p:bldP spid="17" grpId="0" animBg="1"/>
      <p:bldP spid="19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组合 31">
            <a:extLst>
              <a:ext uri="{FF2B5EF4-FFF2-40B4-BE49-F238E27FC236}">
                <a16:creationId xmlns:a16="http://schemas.microsoft.com/office/drawing/2014/main" id="{032EF26F-0D58-4A0E-97C1-668713F80B14}"/>
              </a:ext>
            </a:extLst>
          </p:cNvPr>
          <p:cNvGrpSpPr/>
          <p:nvPr/>
        </p:nvGrpSpPr>
        <p:grpSpPr>
          <a:xfrm>
            <a:off x="170320" y="203448"/>
            <a:ext cx="6511833" cy="504056"/>
            <a:chOff x="169526" y="203448"/>
            <a:chExt cx="6511833" cy="504056"/>
          </a:xfrm>
        </p:grpSpPr>
        <p:sp>
          <p:nvSpPr>
            <p:cNvPr id="4" name="TextBox 3"/>
            <p:cNvSpPr txBox="1"/>
            <p:nvPr/>
          </p:nvSpPr>
          <p:spPr>
            <a:xfrm>
              <a:off x="781172" y="245839"/>
              <a:ext cx="590018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spc="300" dirty="0">
                  <a:solidFill>
                    <a:srgbClr val="1E6787"/>
                  </a:solidFill>
                  <a:latin typeface="微软雅黑" pitchFamily="34" charset="-122"/>
                  <a:ea typeface="微软雅黑" pitchFamily="34" charset="-122"/>
                </a:rPr>
                <a:t>目录与文件路径</a:t>
              </a:r>
              <a:endParaRPr lang="zh-CN" altLang="en-US" sz="2000" b="1" spc="300" dirty="0">
                <a:solidFill>
                  <a:srgbClr val="1E6787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grpSp>
          <p:nvGrpSpPr>
            <p:cNvPr id="56" name="组合 55">
              <a:extLst>
                <a:ext uri="{FF2B5EF4-FFF2-40B4-BE49-F238E27FC236}">
                  <a16:creationId xmlns:a16="http://schemas.microsoft.com/office/drawing/2014/main" id="{B3ECA4EB-10D1-4B65-B604-4032302CDAF4}"/>
                </a:ext>
              </a:extLst>
            </p:cNvPr>
            <p:cNvGrpSpPr/>
            <p:nvPr/>
          </p:nvGrpSpPr>
          <p:grpSpPr>
            <a:xfrm>
              <a:off x="169526" y="203448"/>
              <a:ext cx="504056" cy="504056"/>
              <a:chOff x="11207774" y="442662"/>
              <a:chExt cx="504056" cy="504056"/>
            </a:xfr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grpSpPr>
          <p:sp>
            <p:nvSpPr>
              <p:cNvPr id="57" name="椭圆 56">
                <a:extLst>
                  <a:ext uri="{FF2B5EF4-FFF2-40B4-BE49-F238E27FC236}">
                    <a16:creationId xmlns:a16="http://schemas.microsoft.com/office/drawing/2014/main" id="{FF372EA1-AB4F-47B1-B450-59AB8827ECD5}"/>
                  </a:ext>
                </a:extLst>
              </p:cNvPr>
              <p:cNvSpPr/>
              <p:nvPr/>
            </p:nvSpPr>
            <p:spPr>
              <a:xfrm>
                <a:off x="11351790" y="601230"/>
                <a:ext cx="216024" cy="216024"/>
              </a:xfrm>
              <a:prstGeom prst="ellipse">
                <a:avLst/>
              </a:prstGeom>
              <a:solidFill>
                <a:srgbClr val="B3DF63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prstClr val="white"/>
                  </a:solidFill>
                  <a:latin typeface="Calibri"/>
                  <a:ea typeface="微软雅黑"/>
                </a:endParaRPr>
              </a:p>
            </p:txBody>
          </p:sp>
          <p:sp>
            <p:nvSpPr>
              <p:cNvPr id="58" name="椭圆 57">
                <a:extLst>
                  <a:ext uri="{FF2B5EF4-FFF2-40B4-BE49-F238E27FC236}">
                    <a16:creationId xmlns:a16="http://schemas.microsoft.com/office/drawing/2014/main" id="{0BEE7D95-9E9C-4C6D-91AA-6429F74B9F98}"/>
                  </a:ext>
                </a:extLst>
              </p:cNvPr>
              <p:cNvSpPr/>
              <p:nvPr/>
            </p:nvSpPr>
            <p:spPr>
              <a:xfrm>
                <a:off x="11207774" y="442662"/>
                <a:ext cx="504056" cy="504056"/>
              </a:xfrm>
              <a:prstGeom prst="ellipse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Calibri"/>
                  <a:ea typeface="微软雅黑"/>
                </a:endParaRPr>
              </a:p>
            </p:txBody>
          </p:sp>
        </p:grpSp>
        <p:cxnSp>
          <p:nvCxnSpPr>
            <p:cNvPr id="20" name="直接连接符 19">
              <a:extLst>
                <a:ext uri="{FF2B5EF4-FFF2-40B4-BE49-F238E27FC236}">
                  <a16:creationId xmlns:a16="http://schemas.microsoft.com/office/drawing/2014/main" id="{C4FBB3C1-88AA-4E76-B54C-31018E3BFAA0}"/>
                </a:ext>
              </a:extLst>
            </p:cNvPr>
            <p:cNvCxnSpPr>
              <a:cxnSpLocks/>
            </p:cNvCxnSpPr>
            <p:nvPr/>
          </p:nvCxnSpPr>
          <p:spPr>
            <a:xfrm>
              <a:off x="775303" y="707504"/>
              <a:ext cx="1833288" cy="0"/>
            </a:xfrm>
            <a:prstGeom prst="line">
              <a:avLst/>
            </a:prstGeom>
            <a:ln>
              <a:solidFill>
                <a:srgbClr val="B3DF6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9" name="矩形 48">
            <a:extLst>
              <a:ext uri="{FF2B5EF4-FFF2-40B4-BE49-F238E27FC236}">
                <a16:creationId xmlns:a16="http://schemas.microsoft.com/office/drawing/2014/main" id="{2D834A0F-3130-4C5B-B4A3-49FE07333EE4}"/>
              </a:ext>
            </a:extLst>
          </p:cNvPr>
          <p:cNvSpPr/>
          <p:nvPr/>
        </p:nvSpPr>
        <p:spPr>
          <a:xfrm>
            <a:off x="314335" y="1039705"/>
            <a:ext cx="10869053" cy="12273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>
              <a:lnSpc>
                <a:spcPct val="150000"/>
              </a:lnSpc>
            </a:pPr>
            <a:r>
              <a:rPr lang="zh-CN" altLang="zh-CN" sz="2800" dirty="0"/>
              <a:t>文件保存的位置被称为路径。</a:t>
            </a:r>
            <a:endParaRPr lang="en-US" altLang="zh-CN" sz="2800" dirty="0"/>
          </a:p>
          <a:p>
            <a:pPr lvl="2">
              <a:lnSpc>
                <a:spcPct val="150000"/>
              </a:lnSpc>
            </a:pPr>
            <a:r>
              <a:rPr lang="zh-CN" altLang="en-US" sz="2400" kern="100" dirty="0">
                <a:latin typeface="+mn-ea"/>
                <a:cs typeface="Times New Roman" panose="02020603050405020304" pitchFamily="18" charset="0"/>
              </a:rPr>
              <a:t>相对路径</a:t>
            </a:r>
            <a:r>
              <a:rPr lang="en-US" altLang="zh-CN" sz="2400" kern="100" dirty="0">
                <a:latin typeface="+mn-ea"/>
                <a:cs typeface="Times New Roman" panose="02020603050405020304" pitchFamily="18" charset="0"/>
              </a:rPr>
              <a:t>——</a:t>
            </a:r>
            <a:r>
              <a:rPr lang="zh-CN" altLang="zh-CN" sz="2400" dirty="0">
                <a:solidFill>
                  <a:srgbClr val="FF9900"/>
                </a:solidFill>
              </a:rPr>
              <a:t>从当前工作目录开始</a:t>
            </a:r>
            <a:r>
              <a:rPr lang="zh-CN" altLang="zh-CN" sz="2400" dirty="0"/>
              <a:t>描述文件的保存位置。</a:t>
            </a:r>
            <a:endParaRPr lang="zh-CN" altLang="zh-CN" sz="2400" kern="100" dirty="0">
              <a:latin typeface="+mn-ea"/>
              <a:cs typeface="Times New Roman" panose="02020603050405020304" pitchFamily="18" charset="0"/>
            </a:endParaRPr>
          </a:p>
        </p:txBody>
      </p:sp>
      <p:pic>
        <p:nvPicPr>
          <p:cNvPr id="22" name="图片 21">
            <a:extLst>
              <a:ext uri="{FF2B5EF4-FFF2-40B4-BE49-F238E27FC236}">
                <a16:creationId xmlns:a16="http://schemas.microsoft.com/office/drawing/2014/main" id="{352140AE-30D1-43AA-A7E8-99FECCE76E65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1440982" y="2433776"/>
            <a:ext cx="8470661" cy="4130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23690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组合 31">
            <a:extLst>
              <a:ext uri="{FF2B5EF4-FFF2-40B4-BE49-F238E27FC236}">
                <a16:creationId xmlns:a16="http://schemas.microsoft.com/office/drawing/2014/main" id="{032EF26F-0D58-4A0E-97C1-668713F80B14}"/>
              </a:ext>
            </a:extLst>
          </p:cNvPr>
          <p:cNvGrpSpPr/>
          <p:nvPr/>
        </p:nvGrpSpPr>
        <p:grpSpPr>
          <a:xfrm>
            <a:off x="170320" y="203448"/>
            <a:ext cx="6511833" cy="504056"/>
            <a:chOff x="169526" y="203448"/>
            <a:chExt cx="6511833" cy="504056"/>
          </a:xfrm>
        </p:grpSpPr>
        <p:sp>
          <p:nvSpPr>
            <p:cNvPr id="4" name="TextBox 3"/>
            <p:cNvSpPr txBox="1"/>
            <p:nvPr/>
          </p:nvSpPr>
          <p:spPr>
            <a:xfrm>
              <a:off x="781172" y="245839"/>
              <a:ext cx="590018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spc="300" dirty="0">
                  <a:solidFill>
                    <a:srgbClr val="1E6787"/>
                  </a:solidFill>
                  <a:latin typeface="微软雅黑" pitchFamily="34" charset="-122"/>
                  <a:ea typeface="微软雅黑" pitchFamily="34" charset="-122"/>
                </a:rPr>
                <a:t>文件操作</a:t>
              </a:r>
              <a:endParaRPr lang="zh-CN" altLang="en-US" sz="2000" b="1" spc="300" dirty="0">
                <a:solidFill>
                  <a:srgbClr val="1E6787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grpSp>
          <p:nvGrpSpPr>
            <p:cNvPr id="56" name="组合 55">
              <a:extLst>
                <a:ext uri="{FF2B5EF4-FFF2-40B4-BE49-F238E27FC236}">
                  <a16:creationId xmlns:a16="http://schemas.microsoft.com/office/drawing/2014/main" id="{B3ECA4EB-10D1-4B65-B604-4032302CDAF4}"/>
                </a:ext>
              </a:extLst>
            </p:cNvPr>
            <p:cNvGrpSpPr/>
            <p:nvPr/>
          </p:nvGrpSpPr>
          <p:grpSpPr>
            <a:xfrm>
              <a:off x="169526" y="203448"/>
              <a:ext cx="504056" cy="504056"/>
              <a:chOff x="11207774" y="442662"/>
              <a:chExt cx="504056" cy="504056"/>
            </a:xfr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grpSpPr>
          <p:sp>
            <p:nvSpPr>
              <p:cNvPr id="57" name="椭圆 56">
                <a:extLst>
                  <a:ext uri="{FF2B5EF4-FFF2-40B4-BE49-F238E27FC236}">
                    <a16:creationId xmlns:a16="http://schemas.microsoft.com/office/drawing/2014/main" id="{FF372EA1-AB4F-47B1-B450-59AB8827ECD5}"/>
                  </a:ext>
                </a:extLst>
              </p:cNvPr>
              <p:cNvSpPr/>
              <p:nvPr/>
            </p:nvSpPr>
            <p:spPr>
              <a:xfrm>
                <a:off x="11351790" y="601230"/>
                <a:ext cx="216024" cy="216024"/>
              </a:xfrm>
              <a:prstGeom prst="ellipse">
                <a:avLst/>
              </a:prstGeom>
              <a:solidFill>
                <a:srgbClr val="B3DF63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prstClr val="white"/>
                  </a:solidFill>
                  <a:latin typeface="Calibri"/>
                  <a:ea typeface="微软雅黑"/>
                </a:endParaRPr>
              </a:p>
            </p:txBody>
          </p:sp>
          <p:sp>
            <p:nvSpPr>
              <p:cNvPr id="58" name="椭圆 57">
                <a:extLst>
                  <a:ext uri="{FF2B5EF4-FFF2-40B4-BE49-F238E27FC236}">
                    <a16:creationId xmlns:a16="http://schemas.microsoft.com/office/drawing/2014/main" id="{0BEE7D95-9E9C-4C6D-91AA-6429F74B9F98}"/>
                  </a:ext>
                </a:extLst>
              </p:cNvPr>
              <p:cNvSpPr/>
              <p:nvPr/>
            </p:nvSpPr>
            <p:spPr>
              <a:xfrm>
                <a:off x="11207774" y="442662"/>
                <a:ext cx="504056" cy="504056"/>
              </a:xfrm>
              <a:prstGeom prst="ellipse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Calibri"/>
                  <a:ea typeface="微软雅黑"/>
                </a:endParaRPr>
              </a:p>
            </p:txBody>
          </p:sp>
        </p:grpSp>
        <p:cxnSp>
          <p:nvCxnSpPr>
            <p:cNvPr id="20" name="直接连接符 19">
              <a:extLst>
                <a:ext uri="{FF2B5EF4-FFF2-40B4-BE49-F238E27FC236}">
                  <a16:creationId xmlns:a16="http://schemas.microsoft.com/office/drawing/2014/main" id="{C4FBB3C1-88AA-4E76-B54C-31018E3BFAA0}"/>
                </a:ext>
              </a:extLst>
            </p:cNvPr>
            <p:cNvCxnSpPr>
              <a:cxnSpLocks/>
            </p:cNvCxnSpPr>
            <p:nvPr/>
          </p:nvCxnSpPr>
          <p:spPr>
            <a:xfrm>
              <a:off x="775303" y="707504"/>
              <a:ext cx="1833288" cy="0"/>
            </a:xfrm>
            <a:prstGeom prst="line">
              <a:avLst/>
            </a:prstGeom>
            <a:ln>
              <a:solidFill>
                <a:srgbClr val="B3DF6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9" name="矩形 48">
            <a:extLst>
              <a:ext uri="{FF2B5EF4-FFF2-40B4-BE49-F238E27FC236}">
                <a16:creationId xmlns:a16="http://schemas.microsoft.com/office/drawing/2014/main" id="{2D834A0F-3130-4C5B-B4A3-49FE07333EE4}"/>
              </a:ext>
            </a:extLst>
          </p:cNvPr>
          <p:cNvSpPr/>
          <p:nvPr/>
        </p:nvSpPr>
        <p:spPr>
          <a:xfrm>
            <a:off x="314336" y="1169169"/>
            <a:ext cx="10869053" cy="23353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>
              <a:lnSpc>
                <a:spcPct val="150000"/>
              </a:lnSpc>
            </a:pPr>
            <a:r>
              <a:rPr lang="zh-CN" altLang="zh-CN" sz="2800" dirty="0"/>
              <a:t>文件</a:t>
            </a:r>
            <a:r>
              <a:rPr lang="zh-CN" altLang="en-US" sz="2800" dirty="0"/>
              <a:t>的操作一般包含三个步骤：</a:t>
            </a:r>
            <a:endParaRPr lang="en-US" altLang="zh-CN" sz="2800" dirty="0"/>
          </a:p>
          <a:p>
            <a:pPr lvl="2">
              <a:lnSpc>
                <a:spcPct val="150000"/>
              </a:lnSpc>
            </a:pPr>
            <a:r>
              <a:rPr lang="zh-CN" altLang="en-US" sz="2400" kern="100" dirty="0">
                <a:latin typeface="+mn-ea"/>
                <a:cs typeface="Times New Roman" panose="02020603050405020304" pitchFamily="18" charset="0"/>
              </a:rPr>
              <a:t>打开文件 </a:t>
            </a:r>
            <a:r>
              <a:rPr lang="en-US" altLang="zh-CN" sz="2400" kern="100" dirty="0">
                <a:latin typeface="+mn-ea"/>
                <a:cs typeface="Times New Roman" panose="02020603050405020304" pitchFamily="18" charset="0"/>
                <a:sym typeface="Wingdings" panose="05000000000000000000" pitchFamily="2" charset="2"/>
              </a:rPr>
              <a:t> </a:t>
            </a:r>
            <a:r>
              <a:rPr lang="zh-CN" altLang="en-US" sz="2400" kern="100" dirty="0">
                <a:latin typeface="+mn-ea"/>
                <a:cs typeface="Times New Roman" panose="02020603050405020304" pitchFamily="18" charset="0"/>
              </a:rPr>
              <a:t>读文件或者写文件 </a:t>
            </a:r>
            <a:r>
              <a:rPr lang="en-US" altLang="zh-CN" sz="2400" kern="100" dirty="0">
                <a:latin typeface="+mn-ea"/>
                <a:cs typeface="Times New Roman" panose="02020603050405020304" pitchFamily="18" charset="0"/>
                <a:sym typeface="Wingdings" panose="05000000000000000000" pitchFamily="2" charset="2"/>
              </a:rPr>
              <a:t> </a:t>
            </a:r>
            <a:r>
              <a:rPr lang="zh-CN" altLang="en-US" sz="2400" kern="100" dirty="0">
                <a:latin typeface="+mn-ea"/>
                <a:cs typeface="Times New Roman" panose="02020603050405020304" pitchFamily="18" charset="0"/>
              </a:rPr>
              <a:t>关闭文件</a:t>
            </a:r>
            <a:endParaRPr lang="en-US" altLang="zh-CN" sz="2400" kern="100" dirty="0">
              <a:latin typeface="+mn-ea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endParaRPr lang="en-US" altLang="zh-CN" sz="2400" kern="100" dirty="0">
              <a:latin typeface="+mn-ea"/>
              <a:cs typeface="Times New Roman" panose="02020603050405020304" pitchFamily="18" charset="0"/>
            </a:endParaRPr>
          </a:p>
          <a:p>
            <a:pPr lvl="2">
              <a:lnSpc>
                <a:spcPct val="150000"/>
              </a:lnSpc>
            </a:pPr>
            <a:endParaRPr lang="zh-CN" altLang="zh-CN" sz="2400" kern="100" dirty="0">
              <a:latin typeface="+mn-ea"/>
              <a:cs typeface="Times New Roman" panose="02020603050405020304" pitchFamily="18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26E5D7E-E439-4AEE-8ED3-0CC5FEF64C5A}"/>
              </a:ext>
            </a:extLst>
          </p:cNvPr>
          <p:cNvSpPr/>
          <p:nvPr/>
        </p:nvSpPr>
        <p:spPr>
          <a:xfrm>
            <a:off x="1505626" y="3135220"/>
            <a:ext cx="510909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400" dirty="0"/>
              <a:t>将文件从外部存储器调入内存的过程</a:t>
            </a:r>
            <a:endParaRPr lang="zh-CN" altLang="en-US" sz="2400" dirty="0"/>
          </a:p>
        </p:txBody>
      </p:sp>
      <p:cxnSp>
        <p:nvCxnSpPr>
          <p:cNvPr id="5" name="直接箭头连接符 4">
            <a:extLst>
              <a:ext uri="{FF2B5EF4-FFF2-40B4-BE49-F238E27FC236}">
                <a16:creationId xmlns:a16="http://schemas.microsoft.com/office/drawing/2014/main" id="{3BCAD0FE-C861-4ABE-AF70-5D06F37EE290}"/>
              </a:ext>
            </a:extLst>
          </p:cNvPr>
          <p:cNvCxnSpPr/>
          <p:nvPr/>
        </p:nvCxnSpPr>
        <p:spPr>
          <a:xfrm>
            <a:off x="1952978" y="2348089"/>
            <a:ext cx="0" cy="78713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矩形 5">
            <a:extLst>
              <a:ext uri="{FF2B5EF4-FFF2-40B4-BE49-F238E27FC236}">
                <a16:creationId xmlns:a16="http://schemas.microsoft.com/office/drawing/2014/main" id="{47EE8CF7-0E6F-4011-83E5-B298E9218698}"/>
              </a:ext>
            </a:extLst>
          </p:cNvPr>
          <p:cNvSpPr/>
          <p:nvPr/>
        </p:nvSpPr>
        <p:spPr>
          <a:xfrm>
            <a:off x="2660446" y="4158734"/>
            <a:ext cx="66752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dirty="0">
                <a:latin typeface="+mn-ea"/>
                <a:cs typeface="Times New Roman" panose="02020603050405020304" pitchFamily="18" charset="0"/>
              </a:rPr>
              <a:t>File</a:t>
            </a:r>
            <a:r>
              <a:rPr lang="zh-CN" altLang="zh-CN" sz="2400" dirty="0">
                <a:latin typeface="+mn-ea"/>
                <a:cs typeface="Times New Roman" panose="02020603050405020304" pitchFamily="18" charset="0"/>
              </a:rPr>
              <a:t>对象名</a:t>
            </a:r>
            <a:r>
              <a:rPr lang="en-US" altLang="zh-CN" sz="2400" dirty="0">
                <a:latin typeface="+mn-ea"/>
                <a:cs typeface="Times New Roman" panose="02020603050405020304" pitchFamily="18" charset="0"/>
              </a:rPr>
              <a:t> = </a:t>
            </a:r>
            <a:r>
              <a:rPr lang="en-US" altLang="zh-CN" sz="2400" dirty="0">
                <a:solidFill>
                  <a:srgbClr val="FF9900"/>
                </a:solidFill>
                <a:latin typeface="+mn-ea"/>
                <a:cs typeface="Times New Roman" panose="02020603050405020304" pitchFamily="18" charset="0"/>
              </a:rPr>
              <a:t>open</a:t>
            </a:r>
            <a:r>
              <a:rPr lang="en-US" altLang="zh-CN" sz="2400" dirty="0">
                <a:latin typeface="+mn-ea"/>
                <a:cs typeface="Times New Roman" panose="02020603050405020304" pitchFamily="18" charset="0"/>
              </a:rPr>
              <a:t>(</a:t>
            </a:r>
            <a:r>
              <a:rPr lang="zh-CN" altLang="zh-CN" sz="2400" dirty="0">
                <a:latin typeface="+mn-ea"/>
                <a:cs typeface="Times New Roman" panose="02020603050405020304" pitchFamily="18" charset="0"/>
              </a:rPr>
              <a:t>文件路径字符串，模式字符</a:t>
            </a:r>
            <a:r>
              <a:rPr lang="en-US" altLang="zh-CN" sz="2400" dirty="0">
                <a:latin typeface="+mn-ea"/>
                <a:cs typeface="Times New Roman" panose="02020603050405020304" pitchFamily="18" charset="0"/>
              </a:rPr>
              <a:t>)</a:t>
            </a:r>
            <a:endParaRPr lang="zh-CN" altLang="en-US" sz="2400" dirty="0">
              <a:latin typeface="+mn-ea"/>
            </a:endParaRPr>
          </a:p>
        </p:txBody>
      </p:sp>
      <p:sp>
        <p:nvSpPr>
          <p:cNvPr id="7" name="标注: 弯曲线形 6">
            <a:extLst>
              <a:ext uri="{FF2B5EF4-FFF2-40B4-BE49-F238E27FC236}">
                <a16:creationId xmlns:a16="http://schemas.microsoft.com/office/drawing/2014/main" id="{F88CBFD0-5638-45EE-B8CF-CEB73B32C0A8}"/>
              </a:ext>
            </a:extLst>
          </p:cNvPr>
          <p:cNvSpPr/>
          <p:nvPr/>
        </p:nvSpPr>
        <p:spPr>
          <a:xfrm>
            <a:off x="7377296" y="2641869"/>
            <a:ext cx="4701556" cy="787131"/>
          </a:xfrm>
          <a:prstGeom prst="borderCallout2">
            <a:avLst>
              <a:gd name="adj1" fmla="val 116947"/>
              <a:gd name="adj2" fmla="val 36928"/>
              <a:gd name="adj3" fmla="val 152620"/>
              <a:gd name="adj4" fmla="val 28714"/>
              <a:gd name="adj5" fmla="val 197978"/>
              <a:gd name="adj6" fmla="val 18763"/>
            </a:avLst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zh-CN" sz="2000" dirty="0">
                <a:solidFill>
                  <a:schemeClr val="accent1"/>
                </a:solidFill>
              </a:rPr>
              <a:t>指定打开文件的类型和操作文件的方式</a:t>
            </a:r>
            <a:endParaRPr lang="zh-CN" altLang="en-US" sz="2000" dirty="0">
              <a:solidFill>
                <a:schemeClr val="accent1"/>
              </a:solidFill>
            </a:endParaRPr>
          </a:p>
        </p:txBody>
      </p:sp>
      <p:sp>
        <p:nvSpPr>
          <p:cNvPr id="8" name="标注: 弯曲线形 7">
            <a:extLst>
              <a:ext uri="{FF2B5EF4-FFF2-40B4-BE49-F238E27FC236}">
                <a16:creationId xmlns:a16="http://schemas.microsoft.com/office/drawing/2014/main" id="{567AAB2E-42D2-4320-B110-9C010538C0F7}"/>
              </a:ext>
            </a:extLst>
          </p:cNvPr>
          <p:cNvSpPr/>
          <p:nvPr/>
        </p:nvSpPr>
        <p:spPr>
          <a:xfrm>
            <a:off x="2547296" y="5371563"/>
            <a:ext cx="4730045" cy="778933"/>
          </a:xfrm>
          <a:prstGeom prst="borderCallout2">
            <a:avLst>
              <a:gd name="adj1" fmla="val -12409"/>
              <a:gd name="adj2" fmla="val 55390"/>
              <a:gd name="adj3" fmla="val -37047"/>
              <a:gd name="adj4" fmla="val 61734"/>
              <a:gd name="adj5" fmla="val -93297"/>
              <a:gd name="adj6" fmla="val 75887"/>
            </a:avLst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zh-CN" sz="2000" dirty="0">
                <a:solidFill>
                  <a:schemeClr val="accent1"/>
                </a:solidFill>
              </a:rPr>
              <a:t>可以采用绝对路径</a:t>
            </a:r>
            <a:r>
              <a:rPr lang="en-US" altLang="zh-CN" sz="2000" dirty="0">
                <a:solidFill>
                  <a:schemeClr val="accent1"/>
                </a:solidFill>
              </a:rPr>
              <a:t>,</a:t>
            </a:r>
            <a:r>
              <a:rPr lang="zh-CN" altLang="zh-CN" sz="2000" dirty="0">
                <a:solidFill>
                  <a:schemeClr val="accent1"/>
                </a:solidFill>
              </a:rPr>
              <a:t>也可以采用相对路径</a:t>
            </a:r>
            <a:endParaRPr lang="zh-CN" altLang="en-US" sz="20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43423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/>
      <p:bldP spid="7" grpId="0" animBg="1"/>
      <p:bldP spid="8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组合 31">
            <a:extLst>
              <a:ext uri="{FF2B5EF4-FFF2-40B4-BE49-F238E27FC236}">
                <a16:creationId xmlns:a16="http://schemas.microsoft.com/office/drawing/2014/main" id="{032EF26F-0D58-4A0E-97C1-668713F80B14}"/>
              </a:ext>
            </a:extLst>
          </p:cNvPr>
          <p:cNvGrpSpPr/>
          <p:nvPr/>
        </p:nvGrpSpPr>
        <p:grpSpPr>
          <a:xfrm>
            <a:off x="170320" y="203448"/>
            <a:ext cx="6511833" cy="504056"/>
            <a:chOff x="169526" y="203448"/>
            <a:chExt cx="6511833" cy="504056"/>
          </a:xfrm>
        </p:grpSpPr>
        <p:sp>
          <p:nvSpPr>
            <p:cNvPr id="4" name="TextBox 3"/>
            <p:cNvSpPr txBox="1"/>
            <p:nvPr/>
          </p:nvSpPr>
          <p:spPr>
            <a:xfrm>
              <a:off x="781172" y="245839"/>
              <a:ext cx="590018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spc="300" dirty="0">
                  <a:solidFill>
                    <a:srgbClr val="1E6787"/>
                  </a:solidFill>
                  <a:latin typeface="微软雅黑" pitchFamily="34" charset="-122"/>
                  <a:ea typeface="微软雅黑" pitchFamily="34" charset="-122"/>
                </a:rPr>
                <a:t>文件操作</a:t>
              </a:r>
              <a:r>
                <a:rPr lang="en-US" altLang="zh-CN" sz="2400" b="1" spc="300" dirty="0">
                  <a:solidFill>
                    <a:srgbClr val="1E6787"/>
                  </a:solidFill>
                  <a:latin typeface="微软雅黑" pitchFamily="34" charset="-122"/>
                  <a:ea typeface="微软雅黑" pitchFamily="34" charset="-122"/>
                </a:rPr>
                <a:t>—</a:t>
              </a:r>
              <a:r>
                <a:rPr lang="zh-CN" altLang="en-US" sz="2400" b="1" spc="300" dirty="0">
                  <a:solidFill>
                    <a:srgbClr val="1E6787"/>
                  </a:solidFill>
                  <a:latin typeface="微软雅黑" pitchFamily="34" charset="-122"/>
                  <a:ea typeface="微软雅黑" pitchFamily="34" charset="-122"/>
                </a:rPr>
                <a:t>打开文件</a:t>
              </a:r>
              <a:endParaRPr lang="zh-CN" altLang="en-US" sz="2000" b="1" spc="300" dirty="0">
                <a:solidFill>
                  <a:srgbClr val="1E6787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grpSp>
          <p:nvGrpSpPr>
            <p:cNvPr id="56" name="组合 55">
              <a:extLst>
                <a:ext uri="{FF2B5EF4-FFF2-40B4-BE49-F238E27FC236}">
                  <a16:creationId xmlns:a16="http://schemas.microsoft.com/office/drawing/2014/main" id="{B3ECA4EB-10D1-4B65-B604-4032302CDAF4}"/>
                </a:ext>
              </a:extLst>
            </p:cNvPr>
            <p:cNvGrpSpPr/>
            <p:nvPr/>
          </p:nvGrpSpPr>
          <p:grpSpPr>
            <a:xfrm>
              <a:off x="169526" y="203448"/>
              <a:ext cx="504056" cy="504056"/>
              <a:chOff x="11207774" y="442662"/>
              <a:chExt cx="504056" cy="504056"/>
            </a:xfr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grpSpPr>
          <p:sp>
            <p:nvSpPr>
              <p:cNvPr id="57" name="椭圆 56">
                <a:extLst>
                  <a:ext uri="{FF2B5EF4-FFF2-40B4-BE49-F238E27FC236}">
                    <a16:creationId xmlns:a16="http://schemas.microsoft.com/office/drawing/2014/main" id="{FF372EA1-AB4F-47B1-B450-59AB8827ECD5}"/>
                  </a:ext>
                </a:extLst>
              </p:cNvPr>
              <p:cNvSpPr/>
              <p:nvPr/>
            </p:nvSpPr>
            <p:spPr>
              <a:xfrm>
                <a:off x="11351790" y="601230"/>
                <a:ext cx="216024" cy="216024"/>
              </a:xfrm>
              <a:prstGeom prst="ellipse">
                <a:avLst/>
              </a:prstGeom>
              <a:solidFill>
                <a:srgbClr val="B3DF63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prstClr val="white"/>
                  </a:solidFill>
                  <a:latin typeface="Calibri"/>
                  <a:ea typeface="微软雅黑"/>
                </a:endParaRPr>
              </a:p>
            </p:txBody>
          </p:sp>
          <p:sp>
            <p:nvSpPr>
              <p:cNvPr id="58" name="椭圆 57">
                <a:extLst>
                  <a:ext uri="{FF2B5EF4-FFF2-40B4-BE49-F238E27FC236}">
                    <a16:creationId xmlns:a16="http://schemas.microsoft.com/office/drawing/2014/main" id="{0BEE7D95-9E9C-4C6D-91AA-6429F74B9F98}"/>
                  </a:ext>
                </a:extLst>
              </p:cNvPr>
              <p:cNvSpPr/>
              <p:nvPr/>
            </p:nvSpPr>
            <p:spPr>
              <a:xfrm>
                <a:off x="11207774" y="442662"/>
                <a:ext cx="504056" cy="504056"/>
              </a:xfrm>
              <a:prstGeom prst="ellipse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Calibri"/>
                  <a:ea typeface="微软雅黑"/>
                </a:endParaRPr>
              </a:p>
            </p:txBody>
          </p:sp>
        </p:grpSp>
        <p:cxnSp>
          <p:nvCxnSpPr>
            <p:cNvPr id="20" name="直接连接符 19">
              <a:extLst>
                <a:ext uri="{FF2B5EF4-FFF2-40B4-BE49-F238E27FC236}">
                  <a16:creationId xmlns:a16="http://schemas.microsoft.com/office/drawing/2014/main" id="{C4FBB3C1-88AA-4E76-B54C-31018E3BFAA0}"/>
                </a:ext>
              </a:extLst>
            </p:cNvPr>
            <p:cNvCxnSpPr>
              <a:cxnSpLocks/>
            </p:cNvCxnSpPr>
            <p:nvPr/>
          </p:nvCxnSpPr>
          <p:spPr>
            <a:xfrm>
              <a:off x="775303" y="707504"/>
              <a:ext cx="1833288" cy="0"/>
            </a:xfrm>
            <a:prstGeom prst="line">
              <a:avLst/>
            </a:prstGeom>
            <a:ln>
              <a:solidFill>
                <a:srgbClr val="B3DF6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矩形 5">
            <a:extLst>
              <a:ext uri="{FF2B5EF4-FFF2-40B4-BE49-F238E27FC236}">
                <a16:creationId xmlns:a16="http://schemas.microsoft.com/office/drawing/2014/main" id="{47EE8CF7-0E6F-4011-83E5-B298E9218698}"/>
              </a:ext>
            </a:extLst>
          </p:cNvPr>
          <p:cNvSpPr/>
          <p:nvPr/>
        </p:nvSpPr>
        <p:spPr>
          <a:xfrm>
            <a:off x="1864579" y="953095"/>
            <a:ext cx="775725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dirty="0">
                <a:latin typeface="+mn-ea"/>
                <a:cs typeface="Times New Roman" panose="02020603050405020304" pitchFamily="18" charset="0"/>
              </a:rPr>
              <a:t>File</a:t>
            </a:r>
            <a:r>
              <a:rPr lang="zh-CN" altLang="zh-CN" sz="2800" dirty="0">
                <a:latin typeface="+mn-ea"/>
                <a:cs typeface="Times New Roman" panose="02020603050405020304" pitchFamily="18" charset="0"/>
              </a:rPr>
              <a:t>对象名</a:t>
            </a:r>
            <a:r>
              <a:rPr lang="en-US" altLang="zh-CN" sz="2800" dirty="0">
                <a:latin typeface="+mn-ea"/>
                <a:cs typeface="Times New Roman" panose="02020603050405020304" pitchFamily="18" charset="0"/>
              </a:rPr>
              <a:t> = </a:t>
            </a:r>
            <a:r>
              <a:rPr lang="en-US" altLang="zh-CN" sz="2800" dirty="0">
                <a:solidFill>
                  <a:srgbClr val="FF9900"/>
                </a:solidFill>
                <a:latin typeface="+mn-ea"/>
                <a:cs typeface="Times New Roman" panose="02020603050405020304" pitchFamily="18" charset="0"/>
              </a:rPr>
              <a:t>open</a:t>
            </a:r>
            <a:r>
              <a:rPr lang="en-US" altLang="zh-CN" sz="2800" dirty="0">
                <a:latin typeface="+mn-ea"/>
                <a:cs typeface="Times New Roman" panose="02020603050405020304" pitchFamily="18" charset="0"/>
              </a:rPr>
              <a:t>(</a:t>
            </a:r>
            <a:r>
              <a:rPr lang="zh-CN" altLang="zh-CN" sz="2800" dirty="0">
                <a:latin typeface="+mn-ea"/>
                <a:cs typeface="Times New Roman" panose="02020603050405020304" pitchFamily="18" charset="0"/>
              </a:rPr>
              <a:t>文件路径字符串，</a:t>
            </a:r>
            <a:r>
              <a:rPr lang="zh-CN" altLang="zh-CN" sz="2800" dirty="0">
                <a:solidFill>
                  <a:srgbClr val="FF0000"/>
                </a:solidFill>
                <a:latin typeface="+mn-ea"/>
                <a:cs typeface="Times New Roman" panose="02020603050405020304" pitchFamily="18" charset="0"/>
              </a:rPr>
              <a:t>模式字符</a:t>
            </a:r>
            <a:r>
              <a:rPr lang="en-US" altLang="zh-CN" sz="2800" dirty="0">
                <a:latin typeface="+mn-ea"/>
                <a:cs typeface="Times New Roman" panose="02020603050405020304" pitchFamily="18" charset="0"/>
              </a:rPr>
              <a:t>)</a:t>
            </a:r>
            <a:endParaRPr lang="zh-CN" altLang="en-US" sz="2800" dirty="0">
              <a:latin typeface="+mn-ea"/>
            </a:endParaRP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535E685B-DE1E-4590-B6B9-6051BAC03F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7250840"/>
              </p:ext>
            </p:extLst>
          </p:nvPr>
        </p:nvGraphicFramePr>
        <p:xfrm>
          <a:off x="422348" y="1633549"/>
          <a:ext cx="11193920" cy="5120640"/>
        </p:xfrm>
        <a:graphic>
          <a:graphicData uri="http://schemas.openxmlformats.org/drawingml/2006/table">
            <a:tbl>
              <a:tblPr firstRow="1" firstCol="1" bandRow="1">
                <a:tableStyleId>{21E4AEA4-8DFA-4A89-87EB-49C32662AFE0}</a:tableStyleId>
              </a:tblPr>
              <a:tblGrid>
                <a:gridCol w="1596946">
                  <a:extLst>
                    <a:ext uri="{9D8B030D-6E8A-4147-A177-3AD203B41FA5}">
                      <a16:colId xmlns:a16="http://schemas.microsoft.com/office/drawing/2014/main" val="2518562308"/>
                    </a:ext>
                  </a:extLst>
                </a:gridCol>
                <a:gridCol w="1273254">
                  <a:extLst>
                    <a:ext uri="{9D8B030D-6E8A-4147-A177-3AD203B41FA5}">
                      <a16:colId xmlns:a16="http://schemas.microsoft.com/office/drawing/2014/main" val="3856944669"/>
                    </a:ext>
                  </a:extLst>
                </a:gridCol>
                <a:gridCol w="2604519">
                  <a:extLst>
                    <a:ext uri="{9D8B030D-6E8A-4147-A177-3AD203B41FA5}">
                      <a16:colId xmlns:a16="http://schemas.microsoft.com/office/drawing/2014/main" val="2955202079"/>
                    </a:ext>
                  </a:extLst>
                </a:gridCol>
                <a:gridCol w="2203172">
                  <a:extLst>
                    <a:ext uri="{9D8B030D-6E8A-4147-A177-3AD203B41FA5}">
                      <a16:colId xmlns:a16="http://schemas.microsoft.com/office/drawing/2014/main" val="2854998745"/>
                    </a:ext>
                  </a:extLst>
                </a:gridCol>
                <a:gridCol w="3516029">
                  <a:extLst>
                    <a:ext uri="{9D8B030D-6E8A-4147-A177-3AD203B41FA5}">
                      <a16:colId xmlns:a16="http://schemas.microsoft.com/office/drawing/2014/main" val="2165880764"/>
                    </a:ext>
                  </a:extLst>
                </a:gridCol>
              </a:tblGrid>
              <a:tr h="72296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400" kern="100">
                          <a:effectLst/>
                        </a:rPr>
                        <a:t>打开模式</a:t>
                      </a:r>
                      <a:endParaRPr lang="zh-CN" sz="24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400" kern="100">
                          <a:effectLst/>
                        </a:rPr>
                        <a:t>文件类型</a:t>
                      </a:r>
                      <a:endParaRPr lang="zh-CN" sz="24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400" kern="100">
                          <a:effectLst/>
                        </a:rPr>
                        <a:t>操作方式</a:t>
                      </a:r>
                      <a:endParaRPr lang="zh-CN" sz="24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400" kern="100">
                          <a:effectLst/>
                        </a:rPr>
                        <a:t>文件不存在时</a:t>
                      </a:r>
                      <a:endParaRPr lang="zh-CN" sz="24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400" kern="100">
                          <a:effectLst/>
                        </a:rPr>
                        <a:t>是否覆盖写</a:t>
                      </a:r>
                      <a:endParaRPr lang="zh-CN" sz="24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422233271"/>
                  </a:ext>
                </a:extLst>
              </a:tr>
              <a:tr h="361481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kern="100">
                          <a:effectLst/>
                        </a:rPr>
                        <a:t>'r'</a:t>
                      </a:r>
                      <a:endParaRPr lang="zh-CN" sz="24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rowSpan="6">
                  <a:txBody>
                    <a:bodyPr/>
                    <a:lstStyle/>
                    <a:p>
                      <a:pPr marL="71755" marR="71755" algn="ctr">
                        <a:spcAft>
                          <a:spcPts val="0"/>
                        </a:spcAft>
                      </a:pPr>
                      <a:r>
                        <a:rPr lang="zh-CN" sz="2400" kern="100">
                          <a:effectLst/>
                        </a:rPr>
                        <a:t>文本文件</a:t>
                      </a:r>
                      <a:endParaRPr lang="zh-CN" sz="24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vert="eaVert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400" kern="100">
                          <a:effectLst/>
                        </a:rPr>
                        <a:t>只可读文件</a:t>
                      </a:r>
                      <a:endParaRPr lang="zh-CN" sz="24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400" kern="100">
                          <a:effectLst/>
                        </a:rPr>
                        <a:t>报错</a:t>
                      </a:r>
                      <a:endParaRPr lang="zh-CN" sz="24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kern="100">
                          <a:effectLst/>
                        </a:rPr>
                        <a:t>-</a:t>
                      </a:r>
                      <a:endParaRPr lang="zh-CN" sz="24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83018706"/>
                  </a:ext>
                </a:extLst>
              </a:tr>
              <a:tr h="361481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kern="100">
                          <a:effectLst/>
                        </a:rPr>
                        <a:t>'r+'</a:t>
                      </a:r>
                      <a:endParaRPr lang="zh-CN" sz="24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400" kern="100">
                          <a:effectLst/>
                        </a:rPr>
                        <a:t>可读可写</a:t>
                      </a:r>
                      <a:endParaRPr lang="zh-CN" sz="24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400" kern="100">
                          <a:effectLst/>
                        </a:rPr>
                        <a:t>报错</a:t>
                      </a:r>
                      <a:endParaRPr lang="zh-CN" sz="24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400" kern="100">
                          <a:effectLst/>
                        </a:rPr>
                        <a:t>是</a:t>
                      </a:r>
                      <a:endParaRPr lang="zh-CN" sz="24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47453298"/>
                  </a:ext>
                </a:extLst>
              </a:tr>
              <a:tr h="361481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kern="100" dirty="0">
                          <a:effectLst/>
                        </a:rPr>
                        <a:t>'w'</a:t>
                      </a:r>
                      <a:endParaRPr lang="zh-CN" sz="24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400" kern="100" dirty="0">
                          <a:effectLst/>
                        </a:rPr>
                        <a:t>只可写文件</a:t>
                      </a:r>
                      <a:endParaRPr lang="zh-CN" sz="24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400" kern="100">
                          <a:effectLst/>
                        </a:rPr>
                        <a:t>新建文件</a:t>
                      </a:r>
                      <a:endParaRPr lang="zh-CN" sz="24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400" kern="100">
                          <a:effectLst/>
                        </a:rPr>
                        <a:t>是</a:t>
                      </a:r>
                      <a:endParaRPr lang="zh-CN" sz="24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365788405"/>
                  </a:ext>
                </a:extLst>
              </a:tr>
              <a:tr h="361481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kern="100">
                          <a:effectLst/>
                        </a:rPr>
                        <a:t>'w+'</a:t>
                      </a:r>
                      <a:endParaRPr lang="zh-CN" sz="24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400" kern="100">
                          <a:effectLst/>
                        </a:rPr>
                        <a:t>可读可写</a:t>
                      </a:r>
                      <a:endParaRPr lang="zh-CN" sz="24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400" kern="100">
                          <a:effectLst/>
                        </a:rPr>
                        <a:t>新建文件</a:t>
                      </a:r>
                      <a:endParaRPr lang="zh-CN" sz="24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400" kern="100">
                          <a:effectLst/>
                        </a:rPr>
                        <a:t>是</a:t>
                      </a:r>
                      <a:endParaRPr lang="zh-CN" sz="24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819558018"/>
                  </a:ext>
                </a:extLst>
              </a:tr>
              <a:tr h="361481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kern="100">
                          <a:effectLst/>
                        </a:rPr>
                        <a:t>'a'</a:t>
                      </a:r>
                      <a:endParaRPr lang="zh-CN" sz="24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400" kern="100">
                          <a:effectLst/>
                        </a:rPr>
                        <a:t>只可写文件</a:t>
                      </a:r>
                      <a:endParaRPr lang="zh-CN" sz="24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400" kern="100">
                          <a:effectLst/>
                        </a:rPr>
                        <a:t>新建文件</a:t>
                      </a:r>
                      <a:endParaRPr lang="zh-CN" sz="24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400" kern="100">
                          <a:effectLst/>
                        </a:rPr>
                        <a:t>否</a:t>
                      </a:r>
                      <a:r>
                        <a:rPr lang="en-US" sz="2400" kern="100">
                          <a:effectLst/>
                        </a:rPr>
                        <a:t>,</a:t>
                      </a:r>
                      <a:r>
                        <a:rPr lang="zh-CN" sz="2400" kern="100">
                          <a:effectLst/>
                        </a:rPr>
                        <a:t>从</a:t>
                      </a:r>
                      <a:r>
                        <a:rPr lang="en-US" sz="2400" kern="100">
                          <a:effectLst/>
                        </a:rPr>
                        <a:t>EOF</a:t>
                      </a:r>
                      <a:r>
                        <a:rPr lang="zh-CN" sz="2400" kern="100">
                          <a:effectLst/>
                        </a:rPr>
                        <a:t>处开始追加写</a:t>
                      </a:r>
                      <a:endParaRPr lang="zh-CN" sz="24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17172663"/>
                  </a:ext>
                </a:extLst>
              </a:tr>
              <a:tr h="361481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kern="100">
                          <a:effectLst/>
                        </a:rPr>
                        <a:t>'a+'</a:t>
                      </a:r>
                      <a:endParaRPr lang="zh-CN" sz="24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400" kern="100">
                          <a:effectLst/>
                        </a:rPr>
                        <a:t>可读可写</a:t>
                      </a:r>
                      <a:endParaRPr lang="zh-CN" sz="24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400" kern="100">
                          <a:effectLst/>
                        </a:rPr>
                        <a:t>新建文件</a:t>
                      </a:r>
                      <a:endParaRPr lang="zh-CN" sz="24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400" kern="100">
                          <a:effectLst/>
                        </a:rPr>
                        <a:t>否</a:t>
                      </a:r>
                      <a:r>
                        <a:rPr lang="en-US" sz="2400" kern="100">
                          <a:effectLst/>
                        </a:rPr>
                        <a:t>,</a:t>
                      </a:r>
                      <a:r>
                        <a:rPr lang="zh-CN" sz="2400" kern="100">
                          <a:effectLst/>
                        </a:rPr>
                        <a:t>从</a:t>
                      </a:r>
                      <a:r>
                        <a:rPr lang="en-US" sz="2400" kern="100">
                          <a:effectLst/>
                        </a:rPr>
                        <a:t>EOF</a:t>
                      </a:r>
                      <a:r>
                        <a:rPr lang="zh-CN" sz="2400" kern="100">
                          <a:effectLst/>
                        </a:rPr>
                        <a:t>处开始追加写</a:t>
                      </a:r>
                      <a:endParaRPr lang="zh-CN" sz="24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39364375"/>
                  </a:ext>
                </a:extLst>
              </a:tr>
              <a:tr h="361481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kern="100">
                          <a:effectLst/>
                        </a:rPr>
                        <a:t>'rb'</a:t>
                      </a:r>
                      <a:endParaRPr lang="zh-CN" sz="24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rowSpan="6">
                  <a:txBody>
                    <a:bodyPr/>
                    <a:lstStyle/>
                    <a:p>
                      <a:pPr marL="71755" marR="71755" algn="ctr">
                        <a:spcAft>
                          <a:spcPts val="0"/>
                        </a:spcAft>
                      </a:pPr>
                      <a:r>
                        <a:rPr lang="zh-CN" sz="2400" kern="100">
                          <a:effectLst/>
                        </a:rPr>
                        <a:t>二进制文件</a:t>
                      </a:r>
                      <a:endParaRPr lang="zh-CN" sz="24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vert="eaVert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400" kern="100">
                          <a:effectLst/>
                        </a:rPr>
                        <a:t>只可读文件</a:t>
                      </a:r>
                      <a:endParaRPr lang="zh-CN" sz="24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400" kern="100">
                          <a:effectLst/>
                        </a:rPr>
                        <a:t>报错</a:t>
                      </a:r>
                      <a:endParaRPr lang="zh-CN" sz="24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kern="100">
                          <a:effectLst/>
                        </a:rPr>
                        <a:t>-</a:t>
                      </a:r>
                      <a:endParaRPr lang="zh-CN" sz="24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725700897"/>
                  </a:ext>
                </a:extLst>
              </a:tr>
              <a:tr h="361481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kern="100">
                          <a:effectLst/>
                        </a:rPr>
                        <a:t>'rb+'</a:t>
                      </a:r>
                      <a:endParaRPr lang="zh-CN" sz="24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400" kern="100">
                          <a:effectLst/>
                        </a:rPr>
                        <a:t>可读可写</a:t>
                      </a:r>
                      <a:endParaRPr lang="zh-CN" sz="24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400" kern="100">
                          <a:effectLst/>
                        </a:rPr>
                        <a:t>报错</a:t>
                      </a:r>
                      <a:endParaRPr lang="zh-CN" sz="24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400" kern="100">
                          <a:effectLst/>
                        </a:rPr>
                        <a:t>是</a:t>
                      </a:r>
                      <a:endParaRPr lang="zh-CN" sz="24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456356433"/>
                  </a:ext>
                </a:extLst>
              </a:tr>
              <a:tr h="361481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kern="100">
                          <a:effectLst/>
                        </a:rPr>
                        <a:t>'wb'</a:t>
                      </a:r>
                      <a:endParaRPr lang="zh-CN" sz="24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400" kern="100">
                          <a:effectLst/>
                        </a:rPr>
                        <a:t>只可写文件</a:t>
                      </a:r>
                      <a:endParaRPr lang="zh-CN" sz="24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400" kern="100">
                          <a:effectLst/>
                        </a:rPr>
                        <a:t>新建文件</a:t>
                      </a:r>
                      <a:endParaRPr lang="zh-CN" sz="24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400" kern="100">
                          <a:effectLst/>
                        </a:rPr>
                        <a:t>是</a:t>
                      </a:r>
                      <a:endParaRPr lang="zh-CN" sz="24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164792461"/>
                  </a:ext>
                </a:extLst>
              </a:tr>
              <a:tr h="361481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kern="100">
                          <a:effectLst/>
                        </a:rPr>
                        <a:t>'wb+'</a:t>
                      </a:r>
                      <a:endParaRPr lang="zh-CN" sz="24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400" kern="100">
                          <a:effectLst/>
                        </a:rPr>
                        <a:t>可读可写</a:t>
                      </a:r>
                      <a:endParaRPr lang="zh-CN" sz="24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400" kern="100">
                          <a:effectLst/>
                        </a:rPr>
                        <a:t>新建文件</a:t>
                      </a:r>
                      <a:endParaRPr lang="zh-CN" sz="24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400" kern="100">
                          <a:effectLst/>
                        </a:rPr>
                        <a:t>是</a:t>
                      </a:r>
                      <a:endParaRPr lang="zh-CN" sz="24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965037180"/>
                  </a:ext>
                </a:extLst>
              </a:tr>
              <a:tr h="361481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kern="100">
                          <a:effectLst/>
                        </a:rPr>
                        <a:t>'ab'</a:t>
                      </a:r>
                      <a:endParaRPr lang="zh-CN" sz="24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400" kern="100">
                          <a:effectLst/>
                        </a:rPr>
                        <a:t>只可写文件</a:t>
                      </a:r>
                      <a:endParaRPr lang="zh-CN" sz="24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400" kern="100">
                          <a:effectLst/>
                        </a:rPr>
                        <a:t>新建文件</a:t>
                      </a:r>
                      <a:endParaRPr lang="zh-CN" sz="24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400" kern="100">
                          <a:effectLst/>
                        </a:rPr>
                        <a:t>否</a:t>
                      </a:r>
                      <a:r>
                        <a:rPr lang="en-US" sz="2400" kern="100">
                          <a:effectLst/>
                        </a:rPr>
                        <a:t>,</a:t>
                      </a:r>
                      <a:r>
                        <a:rPr lang="zh-CN" sz="2400" kern="100">
                          <a:effectLst/>
                        </a:rPr>
                        <a:t>从</a:t>
                      </a:r>
                      <a:r>
                        <a:rPr lang="en-US" sz="2400" kern="100">
                          <a:effectLst/>
                        </a:rPr>
                        <a:t>EOF</a:t>
                      </a:r>
                      <a:r>
                        <a:rPr lang="zh-CN" sz="2400" kern="100">
                          <a:effectLst/>
                        </a:rPr>
                        <a:t>处开始追加写</a:t>
                      </a:r>
                      <a:endParaRPr lang="zh-CN" sz="24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343063406"/>
                  </a:ext>
                </a:extLst>
              </a:tr>
              <a:tr h="361481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kern="100" dirty="0">
                          <a:effectLst/>
                        </a:rPr>
                        <a:t>'ab+'</a:t>
                      </a:r>
                      <a:endParaRPr lang="zh-CN" sz="24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400" kern="100">
                          <a:effectLst/>
                        </a:rPr>
                        <a:t>可读可写</a:t>
                      </a:r>
                      <a:endParaRPr lang="zh-CN" sz="24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400" kern="100">
                          <a:effectLst/>
                        </a:rPr>
                        <a:t>新建文件</a:t>
                      </a:r>
                      <a:endParaRPr lang="zh-CN" sz="24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400" kern="100" dirty="0">
                          <a:effectLst/>
                        </a:rPr>
                        <a:t>否</a:t>
                      </a:r>
                      <a:r>
                        <a:rPr lang="en-US" sz="2400" kern="100" dirty="0">
                          <a:effectLst/>
                        </a:rPr>
                        <a:t>,</a:t>
                      </a:r>
                      <a:r>
                        <a:rPr lang="zh-CN" sz="2400" kern="100" dirty="0">
                          <a:effectLst/>
                        </a:rPr>
                        <a:t>从</a:t>
                      </a:r>
                      <a:r>
                        <a:rPr lang="en-US" sz="2400" kern="100" dirty="0">
                          <a:effectLst/>
                        </a:rPr>
                        <a:t>EOF</a:t>
                      </a:r>
                      <a:r>
                        <a:rPr lang="zh-CN" sz="2400" kern="100" dirty="0">
                          <a:effectLst/>
                        </a:rPr>
                        <a:t>处开始追加写</a:t>
                      </a:r>
                      <a:endParaRPr lang="zh-CN" sz="24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018909265"/>
                  </a:ext>
                </a:extLst>
              </a:tr>
            </a:tbl>
          </a:graphicData>
        </a:graphic>
      </p:graphicFrame>
      <p:sp>
        <p:nvSpPr>
          <p:cNvPr id="9" name="矩形 8">
            <a:extLst>
              <a:ext uri="{FF2B5EF4-FFF2-40B4-BE49-F238E27FC236}">
                <a16:creationId xmlns:a16="http://schemas.microsoft.com/office/drawing/2014/main" id="{0D81A16F-66BA-4591-9000-B24EB4216A81}"/>
              </a:ext>
            </a:extLst>
          </p:cNvPr>
          <p:cNvSpPr/>
          <p:nvPr/>
        </p:nvSpPr>
        <p:spPr>
          <a:xfrm>
            <a:off x="314336" y="2319867"/>
            <a:ext cx="11459975" cy="228035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57315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组合 31">
            <a:extLst>
              <a:ext uri="{FF2B5EF4-FFF2-40B4-BE49-F238E27FC236}">
                <a16:creationId xmlns:a16="http://schemas.microsoft.com/office/drawing/2014/main" id="{032EF26F-0D58-4A0E-97C1-668713F80B14}"/>
              </a:ext>
            </a:extLst>
          </p:cNvPr>
          <p:cNvGrpSpPr/>
          <p:nvPr/>
        </p:nvGrpSpPr>
        <p:grpSpPr>
          <a:xfrm>
            <a:off x="170320" y="203448"/>
            <a:ext cx="6511833" cy="504056"/>
            <a:chOff x="169526" y="203448"/>
            <a:chExt cx="6511833" cy="504056"/>
          </a:xfrm>
        </p:grpSpPr>
        <p:sp>
          <p:nvSpPr>
            <p:cNvPr id="4" name="TextBox 3"/>
            <p:cNvSpPr txBox="1"/>
            <p:nvPr/>
          </p:nvSpPr>
          <p:spPr>
            <a:xfrm>
              <a:off x="781172" y="245839"/>
              <a:ext cx="590018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spc="300" dirty="0">
                  <a:solidFill>
                    <a:srgbClr val="1E6787"/>
                  </a:solidFill>
                  <a:latin typeface="微软雅黑" pitchFamily="34" charset="-122"/>
                  <a:ea typeface="微软雅黑" pitchFamily="34" charset="-122"/>
                </a:rPr>
                <a:t>文件操作</a:t>
              </a:r>
              <a:r>
                <a:rPr lang="en-US" altLang="zh-CN" sz="2400" b="1" spc="300" dirty="0">
                  <a:solidFill>
                    <a:srgbClr val="1E6787"/>
                  </a:solidFill>
                  <a:latin typeface="微软雅黑" pitchFamily="34" charset="-122"/>
                  <a:ea typeface="微软雅黑" pitchFamily="34" charset="-122"/>
                </a:rPr>
                <a:t>—</a:t>
              </a:r>
              <a:r>
                <a:rPr lang="zh-CN" altLang="en-US" sz="2400" b="1" spc="300" dirty="0">
                  <a:solidFill>
                    <a:srgbClr val="1E6787"/>
                  </a:solidFill>
                  <a:latin typeface="微软雅黑" pitchFamily="34" charset="-122"/>
                  <a:ea typeface="微软雅黑" pitchFamily="34" charset="-122"/>
                </a:rPr>
                <a:t>关闭文件</a:t>
              </a:r>
              <a:endParaRPr lang="zh-CN" altLang="en-US" sz="2000" b="1" spc="300" dirty="0">
                <a:solidFill>
                  <a:srgbClr val="1E6787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grpSp>
          <p:nvGrpSpPr>
            <p:cNvPr id="56" name="组合 55">
              <a:extLst>
                <a:ext uri="{FF2B5EF4-FFF2-40B4-BE49-F238E27FC236}">
                  <a16:creationId xmlns:a16="http://schemas.microsoft.com/office/drawing/2014/main" id="{B3ECA4EB-10D1-4B65-B604-4032302CDAF4}"/>
                </a:ext>
              </a:extLst>
            </p:cNvPr>
            <p:cNvGrpSpPr/>
            <p:nvPr/>
          </p:nvGrpSpPr>
          <p:grpSpPr>
            <a:xfrm>
              <a:off x="169526" y="203448"/>
              <a:ext cx="504056" cy="504056"/>
              <a:chOff x="11207774" y="442662"/>
              <a:chExt cx="504056" cy="504056"/>
            </a:xfr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grpSpPr>
          <p:sp>
            <p:nvSpPr>
              <p:cNvPr id="57" name="椭圆 56">
                <a:extLst>
                  <a:ext uri="{FF2B5EF4-FFF2-40B4-BE49-F238E27FC236}">
                    <a16:creationId xmlns:a16="http://schemas.microsoft.com/office/drawing/2014/main" id="{FF372EA1-AB4F-47B1-B450-59AB8827ECD5}"/>
                  </a:ext>
                </a:extLst>
              </p:cNvPr>
              <p:cNvSpPr/>
              <p:nvPr/>
            </p:nvSpPr>
            <p:spPr>
              <a:xfrm>
                <a:off x="11351790" y="601230"/>
                <a:ext cx="216024" cy="216024"/>
              </a:xfrm>
              <a:prstGeom prst="ellipse">
                <a:avLst/>
              </a:prstGeom>
              <a:solidFill>
                <a:srgbClr val="B3DF63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prstClr val="white"/>
                  </a:solidFill>
                  <a:latin typeface="Calibri"/>
                  <a:ea typeface="微软雅黑"/>
                </a:endParaRPr>
              </a:p>
            </p:txBody>
          </p:sp>
          <p:sp>
            <p:nvSpPr>
              <p:cNvPr id="58" name="椭圆 57">
                <a:extLst>
                  <a:ext uri="{FF2B5EF4-FFF2-40B4-BE49-F238E27FC236}">
                    <a16:creationId xmlns:a16="http://schemas.microsoft.com/office/drawing/2014/main" id="{0BEE7D95-9E9C-4C6D-91AA-6429F74B9F98}"/>
                  </a:ext>
                </a:extLst>
              </p:cNvPr>
              <p:cNvSpPr/>
              <p:nvPr/>
            </p:nvSpPr>
            <p:spPr>
              <a:xfrm>
                <a:off x="11207774" y="442662"/>
                <a:ext cx="504056" cy="504056"/>
              </a:xfrm>
              <a:prstGeom prst="ellipse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Calibri"/>
                  <a:ea typeface="微软雅黑"/>
                </a:endParaRPr>
              </a:p>
            </p:txBody>
          </p:sp>
        </p:grpSp>
        <p:cxnSp>
          <p:nvCxnSpPr>
            <p:cNvPr id="20" name="直接连接符 19">
              <a:extLst>
                <a:ext uri="{FF2B5EF4-FFF2-40B4-BE49-F238E27FC236}">
                  <a16:creationId xmlns:a16="http://schemas.microsoft.com/office/drawing/2014/main" id="{C4FBB3C1-88AA-4E76-B54C-31018E3BFAA0}"/>
                </a:ext>
              </a:extLst>
            </p:cNvPr>
            <p:cNvCxnSpPr>
              <a:cxnSpLocks/>
            </p:cNvCxnSpPr>
            <p:nvPr/>
          </p:nvCxnSpPr>
          <p:spPr>
            <a:xfrm>
              <a:off x="775303" y="707504"/>
              <a:ext cx="1833288" cy="0"/>
            </a:xfrm>
            <a:prstGeom prst="line">
              <a:avLst/>
            </a:prstGeom>
            <a:ln>
              <a:solidFill>
                <a:srgbClr val="B3DF6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矩形 5">
            <a:extLst>
              <a:ext uri="{FF2B5EF4-FFF2-40B4-BE49-F238E27FC236}">
                <a16:creationId xmlns:a16="http://schemas.microsoft.com/office/drawing/2014/main" id="{47EE8CF7-0E6F-4011-83E5-B298E9218698}"/>
              </a:ext>
            </a:extLst>
          </p:cNvPr>
          <p:cNvSpPr/>
          <p:nvPr/>
        </p:nvSpPr>
        <p:spPr>
          <a:xfrm>
            <a:off x="3416801" y="1867495"/>
            <a:ext cx="300595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dirty="0">
                <a:latin typeface="+mn-ea"/>
                <a:cs typeface="Times New Roman" panose="02020603050405020304" pitchFamily="18" charset="0"/>
              </a:rPr>
              <a:t>File</a:t>
            </a:r>
            <a:r>
              <a:rPr lang="zh-CN" altLang="zh-CN" sz="2800" dirty="0">
                <a:latin typeface="+mn-ea"/>
                <a:cs typeface="Times New Roman" panose="02020603050405020304" pitchFamily="18" charset="0"/>
              </a:rPr>
              <a:t>对象名</a:t>
            </a:r>
            <a:r>
              <a:rPr lang="en-US" altLang="zh-CN" sz="2800" dirty="0">
                <a:latin typeface="+mn-ea"/>
                <a:cs typeface="Times New Roman" panose="02020603050405020304" pitchFamily="18" charset="0"/>
              </a:rPr>
              <a:t> </a:t>
            </a:r>
            <a:r>
              <a:rPr lang="en-US" altLang="zh-CN" sz="2800" dirty="0"/>
              <a:t>.</a:t>
            </a:r>
            <a:r>
              <a:rPr lang="en-US" altLang="zh-CN" sz="2800" dirty="0">
                <a:solidFill>
                  <a:srgbClr val="FF9900"/>
                </a:solidFill>
              </a:rPr>
              <a:t>close</a:t>
            </a:r>
            <a:r>
              <a:rPr lang="en-US" altLang="zh-CN" sz="2800" dirty="0"/>
              <a:t>()</a:t>
            </a:r>
            <a:endParaRPr lang="zh-CN" altLang="en-US" sz="2800" dirty="0">
              <a:latin typeface="+mn-ea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8B6DFEA-5EB5-4935-B8BA-7C62ADA5EF54}"/>
              </a:ext>
            </a:extLst>
          </p:cNvPr>
          <p:cNvSpPr/>
          <p:nvPr/>
        </p:nvSpPr>
        <p:spPr>
          <a:xfrm>
            <a:off x="1426859" y="1210464"/>
            <a:ext cx="808426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dirty="0"/>
              <a:t>关闭文件，是</a:t>
            </a:r>
            <a:r>
              <a:rPr lang="zh-CN" altLang="zh-CN" sz="2800" dirty="0"/>
              <a:t>将文件从从内存保存回外存</a:t>
            </a:r>
            <a:r>
              <a:rPr lang="zh-CN" altLang="en-US" sz="2800" dirty="0"/>
              <a:t>的过程。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E55C9BC-5E47-409F-AE4D-EAA4047DB714}"/>
              </a:ext>
            </a:extLst>
          </p:cNvPr>
          <p:cNvSpPr/>
          <p:nvPr/>
        </p:nvSpPr>
        <p:spPr>
          <a:xfrm>
            <a:off x="7234744" y="3513534"/>
            <a:ext cx="90281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800" dirty="0">
                <a:solidFill>
                  <a:schemeClr val="accent2"/>
                </a:solidFill>
              </a:rPr>
              <a:t>内存</a:t>
            </a:r>
            <a:endParaRPr lang="zh-CN" altLang="en-US" sz="2800" dirty="0">
              <a:solidFill>
                <a:schemeClr val="accent2"/>
              </a:solidFill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EB1AE92-2A18-4DB6-8EA6-373C04AC5A0E}"/>
              </a:ext>
            </a:extLst>
          </p:cNvPr>
          <p:cNvSpPr/>
          <p:nvPr/>
        </p:nvSpPr>
        <p:spPr>
          <a:xfrm>
            <a:off x="3506803" y="3513534"/>
            <a:ext cx="90281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800" dirty="0">
                <a:solidFill>
                  <a:schemeClr val="accent2"/>
                </a:solidFill>
              </a:rPr>
              <a:t>外存</a:t>
            </a:r>
            <a:endParaRPr lang="zh-CN" altLang="en-US" sz="2800" dirty="0">
              <a:solidFill>
                <a:schemeClr val="accent2"/>
              </a:solidFill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2B9F7A8-0CA3-4AC7-B97C-FDF01B2C471F}"/>
              </a:ext>
            </a:extLst>
          </p:cNvPr>
          <p:cNvSpPr/>
          <p:nvPr/>
        </p:nvSpPr>
        <p:spPr>
          <a:xfrm>
            <a:off x="3096433" y="5159573"/>
            <a:ext cx="172354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000" dirty="0">
                <a:solidFill>
                  <a:srgbClr val="FF9900"/>
                </a:solidFill>
              </a:rPr>
              <a:t>长期保存</a:t>
            </a:r>
            <a:r>
              <a:rPr lang="zh-CN" altLang="en-US" sz="2000" dirty="0">
                <a:solidFill>
                  <a:srgbClr val="FF9900"/>
                </a:solidFill>
              </a:rPr>
              <a:t>文件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0B16412-432F-49C9-9909-8DADA23807EB}"/>
              </a:ext>
            </a:extLst>
          </p:cNvPr>
          <p:cNvSpPr/>
          <p:nvPr/>
        </p:nvSpPr>
        <p:spPr>
          <a:xfrm>
            <a:off x="6422752" y="5159573"/>
            <a:ext cx="300595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dirty="0">
                <a:solidFill>
                  <a:srgbClr val="FF9900"/>
                </a:solidFill>
              </a:rPr>
              <a:t>临时存放处理的中间结果</a:t>
            </a:r>
          </a:p>
        </p:txBody>
      </p:sp>
      <p:sp>
        <p:nvSpPr>
          <p:cNvPr id="7" name="弧形 6">
            <a:extLst>
              <a:ext uri="{FF2B5EF4-FFF2-40B4-BE49-F238E27FC236}">
                <a16:creationId xmlns:a16="http://schemas.microsoft.com/office/drawing/2014/main" id="{543402D5-6F3B-409D-9A36-3AB8A2C7F27C}"/>
              </a:ext>
            </a:extLst>
          </p:cNvPr>
          <p:cNvSpPr/>
          <p:nvPr/>
        </p:nvSpPr>
        <p:spPr>
          <a:xfrm>
            <a:off x="3993201" y="2847245"/>
            <a:ext cx="3657956" cy="1456292"/>
          </a:xfrm>
          <a:prstGeom prst="arc">
            <a:avLst>
              <a:gd name="adj1" fmla="val 11061898"/>
              <a:gd name="adj2" fmla="val 21452641"/>
            </a:avLst>
          </a:prstGeom>
          <a:ln w="19050">
            <a:headEnd type="none" w="med" len="med"/>
            <a:tailEnd type="triangle" w="med" len="med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altLang="zh-CN" dirty="0">
              <a:solidFill>
                <a:schemeClr val="accent6"/>
              </a:solidFill>
            </a:endParaRPr>
          </a:p>
          <a:p>
            <a:pPr algn="ctr"/>
            <a:r>
              <a:rPr lang="zh-CN" altLang="en-US" sz="2000" dirty="0">
                <a:solidFill>
                  <a:schemeClr val="accent6"/>
                </a:solidFill>
              </a:rPr>
              <a:t>打开文件</a:t>
            </a:r>
            <a:r>
              <a:rPr lang="en-US" altLang="zh-CN" sz="2000" dirty="0">
                <a:solidFill>
                  <a:schemeClr val="accent6"/>
                </a:solidFill>
              </a:rPr>
              <a:t>,</a:t>
            </a:r>
            <a:r>
              <a:rPr lang="zh-CN" altLang="en-US" sz="2000" dirty="0">
                <a:solidFill>
                  <a:schemeClr val="accent6"/>
                </a:solidFill>
              </a:rPr>
              <a:t>便于</a:t>
            </a:r>
            <a:r>
              <a:rPr lang="en-US" altLang="zh-CN" sz="2000" dirty="0">
                <a:solidFill>
                  <a:schemeClr val="accent6"/>
                </a:solidFill>
              </a:rPr>
              <a:t>CPU</a:t>
            </a:r>
            <a:r>
              <a:rPr lang="zh-CN" altLang="en-US" sz="2000" dirty="0">
                <a:solidFill>
                  <a:schemeClr val="accent6"/>
                </a:solidFill>
              </a:rPr>
              <a:t>处理</a:t>
            </a: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62C79CBA-C48B-456B-A0F2-35925E801DB9}"/>
              </a:ext>
            </a:extLst>
          </p:cNvPr>
          <p:cNvGrpSpPr/>
          <p:nvPr/>
        </p:nvGrpSpPr>
        <p:grpSpPr>
          <a:xfrm>
            <a:off x="4021269" y="3386780"/>
            <a:ext cx="3657956" cy="1456292"/>
            <a:chOff x="4021269" y="3386780"/>
            <a:chExt cx="3657956" cy="1456292"/>
          </a:xfrm>
        </p:grpSpPr>
        <p:sp>
          <p:nvSpPr>
            <p:cNvPr id="15" name="弧形 14">
              <a:extLst>
                <a:ext uri="{FF2B5EF4-FFF2-40B4-BE49-F238E27FC236}">
                  <a16:creationId xmlns:a16="http://schemas.microsoft.com/office/drawing/2014/main" id="{1B0ACA1B-D5B2-4D47-AF07-F9071AE269D2}"/>
                </a:ext>
              </a:extLst>
            </p:cNvPr>
            <p:cNvSpPr/>
            <p:nvPr/>
          </p:nvSpPr>
          <p:spPr>
            <a:xfrm flipV="1">
              <a:off x="4021269" y="3386780"/>
              <a:ext cx="3657956" cy="1456292"/>
            </a:xfrm>
            <a:prstGeom prst="arc">
              <a:avLst>
                <a:gd name="adj1" fmla="val 11061898"/>
                <a:gd name="adj2" fmla="val 21452641"/>
              </a:avLst>
            </a:prstGeom>
            <a:ln w="19050">
              <a:solidFill>
                <a:srgbClr val="00B050"/>
              </a:solidFill>
              <a:headEnd type="triangle" w="med" len="med"/>
              <a:tailEnd type="none" w="med" len="med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7131DA2A-254C-44B5-90C9-532A721203A2}"/>
                </a:ext>
              </a:extLst>
            </p:cNvPr>
            <p:cNvSpPr/>
            <p:nvPr/>
          </p:nvSpPr>
          <p:spPr>
            <a:xfrm>
              <a:off x="4154433" y="4113212"/>
              <a:ext cx="3451299" cy="37094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000" dirty="0">
                  <a:solidFill>
                    <a:srgbClr val="00B050"/>
                  </a:solidFill>
                </a:rPr>
                <a:t>关闭文件</a:t>
              </a:r>
              <a:r>
                <a:rPr lang="en-US" altLang="zh-CN" sz="2000" dirty="0">
                  <a:solidFill>
                    <a:srgbClr val="00B050"/>
                  </a:solidFill>
                </a:rPr>
                <a:t>,</a:t>
              </a:r>
              <a:r>
                <a:rPr lang="zh-CN" altLang="en-US" sz="2000" dirty="0">
                  <a:solidFill>
                    <a:srgbClr val="00B050"/>
                  </a:solidFill>
                </a:rPr>
                <a:t>同步变化</a:t>
              </a:r>
              <a:r>
                <a:rPr lang="en-US" altLang="zh-CN" sz="2000" dirty="0">
                  <a:solidFill>
                    <a:srgbClr val="00B050"/>
                  </a:solidFill>
                </a:rPr>
                <a:t>,</a:t>
              </a:r>
              <a:r>
                <a:rPr lang="zh-CN" altLang="en-US" sz="2000" dirty="0">
                  <a:solidFill>
                    <a:srgbClr val="00B050"/>
                  </a:solidFill>
                </a:rPr>
                <a:t>长期保存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541645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4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  <p:bldP spid="3" grpId="0"/>
      <p:bldP spid="13" grpId="0"/>
      <p:bldP spid="7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组合 31">
            <a:extLst>
              <a:ext uri="{FF2B5EF4-FFF2-40B4-BE49-F238E27FC236}">
                <a16:creationId xmlns:a16="http://schemas.microsoft.com/office/drawing/2014/main" id="{032EF26F-0D58-4A0E-97C1-668713F80B14}"/>
              </a:ext>
            </a:extLst>
          </p:cNvPr>
          <p:cNvGrpSpPr/>
          <p:nvPr/>
        </p:nvGrpSpPr>
        <p:grpSpPr>
          <a:xfrm>
            <a:off x="170320" y="203448"/>
            <a:ext cx="6511833" cy="504056"/>
            <a:chOff x="169526" y="203448"/>
            <a:chExt cx="6511833" cy="504056"/>
          </a:xfrm>
        </p:grpSpPr>
        <p:sp>
          <p:nvSpPr>
            <p:cNvPr id="4" name="TextBox 3"/>
            <p:cNvSpPr txBox="1"/>
            <p:nvPr/>
          </p:nvSpPr>
          <p:spPr>
            <a:xfrm>
              <a:off x="781172" y="245839"/>
              <a:ext cx="590018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spc="300" dirty="0">
                  <a:solidFill>
                    <a:srgbClr val="1E6787"/>
                  </a:solidFill>
                  <a:latin typeface="微软雅黑" pitchFamily="34" charset="-122"/>
                  <a:ea typeface="微软雅黑" pitchFamily="34" charset="-122"/>
                </a:rPr>
                <a:t>文件操作</a:t>
              </a:r>
              <a:r>
                <a:rPr lang="en-US" altLang="zh-CN" sz="2400" b="1" spc="300" dirty="0">
                  <a:solidFill>
                    <a:srgbClr val="1E6787"/>
                  </a:solidFill>
                  <a:latin typeface="微软雅黑" pitchFamily="34" charset="-122"/>
                  <a:ea typeface="微软雅黑" pitchFamily="34" charset="-122"/>
                </a:rPr>
                <a:t>—</a:t>
              </a:r>
              <a:r>
                <a:rPr lang="zh-CN" altLang="en-US" sz="2400" b="1" spc="300" dirty="0">
                  <a:solidFill>
                    <a:srgbClr val="1E6787"/>
                  </a:solidFill>
                  <a:latin typeface="微软雅黑" pitchFamily="34" charset="-122"/>
                  <a:ea typeface="微软雅黑" pitchFamily="34" charset="-122"/>
                </a:rPr>
                <a:t>写文件</a:t>
              </a:r>
              <a:endParaRPr lang="zh-CN" altLang="en-US" sz="2000" b="1" spc="300" dirty="0">
                <a:solidFill>
                  <a:srgbClr val="1E6787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grpSp>
          <p:nvGrpSpPr>
            <p:cNvPr id="56" name="组合 55">
              <a:extLst>
                <a:ext uri="{FF2B5EF4-FFF2-40B4-BE49-F238E27FC236}">
                  <a16:creationId xmlns:a16="http://schemas.microsoft.com/office/drawing/2014/main" id="{B3ECA4EB-10D1-4B65-B604-4032302CDAF4}"/>
                </a:ext>
              </a:extLst>
            </p:cNvPr>
            <p:cNvGrpSpPr/>
            <p:nvPr/>
          </p:nvGrpSpPr>
          <p:grpSpPr>
            <a:xfrm>
              <a:off x="169526" y="203448"/>
              <a:ext cx="504056" cy="504056"/>
              <a:chOff x="11207774" y="442662"/>
              <a:chExt cx="504056" cy="504056"/>
            </a:xfr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grpSpPr>
          <p:sp>
            <p:nvSpPr>
              <p:cNvPr id="57" name="椭圆 56">
                <a:extLst>
                  <a:ext uri="{FF2B5EF4-FFF2-40B4-BE49-F238E27FC236}">
                    <a16:creationId xmlns:a16="http://schemas.microsoft.com/office/drawing/2014/main" id="{FF372EA1-AB4F-47B1-B450-59AB8827ECD5}"/>
                  </a:ext>
                </a:extLst>
              </p:cNvPr>
              <p:cNvSpPr/>
              <p:nvPr/>
            </p:nvSpPr>
            <p:spPr>
              <a:xfrm>
                <a:off x="11351790" y="601230"/>
                <a:ext cx="216024" cy="216024"/>
              </a:xfrm>
              <a:prstGeom prst="ellipse">
                <a:avLst/>
              </a:prstGeom>
              <a:solidFill>
                <a:srgbClr val="B3DF63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prstClr val="white"/>
                  </a:solidFill>
                  <a:latin typeface="Calibri"/>
                  <a:ea typeface="微软雅黑"/>
                </a:endParaRPr>
              </a:p>
            </p:txBody>
          </p:sp>
          <p:sp>
            <p:nvSpPr>
              <p:cNvPr id="58" name="椭圆 57">
                <a:extLst>
                  <a:ext uri="{FF2B5EF4-FFF2-40B4-BE49-F238E27FC236}">
                    <a16:creationId xmlns:a16="http://schemas.microsoft.com/office/drawing/2014/main" id="{0BEE7D95-9E9C-4C6D-91AA-6429F74B9F98}"/>
                  </a:ext>
                </a:extLst>
              </p:cNvPr>
              <p:cNvSpPr/>
              <p:nvPr/>
            </p:nvSpPr>
            <p:spPr>
              <a:xfrm>
                <a:off x="11207774" y="442662"/>
                <a:ext cx="504056" cy="504056"/>
              </a:xfrm>
              <a:prstGeom prst="ellipse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Calibri"/>
                  <a:ea typeface="微软雅黑"/>
                </a:endParaRPr>
              </a:p>
            </p:txBody>
          </p:sp>
        </p:grpSp>
        <p:cxnSp>
          <p:nvCxnSpPr>
            <p:cNvPr id="20" name="直接连接符 19">
              <a:extLst>
                <a:ext uri="{FF2B5EF4-FFF2-40B4-BE49-F238E27FC236}">
                  <a16:creationId xmlns:a16="http://schemas.microsoft.com/office/drawing/2014/main" id="{C4FBB3C1-88AA-4E76-B54C-31018E3BFAA0}"/>
                </a:ext>
              </a:extLst>
            </p:cNvPr>
            <p:cNvCxnSpPr>
              <a:cxnSpLocks/>
            </p:cNvCxnSpPr>
            <p:nvPr/>
          </p:nvCxnSpPr>
          <p:spPr>
            <a:xfrm>
              <a:off x="775303" y="707504"/>
              <a:ext cx="1833288" cy="0"/>
            </a:xfrm>
            <a:prstGeom prst="line">
              <a:avLst/>
            </a:prstGeom>
            <a:ln>
              <a:solidFill>
                <a:srgbClr val="B3DF6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8" name="图片 17">
            <a:extLst>
              <a:ext uri="{FF2B5EF4-FFF2-40B4-BE49-F238E27FC236}">
                <a16:creationId xmlns:a16="http://schemas.microsoft.com/office/drawing/2014/main" id="{F5A18984-B6F5-4650-85E8-FF2C7DE1B66C}"/>
              </a:ext>
            </a:extLst>
          </p:cNvPr>
          <p:cNvPicPr/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0572" b="1810"/>
          <a:stretch/>
        </p:blipFill>
        <p:spPr bwMode="auto">
          <a:xfrm>
            <a:off x="745474" y="1662513"/>
            <a:ext cx="3582687" cy="3109106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F31DBEBB-5243-42F8-8AAD-6DB4FC3975F6}"/>
              </a:ext>
            </a:extLst>
          </p:cNvPr>
          <p:cNvSpPr/>
          <p:nvPr/>
        </p:nvSpPr>
        <p:spPr>
          <a:xfrm>
            <a:off x="615077" y="4854566"/>
            <a:ext cx="4715714" cy="14296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kern="1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&gt;&gt;&gt; </a:t>
            </a:r>
            <a:r>
              <a:rPr lang="en-US" altLang="zh-CN" sz="2000" kern="100" dirty="0">
                <a:solidFill>
                  <a:srgbClr val="FF99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import</a:t>
            </a:r>
            <a:r>
              <a:rPr lang="en-US" altLang="zh-CN" sz="2000" kern="1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 kern="100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os</a:t>
            </a:r>
            <a:endParaRPr lang="zh-CN" altLang="zh-CN" sz="2000" kern="100" dirty="0"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 kern="1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&gt;&gt;&gt; </a:t>
            </a:r>
            <a:r>
              <a:rPr lang="en-US" altLang="zh-CN" sz="2000" kern="100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os.chdir</a:t>
            </a:r>
            <a:r>
              <a:rPr lang="en-US" altLang="zh-CN" sz="2000" kern="100" dirty="0"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2000" kern="100" dirty="0">
                <a:solidFill>
                  <a:srgbClr val="00B05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"F:\\documents\\python"</a:t>
            </a:r>
            <a:r>
              <a:rPr lang="en-US" altLang="zh-CN" sz="2000" kern="1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altLang="zh-CN" sz="2000" dirty="0"/>
              <a:t>&gt;&gt;&gt; file=</a:t>
            </a:r>
            <a:r>
              <a:rPr lang="en-US" altLang="zh-CN" sz="2000" dirty="0">
                <a:solidFill>
                  <a:srgbClr val="7030A0"/>
                </a:solidFill>
              </a:rPr>
              <a:t>open</a:t>
            </a:r>
            <a:r>
              <a:rPr lang="en-US" altLang="zh-CN" sz="2000" dirty="0"/>
              <a:t>(</a:t>
            </a:r>
            <a:r>
              <a:rPr lang="en-US" altLang="zh-CN" sz="2000" dirty="0">
                <a:solidFill>
                  <a:srgbClr val="00B050"/>
                </a:solidFill>
              </a:rPr>
              <a:t>"</a:t>
            </a:r>
            <a:r>
              <a:rPr lang="en-US" altLang="zh-CN" sz="2000" dirty="0" err="1">
                <a:solidFill>
                  <a:srgbClr val="00B050"/>
                </a:solidFill>
              </a:rPr>
              <a:t>mydata.txt"</a:t>
            </a:r>
            <a:r>
              <a:rPr lang="en-US" altLang="zh-CN" sz="2000" dirty="0" err="1"/>
              <a:t>,</a:t>
            </a:r>
            <a:r>
              <a:rPr lang="en-US" altLang="zh-CN" sz="2000" dirty="0" err="1">
                <a:solidFill>
                  <a:srgbClr val="00B050"/>
                </a:solidFill>
              </a:rPr>
              <a:t>'w</a:t>
            </a:r>
            <a:r>
              <a:rPr lang="en-US" altLang="zh-CN" sz="2000" dirty="0">
                <a:solidFill>
                  <a:srgbClr val="00B050"/>
                </a:solidFill>
              </a:rPr>
              <a:t>'</a:t>
            </a:r>
            <a:r>
              <a:rPr lang="en-US" altLang="zh-CN" sz="2000" dirty="0"/>
              <a:t>)</a:t>
            </a:r>
            <a:endParaRPr lang="zh-CN" altLang="zh-CN" sz="2000" dirty="0"/>
          </a:p>
        </p:txBody>
      </p:sp>
      <p:sp>
        <p:nvSpPr>
          <p:cNvPr id="12" name="箭头: 右 11">
            <a:extLst>
              <a:ext uri="{FF2B5EF4-FFF2-40B4-BE49-F238E27FC236}">
                <a16:creationId xmlns:a16="http://schemas.microsoft.com/office/drawing/2014/main" id="{30EE4C5D-8F7F-4378-8640-3EEE8E99F3C6}"/>
              </a:ext>
            </a:extLst>
          </p:cNvPr>
          <p:cNvSpPr/>
          <p:nvPr/>
        </p:nvSpPr>
        <p:spPr>
          <a:xfrm>
            <a:off x="5330791" y="2515614"/>
            <a:ext cx="1110114" cy="461665"/>
          </a:xfrm>
          <a:prstGeom prst="rightArrow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5D238C2-5B9F-4D9A-B282-DA6B480050E0}"/>
              </a:ext>
            </a:extLst>
          </p:cNvPr>
          <p:cNvSpPr/>
          <p:nvPr/>
        </p:nvSpPr>
        <p:spPr>
          <a:xfrm>
            <a:off x="4466121" y="3060226"/>
            <a:ext cx="2954957" cy="11947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用</a:t>
            </a:r>
            <a:r>
              <a:rPr lang="zh-CN" altLang="en-US" b="1" dirty="0">
                <a:solidFill>
                  <a:schemeClr val="accent6"/>
                </a:solidFill>
              </a:rPr>
              <a:t>写模式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打开</a:t>
            </a:r>
            <a:r>
              <a:rPr lang="zh-CN" altLang="en-US" b="1" dirty="0">
                <a:solidFill>
                  <a:schemeClr val="accent6"/>
                </a:solidFill>
              </a:rPr>
              <a:t>不存在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的文件可以在指定文件夹</a:t>
            </a:r>
            <a:r>
              <a:rPr lang="zh-CN" altLang="en-US" b="1" dirty="0">
                <a:solidFill>
                  <a:schemeClr val="accent6"/>
                </a:solidFill>
              </a:rPr>
              <a:t>新建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一个</a:t>
            </a:r>
            <a:r>
              <a:rPr lang="zh-CN" altLang="en-US" b="1" dirty="0">
                <a:solidFill>
                  <a:schemeClr val="accent6"/>
                </a:solidFill>
              </a:rPr>
              <a:t>新文件</a:t>
            </a:r>
          </a:p>
        </p:txBody>
      </p: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5EECD778-DF8C-421A-96DF-8CEFC0541BC6}"/>
              </a:ext>
            </a:extLst>
          </p:cNvPr>
          <p:cNvGrpSpPr/>
          <p:nvPr/>
        </p:nvGrpSpPr>
        <p:grpSpPr>
          <a:xfrm>
            <a:off x="7421078" y="1662513"/>
            <a:ext cx="3782729" cy="3109105"/>
            <a:chOff x="7421078" y="1662513"/>
            <a:chExt cx="3782729" cy="3109105"/>
          </a:xfrm>
        </p:grpSpPr>
        <p:pic>
          <p:nvPicPr>
            <p:cNvPr id="19" name="图片 18">
              <a:extLst>
                <a:ext uri="{FF2B5EF4-FFF2-40B4-BE49-F238E27FC236}">
                  <a16:creationId xmlns:a16="http://schemas.microsoft.com/office/drawing/2014/main" id="{BFBA1C01-C0C0-4752-9E12-CE0228099F1E}"/>
                </a:ext>
              </a:extLst>
            </p:cNvPr>
            <p:cNvPicPr/>
            <p:nvPr/>
          </p:nvPicPr>
          <p:blipFill rotWithShape="1">
            <a:blip r:embed="rId4"/>
            <a:srcRect l="1033" r="30522" b="2269"/>
            <a:stretch/>
          </p:blipFill>
          <p:spPr bwMode="auto">
            <a:xfrm>
              <a:off x="7421078" y="1662513"/>
              <a:ext cx="3782729" cy="3109105"/>
            </a:xfrm>
            <a:prstGeom prst="rect">
              <a:avLst/>
            </a:prstGeom>
            <a:ln>
              <a:noFill/>
            </a:ln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1395068B-F3CE-47AC-B1CC-9F36D99080CF}"/>
                </a:ext>
              </a:extLst>
            </p:cNvPr>
            <p:cNvSpPr/>
            <p:nvPr/>
          </p:nvSpPr>
          <p:spPr>
            <a:xfrm>
              <a:off x="8739739" y="4543124"/>
              <a:ext cx="385010" cy="228494"/>
            </a:xfrm>
            <a:prstGeom prst="rect">
              <a:avLst/>
            </a:prstGeom>
            <a:noFill/>
            <a:ln w="28575"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9E8FF814-E355-4CF0-984B-F4B17744B2FB}"/>
                </a:ext>
              </a:extLst>
            </p:cNvPr>
            <p:cNvSpPr/>
            <p:nvPr/>
          </p:nvSpPr>
          <p:spPr>
            <a:xfrm>
              <a:off x="8739739" y="2469023"/>
              <a:ext cx="558265" cy="591811"/>
            </a:xfrm>
            <a:prstGeom prst="rect">
              <a:avLst/>
            </a:prstGeom>
            <a:noFill/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4" name="箭头: 下 23">
            <a:extLst>
              <a:ext uri="{FF2B5EF4-FFF2-40B4-BE49-F238E27FC236}">
                <a16:creationId xmlns:a16="http://schemas.microsoft.com/office/drawing/2014/main" id="{A63247E7-B8BE-4D41-B2D6-8549A74B61A4}"/>
              </a:ext>
            </a:extLst>
          </p:cNvPr>
          <p:cNvSpPr/>
          <p:nvPr/>
        </p:nvSpPr>
        <p:spPr>
          <a:xfrm>
            <a:off x="9230627" y="4897104"/>
            <a:ext cx="394636" cy="462013"/>
          </a:xfrm>
          <a:prstGeom prst="downArrow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F972EF5D-D053-4F68-9870-B39EDA8234E8}"/>
              </a:ext>
            </a:extLst>
          </p:cNvPr>
          <p:cNvSpPr/>
          <p:nvPr/>
        </p:nvSpPr>
        <p:spPr>
          <a:xfrm>
            <a:off x="9625264" y="4923826"/>
            <a:ext cx="1578543" cy="39463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打开文件后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DD92C78A-558E-417B-8340-B62BAE0F481C}"/>
              </a:ext>
            </a:extLst>
          </p:cNvPr>
          <p:cNvSpPr/>
          <p:nvPr/>
        </p:nvSpPr>
        <p:spPr>
          <a:xfrm>
            <a:off x="7900909" y="5385839"/>
            <a:ext cx="3775393" cy="96128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chemeClr val="accent6"/>
                </a:solidFill>
                <a:latin typeface="+mn-ea"/>
                <a:cs typeface="Times New Roman" panose="02020603050405020304" pitchFamily="18" charset="0"/>
              </a:rPr>
              <a:t>文件</a:t>
            </a:r>
            <a:r>
              <a:rPr lang="zh-CN" altLang="zh-CN" sz="2000" dirty="0">
                <a:latin typeface="+mn-ea"/>
                <a:cs typeface="Times New Roman" panose="02020603050405020304" pitchFamily="18" charset="0"/>
              </a:rPr>
              <a:t>与</a:t>
            </a:r>
            <a:r>
              <a:rPr lang="zh-CN" altLang="zh-CN" sz="2000" b="1" dirty="0">
                <a:solidFill>
                  <a:schemeClr val="accent6"/>
                </a:solidFill>
                <a:latin typeface="+mn-ea"/>
                <a:cs typeface="Times New Roman" panose="02020603050405020304" pitchFamily="18" charset="0"/>
              </a:rPr>
              <a:t>文件对象</a:t>
            </a:r>
            <a:r>
              <a:rPr lang="en-US" altLang="zh-CN" sz="2000" dirty="0">
                <a:latin typeface="+mn-ea"/>
                <a:cs typeface="Times New Roman" panose="02020603050405020304" pitchFamily="18" charset="0"/>
              </a:rPr>
              <a:t>file</a:t>
            </a:r>
            <a:r>
              <a:rPr lang="zh-CN" altLang="zh-CN" sz="2000" b="1" dirty="0">
                <a:solidFill>
                  <a:schemeClr val="accent6"/>
                </a:solidFill>
                <a:latin typeface="+mn-ea"/>
                <a:cs typeface="Times New Roman" panose="02020603050405020304" pitchFamily="18" charset="0"/>
              </a:rPr>
              <a:t>关联</a:t>
            </a:r>
            <a:r>
              <a:rPr lang="en-US" altLang="zh-CN" sz="2000" b="1" dirty="0">
                <a:latin typeface="+mn-ea"/>
                <a:cs typeface="Times New Roman" panose="02020603050405020304" pitchFamily="18" charset="0"/>
              </a:rPr>
              <a:t>,</a:t>
            </a:r>
          </a:p>
          <a:p>
            <a:pPr>
              <a:lnSpc>
                <a:spcPct val="150000"/>
              </a:lnSpc>
            </a:pPr>
            <a:r>
              <a:rPr lang="zh-CN" altLang="en-US" sz="2000" dirty="0">
                <a:latin typeface="+mn-ea"/>
                <a:cs typeface="Times New Roman" panose="02020603050405020304" pitchFamily="18" charset="0"/>
              </a:rPr>
              <a:t>后续文件操作通过</a:t>
            </a:r>
            <a:r>
              <a:rPr lang="zh-CN" altLang="en-US" sz="2000" b="1" dirty="0">
                <a:solidFill>
                  <a:schemeClr val="accent6"/>
                </a:solidFill>
                <a:latin typeface="+mn-ea"/>
                <a:cs typeface="Times New Roman" panose="02020603050405020304" pitchFamily="18" charset="0"/>
              </a:rPr>
              <a:t>文件对象</a:t>
            </a:r>
            <a:r>
              <a:rPr lang="zh-CN" altLang="en-US" sz="2000" dirty="0">
                <a:latin typeface="+mn-ea"/>
                <a:cs typeface="Times New Roman" panose="02020603050405020304" pitchFamily="18" charset="0"/>
              </a:rPr>
              <a:t>实现</a:t>
            </a:r>
          </a:p>
        </p:txBody>
      </p:sp>
    </p:spTree>
    <p:extLst>
      <p:ext uri="{BB962C8B-B14F-4D97-AF65-F5344CB8AC3E}">
        <p14:creationId xmlns:p14="http://schemas.microsoft.com/office/powerpoint/2010/main" val="7965502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53" presetClass="entr" presetSubtype="16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1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2" grpId="0" animBg="1"/>
      <p:bldP spid="14" grpId="0"/>
      <p:bldP spid="24" grpId="0" animBg="1"/>
      <p:bldP spid="25" grpId="0"/>
      <p:bldP spid="2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组合 31">
            <a:extLst>
              <a:ext uri="{FF2B5EF4-FFF2-40B4-BE49-F238E27FC236}">
                <a16:creationId xmlns:a16="http://schemas.microsoft.com/office/drawing/2014/main" id="{032EF26F-0D58-4A0E-97C1-668713F80B14}"/>
              </a:ext>
            </a:extLst>
          </p:cNvPr>
          <p:cNvGrpSpPr/>
          <p:nvPr/>
        </p:nvGrpSpPr>
        <p:grpSpPr>
          <a:xfrm>
            <a:off x="170320" y="203448"/>
            <a:ext cx="6511833" cy="504056"/>
            <a:chOff x="169526" y="203448"/>
            <a:chExt cx="6511833" cy="504056"/>
          </a:xfrm>
        </p:grpSpPr>
        <p:sp>
          <p:nvSpPr>
            <p:cNvPr id="4" name="TextBox 3"/>
            <p:cNvSpPr txBox="1"/>
            <p:nvPr/>
          </p:nvSpPr>
          <p:spPr>
            <a:xfrm>
              <a:off x="781172" y="245839"/>
              <a:ext cx="590018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spc="300" dirty="0">
                  <a:solidFill>
                    <a:srgbClr val="1E6787"/>
                  </a:solidFill>
                  <a:latin typeface="微软雅黑" pitchFamily="34" charset="-122"/>
                  <a:ea typeface="微软雅黑" pitchFamily="34" charset="-122"/>
                </a:rPr>
                <a:t>文件操作</a:t>
              </a:r>
              <a:r>
                <a:rPr lang="en-US" altLang="zh-CN" sz="2400" b="1" spc="300" dirty="0">
                  <a:solidFill>
                    <a:srgbClr val="1E6787"/>
                  </a:solidFill>
                  <a:latin typeface="微软雅黑" pitchFamily="34" charset="-122"/>
                  <a:ea typeface="微软雅黑" pitchFamily="34" charset="-122"/>
                </a:rPr>
                <a:t>—</a:t>
              </a:r>
              <a:r>
                <a:rPr lang="zh-CN" altLang="en-US" sz="2400" b="1" spc="300" dirty="0">
                  <a:solidFill>
                    <a:srgbClr val="1E6787"/>
                  </a:solidFill>
                  <a:latin typeface="微软雅黑" pitchFamily="34" charset="-122"/>
                  <a:ea typeface="微软雅黑" pitchFamily="34" charset="-122"/>
                </a:rPr>
                <a:t>写文件</a:t>
              </a:r>
              <a:endParaRPr lang="zh-CN" altLang="en-US" sz="2000" b="1" spc="300" dirty="0">
                <a:solidFill>
                  <a:srgbClr val="1E6787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grpSp>
          <p:nvGrpSpPr>
            <p:cNvPr id="56" name="组合 55">
              <a:extLst>
                <a:ext uri="{FF2B5EF4-FFF2-40B4-BE49-F238E27FC236}">
                  <a16:creationId xmlns:a16="http://schemas.microsoft.com/office/drawing/2014/main" id="{B3ECA4EB-10D1-4B65-B604-4032302CDAF4}"/>
                </a:ext>
              </a:extLst>
            </p:cNvPr>
            <p:cNvGrpSpPr/>
            <p:nvPr/>
          </p:nvGrpSpPr>
          <p:grpSpPr>
            <a:xfrm>
              <a:off x="169526" y="203448"/>
              <a:ext cx="504056" cy="504056"/>
              <a:chOff x="11207774" y="442662"/>
              <a:chExt cx="504056" cy="504056"/>
            </a:xfr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grpSpPr>
          <p:sp>
            <p:nvSpPr>
              <p:cNvPr id="57" name="椭圆 56">
                <a:extLst>
                  <a:ext uri="{FF2B5EF4-FFF2-40B4-BE49-F238E27FC236}">
                    <a16:creationId xmlns:a16="http://schemas.microsoft.com/office/drawing/2014/main" id="{FF372EA1-AB4F-47B1-B450-59AB8827ECD5}"/>
                  </a:ext>
                </a:extLst>
              </p:cNvPr>
              <p:cNvSpPr/>
              <p:nvPr/>
            </p:nvSpPr>
            <p:spPr>
              <a:xfrm>
                <a:off x="11351790" y="601230"/>
                <a:ext cx="216024" cy="216024"/>
              </a:xfrm>
              <a:prstGeom prst="ellipse">
                <a:avLst/>
              </a:prstGeom>
              <a:solidFill>
                <a:srgbClr val="B3DF63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prstClr val="white"/>
                  </a:solidFill>
                  <a:latin typeface="Calibri"/>
                  <a:ea typeface="微软雅黑"/>
                </a:endParaRPr>
              </a:p>
            </p:txBody>
          </p:sp>
          <p:sp>
            <p:nvSpPr>
              <p:cNvPr id="58" name="椭圆 57">
                <a:extLst>
                  <a:ext uri="{FF2B5EF4-FFF2-40B4-BE49-F238E27FC236}">
                    <a16:creationId xmlns:a16="http://schemas.microsoft.com/office/drawing/2014/main" id="{0BEE7D95-9E9C-4C6D-91AA-6429F74B9F98}"/>
                  </a:ext>
                </a:extLst>
              </p:cNvPr>
              <p:cNvSpPr/>
              <p:nvPr/>
            </p:nvSpPr>
            <p:spPr>
              <a:xfrm>
                <a:off x="11207774" y="442662"/>
                <a:ext cx="504056" cy="504056"/>
              </a:xfrm>
              <a:prstGeom prst="ellipse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Calibri"/>
                  <a:ea typeface="微软雅黑"/>
                </a:endParaRPr>
              </a:p>
            </p:txBody>
          </p:sp>
        </p:grpSp>
        <p:cxnSp>
          <p:nvCxnSpPr>
            <p:cNvPr id="20" name="直接连接符 19">
              <a:extLst>
                <a:ext uri="{FF2B5EF4-FFF2-40B4-BE49-F238E27FC236}">
                  <a16:creationId xmlns:a16="http://schemas.microsoft.com/office/drawing/2014/main" id="{C4FBB3C1-88AA-4E76-B54C-31018E3BFAA0}"/>
                </a:ext>
              </a:extLst>
            </p:cNvPr>
            <p:cNvCxnSpPr>
              <a:cxnSpLocks/>
            </p:cNvCxnSpPr>
            <p:nvPr/>
          </p:nvCxnSpPr>
          <p:spPr>
            <a:xfrm>
              <a:off x="775303" y="707504"/>
              <a:ext cx="1833288" cy="0"/>
            </a:xfrm>
            <a:prstGeom prst="line">
              <a:avLst/>
            </a:prstGeom>
            <a:ln>
              <a:solidFill>
                <a:srgbClr val="B3DF6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矩形 1">
            <a:extLst>
              <a:ext uri="{FF2B5EF4-FFF2-40B4-BE49-F238E27FC236}">
                <a16:creationId xmlns:a16="http://schemas.microsoft.com/office/drawing/2014/main" id="{D3DC0766-ED61-46D3-93BD-79524870C5F7}"/>
              </a:ext>
            </a:extLst>
          </p:cNvPr>
          <p:cNvSpPr/>
          <p:nvPr/>
        </p:nvSpPr>
        <p:spPr>
          <a:xfrm>
            <a:off x="860318" y="1169169"/>
            <a:ext cx="9994231" cy="17813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lvl="0" indent="-457200" algn="just">
              <a:lnSpc>
                <a:spcPct val="150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zh-CN" sz="2800" kern="100" dirty="0">
                <a:latin typeface="+mn-ea"/>
                <a:cs typeface="Times New Roman" panose="02020603050405020304" pitchFamily="18" charset="0"/>
              </a:rPr>
              <a:t>用</a:t>
            </a:r>
            <a:r>
              <a:rPr lang="zh-CN" altLang="en-US" sz="2800" kern="100" dirty="0">
                <a:latin typeface="+mn-ea"/>
                <a:cs typeface="Times New Roman" panose="02020603050405020304" pitchFamily="18" charset="0"/>
              </a:rPr>
              <a:t>文件</a:t>
            </a:r>
            <a:r>
              <a:rPr lang="zh-CN" altLang="zh-CN" sz="2800" kern="100" dirty="0">
                <a:latin typeface="+mn-ea"/>
                <a:cs typeface="Times New Roman" panose="02020603050405020304" pitchFamily="18" charset="0"/>
              </a:rPr>
              <a:t>对象的</a:t>
            </a:r>
            <a:r>
              <a:rPr lang="en-US" altLang="zh-CN" sz="2800" kern="100" dirty="0">
                <a:latin typeface="+mn-ea"/>
                <a:cs typeface="Times New Roman" panose="02020603050405020304" pitchFamily="18" charset="0"/>
              </a:rPr>
              <a:t>write</a:t>
            </a:r>
            <a:r>
              <a:rPr lang="zh-CN" altLang="zh-CN" sz="2800" kern="100" dirty="0">
                <a:latin typeface="+mn-ea"/>
                <a:cs typeface="Times New Roman" panose="02020603050405020304" pitchFamily="18" charset="0"/>
              </a:rPr>
              <a:t>方法写文件。</a:t>
            </a:r>
            <a:endParaRPr lang="en-US" altLang="zh-CN" sz="2800" kern="100" dirty="0">
              <a:latin typeface="+mn-ea"/>
              <a:cs typeface="Times New Roman" panose="02020603050405020304" pitchFamily="18" charset="0"/>
            </a:endParaRPr>
          </a:p>
          <a:p>
            <a:pPr marL="914400" lvl="1" indent="-457200" algn="just">
              <a:lnSpc>
                <a:spcPct val="150000"/>
              </a:lnSpc>
              <a:buFont typeface="Calibri" panose="020F0502020204030204" pitchFamily="34" charset="0"/>
              <a:buChar char="−"/>
            </a:pPr>
            <a:r>
              <a:rPr lang="zh-CN" altLang="zh-CN" sz="2400" kern="100" dirty="0">
                <a:latin typeface="+mn-ea"/>
                <a:cs typeface="Times New Roman" panose="02020603050405020304" pitchFamily="18" charset="0"/>
              </a:rPr>
              <a:t>具体的格式：</a:t>
            </a:r>
            <a:r>
              <a:rPr lang="en-US" altLang="zh-CN" sz="2400" kern="100" dirty="0">
                <a:latin typeface="+mn-ea"/>
                <a:cs typeface="Times New Roman" panose="02020603050405020304" pitchFamily="18" charset="0"/>
              </a:rPr>
              <a:t>   </a:t>
            </a:r>
            <a:r>
              <a:rPr lang="zh-CN" altLang="en-US" sz="2400" kern="100" dirty="0">
                <a:latin typeface="+mn-ea"/>
                <a:cs typeface="Times New Roman" panose="02020603050405020304" pitchFamily="18" charset="0"/>
              </a:rPr>
              <a:t>文件</a:t>
            </a:r>
            <a:r>
              <a:rPr lang="zh-CN" altLang="zh-CN" sz="2400" kern="100" dirty="0">
                <a:latin typeface="+mn-ea"/>
                <a:cs typeface="Times New Roman" panose="02020603050405020304" pitchFamily="18" charset="0"/>
              </a:rPr>
              <a:t>对象</a:t>
            </a:r>
            <a:r>
              <a:rPr lang="en-US" altLang="zh-CN" sz="2400" kern="100" dirty="0">
                <a:latin typeface="+mn-ea"/>
                <a:cs typeface="Times New Roman" panose="02020603050405020304" pitchFamily="18" charset="0"/>
              </a:rPr>
              <a:t>.write(</a:t>
            </a:r>
            <a:r>
              <a:rPr lang="zh-CN" altLang="zh-CN" sz="2400" kern="100" dirty="0">
                <a:latin typeface="+mn-ea"/>
                <a:cs typeface="Times New Roman" panose="02020603050405020304" pitchFamily="18" charset="0"/>
              </a:rPr>
              <a:t>写入字符串</a:t>
            </a:r>
            <a:r>
              <a:rPr lang="en-US" altLang="zh-CN" sz="2400" kern="100" dirty="0">
                <a:latin typeface="+mn-ea"/>
                <a:cs typeface="Times New Roman" panose="02020603050405020304" pitchFamily="18" charset="0"/>
              </a:rPr>
              <a:t>)</a:t>
            </a:r>
          </a:p>
          <a:p>
            <a:pPr marL="914400" lvl="1" indent="-457200" algn="just">
              <a:lnSpc>
                <a:spcPct val="150000"/>
              </a:lnSpc>
              <a:buFont typeface="Calibri" panose="020F0502020204030204" pitchFamily="34" charset="0"/>
              <a:buChar char="−"/>
            </a:pPr>
            <a:r>
              <a:rPr lang="zh-CN" altLang="zh-CN" sz="2400" kern="100" dirty="0">
                <a:latin typeface="+mn-ea"/>
                <a:cs typeface="Times New Roman" panose="02020603050405020304" pitchFamily="18" charset="0"/>
              </a:rPr>
              <a:t>将指定的字符串写入文件当前插入点位置</a:t>
            </a:r>
            <a:endParaRPr lang="en-US" altLang="zh-CN" sz="2400" kern="100" dirty="0">
              <a:latin typeface="+mn-ea"/>
              <a:cs typeface="Times New Roman" panose="02020603050405020304" pitchFamily="18" charset="0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AF4AE25-2643-45C6-97E2-79E556B4136C}"/>
              </a:ext>
            </a:extLst>
          </p:cNvPr>
          <p:cNvSpPr/>
          <p:nvPr/>
        </p:nvSpPr>
        <p:spPr>
          <a:xfrm>
            <a:off x="530360" y="3153315"/>
            <a:ext cx="4399909" cy="33590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kern="1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&gt;&gt;&gt; file=</a:t>
            </a:r>
            <a:r>
              <a:rPr lang="en-US" altLang="zh-CN" sz="2400" kern="100" dirty="0">
                <a:solidFill>
                  <a:srgbClr val="7030A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open</a:t>
            </a:r>
            <a:r>
              <a:rPr lang="en-US" altLang="zh-CN" sz="2400" kern="1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2400" kern="100" dirty="0">
                <a:solidFill>
                  <a:srgbClr val="00B05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"</a:t>
            </a:r>
            <a:r>
              <a:rPr lang="en-US" altLang="zh-CN" sz="2400" kern="100" dirty="0" err="1">
                <a:solidFill>
                  <a:srgbClr val="00B05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mydata.txt",'w</a:t>
            </a:r>
            <a:r>
              <a:rPr lang="en-US" altLang="zh-CN" sz="2400" kern="100" dirty="0">
                <a:solidFill>
                  <a:srgbClr val="00B05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'</a:t>
            </a:r>
            <a:r>
              <a:rPr lang="en-US" altLang="zh-CN" sz="2400" kern="1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sz="2400" kern="100" dirty="0"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400" kern="1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&gt;&gt;&gt; </a:t>
            </a:r>
            <a:r>
              <a:rPr lang="en-US" altLang="zh-CN" sz="2400" kern="100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file.write</a:t>
            </a:r>
            <a:r>
              <a:rPr lang="en-US" altLang="zh-CN" sz="2400" kern="1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2400" kern="100" dirty="0">
                <a:solidFill>
                  <a:srgbClr val="00B05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"</a:t>
            </a:r>
            <a:r>
              <a:rPr lang="zh-CN" altLang="zh-CN" sz="2400" kern="100" dirty="0">
                <a:solidFill>
                  <a:srgbClr val="00B05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飞雪连天射白鹿</a:t>
            </a:r>
            <a:r>
              <a:rPr lang="en-US" altLang="zh-CN" sz="2400" kern="100" dirty="0">
                <a:solidFill>
                  <a:srgbClr val="00B05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"</a:t>
            </a:r>
            <a:r>
              <a:rPr lang="en-US" altLang="zh-CN" sz="2400" kern="1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sz="2400" kern="100" dirty="0"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400" kern="1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7</a:t>
            </a:r>
            <a:endParaRPr lang="zh-CN" altLang="zh-CN" sz="2400" kern="100" dirty="0"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400" kern="1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&gt;&gt;&gt; </a:t>
            </a:r>
            <a:r>
              <a:rPr lang="en-US" altLang="zh-CN" sz="2400" kern="100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file.write</a:t>
            </a:r>
            <a:r>
              <a:rPr lang="en-US" altLang="zh-CN" sz="2400" kern="1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2400" kern="100" dirty="0">
                <a:solidFill>
                  <a:srgbClr val="00B05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"</a:t>
            </a:r>
            <a:r>
              <a:rPr lang="zh-CN" altLang="zh-CN" sz="2400" kern="100" dirty="0">
                <a:solidFill>
                  <a:srgbClr val="00B05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笑书神侠倚碧鸳</a:t>
            </a:r>
            <a:r>
              <a:rPr lang="en-US" altLang="zh-CN" sz="2400" kern="100" dirty="0">
                <a:solidFill>
                  <a:srgbClr val="00B05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"</a:t>
            </a:r>
            <a:r>
              <a:rPr lang="en-US" altLang="zh-CN" sz="2400" kern="1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sz="2400" kern="100" dirty="0"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400" kern="1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7</a:t>
            </a:r>
            <a:endParaRPr lang="zh-CN" altLang="zh-CN" sz="2400" kern="100" dirty="0"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400" kern="1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&gt;&gt;&gt; </a:t>
            </a:r>
            <a:r>
              <a:rPr lang="en-US" altLang="zh-CN" sz="2400" kern="100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file.close</a:t>
            </a:r>
            <a:r>
              <a:rPr lang="en-US" altLang="zh-CN" sz="2400" kern="1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()</a:t>
            </a:r>
            <a:endParaRPr lang="zh-CN" altLang="zh-CN" sz="2400" kern="100" dirty="0"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4089B67-8458-4261-A141-5C2A381A9487}"/>
              </a:ext>
            </a:extLst>
          </p:cNvPr>
          <p:cNvSpPr/>
          <p:nvPr/>
        </p:nvSpPr>
        <p:spPr>
          <a:xfrm>
            <a:off x="1068405" y="4352545"/>
            <a:ext cx="3667225" cy="4908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rgbClr val="FF0000"/>
                </a:solidFill>
              </a:rPr>
              <a:t># </a:t>
            </a:r>
            <a:r>
              <a:rPr lang="zh-CN" altLang="en-US" dirty="0">
                <a:solidFill>
                  <a:srgbClr val="FF0000"/>
                </a:solidFill>
              </a:rPr>
              <a:t>回显写入的字符数</a:t>
            </a:r>
          </a:p>
        </p:txBody>
      </p:sp>
      <p:pic>
        <p:nvPicPr>
          <p:cNvPr id="22" name="图片 21">
            <a:extLst>
              <a:ext uri="{FF2B5EF4-FFF2-40B4-BE49-F238E27FC236}">
                <a16:creationId xmlns:a16="http://schemas.microsoft.com/office/drawing/2014/main" id="{59649D92-430A-41B9-A25D-665E16C91525}"/>
              </a:ext>
            </a:extLst>
          </p:cNvPr>
          <p:cNvPicPr/>
          <p:nvPr/>
        </p:nvPicPr>
        <p:blipFill rotWithShape="1">
          <a:blip r:embed="rId3"/>
          <a:srcRect l="478" t="1" r="855" b="1083"/>
          <a:stretch/>
        </p:blipFill>
        <p:spPr bwMode="auto">
          <a:xfrm>
            <a:off x="5369927" y="3188831"/>
            <a:ext cx="6447762" cy="342333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74BB7C8D-4680-4566-B570-D6D826449AF8}"/>
              </a:ext>
            </a:extLst>
          </p:cNvPr>
          <p:cNvCxnSpPr/>
          <p:nvPr/>
        </p:nvCxnSpPr>
        <p:spPr>
          <a:xfrm>
            <a:off x="8662737" y="4321743"/>
            <a:ext cx="1029903" cy="0"/>
          </a:xfrm>
          <a:prstGeom prst="line">
            <a:avLst/>
          </a:prstGeom>
          <a:ln w="19050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80FE210F-E603-4CD2-8FCB-EAE32D39CD19}"/>
              </a:ext>
            </a:extLst>
          </p:cNvPr>
          <p:cNvCxnSpPr/>
          <p:nvPr/>
        </p:nvCxnSpPr>
        <p:spPr>
          <a:xfrm>
            <a:off x="9824646" y="4321743"/>
            <a:ext cx="1029903" cy="0"/>
          </a:xfrm>
          <a:prstGeom prst="line">
            <a:avLst/>
          </a:prstGeom>
          <a:ln w="19050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8" name="矩形 27">
            <a:extLst>
              <a:ext uri="{FF2B5EF4-FFF2-40B4-BE49-F238E27FC236}">
                <a16:creationId xmlns:a16="http://schemas.microsoft.com/office/drawing/2014/main" id="{60B9B753-285D-4C0C-A267-D77652989E6A}"/>
              </a:ext>
            </a:extLst>
          </p:cNvPr>
          <p:cNvSpPr/>
          <p:nvPr/>
        </p:nvSpPr>
        <p:spPr>
          <a:xfrm>
            <a:off x="8343388" y="4655052"/>
            <a:ext cx="2962516" cy="4908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zh-CN" altLang="en-US" dirty="0">
                <a:solidFill>
                  <a:srgbClr val="FF0000"/>
                </a:solidFill>
              </a:rPr>
              <a:t>连续写入两个字符串</a:t>
            </a:r>
            <a:endParaRPr lang="en-US" altLang="zh-CN" dirty="0">
              <a:solidFill>
                <a:srgbClr val="FF0000"/>
              </a:solidFill>
            </a:endParaRPr>
          </a:p>
          <a:p>
            <a:pPr algn="ctr">
              <a:lnSpc>
                <a:spcPct val="150000"/>
              </a:lnSpc>
            </a:pPr>
            <a:r>
              <a:rPr lang="zh-CN" altLang="en-US" dirty="0">
                <a:solidFill>
                  <a:srgbClr val="FF0000"/>
                </a:solidFill>
              </a:rPr>
              <a:t>字符串之间没有任何分隔符</a:t>
            </a:r>
          </a:p>
        </p:txBody>
      </p:sp>
    </p:spTree>
    <p:extLst>
      <p:ext uri="{BB962C8B-B14F-4D97-AF65-F5344CB8AC3E}">
        <p14:creationId xmlns:p14="http://schemas.microsoft.com/office/powerpoint/2010/main" val="16372403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2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>
            <a:extLst>
              <a:ext uri="{FF2B5EF4-FFF2-40B4-BE49-F238E27FC236}">
                <a16:creationId xmlns:a16="http://schemas.microsoft.com/office/drawing/2014/main" id="{50CE5288-3EE6-4008-9E79-52363410F8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1878" y="3142799"/>
            <a:ext cx="3590925" cy="3228975"/>
          </a:xfrm>
          <a:prstGeom prst="rect">
            <a:avLst/>
          </a:prstGeom>
        </p:spPr>
      </p:pic>
      <p:grpSp>
        <p:nvGrpSpPr>
          <p:cNvPr id="32" name="组合 31">
            <a:extLst>
              <a:ext uri="{FF2B5EF4-FFF2-40B4-BE49-F238E27FC236}">
                <a16:creationId xmlns:a16="http://schemas.microsoft.com/office/drawing/2014/main" id="{032EF26F-0D58-4A0E-97C1-668713F80B14}"/>
              </a:ext>
            </a:extLst>
          </p:cNvPr>
          <p:cNvGrpSpPr/>
          <p:nvPr/>
        </p:nvGrpSpPr>
        <p:grpSpPr>
          <a:xfrm>
            <a:off x="170320" y="203448"/>
            <a:ext cx="6511833" cy="504056"/>
            <a:chOff x="169526" y="203448"/>
            <a:chExt cx="6511833" cy="504056"/>
          </a:xfrm>
        </p:grpSpPr>
        <p:sp>
          <p:nvSpPr>
            <p:cNvPr id="4" name="TextBox 3"/>
            <p:cNvSpPr txBox="1"/>
            <p:nvPr/>
          </p:nvSpPr>
          <p:spPr>
            <a:xfrm>
              <a:off x="781172" y="245839"/>
              <a:ext cx="590018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spc="300" dirty="0">
                  <a:solidFill>
                    <a:srgbClr val="1E6787"/>
                  </a:solidFill>
                  <a:latin typeface="微软雅黑" pitchFamily="34" charset="-122"/>
                  <a:ea typeface="微软雅黑" pitchFamily="34" charset="-122"/>
                </a:rPr>
                <a:t>文件操作</a:t>
              </a:r>
              <a:r>
                <a:rPr lang="en-US" altLang="zh-CN" sz="2400" b="1" spc="300" dirty="0">
                  <a:solidFill>
                    <a:srgbClr val="1E6787"/>
                  </a:solidFill>
                  <a:latin typeface="微软雅黑" pitchFamily="34" charset="-122"/>
                  <a:ea typeface="微软雅黑" pitchFamily="34" charset="-122"/>
                </a:rPr>
                <a:t>—</a:t>
              </a:r>
              <a:r>
                <a:rPr lang="zh-CN" altLang="en-US" sz="2400" b="1" spc="300" dirty="0">
                  <a:solidFill>
                    <a:srgbClr val="1E6787"/>
                  </a:solidFill>
                  <a:latin typeface="微软雅黑" pitchFamily="34" charset="-122"/>
                  <a:ea typeface="微软雅黑" pitchFamily="34" charset="-122"/>
                </a:rPr>
                <a:t>写文件</a:t>
              </a:r>
              <a:endParaRPr lang="zh-CN" altLang="en-US" sz="2000" b="1" spc="300" dirty="0">
                <a:solidFill>
                  <a:srgbClr val="1E6787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grpSp>
          <p:nvGrpSpPr>
            <p:cNvPr id="56" name="组合 55">
              <a:extLst>
                <a:ext uri="{FF2B5EF4-FFF2-40B4-BE49-F238E27FC236}">
                  <a16:creationId xmlns:a16="http://schemas.microsoft.com/office/drawing/2014/main" id="{B3ECA4EB-10D1-4B65-B604-4032302CDAF4}"/>
                </a:ext>
              </a:extLst>
            </p:cNvPr>
            <p:cNvGrpSpPr/>
            <p:nvPr/>
          </p:nvGrpSpPr>
          <p:grpSpPr>
            <a:xfrm>
              <a:off x="169526" y="203448"/>
              <a:ext cx="504056" cy="504056"/>
              <a:chOff x="11207774" y="442662"/>
              <a:chExt cx="504056" cy="504056"/>
            </a:xfr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grpSpPr>
          <p:sp>
            <p:nvSpPr>
              <p:cNvPr id="57" name="椭圆 56">
                <a:extLst>
                  <a:ext uri="{FF2B5EF4-FFF2-40B4-BE49-F238E27FC236}">
                    <a16:creationId xmlns:a16="http://schemas.microsoft.com/office/drawing/2014/main" id="{FF372EA1-AB4F-47B1-B450-59AB8827ECD5}"/>
                  </a:ext>
                </a:extLst>
              </p:cNvPr>
              <p:cNvSpPr/>
              <p:nvPr/>
            </p:nvSpPr>
            <p:spPr>
              <a:xfrm>
                <a:off x="11351790" y="601230"/>
                <a:ext cx="216024" cy="216024"/>
              </a:xfrm>
              <a:prstGeom prst="ellipse">
                <a:avLst/>
              </a:prstGeom>
              <a:solidFill>
                <a:srgbClr val="B3DF63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prstClr val="white"/>
                  </a:solidFill>
                  <a:latin typeface="Calibri"/>
                  <a:ea typeface="微软雅黑"/>
                </a:endParaRPr>
              </a:p>
            </p:txBody>
          </p:sp>
          <p:sp>
            <p:nvSpPr>
              <p:cNvPr id="58" name="椭圆 57">
                <a:extLst>
                  <a:ext uri="{FF2B5EF4-FFF2-40B4-BE49-F238E27FC236}">
                    <a16:creationId xmlns:a16="http://schemas.microsoft.com/office/drawing/2014/main" id="{0BEE7D95-9E9C-4C6D-91AA-6429F74B9F98}"/>
                  </a:ext>
                </a:extLst>
              </p:cNvPr>
              <p:cNvSpPr/>
              <p:nvPr/>
            </p:nvSpPr>
            <p:spPr>
              <a:xfrm>
                <a:off x="11207774" y="442662"/>
                <a:ext cx="504056" cy="504056"/>
              </a:xfrm>
              <a:prstGeom prst="ellipse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Calibri"/>
                  <a:ea typeface="微软雅黑"/>
                </a:endParaRPr>
              </a:p>
            </p:txBody>
          </p:sp>
        </p:grpSp>
        <p:cxnSp>
          <p:nvCxnSpPr>
            <p:cNvPr id="20" name="直接连接符 19">
              <a:extLst>
                <a:ext uri="{FF2B5EF4-FFF2-40B4-BE49-F238E27FC236}">
                  <a16:creationId xmlns:a16="http://schemas.microsoft.com/office/drawing/2014/main" id="{C4FBB3C1-88AA-4E76-B54C-31018E3BFAA0}"/>
                </a:ext>
              </a:extLst>
            </p:cNvPr>
            <p:cNvCxnSpPr>
              <a:cxnSpLocks/>
            </p:cNvCxnSpPr>
            <p:nvPr/>
          </p:nvCxnSpPr>
          <p:spPr>
            <a:xfrm>
              <a:off x="775303" y="707504"/>
              <a:ext cx="1833288" cy="0"/>
            </a:xfrm>
            <a:prstGeom prst="line">
              <a:avLst/>
            </a:prstGeom>
            <a:ln>
              <a:solidFill>
                <a:srgbClr val="B3DF6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矩形 1">
            <a:extLst>
              <a:ext uri="{FF2B5EF4-FFF2-40B4-BE49-F238E27FC236}">
                <a16:creationId xmlns:a16="http://schemas.microsoft.com/office/drawing/2014/main" id="{D3DC0766-ED61-46D3-93BD-79524870C5F7}"/>
              </a:ext>
            </a:extLst>
          </p:cNvPr>
          <p:cNvSpPr/>
          <p:nvPr/>
        </p:nvSpPr>
        <p:spPr>
          <a:xfrm>
            <a:off x="860318" y="1169169"/>
            <a:ext cx="9994231" cy="17813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lvl="0" indent="-457200" algn="just">
              <a:lnSpc>
                <a:spcPct val="150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zh-CN" sz="2800" kern="100" dirty="0">
                <a:latin typeface="+mn-ea"/>
                <a:cs typeface="Times New Roman" panose="02020603050405020304" pitchFamily="18" charset="0"/>
              </a:rPr>
              <a:t>用</a:t>
            </a:r>
            <a:r>
              <a:rPr lang="zh-CN" altLang="en-US" sz="2800" kern="100" dirty="0">
                <a:latin typeface="+mn-ea"/>
                <a:cs typeface="Times New Roman" panose="02020603050405020304" pitchFamily="18" charset="0"/>
              </a:rPr>
              <a:t>文件</a:t>
            </a:r>
            <a:r>
              <a:rPr lang="zh-CN" altLang="zh-CN" sz="2800" kern="100" dirty="0">
                <a:latin typeface="+mn-ea"/>
                <a:cs typeface="Times New Roman" panose="02020603050405020304" pitchFamily="18" charset="0"/>
              </a:rPr>
              <a:t>对象的</a:t>
            </a:r>
            <a:r>
              <a:rPr lang="en-US" altLang="zh-CN" sz="2800" kern="100" dirty="0" err="1">
                <a:latin typeface="+mn-ea"/>
                <a:cs typeface="Times New Roman" panose="02020603050405020304" pitchFamily="18" charset="0"/>
              </a:rPr>
              <a:t>writelines</a:t>
            </a:r>
            <a:r>
              <a:rPr lang="zh-CN" altLang="zh-CN" sz="2800" kern="100" dirty="0">
                <a:latin typeface="+mn-ea"/>
                <a:cs typeface="Times New Roman" panose="02020603050405020304" pitchFamily="18" charset="0"/>
              </a:rPr>
              <a:t>方法写文件。</a:t>
            </a:r>
            <a:endParaRPr lang="en-US" altLang="zh-CN" sz="2800" kern="100" dirty="0">
              <a:latin typeface="+mn-ea"/>
              <a:cs typeface="Times New Roman" panose="02020603050405020304" pitchFamily="18" charset="0"/>
            </a:endParaRPr>
          </a:p>
          <a:p>
            <a:pPr marL="914400" lvl="1" indent="-457200" algn="just">
              <a:lnSpc>
                <a:spcPct val="150000"/>
              </a:lnSpc>
              <a:buFont typeface="Calibri" panose="020F0502020204030204" pitchFamily="34" charset="0"/>
              <a:buChar char="−"/>
            </a:pPr>
            <a:r>
              <a:rPr lang="zh-CN" altLang="zh-CN" sz="2400" kern="100" dirty="0">
                <a:latin typeface="+mn-ea"/>
                <a:cs typeface="Times New Roman" panose="02020603050405020304" pitchFamily="18" charset="0"/>
              </a:rPr>
              <a:t>具体的格式：</a:t>
            </a:r>
            <a:r>
              <a:rPr lang="en-US" altLang="zh-CN" sz="2400" kern="100" dirty="0">
                <a:latin typeface="+mn-ea"/>
                <a:cs typeface="Times New Roman" panose="02020603050405020304" pitchFamily="18" charset="0"/>
              </a:rPr>
              <a:t>   </a:t>
            </a:r>
            <a:r>
              <a:rPr lang="zh-CN" altLang="en-US" sz="2400" kern="100" dirty="0">
                <a:latin typeface="+mn-ea"/>
                <a:cs typeface="Times New Roman" panose="02020603050405020304" pitchFamily="18" charset="0"/>
              </a:rPr>
              <a:t>文件</a:t>
            </a:r>
            <a:r>
              <a:rPr lang="zh-CN" altLang="zh-CN" sz="2400" kern="100" dirty="0">
                <a:latin typeface="+mn-ea"/>
                <a:cs typeface="Times New Roman" panose="02020603050405020304" pitchFamily="18" charset="0"/>
              </a:rPr>
              <a:t>对象</a:t>
            </a:r>
            <a:r>
              <a:rPr lang="en-US" altLang="zh-CN" sz="2400" kern="100" dirty="0">
                <a:latin typeface="+mn-ea"/>
                <a:cs typeface="Times New Roman" panose="02020603050405020304" pitchFamily="18" charset="0"/>
              </a:rPr>
              <a:t>.write(</a:t>
            </a:r>
            <a:r>
              <a:rPr lang="zh-CN" altLang="zh-CN" sz="2400" kern="100" dirty="0">
                <a:latin typeface="+mn-ea"/>
                <a:cs typeface="Times New Roman" panose="02020603050405020304" pitchFamily="18" charset="0"/>
              </a:rPr>
              <a:t>字符串序列</a:t>
            </a:r>
            <a:r>
              <a:rPr lang="en-US" altLang="zh-CN" sz="2400" kern="100" dirty="0">
                <a:latin typeface="+mn-ea"/>
                <a:cs typeface="Times New Roman" panose="02020603050405020304" pitchFamily="18" charset="0"/>
              </a:rPr>
              <a:t>)</a:t>
            </a:r>
          </a:p>
          <a:p>
            <a:pPr marL="914400" lvl="1" indent="-457200" algn="just">
              <a:lnSpc>
                <a:spcPct val="150000"/>
              </a:lnSpc>
              <a:buFont typeface="Calibri" panose="020F0502020204030204" pitchFamily="34" charset="0"/>
              <a:buChar char="−"/>
            </a:pPr>
            <a:r>
              <a:rPr lang="zh-CN" altLang="zh-CN" sz="2400" kern="100" dirty="0">
                <a:latin typeface="+mn-ea"/>
                <a:cs typeface="Times New Roman" panose="02020603050405020304" pitchFamily="18" charset="0"/>
              </a:rPr>
              <a:t>以序列的形式接受多个字符串作为参数，一次性写入多个串</a:t>
            </a:r>
            <a:endParaRPr lang="en-US" altLang="zh-CN" sz="2400" kern="100" dirty="0">
              <a:latin typeface="+mn-ea"/>
              <a:cs typeface="Times New Roman" panose="02020603050405020304" pitchFamily="18" charset="0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AF4AE25-2643-45C6-97E2-79E556B4136C}"/>
              </a:ext>
            </a:extLst>
          </p:cNvPr>
          <p:cNvSpPr/>
          <p:nvPr/>
        </p:nvSpPr>
        <p:spPr>
          <a:xfrm>
            <a:off x="422348" y="3237944"/>
            <a:ext cx="5199607" cy="28079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kern="1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&gt;&gt;&gt; file=</a:t>
            </a:r>
            <a:r>
              <a:rPr lang="en-US" altLang="zh-CN" sz="2000" kern="100" dirty="0">
                <a:solidFill>
                  <a:srgbClr val="7030A0"/>
                </a:solidFill>
                <a:latin typeface="+mn-ea"/>
                <a:cs typeface="Times New Roman" panose="02020603050405020304" pitchFamily="18" charset="0"/>
              </a:rPr>
              <a:t>open</a:t>
            </a:r>
            <a:r>
              <a:rPr lang="en-US" altLang="zh-CN" sz="2000" kern="1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(</a:t>
            </a:r>
            <a:r>
              <a:rPr lang="en-US" altLang="zh-CN" sz="2000" kern="100" dirty="0">
                <a:solidFill>
                  <a:srgbClr val="00B050"/>
                </a:solidFill>
                <a:latin typeface="+mn-ea"/>
                <a:cs typeface="Times New Roman" panose="02020603050405020304" pitchFamily="18" charset="0"/>
              </a:rPr>
              <a:t>"</a:t>
            </a:r>
            <a:r>
              <a:rPr lang="en-US" altLang="zh-CN" sz="2000" kern="100" dirty="0" err="1">
                <a:solidFill>
                  <a:srgbClr val="00B050"/>
                </a:solidFill>
                <a:latin typeface="+mn-ea"/>
                <a:cs typeface="Times New Roman" panose="02020603050405020304" pitchFamily="18" charset="0"/>
              </a:rPr>
              <a:t>mydata.txt",'w</a:t>
            </a:r>
            <a:r>
              <a:rPr lang="en-US" altLang="zh-CN" sz="2000" kern="100" dirty="0">
                <a:solidFill>
                  <a:srgbClr val="00B050"/>
                </a:solidFill>
                <a:latin typeface="+mn-ea"/>
                <a:cs typeface="Times New Roman" panose="02020603050405020304" pitchFamily="18" charset="0"/>
              </a:rPr>
              <a:t>'</a:t>
            </a:r>
            <a:r>
              <a:rPr lang="en-US" altLang="zh-CN" sz="2000" kern="1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)</a:t>
            </a:r>
            <a:endParaRPr lang="zh-CN" altLang="zh-CN" sz="2000" kern="100" dirty="0">
              <a:latin typeface="+mn-ea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 kern="1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&gt;&gt;&gt; ls=[</a:t>
            </a:r>
            <a:r>
              <a:rPr lang="en-US" altLang="zh-CN" sz="2000" kern="100" dirty="0">
                <a:solidFill>
                  <a:srgbClr val="00B050"/>
                </a:solidFill>
                <a:latin typeface="+mn-ea"/>
                <a:cs typeface="Times New Roman" panose="02020603050405020304" pitchFamily="18" charset="0"/>
              </a:rPr>
              <a:t>"</a:t>
            </a:r>
            <a:r>
              <a:rPr lang="zh-CN" altLang="en-US" sz="2000" kern="100" dirty="0">
                <a:solidFill>
                  <a:srgbClr val="00B050"/>
                </a:solidFill>
                <a:latin typeface="+mn-ea"/>
                <a:cs typeface="Times New Roman" panose="02020603050405020304" pitchFamily="18" charset="0"/>
              </a:rPr>
              <a:t>飞雪连天射白鹿</a:t>
            </a:r>
            <a:r>
              <a:rPr lang="en-US" altLang="zh-CN" sz="2000" kern="100" dirty="0">
                <a:solidFill>
                  <a:srgbClr val="00B050"/>
                </a:solidFill>
                <a:latin typeface="+mn-ea"/>
                <a:cs typeface="Times New Roman" panose="02020603050405020304" pitchFamily="18" charset="0"/>
              </a:rPr>
              <a:t>"</a:t>
            </a:r>
            <a:r>
              <a:rPr lang="en-US" altLang="zh-CN" sz="2000" kern="1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,</a:t>
            </a:r>
            <a:r>
              <a:rPr lang="en-US" altLang="zh-CN" sz="2000" kern="100" dirty="0">
                <a:solidFill>
                  <a:srgbClr val="00B050"/>
                </a:solidFill>
                <a:latin typeface="+mn-ea"/>
                <a:cs typeface="Times New Roman" panose="02020603050405020304" pitchFamily="18" charset="0"/>
              </a:rPr>
              <a:t>"</a:t>
            </a:r>
            <a:r>
              <a:rPr lang="zh-CN" altLang="en-US" sz="2000" kern="100" dirty="0">
                <a:solidFill>
                  <a:srgbClr val="00B050"/>
                </a:solidFill>
                <a:latin typeface="+mn-ea"/>
                <a:cs typeface="Times New Roman" panose="02020603050405020304" pitchFamily="18" charset="0"/>
              </a:rPr>
              <a:t>笑书神侠倚碧鸳</a:t>
            </a:r>
            <a:r>
              <a:rPr lang="en-US" altLang="zh-CN" sz="2000" kern="100" dirty="0">
                <a:solidFill>
                  <a:srgbClr val="00B050"/>
                </a:solidFill>
                <a:latin typeface="+mn-ea"/>
                <a:cs typeface="Times New Roman" panose="02020603050405020304" pitchFamily="18" charset="0"/>
              </a:rPr>
              <a:t>"</a:t>
            </a:r>
            <a:r>
              <a:rPr lang="en-US" altLang="zh-CN" sz="2000" kern="1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]</a:t>
            </a:r>
          </a:p>
          <a:p>
            <a:pPr>
              <a:lnSpc>
                <a:spcPct val="150000"/>
              </a:lnSpc>
            </a:pPr>
            <a:r>
              <a:rPr lang="en-US" altLang="zh-CN" sz="2000" kern="1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&gt;&gt;&gt; </a:t>
            </a:r>
            <a:r>
              <a:rPr lang="en-US" altLang="zh-CN" sz="2000" kern="100" dirty="0" err="1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file.writelines</a:t>
            </a:r>
            <a:r>
              <a:rPr lang="en-US" altLang="zh-CN" sz="2000" kern="1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(ls)</a:t>
            </a:r>
            <a:endParaRPr lang="zh-CN" altLang="zh-CN" sz="2000" kern="100" dirty="0">
              <a:latin typeface="+mn-ea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 kern="1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&gt;&gt;&gt; </a:t>
            </a:r>
            <a:r>
              <a:rPr lang="en-US" altLang="zh-CN" sz="2000" kern="100" dirty="0" err="1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file.writelines</a:t>
            </a:r>
            <a:r>
              <a:rPr lang="en-US" altLang="zh-CN" sz="2000" kern="1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([</a:t>
            </a:r>
            <a:r>
              <a:rPr lang="en-US" altLang="zh-CN" sz="2000" kern="100" dirty="0">
                <a:solidFill>
                  <a:srgbClr val="00B050"/>
                </a:solidFill>
                <a:latin typeface="+mn-ea"/>
                <a:cs typeface="Times New Roman" panose="02020603050405020304" pitchFamily="18" charset="0"/>
              </a:rPr>
              <a:t>"</a:t>
            </a:r>
            <a:r>
              <a:rPr lang="zh-CN" altLang="zh-CN" sz="2000" kern="100" dirty="0">
                <a:solidFill>
                  <a:srgbClr val="00B050"/>
                </a:solidFill>
                <a:latin typeface="+mn-ea"/>
                <a:cs typeface="Times New Roman" panose="02020603050405020304" pitchFamily="18" charset="0"/>
              </a:rPr>
              <a:t>横批：越女剑</a:t>
            </a:r>
            <a:r>
              <a:rPr lang="en-US" altLang="zh-CN" sz="2000" kern="100" dirty="0">
                <a:solidFill>
                  <a:srgbClr val="00B050"/>
                </a:solidFill>
                <a:latin typeface="+mn-ea"/>
                <a:cs typeface="Times New Roman" panose="02020603050405020304" pitchFamily="18" charset="0"/>
              </a:rPr>
              <a:t>"</a:t>
            </a:r>
            <a:r>
              <a:rPr lang="en-US" altLang="zh-CN" sz="2000" kern="1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])</a:t>
            </a:r>
            <a:endParaRPr lang="zh-CN" altLang="zh-CN" sz="2000" kern="100" dirty="0">
              <a:solidFill>
                <a:srgbClr val="000000"/>
              </a:solidFill>
              <a:latin typeface="+mn-ea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 kern="1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&gt;&gt;&gt; </a:t>
            </a:r>
            <a:r>
              <a:rPr lang="en-US" altLang="zh-CN" sz="2000" kern="100" dirty="0" err="1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file.close</a:t>
            </a:r>
            <a:r>
              <a:rPr lang="en-US" altLang="zh-CN" sz="2000" kern="1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()</a:t>
            </a:r>
            <a:endParaRPr lang="zh-CN" altLang="zh-CN" sz="2000" kern="100" dirty="0">
              <a:latin typeface="+mn-ea"/>
              <a:cs typeface="Times New Roman" panose="02020603050405020304" pitchFamily="18" charset="0"/>
            </a:endParaRP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74BB7C8D-4680-4566-B570-D6D826449AF8}"/>
              </a:ext>
            </a:extLst>
          </p:cNvPr>
          <p:cNvCxnSpPr/>
          <p:nvPr/>
        </p:nvCxnSpPr>
        <p:spPr>
          <a:xfrm>
            <a:off x="6115706" y="3927107"/>
            <a:ext cx="1132893" cy="0"/>
          </a:xfrm>
          <a:prstGeom prst="line">
            <a:avLst/>
          </a:prstGeom>
          <a:ln w="19050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80FE210F-E603-4CD2-8FCB-EAE32D39CD19}"/>
              </a:ext>
            </a:extLst>
          </p:cNvPr>
          <p:cNvCxnSpPr>
            <a:cxnSpLocks/>
          </p:cNvCxnSpPr>
          <p:nvPr/>
        </p:nvCxnSpPr>
        <p:spPr>
          <a:xfrm>
            <a:off x="7270825" y="3927107"/>
            <a:ext cx="1072563" cy="0"/>
          </a:xfrm>
          <a:prstGeom prst="line">
            <a:avLst/>
          </a:prstGeom>
          <a:ln w="19050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8" name="矩形 27">
            <a:extLst>
              <a:ext uri="{FF2B5EF4-FFF2-40B4-BE49-F238E27FC236}">
                <a16:creationId xmlns:a16="http://schemas.microsoft.com/office/drawing/2014/main" id="{60B9B753-285D-4C0C-A267-D77652989E6A}"/>
              </a:ext>
            </a:extLst>
          </p:cNvPr>
          <p:cNvSpPr/>
          <p:nvPr/>
        </p:nvSpPr>
        <p:spPr>
          <a:xfrm>
            <a:off x="6466082" y="4288526"/>
            <a:ext cx="2962516" cy="84577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zh-CN" altLang="en-US" dirty="0">
                <a:solidFill>
                  <a:srgbClr val="FF0000"/>
                </a:solidFill>
              </a:rPr>
              <a:t>连续写入多个字符串</a:t>
            </a:r>
            <a:endParaRPr lang="en-US" altLang="zh-CN" dirty="0">
              <a:solidFill>
                <a:srgbClr val="FF0000"/>
              </a:solidFill>
            </a:endParaRPr>
          </a:p>
          <a:p>
            <a:pPr algn="ctr">
              <a:lnSpc>
                <a:spcPct val="150000"/>
              </a:lnSpc>
            </a:pPr>
            <a:r>
              <a:rPr lang="zh-CN" altLang="en-US" dirty="0">
                <a:solidFill>
                  <a:srgbClr val="FF0000"/>
                </a:solidFill>
              </a:rPr>
              <a:t>字符串之间没有任何分隔符</a:t>
            </a:r>
          </a:p>
        </p:txBody>
      </p: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5CDFE51E-BEFC-47FB-92F7-6410E19B9AF8}"/>
              </a:ext>
            </a:extLst>
          </p:cNvPr>
          <p:cNvCxnSpPr>
            <a:cxnSpLocks/>
          </p:cNvCxnSpPr>
          <p:nvPr/>
        </p:nvCxnSpPr>
        <p:spPr>
          <a:xfrm>
            <a:off x="8353013" y="3927107"/>
            <a:ext cx="896865" cy="0"/>
          </a:xfrm>
          <a:prstGeom prst="line">
            <a:avLst/>
          </a:prstGeom>
          <a:ln w="19050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937711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41442A25-85AD-4854-AF5F-91E53B0C12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4844" y="3206360"/>
            <a:ext cx="3533775" cy="3200400"/>
          </a:xfrm>
          <a:prstGeom prst="rect">
            <a:avLst/>
          </a:prstGeom>
        </p:spPr>
      </p:pic>
      <p:grpSp>
        <p:nvGrpSpPr>
          <p:cNvPr id="32" name="组合 31">
            <a:extLst>
              <a:ext uri="{FF2B5EF4-FFF2-40B4-BE49-F238E27FC236}">
                <a16:creationId xmlns:a16="http://schemas.microsoft.com/office/drawing/2014/main" id="{032EF26F-0D58-4A0E-97C1-668713F80B14}"/>
              </a:ext>
            </a:extLst>
          </p:cNvPr>
          <p:cNvGrpSpPr/>
          <p:nvPr/>
        </p:nvGrpSpPr>
        <p:grpSpPr>
          <a:xfrm>
            <a:off x="170320" y="203448"/>
            <a:ext cx="6511833" cy="504056"/>
            <a:chOff x="169526" y="203448"/>
            <a:chExt cx="6511833" cy="504056"/>
          </a:xfrm>
        </p:grpSpPr>
        <p:sp>
          <p:nvSpPr>
            <p:cNvPr id="4" name="TextBox 3"/>
            <p:cNvSpPr txBox="1"/>
            <p:nvPr/>
          </p:nvSpPr>
          <p:spPr>
            <a:xfrm>
              <a:off x="781172" y="245839"/>
              <a:ext cx="590018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spc="300" dirty="0">
                  <a:solidFill>
                    <a:srgbClr val="1E6787"/>
                  </a:solidFill>
                  <a:latin typeface="微软雅黑" pitchFamily="34" charset="-122"/>
                  <a:ea typeface="微软雅黑" pitchFamily="34" charset="-122"/>
                </a:rPr>
                <a:t>文件操作</a:t>
              </a:r>
              <a:r>
                <a:rPr lang="en-US" altLang="zh-CN" sz="2400" b="1" spc="300" dirty="0">
                  <a:solidFill>
                    <a:srgbClr val="1E6787"/>
                  </a:solidFill>
                  <a:latin typeface="微软雅黑" pitchFamily="34" charset="-122"/>
                  <a:ea typeface="微软雅黑" pitchFamily="34" charset="-122"/>
                </a:rPr>
                <a:t>—</a:t>
              </a:r>
              <a:r>
                <a:rPr lang="zh-CN" altLang="en-US" sz="2400" b="1" spc="300" dirty="0">
                  <a:solidFill>
                    <a:srgbClr val="1E6787"/>
                  </a:solidFill>
                  <a:latin typeface="微软雅黑" pitchFamily="34" charset="-122"/>
                  <a:ea typeface="微软雅黑" pitchFamily="34" charset="-122"/>
                </a:rPr>
                <a:t>写文件</a:t>
              </a:r>
              <a:endParaRPr lang="zh-CN" altLang="en-US" sz="2000" b="1" spc="300" dirty="0">
                <a:solidFill>
                  <a:srgbClr val="1E6787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grpSp>
          <p:nvGrpSpPr>
            <p:cNvPr id="56" name="组合 55">
              <a:extLst>
                <a:ext uri="{FF2B5EF4-FFF2-40B4-BE49-F238E27FC236}">
                  <a16:creationId xmlns:a16="http://schemas.microsoft.com/office/drawing/2014/main" id="{B3ECA4EB-10D1-4B65-B604-4032302CDAF4}"/>
                </a:ext>
              </a:extLst>
            </p:cNvPr>
            <p:cNvGrpSpPr/>
            <p:nvPr/>
          </p:nvGrpSpPr>
          <p:grpSpPr>
            <a:xfrm>
              <a:off x="169526" y="203448"/>
              <a:ext cx="504056" cy="504056"/>
              <a:chOff x="11207774" y="442662"/>
              <a:chExt cx="504056" cy="504056"/>
            </a:xfr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grpSpPr>
          <p:sp>
            <p:nvSpPr>
              <p:cNvPr id="57" name="椭圆 56">
                <a:extLst>
                  <a:ext uri="{FF2B5EF4-FFF2-40B4-BE49-F238E27FC236}">
                    <a16:creationId xmlns:a16="http://schemas.microsoft.com/office/drawing/2014/main" id="{FF372EA1-AB4F-47B1-B450-59AB8827ECD5}"/>
                  </a:ext>
                </a:extLst>
              </p:cNvPr>
              <p:cNvSpPr/>
              <p:nvPr/>
            </p:nvSpPr>
            <p:spPr>
              <a:xfrm>
                <a:off x="11351790" y="601230"/>
                <a:ext cx="216024" cy="216024"/>
              </a:xfrm>
              <a:prstGeom prst="ellipse">
                <a:avLst/>
              </a:prstGeom>
              <a:solidFill>
                <a:srgbClr val="B3DF63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prstClr val="white"/>
                  </a:solidFill>
                  <a:latin typeface="Calibri"/>
                  <a:ea typeface="微软雅黑"/>
                </a:endParaRPr>
              </a:p>
            </p:txBody>
          </p:sp>
          <p:sp>
            <p:nvSpPr>
              <p:cNvPr id="58" name="椭圆 57">
                <a:extLst>
                  <a:ext uri="{FF2B5EF4-FFF2-40B4-BE49-F238E27FC236}">
                    <a16:creationId xmlns:a16="http://schemas.microsoft.com/office/drawing/2014/main" id="{0BEE7D95-9E9C-4C6D-91AA-6429F74B9F98}"/>
                  </a:ext>
                </a:extLst>
              </p:cNvPr>
              <p:cNvSpPr/>
              <p:nvPr/>
            </p:nvSpPr>
            <p:spPr>
              <a:xfrm>
                <a:off x="11207774" y="442662"/>
                <a:ext cx="504056" cy="504056"/>
              </a:xfrm>
              <a:prstGeom prst="ellipse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Calibri"/>
                  <a:ea typeface="微软雅黑"/>
                </a:endParaRPr>
              </a:p>
            </p:txBody>
          </p:sp>
        </p:grpSp>
        <p:cxnSp>
          <p:nvCxnSpPr>
            <p:cNvPr id="20" name="直接连接符 19">
              <a:extLst>
                <a:ext uri="{FF2B5EF4-FFF2-40B4-BE49-F238E27FC236}">
                  <a16:creationId xmlns:a16="http://schemas.microsoft.com/office/drawing/2014/main" id="{C4FBB3C1-88AA-4E76-B54C-31018E3BFAA0}"/>
                </a:ext>
              </a:extLst>
            </p:cNvPr>
            <p:cNvCxnSpPr>
              <a:cxnSpLocks/>
            </p:cNvCxnSpPr>
            <p:nvPr/>
          </p:nvCxnSpPr>
          <p:spPr>
            <a:xfrm>
              <a:off x="775303" y="707504"/>
              <a:ext cx="1833288" cy="0"/>
            </a:xfrm>
            <a:prstGeom prst="line">
              <a:avLst/>
            </a:prstGeom>
            <a:ln>
              <a:solidFill>
                <a:srgbClr val="B3DF6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矩形 1">
            <a:extLst>
              <a:ext uri="{FF2B5EF4-FFF2-40B4-BE49-F238E27FC236}">
                <a16:creationId xmlns:a16="http://schemas.microsoft.com/office/drawing/2014/main" id="{D3DC0766-ED61-46D3-93BD-79524870C5F7}"/>
              </a:ext>
            </a:extLst>
          </p:cNvPr>
          <p:cNvSpPr/>
          <p:nvPr/>
        </p:nvSpPr>
        <p:spPr>
          <a:xfrm>
            <a:off x="860318" y="1169169"/>
            <a:ext cx="9994231" cy="17813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lvl="0" indent="-457200" algn="just">
              <a:lnSpc>
                <a:spcPct val="150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zh-CN" sz="2800" kern="100" dirty="0">
                <a:latin typeface="+mn-ea"/>
                <a:cs typeface="Times New Roman" panose="02020603050405020304" pitchFamily="18" charset="0"/>
              </a:rPr>
              <a:t>用</a:t>
            </a:r>
            <a:r>
              <a:rPr lang="zh-CN" altLang="en-US" sz="2800" kern="100" dirty="0">
                <a:latin typeface="+mn-ea"/>
                <a:cs typeface="Times New Roman" panose="02020603050405020304" pitchFamily="18" charset="0"/>
              </a:rPr>
              <a:t>文件</a:t>
            </a:r>
            <a:r>
              <a:rPr lang="zh-CN" altLang="zh-CN" sz="2800" kern="100" dirty="0">
                <a:latin typeface="+mn-ea"/>
                <a:cs typeface="Times New Roman" panose="02020603050405020304" pitchFamily="18" charset="0"/>
              </a:rPr>
              <a:t>对象的</a:t>
            </a:r>
            <a:r>
              <a:rPr lang="en-US" altLang="zh-CN" sz="2800" kern="100" dirty="0" err="1">
                <a:latin typeface="+mn-ea"/>
                <a:cs typeface="Times New Roman" panose="02020603050405020304" pitchFamily="18" charset="0"/>
              </a:rPr>
              <a:t>writelines</a:t>
            </a:r>
            <a:r>
              <a:rPr lang="zh-CN" altLang="zh-CN" sz="2800" kern="100" dirty="0">
                <a:latin typeface="+mn-ea"/>
                <a:cs typeface="Times New Roman" panose="02020603050405020304" pitchFamily="18" charset="0"/>
              </a:rPr>
              <a:t>方法写文件。</a:t>
            </a:r>
            <a:endParaRPr lang="en-US" altLang="zh-CN" sz="2800" kern="100" dirty="0">
              <a:latin typeface="+mn-ea"/>
              <a:cs typeface="Times New Roman" panose="02020603050405020304" pitchFamily="18" charset="0"/>
            </a:endParaRPr>
          </a:p>
          <a:p>
            <a:pPr marL="914400" lvl="1" indent="-457200" algn="just">
              <a:lnSpc>
                <a:spcPct val="150000"/>
              </a:lnSpc>
              <a:buFont typeface="Calibri" panose="020F0502020204030204" pitchFamily="34" charset="0"/>
              <a:buChar char="−"/>
            </a:pPr>
            <a:r>
              <a:rPr lang="zh-CN" altLang="zh-CN" sz="2400" kern="100" dirty="0">
                <a:latin typeface="+mn-ea"/>
                <a:cs typeface="Times New Roman" panose="02020603050405020304" pitchFamily="18" charset="0"/>
              </a:rPr>
              <a:t>具体的格式：</a:t>
            </a:r>
            <a:r>
              <a:rPr lang="en-US" altLang="zh-CN" sz="2400" kern="100" dirty="0">
                <a:latin typeface="+mn-ea"/>
                <a:cs typeface="Times New Roman" panose="02020603050405020304" pitchFamily="18" charset="0"/>
              </a:rPr>
              <a:t>   </a:t>
            </a:r>
            <a:r>
              <a:rPr lang="zh-CN" altLang="en-US" sz="2400" kern="100" dirty="0">
                <a:latin typeface="+mn-ea"/>
                <a:cs typeface="Times New Roman" panose="02020603050405020304" pitchFamily="18" charset="0"/>
              </a:rPr>
              <a:t>文件</a:t>
            </a:r>
            <a:r>
              <a:rPr lang="zh-CN" altLang="zh-CN" sz="2400" kern="100" dirty="0">
                <a:latin typeface="+mn-ea"/>
                <a:cs typeface="Times New Roman" panose="02020603050405020304" pitchFamily="18" charset="0"/>
              </a:rPr>
              <a:t>对象</a:t>
            </a:r>
            <a:r>
              <a:rPr lang="en-US" altLang="zh-CN" sz="2400" kern="100" dirty="0">
                <a:latin typeface="+mn-ea"/>
                <a:cs typeface="Times New Roman" panose="02020603050405020304" pitchFamily="18" charset="0"/>
              </a:rPr>
              <a:t>.write(</a:t>
            </a:r>
            <a:r>
              <a:rPr lang="zh-CN" altLang="zh-CN" sz="2400" kern="100" dirty="0">
                <a:latin typeface="+mn-ea"/>
                <a:cs typeface="Times New Roman" panose="02020603050405020304" pitchFamily="18" charset="0"/>
              </a:rPr>
              <a:t>字符串序列</a:t>
            </a:r>
            <a:r>
              <a:rPr lang="en-US" altLang="zh-CN" sz="2400" kern="100" dirty="0">
                <a:latin typeface="+mn-ea"/>
                <a:cs typeface="Times New Roman" panose="02020603050405020304" pitchFamily="18" charset="0"/>
              </a:rPr>
              <a:t>)</a:t>
            </a:r>
          </a:p>
          <a:p>
            <a:pPr marL="914400" lvl="1" indent="-457200" algn="just">
              <a:lnSpc>
                <a:spcPct val="150000"/>
              </a:lnSpc>
              <a:buFont typeface="Calibri" panose="020F0502020204030204" pitchFamily="34" charset="0"/>
              <a:buChar char="−"/>
            </a:pPr>
            <a:r>
              <a:rPr lang="zh-CN" altLang="zh-CN" sz="2400" kern="100" dirty="0">
                <a:latin typeface="+mn-ea"/>
                <a:cs typeface="Times New Roman" panose="02020603050405020304" pitchFamily="18" charset="0"/>
              </a:rPr>
              <a:t>以序列的形式接受多个字符串作为参数，一次性写入多个串</a:t>
            </a:r>
            <a:endParaRPr lang="en-US" altLang="zh-CN" sz="2400" kern="100" dirty="0">
              <a:latin typeface="+mn-ea"/>
              <a:cs typeface="Times New Roman" panose="02020603050405020304" pitchFamily="18" charset="0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AF4AE25-2643-45C6-97E2-79E556B4136C}"/>
              </a:ext>
            </a:extLst>
          </p:cNvPr>
          <p:cNvSpPr/>
          <p:nvPr/>
        </p:nvSpPr>
        <p:spPr>
          <a:xfrm>
            <a:off x="422348" y="3237944"/>
            <a:ext cx="5900187" cy="23529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kern="1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&gt;&gt;&gt; file=</a:t>
            </a:r>
            <a:r>
              <a:rPr lang="en-US" altLang="zh-CN" sz="2000" kern="100" dirty="0">
                <a:solidFill>
                  <a:srgbClr val="7030A0"/>
                </a:solidFill>
                <a:latin typeface="+mn-ea"/>
                <a:cs typeface="Times New Roman" panose="02020603050405020304" pitchFamily="18" charset="0"/>
              </a:rPr>
              <a:t>open</a:t>
            </a:r>
            <a:r>
              <a:rPr lang="en-US" altLang="zh-CN" sz="2000" kern="1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(</a:t>
            </a:r>
            <a:r>
              <a:rPr lang="en-US" altLang="zh-CN" sz="2000" kern="100" dirty="0">
                <a:solidFill>
                  <a:srgbClr val="00B050"/>
                </a:solidFill>
                <a:latin typeface="+mn-ea"/>
                <a:cs typeface="Times New Roman" panose="02020603050405020304" pitchFamily="18" charset="0"/>
              </a:rPr>
              <a:t>"</a:t>
            </a:r>
            <a:r>
              <a:rPr lang="en-US" altLang="zh-CN" sz="2000" kern="100" dirty="0" err="1">
                <a:solidFill>
                  <a:srgbClr val="00B050"/>
                </a:solidFill>
                <a:latin typeface="+mn-ea"/>
                <a:cs typeface="Times New Roman" panose="02020603050405020304" pitchFamily="18" charset="0"/>
              </a:rPr>
              <a:t>mydata.txt",'w</a:t>
            </a:r>
            <a:r>
              <a:rPr lang="en-US" altLang="zh-CN" sz="2000" kern="100" dirty="0">
                <a:solidFill>
                  <a:srgbClr val="00B050"/>
                </a:solidFill>
                <a:latin typeface="+mn-ea"/>
                <a:cs typeface="Times New Roman" panose="02020603050405020304" pitchFamily="18" charset="0"/>
              </a:rPr>
              <a:t>'</a:t>
            </a:r>
            <a:r>
              <a:rPr lang="en-US" altLang="zh-CN" sz="2000" kern="1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)</a:t>
            </a:r>
            <a:endParaRPr lang="zh-CN" altLang="zh-CN" sz="2000" kern="100" dirty="0">
              <a:latin typeface="+mn-ea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 kern="1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&gt;&gt;&gt; ls=[</a:t>
            </a:r>
            <a:r>
              <a:rPr lang="en-US" altLang="zh-CN" sz="2000" kern="100" dirty="0">
                <a:solidFill>
                  <a:srgbClr val="00B050"/>
                </a:solidFill>
                <a:latin typeface="+mn-ea"/>
                <a:cs typeface="Times New Roman" panose="02020603050405020304" pitchFamily="18" charset="0"/>
              </a:rPr>
              <a:t>"</a:t>
            </a:r>
            <a:r>
              <a:rPr lang="zh-CN" altLang="en-US" sz="2000" kern="100" dirty="0">
                <a:solidFill>
                  <a:srgbClr val="00B050"/>
                </a:solidFill>
                <a:latin typeface="+mn-ea"/>
                <a:cs typeface="Times New Roman" panose="02020603050405020304" pitchFamily="18" charset="0"/>
              </a:rPr>
              <a:t>飞雪连天射白鹿</a:t>
            </a:r>
            <a:r>
              <a:rPr lang="en-US" altLang="zh-CN" sz="2000" kern="100" dirty="0">
                <a:solidFill>
                  <a:schemeClr val="accent6"/>
                </a:solidFill>
                <a:latin typeface="+mn-ea"/>
                <a:cs typeface="Times New Roman" panose="02020603050405020304" pitchFamily="18" charset="0"/>
              </a:rPr>
              <a:t>\t</a:t>
            </a:r>
            <a:r>
              <a:rPr lang="en-US" altLang="zh-CN" sz="2000" kern="100" dirty="0">
                <a:solidFill>
                  <a:srgbClr val="00B050"/>
                </a:solidFill>
                <a:latin typeface="+mn-ea"/>
                <a:cs typeface="Times New Roman" panose="02020603050405020304" pitchFamily="18" charset="0"/>
              </a:rPr>
              <a:t>"</a:t>
            </a:r>
            <a:r>
              <a:rPr lang="en-US" altLang="zh-CN" sz="2000" kern="1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,</a:t>
            </a:r>
            <a:r>
              <a:rPr lang="en-US" altLang="zh-CN" sz="2000" kern="100" dirty="0">
                <a:solidFill>
                  <a:srgbClr val="00B050"/>
                </a:solidFill>
                <a:latin typeface="+mn-ea"/>
                <a:cs typeface="Times New Roman" panose="02020603050405020304" pitchFamily="18" charset="0"/>
              </a:rPr>
              <a:t>"</a:t>
            </a:r>
            <a:r>
              <a:rPr lang="zh-CN" altLang="en-US" sz="2000" kern="100" dirty="0">
                <a:solidFill>
                  <a:srgbClr val="00B050"/>
                </a:solidFill>
                <a:latin typeface="+mn-ea"/>
                <a:cs typeface="Times New Roman" panose="02020603050405020304" pitchFamily="18" charset="0"/>
              </a:rPr>
              <a:t>笑书神侠倚碧鸳</a:t>
            </a:r>
            <a:r>
              <a:rPr lang="en-US" altLang="zh-CN" sz="2000" kern="100" dirty="0">
                <a:solidFill>
                  <a:schemeClr val="accent6"/>
                </a:solidFill>
                <a:latin typeface="+mn-ea"/>
                <a:cs typeface="Times New Roman" panose="02020603050405020304" pitchFamily="18" charset="0"/>
              </a:rPr>
              <a:t>\n</a:t>
            </a:r>
            <a:r>
              <a:rPr lang="en-US" altLang="zh-CN" sz="2000" kern="100" dirty="0">
                <a:solidFill>
                  <a:srgbClr val="00B050"/>
                </a:solidFill>
                <a:latin typeface="+mn-ea"/>
                <a:cs typeface="Times New Roman" panose="02020603050405020304" pitchFamily="18" charset="0"/>
              </a:rPr>
              <a:t>"</a:t>
            </a:r>
            <a:r>
              <a:rPr lang="en-US" altLang="zh-CN" sz="2000" kern="1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]</a:t>
            </a:r>
          </a:p>
          <a:p>
            <a:pPr>
              <a:lnSpc>
                <a:spcPct val="150000"/>
              </a:lnSpc>
            </a:pPr>
            <a:r>
              <a:rPr lang="en-US" altLang="zh-CN" sz="2000" kern="1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&gt;&gt;&gt; </a:t>
            </a:r>
            <a:r>
              <a:rPr lang="en-US" altLang="zh-CN" sz="2000" kern="100" dirty="0" err="1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file.writelines</a:t>
            </a:r>
            <a:r>
              <a:rPr lang="en-US" altLang="zh-CN" sz="2000" kern="1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(ls)</a:t>
            </a:r>
            <a:endParaRPr lang="zh-CN" altLang="zh-CN" sz="2000" kern="100" dirty="0">
              <a:latin typeface="+mn-ea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 kern="1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&gt;&gt;&gt; </a:t>
            </a:r>
            <a:r>
              <a:rPr lang="en-US" altLang="zh-CN" sz="2000" kern="100" dirty="0" err="1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file.writelines</a:t>
            </a:r>
            <a:r>
              <a:rPr lang="en-US" altLang="zh-CN" sz="2000" kern="1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([</a:t>
            </a:r>
            <a:r>
              <a:rPr lang="en-US" altLang="zh-CN" sz="2000" kern="100" dirty="0">
                <a:solidFill>
                  <a:srgbClr val="00B050"/>
                </a:solidFill>
                <a:latin typeface="+mn-ea"/>
                <a:cs typeface="Times New Roman" panose="02020603050405020304" pitchFamily="18" charset="0"/>
              </a:rPr>
              <a:t>"</a:t>
            </a:r>
            <a:r>
              <a:rPr lang="zh-CN" altLang="zh-CN" sz="2000" kern="100" dirty="0">
                <a:solidFill>
                  <a:srgbClr val="00B050"/>
                </a:solidFill>
                <a:latin typeface="+mn-ea"/>
                <a:cs typeface="Times New Roman" panose="02020603050405020304" pitchFamily="18" charset="0"/>
              </a:rPr>
              <a:t>横批：越女剑</a:t>
            </a:r>
            <a:r>
              <a:rPr lang="en-US" altLang="zh-CN" sz="2000" kern="100" dirty="0">
                <a:solidFill>
                  <a:schemeClr val="accent6"/>
                </a:solidFill>
                <a:latin typeface="+mn-ea"/>
                <a:cs typeface="Times New Roman" panose="02020603050405020304" pitchFamily="18" charset="0"/>
              </a:rPr>
              <a:t>\n</a:t>
            </a:r>
            <a:r>
              <a:rPr lang="en-US" altLang="zh-CN" sz="2000" kern="100" dirty="0">
                <a:solidFill>
                  <a:srgbClr val="00B050"/>
                </a:solidFill>
                <a:latin typeface="+mn-ea"/>
                <a:cs typeface="Times New Roman" panose="02020603050405020304" pitchFamily="18" charset="0"/>
              </a:rPr>
              <a:t>"</a:t>
            </a:r>
            <a:r>
              <a:rPr lang="en-US" altLang="zh-CN" sz="2000" kern="1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])</a:t>
            </a:r>
            <a:endParaRPr lang="zh-CN" altLang="zh-CN" sz="2000" kern="100" dirty="0">
              <a:solidFill>
                <a:srgbClr val="000000"/>
              </a:solidFill>
              <a:latin typeface="+mn-ea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 kern="1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&gt;&gt;&gt; </a:t>
            </a:r>
            <a:r>
              <a:rPr lang="en-US" altLang="zh-CN" sz="2000" kern="100" dirty="0" err="1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file.close</a:t>
            </a:r>
            <a:r>
              <a:rPr lang="en-US" altLang="zh-CN" sz="2000" kern="1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()</a:t>
            </a:r>
            <a:endParaRPr lang="zh-CN" altLang="zh-CN" sz="2000" kern="100" dirty="0">
              <a:latin typeface="+mn-ea"/>
              <a:cs typeface="Times New Roman" panose="02020603050405020304" pitchFamily="18" charset="0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7F8B8988-7090-4866-80BF-FE78D5E30803}"/>
              </a:ext>
            </a:extLst>
          </p:cNvPr>
          <p:cNvSpPr/>
          <p:nvPr/>
        </p:nvSpPr>
        <p:spPr>
          <a:xfrm>
            <a:off x="422347" y="5530723"/>
            <a:ext cx="6425020" cy="84577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zh-CN" altLang="en-US" sz="2000" dirty="0">
                <a:solidFill>
                  <a:srgbClr val="FF0000"/>
                </a:solidFill>
              </a:rPr>
              <a:t>可以通过在字符串结尾加入分隔符将分隔符写入文件</a:t>
            </a:r>
          </a:p>
        </p:txBody>
      </p: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6FABCA72-E23B-455B-8EA2-F0A9BB5CB6CC}"/>
              </a:ext>
            </a:extLst>
          </p:cNvPr>
          <p:cNvCxnSpPr/>
          <p:nvPr/>
        </p:nvCxnSpPr>
        <p:spPr>
          <a:xfrm flipV="1">
            <a:off x="6227545" y="4081112"/>
            <a:ext cx="1665171" cy="187250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280421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组合 31">
            <a:extLst>
              <a:ext uri="{FF2B5EF4-FFF2-40B4-BE49-F238E27FC236}">
                <a16:creationId xmlns:a16="http://schemas.microsoft.com/office/drawing/2014/main" id="{032EF26F-0D58-4A0E-97C1-668713F80B14}"/>
              </a:ext>
            </a:extLst>
          </p:cNvPr>
          <p:cNvGrpSpPr/>
          <p:nvPr/>
        </p:nvGrpSpPr>
        <p:grpSpPr>
          <a:xfrm>
            <a:off x="170320" y="203448"/>
            <a:ext cx="6511833" cy="504056"/>
            <a:chOff x="169526" y="203448"/>
            <a:chExt cx="6511833" cy="504056"/>
          </a:xfrm>
        </p:grpSpPr>
        <p:sp>
          <p:nvSpPr>
            <p:cNvPr id="4" name="TextBox 3"/>
            <p:cNvSpPr txBox="1"/>
            <p:nvPr/>
          </p:nvSpPr>
          <p:spPr>
            <a:xfrm>
              <a:off x="781172" y="245839"/>
              <a:ext cx="590018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spc="300" dirty="0">
                  <a:solidFill>
                    <a:srgbClr val="1E6787"/>
                  </a:solidFill>
                  <a:latin typeface="微软雅黑" pitchFamily="34" charset="-122"/>
                  <a:ea typeface="微软雅黑" pitchFamily="34" charset="-122"/>
                </a:rPr>
                <a:t>文件操作</a:t>
              </a:r>
              <a:r>
                <a:rPr lang="en-US" altLang="zh-CN" sz="2400" b="1" spc="300" dirty="0">
                  <a:solidFill>
                    <a:srgbClr val="1E6787"/>
                  </a:solidFill>
                  <a:latin typeface="微软雅黑" pitchFamily="34" charset="-122"/>
                  <a:ea typeface="微软雅黑" pitchFamily="34" charset="-122"/>
                </a:rPr>
                <a:t>—</a:t>
              </a:r>
              <a:r>
                <a:rPr lang="zh-CN" altLang="en-US" sz="2400" b="1" spc="300" dirty="0">
                  <a:solidFill>
                    <a:srgbClr val="1E6787"/>
                  </a:solidFill>
                  <a:latin typeface="微软雅黑" pitchFamily="34" charset="-122"/>
                  <a:ea typeface="微软雅黑" pitchFamily="34" charset="-122"/>
                </a:rPr>
                <a:t>写文件</a:t>
              </a:r>
              <a:endParaRPr lang="zh-CN" altLang="en-US" sz="2000" b="1" spc="300" dirty="0">
                <a:solidFill>
                  <a:srgbClr val="1E6787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grpSp>
          <p:nvGrpSpPr>
            <p:cNvPr id="56" name="组合 55">
              <a:extLst>
                <a:ext uri="{FF2B5EF4-FFF2-40B4-BE49-F238E27FC236}">
                  <a16:creationId xmlns:a16="http://schemas.microsoft.com/office/drawing/2014/main" id="{B3ECA4EB-10D1-4B65-B604-4032302CDAF4}"/>
                </a:ext>
              </a:extLst>
            </p:cNvPr>
            <p:cNvGrpSpPr/>
            <p:nvPr/>
          </p:nvGrpSpPr>
          <p:grpSpPr>
            <a:xfrm>
              <a:off x="169526" y="203448"/>
              <a:ext cx="504056" cy="504056"/>
              <a:chOff x="11207774" y="442662"/>
              <a:chExt cx="504056" cy="504056"/>
            </a:xfr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grpSpPr>
          <p:sp>
            <p:nvSpPr>
              <p:cNvPr id="57" name="椭圆 56">
                <a:extLst>
                  <a:ext uri="{FF2B5EF4-FFF2-40B4-BE49-F238E27FC236}">
                    <a16:creationId xmlns:a16="http://schemas.microsoft.com/office/drawing/2014/main" id="{FF372EA1-AB4F-47B1-B450-59AB8827ECD5}"/>
                  </a:ext>
                </a:extLst>
              </p:cNvPr>
              <p:cNvSpPr/>
              <p:nvPr/>
            </p:nvSpPr>
            <p:spPr>
              <a:xfrm>
                <a:off x="11351790" y="601230"/>
                <a:ext cx="216024" cy="216024"/>
              </a:xfrm>
              <a:prstGeom prst="ellipse">
                <a:avLst/>
              </a:prstGeom>
              <a:solidFill>
                <a:srgbClr val="B3DF63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prstClr val="white"/>
                  </a:solidFill>
                  <a:latin typeface="Calibri"/>
                  <a:ea typeface="微软雅黑"/>
                </a:endParaRPr>
              </a:p>
            </p:txBody>
          </p:sp>
          <p:sp>
            <p:nvSpPr>
              <p:cNvPr id="58" name="椭圆 57">
                <a:extLst>
                  <a:ext uri="{FF2B5EF4-FFF2-40B4-BE49-F238E27FC236}">
                    <a16:creationId xmlns:a16="http://schemas.microsoft.com/office/drawing/2014/main" id="{0BEE7D95-9E9C-4C6D-91AA-6429F74B9F98}"/>
                  </a:ext>
                </a:extLst>
              </p:cNvPr>
              <p:cNvSpPr/>
              <p:nvPr/>
            </p:nvSpPr>
            <p:spPr>
              <a:xfrm>
                <a:off x="11207774" y="442662"/>
                <a:ext cx="504056" cy="504056"/>
              </a:xfrm>
              <a:prstGeom prst="ellipse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Calibri"/>
                  <a:ea typeface="微软雅黑"/>
                </a:endParaRPr>
              </a:p>
            </p:txBody>
          </p:sp>
        </p:grpSp>
        <p:cxnSp>
          <p:nvCxnSpPr>
            <p:cNvPr id="20" name="直接连接符 19">
              <a:extLst>
                <a:ext uri="{FF2B5EF4-FFF2-40B4-BE49-F238E27FC236}">
                  <a16:creationId xmlns:a16="http://schemas.microsoft.com/office/drawing/2014/main" id="{C4FBB3C1-88AA-4E76-B54C-31018E3BFAA0}"/>
                </a:ext>
              </a:extLst>
            </p:cNvPr>
            <p:cNvCxnSpPr>
              <a:cxnSpLocks/>
            </p:cNvCxnSpPr>
            <p:nvPr/>
          </p:nvCxnSpPr>
          <p:spPr>
            <a:xfrm>
              <a:off x="775303" y="707504"/>
              <a:ext cx="1833288" cy="0"/>
            </a:xfrm>
            <a:prstGeom prst="line">
              <a:avLst/>
            </a:prstGeom>
            <a:ln>
              <a:solidFill>
                <a:srgbClr val="B3DF6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矩形 1">
            <a:extLst>
              <a:ext uri="{FF2B5EF4-FFF2-40B4-BE49-F238E27FC236}">
                <a16:creationId xmlns:a16="http://schemas.microsoft.com/office/drawing/2014/main" id="{D3DC0766-ED61-46D3-93BD-79524870C5F7}"/>
              </a:ext>
            </a:extLst>
          </p:cNvPr>
          <p:cNvSpPr/>
          <p:nvPr/>
        </p:nvSpPr>
        <p:spPr>
          <a:xfrm>
            <a:off x="776097" y="964620"/>
            <a:ext cx="9994231" cy="662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2800" kern="100" dirty="0">
                <a:latin typeface="+mn-ea"/>
                <a:cs typeface="Times New Roman" panose="02020603050405020304" pitchFamily="18" charset="0"/>
              </a:rPr>
              <a:t>write</a:t>
            </a:r>
            <a:r>
              <a:rPr lang="zh-CN" altLang="en-US" sz="2800" kern="100" dirty="0">
                <a:latin typeface="+mn-ea"/>
                <a:cs typeface="Times New Roman" panose="02020603050405020304" pitchFamily="18" charset="0"/>
              </a:rPr>
              <a:t>方法和</a:t>
            </a:r>
            <a:r>
              <a:rPr lang="en-US" altLang="zh-CN" sz="2800" kern="100" dirty="0" err="1">
                <a:latin typeface="+mn-ea"/>
                <a:cs typeface="Times New Roman" panose="02020603050405020304" pitchFamily="18" charset="0"/>
              </a:rPr>
              <a:t>writelines</a:t>
            </a:r>
            <a:r>
              <a:rPr lang="zh-CN" altLang="en-US" sz="2800" kern="100" dirty="0">
                <a:latin typeface="+mn-ea"/>
                <a:cs typeface="Times New Roman" panose="02020603050405020304" pitchFamily="18" charset="0"/>
              </a:rPr>
              <a:t>方法也可以用于追加模式（</a:t>
            </a:r>
            <a:r>
              <a:rPr lang="en-US" altLang="zh-CN" sz="2800" kern="100" dirty="0">
                <a:latin typeface="+mn-ea"/>
                <a:cs typeface="Times New Roman" panose="02020603050405020304" pitchFamily="18" charset="0"/>
              </a:rPr>
              <a:t>'a'</a:t>
            </a:r>
            <a:r>
              <a:rPr lang="zh-CN" altLang="en-US" sz="2800" kern="100" dirty="0">
                <a:latin typeface="+mn-ea"/>
                <a:cs typeface="Times New Roman" panose="02020603050405020304" pitchFamily="18" charset="0"/>
              </a:rPr>
              <a:t>或者</a:t>
            </a:r>
            <a:r>
              <a:rPr lang="en-US" altLang="zh-CN" sz="2800" kern="100" dirty="0">
                <a:latin typeface="+mn-ea"/>
                <a:cs typeface="Times New Roman" panose="02020603050405020304" pitchFamily="18" charset="0"/>
              </a:rPr>
              <a:t>'a+’</a:t>
            </a:r>
            <a:r>
              <a:rPr lang="zh-CN" altLang="en-US" sz="2800" kern="100" dirty="0">
                <a:latin typeface="+mn-ea"/>
                <a:cs typeface="Times New Roman" panose="02020603050405020304" pitchFamily="18" charset="0"/>
              </a:rPr>
              <a:t>）</a:t>
            </a:r>
            <a:endParaRPr lang="en-US" altLang="zh-CN" sz="2800" kern="100" dirty="0">
              <a:latin typeface="+mn-ea"/>
              <a:cs typeface="Times New Roman" panose="02020603050405020304" pitchFamily="18" charset="0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AF4AE25-2643-45C6-97E2-79E556B4136C}"/>
              </a:ext>
            </a:extLst>
          </p:cNvPr>
          <p:cNvSpPr/>
          <p:nvPr/>
        </p:nvSpPr>
        <p:spPr>
          <a:xfrm>
            <a:off x="3201066" y="2293387"/>
            <a:ext cx="4353162" cy="14229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kern="1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&gt;&gt;&gt; file=</a:t>
            </a:r>
            <a:r>
              <a:rPr lang="en-US" altLang="zh-CN" sz="2000" kern="100" dirty="0">
                <a:solidFill>
                  <a:srgbClr val="7030A0"/>
                </a:solidFill>
                <a:latin typeface="+mn-ea"/>
                <a:cs typeface="Times New Roman" panose="02020603050405020304" pitchFamily="18" charset="0"/>
              </a:rPr>
              <a:t>open</a:t>
            </a:r>
            <a:r>
              <a:rPr lang="en-US" altLang="zh-CN" sz="2000" kern="1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(</a:t>
            </a:r>
            <a:r>
              <a:rPr lang="en-US" altLang="zh-CN" sz="2000" kern="100" dirty="0">
                <a:solidFill>
                  <a:srgbClr val="00B050"/>
                </a:solidFill>
                <a:latin typeface="+mn-ea"/>
                <a:cs typeface="Times New Roman" panose="02020603050405020304" pitchFamily="18" charset="0"/>
              </a:rPr>
              <a:t>"</a:t>
            </a:r>
            <a:r>
              <a:rPr lang="en-US" altLang="zh-CN" sz="2000" kern="100" dirty="0" err="1">
                <a:solidFill>
                  <a:srgbClr val="00B050"/>
                </a:solidFill>
                <a:latin typeface="+mn-ea"/>
                <a:cs typeface="Times New Roman" panose="02020603050405020304" pitchFamily="18" charset="0"/>
              </a:rPr>
              <a:t>mydata.txt",'w</a:t>
            </a:r>
            <a:r>
              <a:rPr lang="en-US" altLang="zh-CN" sz="2000" kern="100" dirty="0">
                <a:solidFill>
                  <a:srgbClr val="00B050"/>
                </a:solidFill>
                <a:latin typeface="+mn-ea"/>
                <a:cs typeface="Times New Roman" panose="02020603050405020304" pitchFamily="18" charset="0"/>
              </a:rPr>
              <a:t>'</a:t>
            </a:r>
            <a:r>
              <a:rPr lang="en-US" altLang="zh-CN" sz="2000" kern="1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)</a:t>
            </a:r>
            <a:endParaRPr lang="zh-CN" altLang="zh-CN" sz="2000" kern="100" dirty="0">
              <a:latin typeface="+mn-ea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 kern="1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&gt;&gt;&gt; </a:t>
            </a:r>
            <a:r>
              <a:rPr lang="en-US" altLang="zh-CN" sz="2000" kern="100" dirty="0" err="1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file.write</a:t>
            </a:r>
            <a:r>
              <a:rPr lang="en-US" altLang="zh-CN" sz="2000" kern="1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(</a:t>
            </a:r>
            <a:r>
              <a:rPr lang="en-US" altLang="zh-CN" sz="2000" kern="100" dirty="0">
                <a:solidFill>
                  <a:srgbClr val="00B050"/>
                </a:solidFill>
                <a:latin typeface="+mn-ea"/>
                <a:cs typeface="Times New Roman" panose="02020603050405020304" pitchFamily="18" charset="0"/>
              </a:rPr>
              <a:t>“</a:t>
            </a:r>
            <a:r>
              <a:rPr lang="zh-CN" altLang="en-US" sz="2000" kern="100" dirty="0">
                <a:solidFill>
                  <a:srgbClr val="00B050"/>
                </a:solidFill>
                <a:latin typeface="+mn-ea"/>
                <a:cs typeface="Times New Roman" panose="02020603050405020304" pitchFamily="18" charset="0"/>
              </a:rPr>
              <a:t>笑书神侠倚碧鸳</a:t>
            </a:r>
            <a:r>
              <a:rPr lang="en-US" altLang="zh-CN" sz="2000" kern="100" dirty="0">
                <a:solidFill>
                  <a:srgbClr val="00B050"/>
                </a:solidFill>
                <a:latin typeface="+mn-ea"/>
                <a:cs typeface="Times New Roman" panose="02020603050405020304" pitchFamily="18" charset="0"/>
              </a:rPr>
              <a:t>”</a:t>
            </a:r>
            <a:r>
              <a:rPr lang="en-US" altLang="zh-CN" sz="2000" kern="1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)</a:t>
            </a:r>
            <a:endParaRPr lang="zh-CN" altLang="zh-CN" sz="2000" kern="100" dirty="0">
              <a:latin typeface="+mn-ea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 kern="1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&gt;&gt;&gt; </a:t>
            </a:r>
            <a:r>
              <a:rPr lang="en-US" altLang="zh-CN" sz="2000" kern="100" dirty="0" err="1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file.close</a:t>
            </a:r>
            <a:r>
              <a:rPr lang="en-US" altLang="zh-CN" sz="2000" kern="1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()</a:t>
            </a:r>
            <a:endParaRPr lang="zh-CN" altLang="zh-CN" sz="2000" kern="100" dirty="0">
              <a:latin typeface="+mn-ea"/>
              <a:cs typeface="Times New Roman" panose="02020603050405020304" pitchFamily="18" charset="0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409B2C8D-303B-43D6-AB30-07A183A3F1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353" y="2433086"/>
            <a:ext cx="2390775" cy="280035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9CEDA12E-E0A6-4CB9-95B1-E4F1DFF8B58F}"/>
              </a:ext>
            </a:extLst>
          </p:cNvPr>
          <p:cNvSpPr/>
          <p:nvPr/>
        </p:nvSpPr>
        <p:spPr>
          <a:xfrm>
            <a:off x="860318" y="5319499"/>
            <a:ext cx="146706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dirty="0"/>
              <a:t>文件打开前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352763BC-80F2-4E96-AE4B-125766BCA7B1}"/>
              </a:ext>
            </a:extLst>
          </p:cNvPr>
          <p:cNvSpPr/>
          <p:nvPr/>
        </p:nvSpPr>
        <p:spPr>
          <a:xfrm>
            <a:off x="3124064" y="5008132"/>
            <a:ext cx="4353162" cy="14229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kern="1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&gt;&gt;&gt; file=</a:t>
            </a:r>
            <a:r>
              <a:rPr lang="en-US" altLang="zh-CN" sz="2000" kern="100" dirty="0">
                <a:solidFill>
                  <a:srgbClr val="7030A0"/>
                </a:solidFill>
                <a:latin typeface="+mn-ea"/>
                <a:cs typeface="Times New Roman" panose="02020603050405020304" pitchFamily="18" charset="0"/>
              </a:rPr>
              <a:t>open</a:t>
            </a:r>
            <a:r>
              <a:rPr lang="en-US" altLang="zh-CN" sz="2000" kern="1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(</a:t>
            </a:r>
            <a:r>
              <a:rPr lang="en-US" altLang="zh-CN" sz="2000" kern="100" dirty="0">
                <a:solidFill>
                  <a:srgbClr val="00B050"/>
                </a:solidFill>
                <a:latin typeface="+mn-ea"/>
                <a:cs typeface="Times New Roman" panose="02020603050405020304" pitchFamily="18" charset="0"/>
              </a:rPr>
              <a:t>"mydata.txt", 'a'</a:t>
            </a:r>
            <a:r>
              <a:rPr lang="en-US" altLang="zh-CN" sz="2000" kern="1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)</a:t>
            </a:r>
            <a:endParaRPr lang="zh-CN" altLang="zh-CN" sz="2000" kern="100" dirty="0">
              <a:latin typeface="+mn-ea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 kern="1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&gt;&gt;&gt; </a:t>
            </a:r>
            <a:r>
              <a:rPr lang="en-US" altLang="zh-CN" sz="2000" kern="100" dirty="0" err="1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file.write</a:t>
            </a:r>
            <a:r>
              <a:rPr lang="en-US" altLang="zh-CN" sz="2000" kern="1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(</a:t>
            </a:r>
            <a:r>
              <a:rPr lang="en-US" altLang="zh-CN" sz="2000" kern="100" dirty="0">
                <a:solidFill>
                  <a:srgbClr val="00B050"/>
                </a:solidFill>
                <a:latin typeface="+mn-ea"/>
                <a:cs typeface="Times New Roman" panose="02020603050405020304" pitchFamily="18" charset="0"/>
              </a:rPr>
              <a:t>“</a:t>
            </a:r>
            <a:r>
              <a:rPr lang="zh-CN" altLang="en-US" sz="2000" kern="100" dirty="0">
                <a:solidFill>
                  <a:srgbClr val="00B050"/>
                </a:solidFill>
                <a:latin typeface="+mn-ea"/>
                <a:cs typeface="Times New Roman" panose="02020603050405020304" pitchFamily="18" charset="0"/>
              </a:rPr>
              <a:t>笑书神侠倚碧鸳</a:t>
            </a:r>
            <a:r>
              <a:rPr lang="en-US" altLang="zh-CN" sz="2000" kern="100" dirty="0">
                <a:solidFill>
                  <a:srgbClr val="00B050"/>
                </a:solidFill>
                <a:latin typeface="+mn-ea"/>
                <a:cs typeface="Times New Roman" panose="02020603050405020304" pitchFamily="18" charset="0"/>
              </a:rPr>
              <a:t>”</a:t>
            </a:r>
            <a:r>
              <a:rPr lang="en-US" altLang="zh-CN" sz="2000" kern="1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)</a:t>
            </a:r>
            <a:endParaRPr lang="zh-CN" altLang="zh-CN" sz="2000" kern="100" dirty="0">
              <a:latin typeface="+mn-ea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 kern="1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&gt;&gt;&gt; </a:t>
            </a:r>
            <a:r>
              <a:rPr lang="en-US" altLang="zh-CN" sz="2000" kern="100" dirty="0" err="1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file.close</a:t>
            </a:r>
            <a:r>
              <a:rPr lang="en-US" altLang="zh-CN" sz="2000" kern="1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()</a:t>
            </a:r>
            <a:endParaRPr lang="zh-CN" altLang="zh-CN" sz="2000" kern="100" dirty="0">
              <a:latin typeface="+mn-ea"/>
              <a:cs typeface="Times New Roman" panose="02020603050405020304" pitchFamily="18" charset="0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3A8D6350-BCF1-4AE3-AE93-15CD204EC8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77226" y="1775287"/>
            <a:ext cx="2390775" cy="2736317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E973E1B7-40AB-49BA-969A-A48CB774891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04696" y="4057650"/>
            <a:ext cx="2428875" cy="2800350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368F4027-3D66-4CE9-B123-5EA1102F277B}"/>
              </a:ext>
            </a:extLst>
          </p:cNvPr>
          <p:cNvSpPr/>
          <p:nvPr/>
        </p:nvSpPr>
        <p:spPr>
          <a:xfrm>
            <a:off x="7819517" y="3004864"/>
            <a:ext cx="1956661" cy="49388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rgbClr val="FF0000"/>
                </a:solidFill>
              </a:rPr>
              <a:t>从头覆盖写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73CAE3DF-F79F-4671-9C34-0647FAAF454B}"/>
              </a:ext>
            </a:extLst>
          </p:cNvPr>
          <p:cNvSpPr/>
          <p:nvPr/>
        </p:nvSpPr>
        <p:spPr>
          <a:xfrm>
            <a:off x="8847533" y="5534171"/>
            <a:ext cx="2428875" cy="49388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rgbClr val="FF0000"/>
                </a:solidFill>
              </a:rPr>
              <a:t>从文档结尾处追加写</a:t>
            </a:r>
          </a:p>
        </p:txBody>
      </p:sp>
    </p:spTree>
    <p:extLst>
      <p:ext uri="{BB962C8B-B14F-4D97-AF65-F5344CB8AC3E}">
        <p14:creationId xmlns:p14="http://schemas.microsoft.com/office/powerpoint/2010/main" val="23004636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1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5" grpId="0"/>
      <p:bldP spid="5" grpId="0"/>
      <p:bldP spid="16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组合 31">
            <a:extLst>
              <a:ext uri="{FF2B5EF4-FFF2-40B4-BE49-F238E27FC236}">
                <a16:creationId xmlns:a16="http://schemas.microsoft.com/office/drawing/2014/main" id="{032EF26F-0D58-4A0E-97C1-668713F80B14}"/>
              </a:ext>
            </a:extLst>
          </p:cNvPr>
          <p:cNvGrpSpPr/>
          <p:nvPr/>
        </p:nvGrpSpPr>
        <p:grpSpPr>
          <a:xfrm>
            <a:off x="170320" y="203448"/>
            <a:ext cx="6511833" cy="504056"/>
            <a:chOff x="169526" y="203448"/>
            <a:chExt cx="6511833" cy="504056"/>
          </a:xfrm>
        </p:grpSpPr>
        <p:sp>
          <p:nvSpPr>
            <p:cNvPr id="4" name="TextBox 3"/>
            <p:cNvSpPr txBox="1"/>
            <p:nvPr/>
          </p:nvSpPr>
          <p:spPr>
            <a:xfrm>
              <a:off x="781172" y="245839"/>
              <a:ext cx="590018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spc="300" dirty="0">
                  <a:solidFill>
                    <a:srgbClr val="1E6787"/>
                  </a:solidFill>
                  <a:latin typeface="微软雅黑" pitchFamily="34" charset="-122"/>
                  <a:ea typeface="微软雅黑" pitchFamily="34" charset="-122"/>
                </a:rPr>
                <a:t>文件操作</a:t>
              </a:r>
              <a:r>
                <a:rPr lang="en-US" altLang="zh-CN" sz="2400" b="1" spc="300" dirty="0">
                  <a:solidFill>
                    <a:srgbClr val="1E6787"/>
                  </a:solidFill>
                  <a:latin typeface="微软雅黑" pitchFamily="34" charset="-122"/>
                  <a:ea typeface="微软雅黑" pitchFamily="34" charset="-122"/>
                </a:rPr>
                <a:t>—</a:t>
              </a:r>
              <a:r>
                <a:rPr lang="zh-CN" altLang="en-US" sz="2400" b="1" spc="300" dirty="0">
                  <a:solidFill>
                    <a:srgbClr val="1E6787"/>
                  </a:solidFill>
                  <a:latin typeface="微软雅黑" pitchFamily="34" charset="-122"/>
                  <a:ea typeface="微软雅黑" pitchFamily="34" charset="-122"/>
                </a:rPr>
                <a:t>读文件</a:t>
              </a:r>
              <a:endParaRPr lang="zh-CN" altLang="en-US" sz="2000" b="1" spc="300" dirty="0">
                <a:solidFill>
                  <a:srgbClr val="1E6787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grpSp>
          <p:nvGrpSpPr>
            <p:cNvPr id="56" name="组合 55">
              <a:extLst>
                <a:ext uri="{FF2B5EF4-FFF2-40B4-BE49-F238E27FC236}">
                  <a16:creationId xmlns:a16="http://schemas.microsoft.com/office/drawing/2014/main" id="{B3ECA4EB-10D1-4B65-B604-4032302CDAF4}"/>
                </a:ext>
              </a:extLst>
            </p:cNvPr>
            <p:cNvGrpSpPr/>
            <p:nvPr/>
          </p:nvGrpSpPr>
          <p:grpSpPr>
            <a:xfrm>
              <a:off x="169526" y="203448"/>
              <a:ext cx="504056" cy="504056"/>
              <a:chOff x="11207774" y="442662"/>
              <a:chExt cx="504056" cy="504056"/>
            </a:xfr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grpSpPr>
          <p:sp>
            <p:nvSpPr>
              <p:cNvPr id="57" name="椭圆 56">
                <a:extLst>
                  <a:ext uri="{FF2B5EF4-FFF2-40B4-BE49-F238E27FC236}">
                    <a16:creationId xmlns:a16="http://schemas.microsoft.com/office/drawing/2014/main" id="{FF372EA1-AB4F-47B1-B450-59AB8827ECD5}"/>
                  </a:ext>
                </a:extLst>
              </p:cNvPr>
              <p:cNvSpPr/>
              <p:nvPr/>
            </p:nvSpPr>
            <p:spPr>
              <a:xfrm>
                <a:off x="11351790" y="601230"/>
                <a:ext cx="216024" cy="216024"/>
              </a:xfrm>
              <a:prstGeom prst="ellipse">
                <a:avLst/>
              </a:prstGeom>
              <a:solidFill>
                <a:srgbClr val="B3DF63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prstClr val="white"/>
                  </a:solidFill>
                  <a:latin typeface="Calibri"/>
                  <a:ea typeface="微软雅黑"/>
                </a:endParaRPr>
              </a:p>
            </p:txBody>
          </p:sp>
          <p:sp>
            <p:nvSpPr>
              <p:cNvPr id="58" name="椭圆 57">
                <a:extLst>
                  <a:ext uri="{FF2B5EF4-FFF2-40B4-BE49-F238E27FC236}">
                    <a16:creationId xmlns:a16="http://schemas.microsoft.com/office/drawing/2014/main" id="{0BEE7D95-9E9C-4C6D-91AA-6429F74B9F98}"/>
                  </a:ext>
                </a:extLst>
              </p:cNvPr>
              <p:cNvSpPr/>
              <p:nvPr/>
            </p:nvSpPr>
            <p:spPr>
              <a:xfrm>
                <a:off x="11207774" y="442662"/>
                <a:ext cx="504056" cy="504056"/>
              </a:xfrm>
              <a:prstGeom prst="ellipse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Calibri"/>
                  <a:ea typeface="微软雅黑"/>
                </a:endParaRPr>
              </a:p>
            </p:txBody>
          </p:sp>
        </p:grpSp>
        <p:cxnSp>
          <p:nvCxnSpPr>
            <p:cNvPr id="20" name="直接连接符 19">
              <a:extLst>
                <a:ext uri="{FF2B5EF4-FFF2-40B4-BE49-F238E27FC236}">
                  <a16:creationId xmlns:a16="http://schemas.microsoft.com/office/drawing/2014/main" id="{C4FBB3C1-88AA-4E76-B54C-31018E3BFAA0}"/>
                </a:ext>
              </a:extLst>
            </p:cNvPr>
            <p:cNvCxnSpPr>
              <a:cxnSpLocks/>
            </p:cNvCxnSpPr>
            <p:nvPr/>
          </p:nvCxnSpPr>
          <p:spPr>
            <a:xfrm>
              <a:off x="775303" y="707504"/>
              <a:ext cx="1833288" cy="0"/>
            </a:xfrm>
            <a:prstGeom prst="line">
              <a:avLst/>
            </a:prstGeom>
            <a:ln>
              <a:solidFill>
                <a:srgbClr val="B3DF6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矩形 1">
            <a:extLst>
              <a:ext uri="{FF2B5EF4-FFF2-40B4-BE49-F238E27FC236}">
                <a16:creationId xmlns:a16="http://schemas.microsoft.com/office/drawing/2014/main" id="{D3DC0766-ED61-46D3-93BD-79524870C5F7}"/>
              </a:ext>
            </a:extLst>
          </p:cNvPr>
          <p:cNvSpPr/>
          <p:nvPr/>
        </p:nvSpPr>
        <p:spPr>
          <a:xfrm>
            <a:off x="860318" y="1169169"/>
            <a:ext cx="9994231" cy="17813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lvl="0" indent="-457200" algn="just">
              <a:lnSpc>
                <a:spcPct val="150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zh-CN" sz="2800" kern="100" dirty="0">
                <a:latin typeface="+mn-ea"/>
                <a:cs typeface="Times New Roman" panose="02020603050405020304" pitchFamily="18" charset="0"/>
              </a:rPr>
              <a:t>用</a:t>
            </a:r>
            <a:r>
              <a:rPr lang="zh-CN" altLang="en-US" sz="2800" kern="100" dirty="0">
                <a:latin typeface="+mn-ea"/>
                <a:cs typeface="Times New Roman" panose="02020603050405020304" pitchFamily="18" charset="0"/>
              </a:rPr>
              <a:t>文件</a:t>
            </a:r>
            <a:r>
              <a:rPr lang="zh-CN" altLang="zh-CN" sz="2800" kern="100" dirty="0">
                <a:latin typeface="+mn-ea"/>
                <a:cs typeface="Times New Roman" panose="02020603050405020304" pitchFamily="18" charset="0"/>
              </a:rPr>
              <a:t>对象的</a:t>
            </a:r>
            <a:r>
              <a:rPr lang="en-US" altLang="zh-CN" sz="2800" dirty="0"/>
              <a:t>read</a:t>
            </a:r>
            <a:r>
              <a:rPr lang="zh-CN" altLang="zh-CN" sz="2800" kern="100" dirty="0">
                <a:latin typeface="+mn-ea"/>
                <a:cs typeface="Times New Roman" panose="02020603050405020304" pitchFamily="18" charset="0"/>
              </a:rPr>
              <a:t>方法写文件。</a:t>
            </a:r>
            <a:endParaRPr lang="en-US" altLang="zh-CN" sz="2800" kern="100" dirty="0">
              <a:latin typeface="+mn-ea"/>
              <a:cs typeface="Times New Roman" panose="02020603050405020304" pitchFamily="18" charset="0"/>
            </a:endParaRPr>
          </a:p>
          <a:p>
            <a:pPr marL="914400" lvl="1" indent="-457200" algn="just">
              <a:lnSpc>
                <a:spcPct val="150000"/>
              </a:lnSpc>
              <a:buFont typeface="Calibri" panose="020F0502020204030204" pitchFamily="34" charset="0"/>
              <a:buChar char="−"/>
            </a:pPr>
            <a:r>
              <a:rPr lang="zh-CN" altLang="zh-CN" sz="2400" kern="100" dirty="0">
                <a:latin typeface="+mn-ea"/>
                <a:cs typeface="Times New Roman" panose="02020603050405020304" pitchFamily="18" charset="0"/>
              </a:rPr>
              <a:t>具体的格式：字符串变量 </a:t>
            </a:r>
            <a:r>
              <a:rPr lang="en-US" altLang="zh-CN" sz="2400" kern="100" dirty="0">
                <a:latin typeface="+mn-ea"/>
                <a:cs typeface="Times New Roman" panose="02020603050405020304" pitchFamily="18" charset="0"/>
              </a:rPr>
              <a:t>= </a:t>
            </a:r>
            <a:r>
              <a:rPr lang="zh-CN" altLang="en-US" sz="2400" kern="100" dirty="0">
                <a:latin typeface="+mn-ea"/>
                <a:cs typeface="Times New Roman" panose="02020603050405020304" pitchFamily="18" charset="0"/>
              </a:rPr>
              <a:t>文件</a:t>
            </a:r>
            <a:r>
              <a:rPr lang="zh-CN" altLang="zh-CN" sz="2400" kern="100" dirty="0">
                <a:latin typeface="+mn-ea"/>
                <a:cs typeface="Times New Roman" panose="02020603050405020304" pitchFamily="18" charset="0"/>
              </a:rPr>
              <a:t>对象</a:t>
            </a:r>
            <a:r>
              <a:rPr lang="en-US" altLang="zh-CN" sz="2400" kern="100" dirty="0">
                <a:latin typeface="+mn-ea"/>
                <a:cs typeface="Times New Roman" panose="02020603050405020304" pitchFamily="18" charset="0"/>
              </a:rPr>
              <a:t>.read()</a:t>
            </a:r>
          </a:p>
          <a:p>
            <a:pPr marL="914400" lvl="1" indent="-457200" algn="just">
              <a:lnSpc>
                <a:spcPct val="150000"/>
              </a:lnSpc>
              <a:buFont typeface="Calibri" panose="020F0502020204030204" pitchFamily="34" charset="0"/>
              <a:buChar char="−"/>
            </a:pPr>
            <a:r>
              <a:rPr lang="zh-CN" altLang="zh-CN" sz="2400" kern="100" dirty="0">
                <a:latin typeface="+mn-ea"/>
                <a:cs typeface="Times New Roman" panose="02020603050405020304" pitchFamily="18" charset="0"/>
              </a:rPr>
              <a:t>读出文件</a:t>
            </a:r>
            <a:r>
              <a:rPr lang="zh-CN" altLang="zh-CN" sz="2400" kern="100" dirty="0">
                <a:solidFill>
                  <a:srgbClr val="FF0000"/>
                </a:solidFill>
                <a:latin typeface="+mn-ea"/>
                <a:cs typeface="Times New Roman" panose="02020603050405020304" pitchFamily="18" charset="0"/>
              </a:rPr>
              <a:t>所有内容</a:t>
            </a:r>
            <a:r>
              <a:rPr lang="zh-CN" altLang="zh-CN" sz="2400" kern="100" dirty="0">
                <a:latin typeface="+mn-ea"/>
                <a:cs typeface="Times New Roman" panose="02020603050405020304" pitchFamily="18" charset="0"/>
              </a:rPr>
              <a:t>并作为一个</a:t>
            </a:r>
            <a:r>
              <a:rPr lang="zh-CN" altLang="zh-CN" sz="2400" kern="100" dirty="0">
                <a:solidFill>
                  <a:srgbClr val="FF0000"/>
                </a:solidFill>
                <a:latin typeface="+mn-ea"/>
                <a:cs typeface="Times New Roman" panose="02020603050405020304" pitchFamily="18" charset="0"/>
              </a:rPr>
              <a:t>字符串</a:t>
            </a:r>
            <a:r>
              <a:rPr lang="zh-CN" altLang="zh-CN" sz="2400" kern="100" dirty="0">
                <a:latin typeface="+mn-ea"/>
                <a:cs typeface="Times New Roman" panose="02020603050405020304" pitchFamily="18" charset="0"/>
              </a:rPr>
              <a:t>返回</a:t>
            </a:r>
            <a:endParaRPr lang="en-US" altLang="zh-CN" sz="2400" kern="100" dirty="0">
              <a:latin typeface="+mn-ea"/>
              <a:cs typeface="Times New Roman" panose="02020603050405020304" pitchFamily="18" charset="0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AF4AE25-2643-45C6-97E2-79E556B4136C}"/>
              </a:ext>
            </a:extLst>
          </p:cNvPr>
          <p:cNvSpPr/>
          <p:nvPr/>
        </p:nvSpPr>
        <p:spPr>
          <a:xfrm>
            <a:off x="422348" y="3100472"/>
            <a:ext cx="5145772" cy="33590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kern="1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&gt;&gt;&gt; file = </a:t>
            </a:r>
            <a:r>
              <a:rPr lang="en-US" altLang="zh-CN" sz="2400" kern="100" dirty="0">
                <a:solidFill>
                  <a:srgbClr val="7030A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open</a:t>
            </a:r>
            <a:r>
              <a:rPr lang="en-US" altLang="zh-CN" sz="2400" kern="1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2400" kern="100" dirty="0">
                <a:solidFill>
                  <a:srgbClr val="00B05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"</a:t>
            </a:r>
            <a:r>
              <a:rPr lang="en-US" altLang="zh-CN" sz="2400" kern="100" dirty="0" err="1">
                <a:solidFill>
                  <a:srgbClr val="00B05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data.txt"</a:t>
            </a:r>
            <a:r>
              <a:rPr lang="en-US" altLang="zh-CN" sz="2400" kern="100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sz="2400" kern="100" dirty="0" err="1">
                <a:solidFill>
                  <a:srgbClr val="00B05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'r</a:t>
            </a:r>
            <a:r>
              <a:rPr lang="en-US" altLang="zh-CN" sz="2400" kern="100" dirty="0">
                <a:solidFill>
                  <a:srgbClr val="00B05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'</a:t>
            </a:r>
            <a:r>
              <a:rPr lang="en-US" altLang="zh-CN" sz="2400" kern="1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  </a:t>
            </a:r>
          </a:p>
          <a:p>
            <a:pPr>
              <a:lnSpc>
                <a:spcPct val="150000"/>
              </a:lnSpc>
            </a:pPr>
            <a:r>
              <a:rPr lang="en-US" altLang="zh-CN" sz="2400" kern="1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&gt;&gt;&gt; text = </a:t>
            </a:r>
            <a:r>
              <a:rPr lang="en-US" altLang="zh-CN" sz="2400" kern="100" dirty="0" err="1">
                <a:ea typeface="宋体" panose="02010600030101010101" pitchFamily="2" charset="-122"/>
                <a:cs typeface="Times New Roman" panose="02020603050405020304" pitchFamily="18" charset="0"/>
              </a:rPr>
              <a:t>file</a:t>
            </a:r>
            <a:r>
              <a:rPr lang="en-US" altLang="zh-CN" sz="2400" kern="100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.read</a:t>
            </a:r>
            <a:r>
              <a:rPr lang="en-US" altLang="zh-CN" sz="2400" kern="1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()	     </a:t>
            </a:r>
          </a:p>
          <a:p>
            <a:pPr>
              <a:lnSpc>
                <a:spcPct val="150000"/>
              </a:lnSpc>
            </a:pPr>
            <a:r>
              <a:rPr lang="en-US" altLang="zh-CN" sz="2400" kern="1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&gt;&gt;&gt; text	     </a:t>
            </a:r>
          </a:p>
          <a:p>
            <a:pPr>
              <a:lnSpc>
                <a:spcPct val="150000"/>
              </a:lnSpc>
            </a:pPr>
            <a:r>
              <a:rPr lang="en-US" altLang="zh-CN" sz="2400" kern="100" dirty="0">
                <a:solidFill>
                  <a:srgbClr val="0000FF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'</a:t>
            </a:r>
            <a:r>
              <a:rPr lang="zh-CN" altLang="en-US" sz="2400" kern="100" dirty="0">
                <a:solidFill>
                  <a:srgbClr val="0000FF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飞雪连天射白鹿</a:t>
            </a:r>
            <a:r>
              <a:rPr lang="en-US" altLang="zh-CN" sz="2400" kern="100" dirty="0">
                <a:solidFill>
                  <a:srgbClr val="0000FF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\t</a:t>
            </a:r>
            <a:r>
              <a:rPr lang="zh-CN" altLang="en-US" sz="2400" kern="100" dirty="0">
                <a:solidFill>
                  <a:srgbClr val="0000FF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笑书神侠倚碧鸳</a:t>
            </a:r>
            <a:r>
              <a:rPr lang="en-US" altLang="zh-CN" sz="2400" kern="100" dirty="0">
                <a:solidFill>
                  <a:srgbClr val="0000FF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\n</a:t>
            </a:r>
            <a:r>
              <a:rPr lang="zh-CN" altLang="en-US" sz="2400" kern="100" dirty="0">
                <a:solidFill>
                  <a:srgbClr val="0000FF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横批：越女剑</a:t>
            </a:r>
            <a:r>
              <a:rPr lang="en-US" altLang="zh-CN" sz="2400" kern="100" dirty="0">
                <a:solidFill>
                  <a:srgbClr val="0000FF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\n’</a:t>
            </a:r>
          </a:p>
          <a:p>
            <a:pPr>
              <a:lnSpc>
                <a:spcPct val="150000"/>
              </a:lnSpc>
            </a:pPr>
            <a:r>
              <a:rPr lang="en-US" altLang="zh-CN" sz="2400" kern="100" dirty="0">
                <a:ea typeface="宋体" panose="02010600030101010101" pitchFamily="2" charset="-122"/>
                <a:cs typeface="Times New Roman" panose="02020603050405020304" pitchFamily="18" charset="0"/>
              </a:rPr>
              <a:t>&gt;&gt;&gt; </a:t>
            </a:r>
            <a:r>
              <a:rPr lang="en-US" altLang="zh-CN" sz="2400" kern="100" dirty="0" err="1">
                <a:ea typeface="宋体" panose="02010600030101010101" pitchFamily="2" charset="-122"/>
                <a:cs typeface="Times New Roman" panose="02020603050405020304" pitchFamily="18" charset="0"/>
              </a:rPr>
              <a:t>file.close</a:t>
            </a:r>
            <a:r>
              <a:rPr lang="en-US" altLang="zh-CN" sz="2400" kern="100" dirty="0">
                <a:ea typeface="宋体" panose="02010600030101010101" pitchFamily="2" charset="-122"/>
                <a:cs typeface="Times New Roman" panose="02020603050405020304" pitchFamily="18" charset="0"/>
              </a:rPr>
              <a:t>()</a:t>
            </a:r>
            <a:endParaRPr lang="zh-CN" altLang="zh-CN" sz="2400" kern="100" dirty="0"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B52D070E-0FB2-4481-B4B3-BBD9FCC765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5474" y="2950554"/>
            <a:ext cx="4029075" cy="3571875"/>
          </a:xfrm>
          <a:prstGeom prst="rect">
            <a:avLst/>
          </a:prstGeom>
        </p:spPr>
      </p:pic>
      <p:sp>
        <p:nvSpPr>
          <p:cNvPr id="9" name="椭圆 8">
            <a:extLst>
              <a:ext uri="{FF2B5EF4-FFF2-40B4-BE49-F238E27FC236}">
                <a16:creationId xmlns:a16="http://schemas.microsoft.com/office/drawing/2014/main" id="{B8B4338F-F886-46E9-872D-7CD887EA2A97}"/>
              </a:ext>
            </a:extLst>
          </p:cNvPr>
          <p:cNvSpPr/>
          <p:nvPr/>
        </p:nvSpPr>
        <p:spPr>
          <a:xfrm>
            <a:off x="2637737" y="4862623"/>
            <a:ext cx="388996" cy="48089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7553D5C6-F744-49DC-92B6-46ABA823D802}"/>
              </a:ext>
            </a:extLst>
          </p:cNvPr>
          <p:cNvSpPr/>
          <p:nvPr/>
        </p:nvSpPr>
        <p:spPr>
          <a:xfrm>
            <a:off x="5047624" y="4862623"/>
            <a:ext cx="388996" cy="48089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E81D0166-65AF-401F-81B3-B7F109720E75}"/>
              </a:ext>
            </a:extLst>
          </p:cNvPr>
          <p:cNvSpPr/>
          <p:nvPr/>
        </p:nvSpPr>
        <p:spPr>
          <a:xfrm>
            <a:off x="2275935" y="5420629"/>
            <a:ext cx="388996" cy="48089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4F3E103A-D175-4506-B351-8E78B50F7F56}"/>
              </a:ext>
            </a:extLst>
          </p:cNvPr>
          <p:cNvSpPr/>
          <p:nvPr/>
        </p:nvSpPr>
        <p:spPr>
          <a:xfrm>
            <a:off x="3304080" y="5789353"/>
            <a:ext cx="2947864" cy="49388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solidFill>
                  <a:srgbClr val="FF0000"/>
                </a:solidFill>
              </a:rPr>
              <a:t>分隔符将一起读出</a:t>
            </a:r>
          </a:p>
        </p:txBody>
      </p:sp>
    </p:spTree>
    <p:extLst>
      <p:ext uri="{BB962C8B-B14F-4D97-AF65-F5344CB8AC3E}">
        <p14:creationId xmlns:p14="http://schemas.microsoft.com/office/powerpoint/2010/main" val="5611172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1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8" grpId="0" animBg="1"/>
      <p:bldP spid="19" grpId="0" animBg="1"/>
      <p:bldP spid="21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组合 31">
            <a:extLst>
              <a:ext uri="{FF2B5EF4-FFF2-40B4-BE49-F238E27FC236}">
                <a16:creationId xmlns:a16="http://schemas.microsoft.com/office/drawing/2014/main" id="{032EF26F-0D58-4A0E-97C1-668713F80B14}"/>
              </a:ext>
            </a:extLst>
          </p:cNvPr>
          <p:cNvGrpSpPr/>
          <p:nvPr/>
        </p:nvGrpSpPr>
        <p:grpSpPr>
          <a:xfrm>
            <a:off x="170320" y="203448"/>
            <a:ext cx="6511833" cy="504056"/>
            <a:chOff x="169526" y="203448"/>
            <a:chExt cx="6511833" cy="504056"/>
          </a:xfrm>
        </p:grpSpPr>
        <p:sp>
          <p:nvSpPr>
            <p:cNvPr id="4" name="TextBox 3"/>
            <p:cNvSpPr txBox="1"/>
            <p:nvPr/>
          </p:nvSpPr>
          <p:spPr>
            <a:xfrm>
              <a:off x="781172" y="245839"/>
              <a:ext cx="590018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spc="300" dirty="0">
                  <a:solidFill>
                    <a:srgbClr val="1E6787"/>
                  </a:solidFill>
                  <a:latin typeface="微软雅黑" pitchFamily="34" charset="-122"/>
                  <a:ea typeface="微软雅黑" pitchFamily="34" charset="-122"/>
                </a:rPr>
                <a:t>文件操作</a:t>
              </a:r>
              <a:r>
                <a:rPr lang="en-US" altLang="zh-CN" sz="2400" b="1" spc="300" dirty="0">
                  <a:solidFill>
                    <a:srgbClr val="1E6787"/>
                  </a:solidFill>
                  <a:latin typeface="微软雅黑" pitchFamily="34" charset="-122"/>
                  <a:ea typeface="微软雅黑" pitchFamily="34" charset="-122"/>
                </a:rPr>
                <a:t>—</a:t>
              </a:r>
              <a:r>
                <a:rPr lang="zh-CN" altLang="en-US" sz="2400" b="1" spc="300" dirty="0">
                  <a:solidFill>
                    <a:srgbClr val="1E6787"/>
                  </a:solidFill>
                  <a:latin typeface="微软雅黑" pitchFamily="34" charset="-122"/>
                  <a:ea typeface="微软雅黑" pitchFamily="34" charset="-122"/>
                </a:rPr>
                <a:t>读文件</a:t>
              </a:r>
              <a:endParaRPr lang="zh-CN" altLang="en-US" sz="2000" b="1" spc="300" dirty="0">
                <a:solidFill>
                  <a:srgbClr val="1E6787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grpSp>
          <p:nvGrpSpPr>
            <p:cNvPr id="56" name="组合 55">
              <a:extLst>
                <a:ext uri="{FF2B5EF4-FFF2-40B4-BE49-F238E27FC236}">
                  <a16:creationId xmlns:a16="http://schemas.microsoft.com/office/drawing/2014/main" id="{B3ECA4EB-10D1-4B65-B604-4032302CDAF4}"/>
                </a:ext>
              </a:extLst>
            </p:cNvPr>
            <p:cNvGrpSpPr/>
            <p:nvPr/>
          </p:nvGrpSpPr>
          <p:grpSpPr>
            <a:xfrm>
              <a:off x="169526" y="203448"/>
              <a:ext cx="504056" cy="504056"/>
              <a:chOff x="11207774" y="442662"/>
              <a:chExt cx="504056" cy="504056"/>
            </a:xfr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grpSpPr>
          <p:sp>
            <p:nvSpPr>
              <p:cNvPr id="57" name="椭圆 56">
                <a:extLst>
                  <a:ext uri="{FF2B5EF4-FFF2-40B4-BE49-F238E27FC236}">
                    <a16:creationId xmlns:a16="http://schemas.microsoft.com/office/drawing/2014/main" id="{FF372EA1-AB4F-47B1-B450-59AB8827ECD5}"/>
                  </a:ext>
                </a:extLst>
              </p:cNvPr>
              <p:cNvSpPr/>
              <p:nvPr/>
            </p:nvSpPr>
            <p:spPr>
              <a:xfrm>
                <a:off x="11351790" y="601230"/>
                <a:ext cx="216024" cy="216024"/>
              </a:xfrm>
              <a:prstGeom prst="ellipse">
                <a:avLst/>
              </a:prstGeom>
              <a:solidFill>
                <a:srgbClr val="B3DF63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prstClr val="white"/>
                  </a:solidFill>
                  <a:latin typeface="Calibri"/>
                  <a:ea typeface="微软雅黑"/>
                </a:endParaRPr>
              </a:p>
            </p:txBody>
          </p:sp>
          <p:sp>
            <p:nvSpPr>
              <p:cNvPr id="58" name="椭圆 57">
                <a:extLst>
                  <a:ext uri="{FF2B5EF4-FFF2-40B4-BE49-F238E27FC236}">
                    <a16:creationId xmlns:a16="http://schemas.microsoft.com/office/drawing/2014/main" id="{0BEE7D95-9E9C-4C6D-91AA-6429F74B9F98}"/>
                  </a:ext>
                </a:extLst>
              </p:cNvPr>
              <p:cNvSpPr/>
              <p:nvPr/>
            </p:nvSpPr>
            <p:spPr>
              <a:xfrm>
                <a:off x="11207774" y="442662"/>
                <a:ext cx="504056" cy="504056"/>
              </a:xfrm>
              <a:prstGeom prst="ellipse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Calibri"/>
                  <a:ea typeface="微软雅黑"/>
                </a:endParaRPr>
              </a:p>
            </p:txBody>
          </p:sp>
        </p:grpSp>
        <p:cxnSp>
          <p:nvCxnSpPr>
            <p:cNvPr id="20" name="直接连接符 19">
              <a:extLst>
                <a:ext uri="{FF2B5EF4-FFF2-40B4-BE49-F238E27FC236}">
                  <a16:creationId xmlns:a16="http://schemas.microsoft.com/office/drawing/2014/main" id="{C4FBB3C1-88AA-4E76-B54C-31018E3BFAA0}"/>
                </a:ext>
              </a:extLst>
            </p:cNvPr>
            <p:cNvCxnSpPr>
              <a:cxnSpLocks/>
            </p:cNvCxnSpPr>
            <p:nvPr/>
          </p:nvCxnSpPr>
          <p:spPr>
            <a:xfrm>
              <a:off x="775303" y="707504"/>
              <a:ext cx="1833288" cy="0"/>
            </a:xfrm>
            <a:prstGeom prst="line">
              <a:avLst/>
            </a:prstGeom>
            <a:ln>
              <a:solidFill>
                <a:srgbClr val="B3DF6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矩形 1">
            <a:extLst>
              <a:ext uri="{FF2B5EF4-FFF2-40B4-BE49-F238E27FC236}">
                <a16:creationId xmlns:a16="http://schemas.microsoft.com/office/drawing/2014/main" id="{D3DC0766-ED61-46D3-93BD-79524870C5F7}"/>
              </a:ext>
            </a:extLst>
          </p:cNvPr>
          <p:cNvSpPr/>
          <p:nvPr/>
        </p:nvSpPr>
        <p:spPr>
          <a:xfrm>
            <a:off x="860318" y="1169169"/>
            <a:ext cx="9994231" cy="17813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lvl="0" indent="-457200" algn="just">
              <a:lnSpc>
                <a:spcPct val="150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zh-CN" sz="2800" kern="100" dirty="0">
                <a:latin typeface="+mn-ea"/>
                <a:cs typeface="Times New Roman" panose="02020603050405020304" pitchFamily="18" charset="0"/>
              </a:rPr>
              <a:t>用</a:t>
            </a:r>
            <a:r>
              <a:rPr lang="zh-CN" altLang="en-US" sz="2800" kern="100" dirty="0">
                <a:latin typeface="+mn-ea"/>
                <a:cs typeface="Times New Roman" panose="02020603050405020304" pitchFamily="18" charset="0"/>
              </a:rPr>
              <a:t>文件</a:t>
            </a:r>
            <a:r>
              <a:rPr lang="zh-CN" altLang="zh-CN" sz="2800" kern="100" dirty="0">
                <a:latin typeface="+mn-ea"/>
                <a:cs typeface="Times New Roman" panose="02020603050405020304" pitchFamily="18" charset="0"/>
              </a:rPr>
              <a:t>对象的</a:t>
            </a:r>
            <a:r>
              <a:rPr lang="en-US" altLang="zh-CN" sz="2800" dirty="0" err="1"/>
              <a:t>readline</a:t>
            </a:r>
            <a:r>
              <a:rPr lang="zh-CN" altLang="zh-CN" sz="2800" kern="100" dirty="0">
                <a:latin typeface="+mn-ea"/>
                <a:cs typeface="Times New Roman" panose="02020603050405020304" pitchFamily="18" charset="0"/>
              </a:rPr>
              <a:t>方法写文件。</a:t>
            </a:r>
            <a:endParaRPr lang="en-US" altLang="zh-CN" sz="2800" kern="100" dirty="0">
              <a:latin typeface="+mn-ea"/>
              <a:cs typeface="Times New Roman" panose="02020603050405020304" pitchFamily="18" charset="0"/>
            </a:endParaRPr>
          </a:p>
          <a:p>
            <a:pPr marL="914400" lvl="1" indent="-457200" algn="just">
              <a:lnSpc>
                <a:spcPct val="150000"/>
              </a:lnSpc>
              <a:buFont typeface="Calibri" panose="020F0502020204030204" pitchFamily="34" charset="0"/>
              <a:buChar char="−"/>
            </a:pPr>
            <a:r>
              <a:rPr lang="zh-CN" altLang="zh-CN" sz="2400" kern="100" dirty="0">
                <a:latin typeface="+mn-ea"/>
                <a:cs typeface="Times New Roman" panose="02020603050405020304" pitchFamily="18" charset="0"/>
              </a:rPr>
              <a:t>具体的格式：字符串变量 </a:t>
            </a:r>
            <a:r>
              <a:rPr lang="en-US" altLang="zh-CN" sz="2400" kern="100" dirty="0">
                <a:latin typeface="+mn-ea"/>
                <a:cs typeface="Times New Roman" panose="02020603050405020304" pitchFamily="18" charset="0"/>
              </a:rPr>
              <a:t>= </a:t>
            </a:r>
            <a:r>
              <a:rPr lang="zh-CN" altLang="en-US" sz="2400" kern="100" dirty="0">
                <a:latin typeface="+mn-ea"/>
                <a:cs typeface="Times New Roman" panose="02020603050405020304" pitchFamily="18" charset="0"/>
              </a:rPr>
              <a:t>文件</a:t>
            </a:r>
            <a:r>
              <a:rPr lang="zh-CN" altLang="zh-CN" sz="2400" kern="100" dirty="0">
                <a:latin typeface="+mn-ea"/>
                <a:cs typeface="Times New Roman" panose="02020603050405020304" pitchFamily="18" charset="0"/>
              </a:rPr>
              <a:t>对象</a:t>
            </a:r>
            <a:r>
              <a:rPr lang="en-US" altLang="zh-CN" sz="2400" kern="100" dirty="0">
                <a:latin typeface="+mn-ea"/>
                <a:cs typeface="Times New Roman" panose="02020603050405020304" pitchFamily="18" charset="0"/>
              </a:rPr>
              <a:t>.</a:t>
            </a:r>
            <a:r>
              <a:rPr lang="en-US" altLang="zh-CN" sz="2400" kern="100" dirty="0" err="1">
                <a:latin typeface="+mn-ea"/>
                <a:cs typeface="Times New Roman" panose="02020603050405020304" pitchFamily="18" charset="0"/>
              </a:rPr>
              <a:t>readline</a:t>
            </a:r>
            <a:r>
              <a:rPr lang="en-US" altLang="zh-CN" sz="2400" kern="100" dirty="0">
                <a:latin typeface="+mn-ea"/>
                <a:cs typeface="Times New Roman" panose="02020603050405020304" pitchFamily="18" charset="0"/>
              </a:rPr>
              <a:t>()</a:t>
            </a:r>
          </a:p>
          <a:p>
            <a:pPr marL="914400" lvl="1" indent="-457200" algn="just">
              <a:lnSpc>
                <a:spcPct val="150000"/>
              </a:lnSpc>
              <a:buFont typeface="Calibri" panose="020F0502020204030204" pitchFamily="34" charset="0"/>
              <a:buChar char="−"/>
            </a:pPr>
            <a:r>
              <a:rPr lang="zh-CN" altLang="zh-CN" sz="2400" dirty="0"/>
              <a:t>读出文件中</a:t>
            </a:r>
            <a:r>
              <a:rPr lang="zh-CN" altLang="zh-CN" sz="2400" dirty="0">
                <a:solidFill>
                  <a:srgbClr val="FF0000"/>
                </a:solidFill>
              </a:rPr>
              <a:t>当前行</a:t>
            </a:r>
            <a:r>
              <a:rPr lang="zh-CN" altLang="zh-CN" sz="2400" dirty="0"/>
              <a:t>，并以</a:t>
            </a:r>
            <a:r>
              <a:rPr lang="zh-CN" altLang="zh-CN" sz="2400" dirty="0">
                <a:solidFill>
                  <a:srgbClr val="FF0000"/>
                </a:solidFill>
              </a:rPr>
              <a:t>字符串</a:t>
            </a:r>
            <a:r>
              <a:rPr lang="zh-CN" altLang="zh-CN" sz="2400" dirty="0"/>
              <a:t>的形式返回</a:t>
            </a:r>
            <a:endParaRPr lang="en-US" altLang="zh-CN" sz="2400" kern="100" dirty="0">
              <a:latin typeface="+mn-ea"/>
              <a:cs typeface="Times New Roman" panose="02020603050405020304" pitchFamily="18" charset="0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AF4AE25-2643-45C6-97E2-79E556B4136C}"/>
              </a:ext>
            </a:extLst>
          </p:cNvPr>
          <p:cNvSpPr/>
          <p:nvPr/>
        </p:nvSpPr>
        <p:spPr>
          <a:xfrm>
            <a:off x="422348" y="2950554"/>
            <a:ext cx="5397205" cy="39130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kern="1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&gt;&gt;&gt; file = </a:t>
            </a:r>
            <a:r>
              <a:rPr lang="en-US" altLang="zh-CN" sz="2400" kern="100" dirty="0">
                <a:solidFill>
                  <a:srgbClr val="7030A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open</a:t>
            </a:r>
            <a:r>
              <a:rPr lang="en-US" altLang="zh-CN" sz="2400" kern="1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2400" kern="100" dirty="0">
                <a:solidFill>
                  <a:srgbClr val="00B05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"</a:t>
            </a:r>
            <a:r>
              <a:rPr lang="en-US" altLang="zh-CN" sz="2400" kern="100" dirty="0" err="1">
                <a:solidFill>
                  <a:srgbClr val="00B05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data.txt"</a:t>
            </a:r>
            <a:r>
              <a:rPr lang="en-US" altLang="zh-CN" sz="2400" kern="100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sz="2400" kern="100" dirty="0" err="1">
                <a:solidFill>
                  <a:srgbClr val="00B05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'r</a:t>
            </a:r>
            <a:r>
              <a:rPr lang="en-US" altLang="zh-CN" sz="2400" kern="100" dirty="0">
                <a:solidFill>
                  <a:srgbClr val="00B05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'</a:t>
            </a:r>
            <a:r>
              <a:rPr lang="en-US" altLang="zh-CN" sz="2400" kern="1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  </a:t>
            </a:r>
          </a:p>
          <a:p>
            <a:pPr>
              <a:lnSpc>
                <a:spcPct val="150000"/>
              </a:lnSpc>
            </a:pPr>
            <a:r>
              <a:rPr lang="en-US" altLang="zh-CN" sz="2400" kern="1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&gt;&gt;&gt; text = </a:t>
            </a:r>
            <a:r>
              <a:rPr lang="en-US" altLang="zh-CN" sz="2400" kern="100" dirty="0" err="1">
                <a:ea typeface="宋体" panose="02010600030101010101" pitchFamily="2" charset="-122"/>
                <a:cs typeface="Times New Roman" panose="02020603050405020304" pitchFamily="18" charset="0"/>
              </a:rPr>
              <a:t>file</a:t>
            </a:r>
            <a:r>
              <a:rPr lang="en-US" altLang="zh-CN" sz="2400" kern="100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.readline</a:t>
            </a:r>
            <a:r>
              <a:rPr lang="en-US" altLang="zh-CN" sz="2400" kern="1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()	     </a:t>
            </a:r>
          </a:p>
          <a:p>
            <a:pPr>
              <a:lnSpc>
                <a:spcPct val="150000"/>
              </a:lnSpc>
            </a:pPr>
            <a:r>
              <a:rPr lang="en-US" altLang="zh-CN" sz="2400" kern="1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&gt;&gt;&gt; text	     </a:t>
            </a:r>
          </a:p>
          <a:p>
            <a:pPr>
              <a:lnSpc>
                <a:spcPct val="150000"/>
              </a:lnSpc>
            </a:pPr>
            <a:r>
              <a:rPr lang="en-US" altLang="zh-CN" sz="2400" kern="100" dirty="0">
                <a:solidFill>
                  <a:srgbClr val="0000FF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'</a:t>
            </a:r>
            <a:r>
              <a:rPr lang="zh-CN" altLang="en-US" sz="2400" kern="100" dirty="0">
                <a:solidFill>
                  <a:srgbClr val="0000FF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飞雪连天射白鹿</a:t>
            </a:r>
            <a:r>
              <a:rPr lang="en-US" altLang="zh-CN" sz="2400" kern="100" dirty="0">
                <a:solidFill>
                  <a:srgbClr val="0000FF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\t</a:t>
            </a:r>
            <a:r>
              <a:rPr lang="zh-CN" altLang="en-US" sz="2400" kern="100" dirty="0">
                <a:solidFill>
                  <a:srgbClr val="0000FF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笑书神侠倚碧鸳</a:t>
            </a:r>
            <a:r>
              <a:rPr lang="en-US" altLang="zh-CN" sz="2400" kern="100" dirty="0">
                <a:solidFill>
                  <a:srgbClr val="0000FF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\n’</a:t>
            </a:r>
          </a:p>
          <a:p>
            <a:pPr>
              <a:lnSpc>
                <a:spcPct val="150000"/>
              </a:lnSpc>
            </a:pPr>
            <a:r>
              <a:rPr lang="en-US" altLang="zh-CN" sz="2400" kern="100" dirty="0">
                <a:ea typeface="宋体" panose="02010600030101010101" pitchFamily="2" charset="-122"/>
                <a:cs typeface="Times New Roman" panose="02020603050405020304" pitchFamily="18" charset="0"/>
              </a:rPr>
              <a:t>&gt;&gt;&gt; </a:t>
            </a:r>
            <a:r>
              <a:rPr lang="en-US" altLang="zh-CN" sz="2400" kern="1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text = </a:t>
            </a:r>
            <a:r>
              <a:rPr lang="en-US" altLang="zh-CN" sz="2400" kern="100" dirty="0" err="1">
                <a:ea typeface="宋体" panose="02010600030101010101" pitchFamily="2" charset="-122"/>
                <a:cs typeface="Times New Roman" panose="02020603050405020304" pitchFamily="18" charset="0"/>
              </a:rPr>
              <a:t>file</a:t>
            </a:r>
            <a:r>
              <a:rPr lang="en-US" altLang="zh-CN" sz="2400" kern="100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.readline</a:t>
            </a:r>
            <a:r>
              <a:rPr lang="en-US" altLang="zh-CN" sz="2400" kern="1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()</a:t>
            </a:r>
          </a:p>
          <a:p>
            <a:pPr>
              <a:lnSpc>
                <a:spcPct val="150000"/>
              </a:lnSpc>
            </a:pPr>
            <a:r>
              <a:rPr lang="en-US" altLang="zh-CN" sz="2400" kern="1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&gt;&gt;&gt; text</a:t>
            </a:r>
          </a:p>
          <a:p>
            <a:pPr>
              <a:lnSpc>
                <a:spcPct val="150000"/>
              </a:lnSpc>
            </a:pPr>
            <a:r>
              <a:rPr lang="en-US" altLang="zh-CN" sz="2400" kern="100" dirty="0">
                <a:solidFill>
                  <a:srgbClr val="0000FF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'</a:t>
            </a:r>
            <a:r>
              <a:rPr lang="zh-CN" altLang="en-US" sz="2400" kern="100" dirty="0">
                <a:solidFill>
                  <a:srgbClr val="0000FF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横批：越女剑</a:t>
            </a:r>
            <a:r>
              <a:rPr lang="en-US" altLang="zh-CN" sz="2400" kern="100" dirty="0">
                <a:solidFill>
                  <a:srgbClr val="0000FF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\n'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B52D070E-0FB2-4481-B4B3-BBD9FCC765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5474" y="2950554"/>
            <a:ext cx="4029075" cy="3571875"/>
          </a:xfrm>
          <a:prstGeom prst="rect">
            <a:avLst/>
          </a:prstGeom>
        </p:spPr>
      </p:pic>
      <p:sp>
        <p:nvSpPr>
          <p:cNvPr id="23" name="矩形 22">
            <a:extLst>
              <a:ext uri="{FF2B5EF4-FFF2-40B4-BE49-F238E27FC236}">
                <a16:creationId xmlns:a16="http://schemas.microsoft.com/office/drawing/2014/main" id="{70043C7B-98BE-4049-924B-10E2CC40EB95}"/>
              </a:ext>
            </a:extLst>
          </p:cNvPr>
          <p:cNvSpPr/>
          <p:nvPr/>
        </p:nvSpPr>
        <p:spPr>
          <a:xfrm>
            <a:off x="3877610" y="5441886"/>
            <a:ext cx="2947864" cy="49388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solidFill>
                  <a:srgbClr val="FF0000"/>
                </a:solidFill>
              </a:rPr>
              <a:t>每次读一行</a:t>
            </a:r>
          </a:p>
        </p:txBody>
      </p:sp>
    </p:spTree>
    <p:extLst>
      <p:ext uri="{BB962C8B-B14F-4D97-AF65-F5344CB8AC3E}">
        <p14:creationId xmlns:p14="http://schemas.microsoft.com/office/powerpoint/2010/main" val="38793599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组合 31">
            <a:extLst>
              <a:ext uri="{FF2B5EF4-FFF2-40B4-BE49-F238E27FC236}">
                <a16:creationId xmlns:a16="http://schemas.microsoft.com/office/drawing/2014/main" id="{032EF26F-0D58-4A0E-97C1-668713F80B14}"/>
              </a:ext>
            </a:extLst>
          </p:cNvPr>
          <p:cNvGrpSpPr/>
          <p:nvPr/>
        </p:nvGrpSpPr>
        <p:grpSpPr>
          <a:xfrm>
            <a:off x="170320" y="203448"/>
            <a:ext cx="6511833" cy="504056"/>
            <a:chOff x="169526" y="203448"/>
            <a:chExt cx="6511833" cy="504056"/>
          </a:xfrm>
        </p:grpSpPr>
        <p:sp>
          <p:nvSpPr>
            <p:cNvPr id="4" name="TextBox 3"/>
            <p:cNvSpPr txBox="1"/>
            <p:nvPr/>
          </p:nvSpPr>
          <p:spPr>
            <a:xfrm>
              <a:off x="781172" y="245839"/>
              <a:ext cx="590018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spc="300" dirty="0">
                  <a:solidFill>
                    <a:srgbClr val="1E6787"/>
                  </a:solidFill>
                  <a:latin typeface="微软雅黑" pitchFamily="34" charset="-122"/>
                  <a:ea typeface="微软雅黑" pitchFamily="34" charset="-122"/>
                </a:rPr>
                <a:t>文件操作</a:t>
              </a:r>
              <a:r>
                <a:rPr lang="en-US" altLang="zh-CN" sz="2400" b="1" spc="300" dirty="0">
                  <a:solidFill>
                    <a:srgbClr val="1E6787"/>
                  </a:solidFill>
                  <a:latin typeface="微软雅黑" pitchFamily="34" charset="-122"/>
                  <a:ea typeface="微软雅黑" pitchFamily="34" charset="-122"/>
                </a:rPr>
                <a:t>—</a:t>
              </a:r>
              <a:r>
                <a:rPr lang="zh-CN" altLang="en-US" sz="2400" b="1" spc="300" dirty="0">
                  <a:solidFill>
                    <a:srgbClr val="1E6787"/>
                  </a:solidFill>
                  <a:latin typeface="微软雅黑" pitchFamily="34" charset="-122"/>
                  <a:ea typeface="微软雅黑" pitchFamily="34" charset="-122"/>
                </a:rPr>
                <a:t>读文件</a:t>
              </a:r>
              <a:endParaRPr lang="zh-CN" altLang="en-US" sz="2000" b="1" spc="300" dirty="0">
                <a:solidFill>
                  <a:srgbClr val="1E6787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grpSp>
          <p:nvGrpSpPr>
            <p:cNvPr id="56" name="组合 55">
              <a:extLst>
                <a:ext uri="{FF2B5EF4-FFF2-40B4-BE49-F238E27FC236}">
                  <a16:creationId xmlns:a16="http://schemas.microsoft.com/office/drawing/2014/main" id="{B3ECA4EB-10D1-4B65-B604-4032302CDAF4}"/>
                </a:ext>
              </a:extLst>
            </p:cNvPr>
            <p:cNvGrpSpPr/>
            <p:nvPr/>
          </p:nvGrpSpPr>
          <p:grpSpPr>
            <a:xfrm>
              <a:off x="169526" y="203448"/>
              <a:ext cx="504056" cy="504056"/>
              <a:chOff x="11207774" y="442662"/>
              <a:chExt cx="504056" cy="504056"/>
            </a:xfr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grpSpPr>
          <p:sp>
            <p:nvSpPr>
              <p:cNvPr id="57" name="椭圆 56">
                <a:extLst>
                  <a:ext uri="{FF2B5EF4-FFF2-40B4-BE49-F238E27FC236}">
                    <a16:creationId xmlns:a16="http://schemas.microsoft.com/office/drawing/2014/main" id="{FF372EA1-AB4F-47B1-B450-59AB8827ECD5}"/>
                  </a:ext>
                </a:extLst>
              </p:cNvPr>
              <p:cNvSpPr/>
              <p:nvPr/>
            </p:nvSpPr>
            <p:spPr>
              <a:xfrm>
                <a:off x="11351790" y="601230"/>
                <a:ext cx="216024" cy="216024"/>
              </a:xfrm>
              <a:prstGeom prst="ellipse">
                <a:avLst/>
              </a:prstGeom>
              <a:solidFill>
                <a:srgbClr val="B3DF63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prstClr val="white"/>
                  </a:solidFill>
                  <a:latin typeface="Calibri"/>
                  <a:ea typeface="微软雅黑"/>
                </a:endParaRPr>
              </a:p>
            </p:txBody>
          </p:sp>
          <p:sp>
            <p:nvSpPr>
              <p:cNvPr id="58" name="椭圆 57">
                <a:extLst>
                  <a:ext uri="{FF2B5EF4-FFF2-40B4-BE49-F238E27FC236}">
                    <a16:creationId xmlns:a16="http://schemas.microsoft.com/office/drawing/2014/main" id="{0BEE7D95-9E9C-4C6D-91AA-6429F74B9F98}"/>
                  </a:ext>
                </a:extLst>
              </p:cNvPr>
              <p:cNvSpPr/>
              <p:nvPr/>
            </p:nvSpPr>
            <p:spPr>
              <a:xfrm>
                <a:off x="11207774" y="442662"/>
                <a:ext cx="504056" cy="504056"/>
              </a:xfrm>
              <a:prstGeom prst="ellipse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Calibri"/>
                  <a:ea typeface="微软雅黑"/>
                </a:endParaRPr>
              </a:p>
            </p:txBody>
          </p:sp>
        </p:grpSp>
        <p:cxnSp>
          <p:nvCxnSpPr>
            <p:cNvPr id="20" name="直接连接符 19">
              <a:extLst>
                <a:ext uri="{FF2B5EF4-FFF2-40B4-BE49-F238E27FC236}">
                  <a16:creationId xmlns:a16="http://schemas.microsoft.com/office/drawing/2014/main" id="{C4FBB3C1-88AA-4E76-B54C-31018E3BFAA0}"/>
                </a:ext>
              </a:extLst>
            </p:cNvPr>
            <p:cNvCxnSpPr>
              <a:cxnSpLocks/>
            </p:cNvCxnSpPr>
            <p:nvPr/>
          </p:nvCxnSpPr>
          <p:spPr>
            <a:xfrm>
              <a:off x="775303" y="707504"/>
              <a:ext cx="1833288" cy="0"/>
            </a:xfrm>
            <a:prstGeom prst="line">
              <a:avLst/>
            </a:prstGeom>
            <a:ln>
              <a:solidFill>
                <a:srgbClr val="B3DF6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矩形 1">
            <a:extLst>
              <a:ext uri="{FF2B5EF4-FFF2-40B4-BE49-F238E27FC236}">
                <a16:creationId xmlns:a16="http://schemas.microsoft.com/office/drawing/2014/main" id="{D3DC0766-ED61-46D3-93BD-79524870C5F7}"/>
              </a:ext>
            </a:extLst>
          </p:cNvPr>
          <p:cNvSpPr/>
          <p:nvPr/>
        </p:nvSpPr>
        <p:spPr>
          <a:xfrm>
            <a:off x="860318" y="1169169"/>
            <a:ext cx="9994231" cy="17813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lvl="0" indent="-457200" algn="just">
              <a:lnSpc>
                <a:spcPct val="150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zh-CN" sz="2800" kern="100" dirty="0">
                <a:latin typeface="+mn-ea"/>
                <a:cs typeface="Times New Roman" panose="02020603050405020304" pitchFamily="18" charset="0"/>
              </a:rPr>
              <a:t>用</a:t>
            </a:r>
            <a:r>
              <a:rPr lang="zh-CN" altLang="en-US" sz="2800" kern="100" dirty="0">
                <a:latin typeface="+mn-ea"/>
                <a:cs typeface="Times New Roman" panose="02020603050405020304" pitchFamily="18" charset="0"/>
              </a:rPr>
              <a:t>文件</a:t>
            </a:r>
            <a:r>
              <a:rPr lang="zh-CN" altLang="zh-CN" sz="2800" kern="100" dirty="0">
                <a:latin typeface="+mn-ea"/>
                <a:cs typeface="Times New Roman" panose="02020603050405020304" pitchFamily="18" charset="0"/>
              </a:rPr>
              <a:t>对象的</a:t>
            </a:r>
            <a:r>
              <a:rPr lang="en-US" altLang="zh-CN" sz="2800" dirty="0" err="1"/>
              <a:t>readlines</a:t>
            </a:r>
            <a:r>
              <a:rPr lang="zh-CN" altLang="zh-CN" sz="2800" kern="100" dirty="0">
                <a:latin typeface="+mn-ea"/>
                <a:cs typeface="Times New Roman" panose="02020603050405020304" pitchFamily="18" charset="0"/>
              </a:rPr>
              <a:t>方法写文件。</a:t>
            </a:r>
            <a:endParaRPr lang="en-US" altLang="zh-CN" sz="2800" kern="100" dirty="0">
              <a:latin typeface="+mn-ea"/>
              <a:cs typeface="Times New Roman" panose="02020603050405020304" pitchFamily="18" charset="0"/>
            </a:endParaRPr>
          </a:p>
          <a:p>
            <a:pPr marL="914400" lvl="1" indent="-457200" algn="just">
              <a:lnSpc>
                <a:spcPct val="150000"/>
              </a:lnSpc>
              <a:buFont typeface="Calibri" panose="020F0502020204030204" pitchFamily="34" charset="0"/>
              <a:buChar char="−"/>
            </a:pPr>
            <a:r>
              <a:rPr lang="zh-CN" altLang="zh-CN" sz="2400" kern="100" dirty="0">
                <a:latin typeface="+mn-ea"/>
                <a:cs typeface="Times New Roman" panose="02020603050405020304" pitchFamily="18" charset="0"/>
              </a:rPr>
              <a:t>具体的格式：字符串变量 </a:t>
            </a:r>
            <a:r>
              <a:rPr lang="en-US" altLang="zh-CN" sz="2400" kern="100" dirty="0">
                <a:latin typeface="+mn-ea"/>
                <a:cs typeface="Times New Roman" panose="02020603050405020304" pitchFamily="18" charset="0"/>
              </a:rPr>
              <a:t>= </a:t>
            </a:r>
            <a:r>
              <a:rPr lang="zh-CN" altLang="en-US" sz="2400" kern="100" dirty="0">
                <a:latin typeface="+mn-ea"/>
                <a:cs typeface="Times New Roman" panose="02020603050405020304" pitchFamily="18" charset="0"/>
              </a:rPr>
              <a:t>文件</a:t>
            </a:r>
            <a:r>
              <a:rPr lang="zh-CN" altLang="zh-CN" sz="2400" kern="100" dirty="0">
                <a:latin typeface="+mn-ea"/>
                <a:cs typeface="Times New Roman" panose="02020603050405020304" pitchFamily="18" charset="0"/>
              </a:rPr>
              <a:t>对象</a:t>
            </a:r>
            <a:r>
              <a:rPr lang="en-US" altLang="zh-CN" sz="2400" kern="100" dirty="0">
                <a:latin typeface="+mn-ea"/>
                <a:cs typeface="Times New Roman" panose="02020603050405020304" pitchFamily="18" charset="0"/>
              </a:rPr>
              <a:t>.</a:t>
            </a:r>
            <a:r>
              <a:rPr lang="en-US" altLang="zh-CN" sz="2400" kern="100" dirty="0" err="1">
                <a:latin typeface="+mn-ea"/>
                <a:cs typeface="Times New Roman" panose="02020603050405020304" pitchFamily="18" charset="0"/>
              </a:rPr>
              <a:t>readlines</a:t>
            </a:r>
            <a:r>
              <a:rPr lang="en-US" altLang="zh-CN" sz="2400" kern="100" dirty="0">
                <a:latin typeface="+mn-ea"/>
                <a:cs typeface="Times New Roman" panose="02020603050405020304" pitchFamily="18" charset="0"/>
              </a:rPr>
              <a:t>()</a:t>
            </a:r>
            <a:endParaRPr lang="zh-CN" altLang="zh-CN" sz="2400" kern="100" dirty="0">
              <a:latin typeface="+mn-ea"/>
              <a:cs typeface="Times New Roman" panose="02020603050405020304" pitchFamily="18" charset="0"/>
            </a:endParaRPr>
          </a:p>
          <a:p>
            <a:pPr marL="914400" lvl="1" indent="-457200" algn="just">
              <a:lnSpc>
                <a:spcPct val="150000"/>
              </a:lnSpc>
              <a:buFont typeface="Calibri" panose="020F0502020204030204" pitchFamily="34" charset="0"/>
              <a:buChar char="−"/>
            </a:pPr>
            <a:r>
              <a:rPr lang="zh-CN" altLang="zh-CN" sz="2400" kern="100" dirty="0">
                <a:latin typeface="+mn-ea"/>
                <a:cs typeface="Times New Roman" panose="02020603050405020304" pitchFamily="18" charset="0"/>
              </a:rPr>
              <a:t>读出文件</a:t>
            </a:r>
            <a:r>
              <a:rPr lang="zh-CN" altLang="zh-CN" sz="2400" kern="100" dirty="0">
                <a:solidFill>
                  <a:srgbClr val="FF0000"/>
                </a:solidFill>
                <a:latin typeface="+mn-ea"/>
                <a:cs typeface="Times New Roman" panose="02020603050405020304" pitchFamily="18" charset="0"/>
              </a:rPr>
              <a:t>所有内容</a:t>
            </a:r>
            <a:r>
              <a:rPr lang="zh-CN" altLang="zh-CN" sz="2400" kern="100" dirty="0">
                <a:latin typeface="+mn-ea"/>
                <a:cs typeface="Times New Roman" panose="02020603050405020304" pitchFamily="18" charset="0"/>
              </a:rPr>
              <a:t>并作为一个</a:t>
            </a:r>
            <a:r>
              <a:rPr lang="zh-CN" altLang="zh-CN" sz="2400" kern="100" dirty="0">
                <a:solidFill>
                  <a:srgbClr val="FF0000"/>
                </a:solidFill>
                <a:latin typeface="+mn-ea"/>
                <a:cs typeface="Times New Roman" panose="02020603050405020304" pitchFamily="18" charset="0"/>
              </a:rPr>
              <a:t>列表</a:t>
            </a:r>
            <a:r>
              <a:rPr lang="zh-CN" altLang="zh-CN" sz="2400" kern="100" dirty="0">
                <a:latin typeface="+mn-ea"/>
                <a:cs typeface="Times New Roman" panose="02020603050405020304" pitchFamily="18" charset="0"/>
              </a:rPr>
              <a:t>返回</a:t>
            </a:r>
            <a:endParaRPr lang="en-US" altLang="zh-CN" sz="2400" kern="100" dirty="0">
              <a:latin typeface="+mn-ea"/>
              <a:cs typeface="Times New Roman" panose="02020603050405020304" pitchFamily="18" charset="0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AF4AE25-2643-45C6-97E2-79E556B4136C}"/>
              </a:ext>
            </a:extLst>
          </p:cNvPr>
          <p:cNvSpPr/>
          <p:nvPr/>
        </p:nvSpPr>
        <p:spPr>
          <a:xfrm>
            <a:off x="422348" y="2950554"/>
            <a:ext cx="5312145" cy="27991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kern="1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&gt;&gt;&gt; file = </a:t>
            </a:r>
            <a:r>
              <a:rPr lang="en-US" altLang="zh-CN" sz="2400" kern="100" dirty="0">
                <a:solidFill>
                  <a:srgbClr val="7030A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open</a:t>
            </a:r>
            <a:r>
              <a:rPr lang="en-US" altLang="zh-CN" sz="2400" kern="1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2400" kern="100" dirty="0">
                <a:solidFill>
                  <a:srgbClr val="00B05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"</a:t>
            </a:r>
            <a:r>
              <a:rPr lang="en-US" altLang="zh-CN" sz="2400" kern="100" dirty="0" err="1">
                <a:solidFill>
                  <a:srgbClr val="00B05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data.txt"</a:t>
            </a:r>
            <a:r>
              <a:rPr lang="en-US" altLang="zh-CN" sz="2400" kern="100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sz="2400" kern="100" dirty="0" err="1">
                <a:solidFill>
                  <a:srgbClr val="00B05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'r</a:t>
            </a:r>
            <a:r>
              <a:rPr lang="en-US" altLang="zh-CN" sz="2400" kern="100" dirty="0">
                <a:solidFill>
                  <a:srgbClr val="00B05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'</a:t>
            </a:r>
            <a:r>
              <a:rPr lang="en-US" altLang="zh-CN" sz="2400" kern="1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  </a:t>
            </a:r>
          </a:p>
          <a:p>
            <a:pPr>
              <a:lnSpc>
                <a:spcPct val="150000"/>
              </a:lnSpc>
            </a:pPr>
            <a:r>
              <a:rPr lang="en-US" altLang="zh-CN" sz="2400" kern="1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&gt;&gt;&gt; ls = </a:t>
            </a:r>
            <a:r>
              <a:rPr lang="en-US" altLang="zh-CN" sz="2400" kern="100" dirty="0" err="1">
                <a:ea typeface="宋体" panose="02010600030101010101" pitchFamily="2" charset="-122"/>
                <a:cs typeface="Times New Roman" panose="02020603050405020304" pitchFamily="18" charset="0"/>
              </a:rPr>
              <a:t>file</a:t>
            </a:r>
            <a:r>
              <a:rPr lang="en-US" altLang="zh-CN" sz="2400" kern="100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.readlines</a:t>
            </a:r>
            <a:r>
              <a:rPr lang="en-US" altLang="zh-CN" sz="2400" kern="1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()	     </a:t>
            </a:r>
          </a:p>
          <a:p>
            <a:pPr>
              <a:lnSpc>
                <a:spcPct val="150000"/>
              </a:lnSpc>
            </a:pPr>
            <a:r>
              <a:rPr lang="en-US" altLang="zh-CN" sz="2400" kern="1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&gt;&gt;&gt; ls	     </a:t>
            </a:r>
          </a:p>
          <a:p>
            <a:pPr>
              <a:lnSpc>
                <a:spcPct val="150000"/>
              </a:lnSpc>
            </a:pPr>
            <a:r>
              <a:rPr lang="en-US" altLang="zh-CN" sz="2400" kern="100" dirty="0">
                <a:solidFill>
                  <a:srgbClr val="0000FF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['</a:t>
            </a:r>
            <a:r>
              <a:rPr lang="zh-CN" altLang="en-US" sz="2400" kern="100" dirty="0">
                <a:solidFill>
                  <a:srgbClr val="0000FF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飞雪连天射白鹿</a:t>
            </a:r>
            <a:r>
              <a:rPr lang="en-US" altLang="zh-CN" sz="2400" kern="100" dirty="0">
                <a:solidFill>
                  <a:srgbClr val="0000FF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\t</a:t>
            </a:r>
            <a:r>
              <a:rPr lang="zh-CN" altLang="en-US" sz="2400" kern="100" dirty="0">
                <a:solidFill>
                  <a:srgbClr val="0000FF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笑书神侠倚碧鸳</a:t>
            </a:r>
            <a:r>
              <a:rPr lang="en-US" altLang="zh-CN" sz="2400" kern="100" dirty="0">
                <a:solidFill>
                  <a:srgbClr val="0000FF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\n', '</a:t>
            </a:r>
            <a:r>
              <a:rPr lang="zh-CN" altLang="en-US" sz="2400" kern="100" dirty="0">
                <a:solidFill>
                  <a:srgbClr val="0000FF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横批：越女剑</a:t>
            </a:r>
            <a:r>
              <a:rPr lang="en-US" altLang="zh-CN" sz="2400" kern="100" dirty="0">
                <a:solidFill>
                  <a:srgbClr val="0000FF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\n']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B52D070E-0FB2-4481-B4B3-BBD9FCC765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5474" y="2950554"/>
            <a:ext cx="4029075" cy="3571875"/>
          </a:xfrm>
          <a:prstGeom prst="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36704A86-3D88-40E5-83F2-CC78376E7C9F}"/>
              </a:ext>
            </a:extLst>
          </p:cNvPr>
          <p:cNvSpPr/>
          <p:nvPr/>
        </p:nvSpPr>
        <p:spPr>
          <a:xfrm>
            <a:off x="3005739" y="5441886"/>
            <a:ext cx="3749479" cy="49388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solidFill>
                  <a:srgbClr val="FF0000"/>
                </a:solidFill>
              </a:rPr>
              <a:t>一行作为列表的一个元素</a:t>
            </a:r>
          </a:p>
        </p:txBody>
      </p:sp>
      <p:sp>
        <p:nvSpPr>
          <p:cNvPr id="5" name="对话气泡: 矩形 4">
            <a:extLst>
              <a:ext uri="{FF2B5EF4-FFF2-40B4-BE49-F238E27FC236}">
                <a16:creationId xmlns:a16="http://schemas.microsoft.com/office/drawing/2014/main" id="{0EFBFA90-57CD-4A6A-BABB-57C8FBAB347F}"/>
              </a:ext>
            </a:extLst>
          </p:cNvPr>
          <p:cNvSpPr/>
          <p:nvPr/>
        </p:nvSpPr>
        <p:spPr>
          <a:xfrm>
            <a:off x="8664037" y="578040"/>
            <a:ext cx="3258406" cy="1321644"/>
          </a:xfrm>
          <a:prstGeom prst="wedgeRectCallout">
            <a:avLst>
              <a:gd name="adj1" fmla="val -70784"/>
              <a:gd name="adj2" fmla="val 91462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zh-CN" altLang="en-US" sz="2400" dirty="0"/>
              <a:t>将文件的行处理，</a:t>
            </a:r>
            <a:endParaRPr lang="en-US" altLang="zh-CN" sz="2400" dirty="0"/>
          </a:p>
          <a:p>
            <a:pPr algn="ctr">
              <a:lnSpc>
                <a:spcPct val="150000"/>
              </a:lnSpc>
            </a:pPr>
            <a:r>
              <a:rPr lang="zh-CN" altLang="en-US" sz="2400" dirty="0"/>
              <a:t>转换为列表的元素处理</a:t>
            </a:r>
          </a:p>
        </p:txBody>
      </p:sp>
    </p:spTree>
    <p:extLst>
      <p:ext uri="{BB962C8B-B14F-4D97-AF65-F5344CB8AC3E}">
        <p14:creationId xmlns:p14="http://schemas.microsoft.com/office/powerpoint/2010/main" val="33945236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5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组合 31">
            <a:extLst>
              <a:ext uri="{FF2B5EF4-FFF2-40B4-BE49-F238E27FC236}">
                <a16:creationId xmlns:a16="http://schemas.microsoft.com/office/drawing/2014/main" id="{032EF26F-0D58-4A0E-97C1-668713F80B14}"/>
              </a:ext>
            </a:extLst>
          </p:cNvPr>
          <p:cNvGrpSpPr/>
          <p:nvPr/>
        </p:nvGrpSpPr>
        <p:grpSpPr>
          <a:xfrm>
            <a:off x="170320" y="203448"/>
            <a:ext cx="6511833" cy="504056"/>
            <a:chOff x="169526" y="203448"/>
            <a:chExt cx="6511833" cy="504056"/>
          </a:xfrm>
        </p:grpSpPr>
        <p:sp>
          <p:nvSpPr>
            <p:cNvPr id="4" name="TextBox 3"/>
            <p:cNvSpPr txBox="1"/>
            <p:nvPr/>
          </p:nvSpPr>
          <p:spPr>
            <a:xfrm>
              <a:off x="781172" y="245839"/>
              <a:ext cx="590018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spc="300" dirty="0">
                  <a:solidFill>
                    <a:srgbClr val="1E6787"/>
                  </a:solidFill>
                  <a:latin typeface="微软雅黑" pitchFamily="34" charset="-122"/>
                  <a:ea typeface="微软雅黑" pitchFamily="34" charset="-122"/>
                </a:rPr>
                <a:t>文件操作</a:t>
              </a:r>
              <a:r>
                <a:rPr lang="en-US" altLang="zh-CN" sz="2400" b="1" spc="300" dirty="0">
                  <a:solidFill>
                    <a:srgbClr val="1E6787"/>
                  </a:solidFill>
                  <a:latin typeface="微软雅黑" pitchFamily="34" charset="-122"/>
                  <a:ea typeface="微软雅黑" pitchFamily="34" charset="-122"/>
                </a:rPr>
                <a:t>—</a:t>
              </a:r>
              <a:r>
                <a:rPr lang="zh-CN" altLang="en-US" sz="2400" b="1" spc="300" dirty="0">
                  <a:solidFill>
                    <a:srgbClr val="1E6787"/>
                  </a:solidFill>
                  <a:latin typeface="微软雅黑" pitchFamily="34" charset="-122"/>
                  <a:ea typeface="微软雅黑" pitchFamily="34" charset="-122"/>
                </a:rPr>
                <a:t>练习</a:t>
              </a:r>
              <a:endParaRPr lang="zh-CN" altLang="en-US" sz="2000" b="1" spc="300" dirty="0">
                <a:solidFill>
                  <a:srgbClr val="1E6787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grpSp>
          <p:nvGrpSpPr>
            <p:cNvPr id="56" name="组合 55">
              <a:extLst>
                <a:ext uri="{FF2B5EF4-FFF2-40B4-BE49-F238E27FC236}">
                  <a16:creationId xmlns:a16="http://schemas.microsoft.com/office/drawing/2014/main" id="{B3ECA4EB-10D1-4B65-B604-4032302CDAF4}"/>
                </a:ext>
              </a:extLst>
            </p:cNvPr>
            <p:cNvGrpSpPr/>
            <p:nvPr/>
          </p:nvGrpSpPr>
          <p:grpSpPr>
            <a:xfrm>
              <a:off x="169526" y="203448"/>
              <a:ext cx="504056" cy="504056"/>
              <a:chOff x="11207774" y="442662"/>
              <a:chExt cx="504056" cy="504056"/>
            </a:xfr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grpSpPr>
          <p:sp>
            <p:nvSpPr>
              <p:cNvPr id="57" name="椭圆 56">
                <a:extLst>
                  <a:ext uri="{FF2B5EF4-FFF2-40B4-BE49-F238E27FC236}">
                    <a16:creationId xmlns:a16="http://schemas.microsoft.com/office/drawing/2014/main" id="{FF372EA1-AB4F-47B1-B450-59AB8827ECD5}"/>
                  </a:ext>
                </a:extLst>
              </p:cNvPr>
              <p:cNvSpPr/>
              <p:nvPr/>
            </p:nvSpPr>
            <p:spPr>
              <a:xfrm>
                <a:off x="11351790" y="601230"/>
                <a:ext cx="216024" cy="216024"/>
              </a:xfrm>
              <a:prstGeom prst="ellipse">
                <a:avLst/>
              </a:prstGeom>
              <a:solidFill>
                <a:srgbClr val="B3DF63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prstClr val="white"/>
                  </a:solidFill>
                  <a:latin typeface="Calibri"/>
                  <a:ea typeface="微软雅黑"/>
                </a:endParaRPr>
              </a:p>
            </p:txBody>
          </p:sp>
          <p:sp>
            <p:nvSpPr>
              <p:cNvPr id="58" name="椭圆 57">
                <a:extLst>
                  <a:ext uri="{FF2B5EF4-FFF2-40B4-BE49-F238E27FC236}">
                    <a16:creationId xmlns:a16="http://schemas.microsoft.com/office/drawing/2014/main" id="{0BEE7D95-9E9C-4C6D-91AA-6429F74B9F98}"/>
                  </a:ext>
                </a:extLst>
              </p:cNvPr>
              <p:cNvSpPr/>
              <p:nvPr/>
            </p:nvSpPr>
            <p:spPr>
              <a:xfrm>
                <a:off x="11207774" y="442662"/>
                <a:ext cx="504056" cy="504056"/>
              </a:xfrm>
              <a:prstGeom prst="ellipse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Calibri"/>
                  <a:ea typeface="微软雅黑"/>
                </a:endParaRPr>
              </a:p>
            </p:txBody>
          </p:sp>
        </p:grpSp>
        <p:cxnSp>
          <p:nvCxnSpPr>
            <p:cNvPr id="20" name="直接连接符 19">
              <a:extLst>
                <a:ext uri="{FF2B5EF4-FFF2-40B4-BE49-F238E27FC236}">
                  <a16:creationId xmlns:a16="http://schemas.microsoft.com/office/drawing/2014/main" id="{C4FBB3C1-88AA-4E76-B54C-31018E3BFAA0}"/>
                </a:ext>
              </a:extLst>
            </p:cNvPr>
            <p:cNvCxnSpPr>
              <a:cxnSpLocks/>
            </p:cNvCxnSpPr>
            <p:nvPr/>
          </p:nvCxnSpPr>
          <p:spPr>
            <a:xfrm>
              <a:off x="775303" y="707504"/>
              <a:ext cx="1833288" cy="0"/>
            </a:xfrm>
            <a:prstGeom prst="line">
              <a:avLst/>
            </a:prstGeom>
            <a:ln>
              <a:solidFill>
                <a:srgbClr val="B3DF6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矩形 1">
            <a:extLst>
              <a:ext uri="{FF2B5EF4-FFF2-40B4-BE49-F238E27FC236}">
                <a16:creationId xmlns:a16="http://schemas.microsoft.com/office/drawing/2014/main" id="{D3DC0766-ED61-46D3-93BD-79524870C5F7}"/>
              </a:ext>
            </a:extLst>
          </p:cNvPr>
          <p:cNvSpPr/>
          <p:nvPr/>
        </p:nvSpPr>
        <p:spPr>
          <a:xfrm>
            <a:off x="776097" y="937062"/>
            <a:ext cx="11274975" cy="11350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indent="457200" algn="just">
              <a:lnSpc>
                <a:spcPct val="150000"/>
              </a:lnSpc>
              <a:spcAft>
                <a:spcPts val="0"/>
              </a:spcAft>
            </a:pPr>
            <a:r>
              <a:rPr lang="zh-CN" altLang="en-US" sz="2400" kern="100" dirty="0">
                <a:latin typeface="+mn-ea"/>
                <a:cs typeface="Times New Roman" panose="02020603050405020304" pitchFamily="18" charset="0"/>
              </a:rPr>
              <a:t>请将第四章例</a:t>
            </a:r>
            <a:r>
              <a:rPr lang="en-US" altLang="zh-CN" sz="2400" kern="100" dirty="0">
                <a:latin typeface="+mn-ea"/>
                <a:cs typeface="Times New Roman" panose="02020603050405020304" pitchFamily="18" charset="0"/>
              </a:rPr>
              <a:t>4-6</a:t>
            </a:r>
            <a:r>
              <a:rPr lang="zh-CN" altLang="en-US" sz="2400" kern="100" dirty="0">
                <a:latin typeface="+mn-ea"/>
                <a:cs typeface="Times New Roman" panose="02020603050405020304" pitchFamily="18" charset="0"/>
              </a:rPr>
              <a:t>中的问卷调查结果用文本文件“</a:t>
            </a:r>
            <a:r>
              <a:rPr lang="en-US" altLang="zh-CN" sz="2400" kern="100" dirty="0">
                <a:latin typeface="+mn-ea"/>
                <a:cs typeface="Times New Roman" panose="02020603050405020304" pitchFamily="18" charset="0"/>
              </a:rPr>
              <a:t>result.txt”</a:t>
            </a:r>
            <a:r>
              <a:rPr lang="zh-CN" altLang="en-US" sz="2400" kern="100" dirty="0">
                <a:latin typeface="+mn-ea"/>
                <a:cs typeface="Times New Roman" panose="02020603050405020304" pitchFamily="18" charset="0"/>
              </a:rPr>
              <a:t>保存。编写程序读文件然后统计各评语出现的次数，并将最终统计结果追加至“</a:t>
            </a:r>
            <a:r>
              <a:rPr lang="en-US" altLang="zh-CN" sz="2400" kern="100" dirty="0">
                <a:latin typeface="+mn-ea"/>
                <a:cs typeface="Times New Roman" panose="02020603050405020304" pitchFamily="18" charset="0"/>
              </a:rPr>
              <a:t>result.txt”</a:t>
            </a:r>
            <a:r>
              <a:rPr lang="zh-CN" altLang="en-US" sz="2400" kern="100" dirty="0">
                <a:latin typeface="+mn-ea"/>
                <a:cs typeface="Times New Roman" panose="02020603050405020304" pitchFamily="18" charset="0"/>
              </a:rPr>
              <a:t>文件中</a:t>
            </a:r>
            <a:endParaRPr lang="en-US" altLang="zh-CN" sz="2400" kern="100" dirty="0">
              <a:latin typeface="+mn-ea"/>
              <a:cs typeface="Times New Roman" panose="02020603050405020304" pitchFamily="18" charset="0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A3AFACCF-07D4-4821-8F94-9286EE2EB3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4336" y="2301672"/>
            <a:ext cx="11626388" cy="4310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59136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组合 31">
            <a:extLst>
              <a:ext uri="{FF2B5EF4-FFF2-40B4-BE49-F238E27FC236}">
                <a16:creationId xmlns:a16="http://schemas.microsoft.com/office/drawing/2014/main" id="{032EF26F-0D58-4A0E-97C1-668713F80B14}"/>
              </a:ext>
            </a:extLst>
          </p:cNvPr>
          <p:cNvGrpSpPr/>
          <p:nvPr/>
        </p:nvGrpSpPr>
        <p:grpSpPr>
          <a:xfrm>
            <a:off x="170320" y="203448"/>
            <a:ext cx="6511833" cy="504056"/>
            <a:chOff x="169526" y="203448"/>
            <a:chExt cx="6511833" cy="504056"/>
          </a:xfrm>
        </p:grpSpPr>
        <p:sp>
          <p:nvSpPr>
            <p:cNvPr id="4" name="TextBox 3"/>
            <p:cNvSpPr txBox="1"/>
            <p:nvPr/>
          </p:nvSpPr>
          <p:spPr>
            <a:xfrm>
              <a:off x="781172" y="245839"/>
              <a:ext cx="590018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spc="300" dirty="0">
                  <a:solidFill>
                    <a:srgbClr val="1E6787"/>
                  </a:solidFill>
                  <a:latin typeface="微软雅黑" pitchFamily="34" charset="-122"/>
                  <a:ea typeface="微软雅黑" pitchFamily="34" charset="-122"/>
                </a:rPr>
                <a:t>文件操作</a:t>
              </a:r>
              <a:r>
                <a:rPr lang="en-US" altLang="zh-CN" sz="2400" b="1" spc="300" dirty="0">
                  <a:solidFill>
                    <a:srgbClr val="1E6787"/>
                  </a:solidFill>
                  <a:latin typeface="微软雅黑" pitchFamily="34" charset="-122"/>
                  <a:ea typeface="微软雅黑" pitchFamily="34" charset="-122"/>
                </a:rPr>
                <a:t>—</a:t>
              </a:r>
              <a:r>
                <a:rPr lang="zh-CN" altLang="en-US" sz="2400" b="1" spc="300" dirty="0">
                  <a:solidFill>
                    <a:srgbClr val="1E6787"/>
                  </a:solidFill>
                  <a:latin typeface="微软雅黑" pitchFamily="34" charset="-122"/>
                  <a:ea typeface="微软雅黑" pitchFamily="34" charset="-122"/>
                </a:rPr>
                <a:t>练习</a:t>
              </a:r>
              <a:endParaRPr lang="zh-CN" altLang="en-US" sz="2000" b="1" spc="300" dirty="0">
                <a:solidFill>
                  <a:srgbClr val="1E6787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grpSp>
          <p:nvGrpSpPr>
            <p:cNvPr id="56" name="组合 55">
              <a:extLst>
                <a:ext uri="{FF2B5EF4-FFF2-40B4-BE49-F238E27FC236}">
                  <a16:creationId xmlns:a16="http://schemas.microsoft.com/office/drawing/2014/main" id="{B3ECA4EB-10D1-4B65-B604-4032302CDAF4}"/>
                </a:ext>
              </a:extLst>
            </p:cNvPr>
            <p:cNvGrpSpPr/>
            <p:nvPr/>
          </p:nvGrpSpPr>
          <p:grpSpPr>
            <a:xfrm>
              <a:off x="169526" y="203448"/>
              <a:ext cx="504056" cy="504056"/>
              <a:chOff x="11207774" y="442662"/>
              <a:chExt cx="504056" cy="504056"/>
            </a:xfr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grpSpPr>
          <p:sp>
            <p:nvSpPr>
              <p:cNvPr id="57" name="椭圆 56">
                <a:extLst>
                  <a:ext uri="{FF2B5EF4-FFF2-40B4-BE49-F238E27FC236}">
                    <a16:creationId xmlns:a16="http://schemas.microsoft.com/office/drawing/2014/main" id="{FF372EA1-AB4F-47B1-B450-59AB8827ECD5}"/>
                  </a:ext>
                </a:extLst>
              </p:cNvPr>
              <p:cNvSpPr/>
              <p:nvPr/>
            </p:nvSpPr>
            <p:spPr>
              <a:xfrm>
                <a:off x="11351790" y="601230"/>
                <a:ext cx="216024" cy="216024"/>
              </a:xfrm>
              <a:prstGeom prst="ellipse">
                <a:avLst/>
              </a:prstGeom>
              <a:solidFill>
                <a:srgbClr val="B3DF63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prstClr val="white"/>
                  </a:solidFill>
                  <a:latin typeface="Calibri"/>
                  <a:ea typeface="微软雅黑"/>
                </a:endParaRPr>
              </a:p>
            </p:txBody>
          </p:sp>
          <p:sp>
            <p:nvSpPr>
              <p:cNvPr id="58" name="椭圆 57">
                <a:extLst>
                  <a:ext uri="{FF2B5EF4-FFF2-40B4-BE49-F238E27FC236}">
                    <a16:creationId xmlns:a16="http://schemas.microsoft.com/office/drawing/2014/main" id="{0BEE7D95-9E9C-4C6D-91AA-6429F74B9F98}"/>
                  </a:ext>
                </a:extLst>
              </p:cNvPr>
              <p:cNvSpPr/>
              <p:nvPr/>
            </p:nvSpPr>
            <p:spPr>
              <a:xfrm>
                <a:off x="11207774" y="442662"/>
                <a:ext cx="504056" cy="504056"/>
              </a:xfrm>
              <a:prstGeom prst="ellipse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Calibri"/>
                  <a:ea typeface="微软雅黑"/>
                </a:endParaRPr>
              </a:p>
            </p:txBody>
          </p:sp>
        </p:grpSp>
        <p:cxnSp>
          <p:nvCxnSpPr>
            <p:cNvPr id="20" name="直接连接符 19">
              <a:extLst>
                <a:ext uri="{FF2B5EF4-FFF2-40B4-BE49-F238E27FC236}">
                  <a16:creationId xmlns:a16="http://schemas.microsoft.com/office/drawing/2014/main" id="{C4FBB3C1-88AA-4E76-B54C-31018E3BFAA0}"/>
                </a:ext>
              </a:extLst>
            </p:cNvPr>
            <p:cNvCxnSpPr>
              <a:cxnSpLocks/>
            </p:cNvCxnSpPr>
            <p:nvPr/>
          </p:nvCxnSpPr>
          <p:spPr>
            <a:xfrm>
              <a:off x="775303" y="707504"/>
              <a:ext cx="1833288" cy="0"/>
            </a:xfrm>
            <a:prstGeom prst="line">
              <a:avLst/>
            </a:prstGeom>
            <a:ln>
              <a:solidFill>
                <a:srgbClr val="B3DF6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F02B4249-81F0-4AD9-901C-3BC5B4A29C8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4804"/>
          <a:stretch/>
        </p:blipFill>
        <p:spPr>
          <a:xfrm>
            <a:off x="314336" y="637287"/>
            <a:ext cx="11232622" cy="6097333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520E7518-BF95-456E-B749-D4BF7212A86A}"/>
              </a:ext>
            </a:extLst>
          </p:cNvPr>
          <p:cNvSpPr/>
          <p:nvPr/>
        </p:nvSpPr>
        <p:spPr>
          <a:xfrm>
            <a:off x="1141228" y="1042007"/>
            <a:ext cx="8654902" cy="226984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BE83A0D-EF5E-4032-AF3C-6FD7F22EDDBD}"/>
              </a:ext>
            </a:extLst>
          </p:cNvPr>
          <p:cNvSpPr/>
          <p:nvPr/>
        </p:nvSpPr>
        <p:spPr>
          <a:xfrm>
            <a:off x="1141228" y="6477051"/>
            <a:ext cx="8654902" cy="32113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1FC0F3C-F44B-4DC7-A21A-3397EEC0BFDE}"/>
              </a:ext>
            </a:extLst>
          </p:cNvPr>
          <p:cNvSpPr/>
          <p:nvPr/>
        </p:nvSpPr>
        <p:spPr>
          <a:xfrm>
            <a:off x="10134599" y="2069805"/>
            <a:ext cx="1632574" cy="63795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zh-CN" altLang="en-US" sz="2000" dirty="0">
                <a:solidFill>
                  <a:srgbClr val="FF0000"/>
                </a:solidFill>
              </a:rPr>
              <a:t>读文件</a:t>
            </a:r>
            <a:endParaRPr lang="en-US" altLang="zh-CN" sz="2000" dirty="0">
              <a:solidFill>
                <a:srgbClr val="FF0000"/>
              </a:solidFill>
            </a:endParaRPr>
          </a:p>
          <a:p>
            <a:pPr algn="ctr"/>
            <a:r>
              <a:rPr lang="zh-CN" altLang="en-US" sz="2000" dirty="0">
                <a:solidFill>
                  <a:srgbClr val="FF0000"/>
                </a:solidFill>
              </a:rPr>
              <a:t>返回字符串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BD4DA3A-A3F4-4CDA-8BA3-B932D762269A}"/>
              </a:ext>
            </a:extLst>
          </p:cNvPr>
          <p:cNvSpPr/>
          <p:nvPr/>
        </p:nvSpPr>
        <p:spPr>
          <a:xfrm>
            <a:off x="10051313" y="6430284"/>
            <a:ext cx="1826352" cy="41466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zh-CN" altLang="en-US" sz="2000" dirty="0">
                <a:solidFill>
                  <a:srgbClr val="FF0000"/>
                </a:solidFill>
              </a:rPr>
              <a:t>结果写回文件</a:t>
            </a:r>
            <a:endParaRPr lang="en-US" altLang="zh-CN" sz="2000" dirty="0">
              <a:solidFill>
                <a:srgbClr val="FF0000"/>
              </a:solidFill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5960075-75F6-4999-926F-8839A00EDFC1}"/>
              </a:ext>
            </a:extLst>
          </p:cNvPr>
          <p:cNvSpPr/>
          <p:nvPr/>
        </p:nvSpPr>
        <p:spPr>
          <a:xfrm>
            <a:off x="8814629" y="4665282"/>
            <a:ext cx="2558902" cy="71592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solidFill>
                  <a:srgbClr val="FF0000"/>
                </a:solidFill>
              </a:rPr>
              <a:t>用函数实现</a:t>
            </a:r>
          </a:p>
        </p:txBody>
      </p:sp>
    </p:spTree>
    <p:extLst>
      <p:ext uri="{BB962C8B-B14F-4D97-AF65-F5344CB8AC3E}">
        <p14:creationId xmlns:p14="http://schemas.microsoft.com/office/powerpoint/2010/main" val="31758597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组合 31">
            <a:extLst>
              <a:ext uri="{FF2B5EF4-FFF2-40B4-BE49-F238E27FC236}">
                <a16:creationId xmlns:a16="http://schemas.microsoft.com/office/drawing/2014/main" id="{032EF26F-0D58-4A0E-97C1-668713F80B14}"/>
              </a:ext>
            </a:extLst>
          </p:cNvPr>
          <p:cNvGrpSpPr/>
          <p:nvPr/>
        </p:nvGrpSpPr>
        <p:grpSpPr>
          <a:xfrm>
            <a:off x="170320" y="203448"/>
            <a:ext cx="6511833" cy="504056"/>
            <a:chOff x="169526" y="203448"/>
            <a:chExt cx="6511833" cy="504056"/>
          </a:xfrm>
        </p:grpSpPr>
        <p:sp>
          <p:nvSpPr>
            <p:cNvPr id="4" name="TextBox 3"/>
            <p:cNvSpPr txBox="1"/>
            <p:nvPr/>
          </p:nvSpPr>
          <p:spPr>
            <a:xfrm>
              <a:off x="781172" y="245839"/>
              <a:ext cx="590018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spc="300" dirty="0">
                  <a:solidFill>
                    <a:srgbClr val="1E6787"/>
                  </a:solidFill>
                  <a:latin typeface="微软雅黑" pitchFamily="34" charset="-122"/>
                  <a:ea typeface="微软雅黑" pitchFamily="34" charset="-122"/>
                </a:rPr>
                <a:t>文件操作</a:t>
              </a:r>
              <a:r>
                <a:rPr lang="en-US" altLang="zh-CN" sz="2400" b="1" spc="300" dirty="0">
                  <a:solidFill>
                    <a:srgbClr val="1E6787"/>
                  </a:solidFill>
                  <a:latin typeface="微软雅黑" pitchFamily="34" charset="-122"/>
                  <a:ea typeface="微软雅黑" pitchFamily="34" charset="-122"/>
                </a:rPr>
                <a:t>—</a:t>
              </a:r>
              <a:r>
                <a:rPr lang="zh-CN" altLang="en-US" sz="2400" b="1" spc="300" dirty="0">
                  <a:solidFill>
                    <a:srgbClr val="1E6787"/>
                  </a:solidFill>
                  <a:latin typeface="微软雅黑" pitchFamily="34" charset="-122"/>
                  <a:ea typeface="微软雅黑" pitchFamily="34" charset="-122"/>
                </a:rPr>
                <a:t>练习</a:t>
              </a:r>
              <a:endParaRPr lang="zh-CN" altLang="en-US" sz="2000" b="1" spc="300" dirty="0">
                <a:solidFill>
                  <a:srgbClr val="1E6787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grpSp>
          <p:nvGrpSpPr>
            <p:cNvPr id="56" name="组合 55">
              <a:extLst>
                <a:ext uri="{FF2B5EF4-FFF2-40B4-BE49-F238E27FC236}">
                  <a16:creationId xmlns:a16="http://schemas.microsoft.com/office/drawing/2014/main" id="{B3ECA4EB-10D1-4B65-B604-4032302CDAF4}"/>
                </a:ext>
              </a:extLst>
            </p:cNvPr>
            <p:cNvGrpSpPr/>
            <p:nvPr/>
          </p:nvGrpSpPr>
          <p:grpSpPr>
            <a:xfrm>
              <a:off x="169526" y="203448"/>
              <a:ext cx="504056" cy="504056"/>
              <a:chOff x="11207774" y="442662"/>
              <a:chExt cx="504056" cy="504056"/>
            </a:xfr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grpSpPr>
          <p:sp>
            <p:nvSpPr>
              <p:cNvPr id="57" name="椭圆 56">
                <a:extLst>
                  <a:ext uri="{FF2B5EF4-FFF2-40B4-BE49-F238E27FC236}">
                    <a16:creationId xmlns:a16="http://schemas.microsoft.com/office/drawing/2014/main" id="{FF372EA1-AB4F-47B1-B450-59AB8827ECD5}"/>
                  </a:ext>
                </a:extLst>
              </p:cNvPr>
              <p:cNvSpPr/>
              <p:nvPr/>
            </p:nvSpPr>
            <p:spPr>
              <a:xfrm>
                <a:off x="11351790" y="601230"/>
                <a:ext cx="216024" cy="216024"/>
              </a:xfrm>
              <a:prstGeom prst="ellipse">
                <a:avLst/>
              </a:prstGeom>
              <a:solidFill>
                <a:srgbClr val="B3DF63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prstClr val="white"/>
                  </a:solidFill>
                  <a:latin typeface="Calibri"/>
                  <a:ea typeface="微软雅黑"/>
                </a:endParaRPr>
              </a:p>
            </p:txBody>
          </p:sp>
          <p:sp>
            <p:nvSpPr>
              <p:cNvPr id="58" name="椭圆 57">
                <a:extLst>
                  <a:ext uri="{FF2B5EF4-FFF2-40B4-BE49-F238E27FC236}">
                    <a16:creationId xmlns:a16="http://schemas.microsoft.com/office/drawing/2014/main" id="{0BEE7D95-9E9C-4C6D-91AA-6429F74B9F98}"/>
                  </a:ext>
                </a:extLst>
              </p:cNvPr>
              <p:cNvSpPr/>
              <p:nvPr/>
            </p:nvSpPr>
            <p:spPr>
              <a:xfrm>
                <a:off x="11207774" y="442662"/>
                <a:ext cx="504056" cy="504056"/>
              </a:xfrm>
              <a:prstGeom prst="ellipse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Calibri"/>
                  <a:ea typeface="微软雅黑"/>
                </a:endParaRPr>
              </a:p>
            </p:txBody>
          </p:sp>
        </p:grpSp>
        <p:cxnSp>
          <p:nvCxnSpPr>
            <p:cNvPr id="20" name="直接连接符 19">
              <a:extLst>
                <a:ext uri="{FF2B5EF4-FFF2-40B4-BE49-F238E27FC236}">
                  <a16:creationId xmlns:a16="http://schemas.microsoft.com/office/drawing/2014/main" id="{C4FBB3C1-88AA-4E76-B54C-31018E3BFAA0}"/>
                </a:ext>
              </a:extLst>
            </p:cNvPr>
            <p:cNvCxnSpPr>
              <a:cxnSpLocks/>
            </p:cNvCxnSpPr>
            <p:nvPr/>
          </p:nvCxnSpPr>
          <p:spPr>
            <a:xfrm>
              <a:off x="775303" y="707504"/>
              <a:ext cx="1833288" cy="0"/>
            </a:xfrm>
            <a:prstGeom prst="line">
              <a:avLst/>
            </a:prstGeom>
            <a:ln>
              <a:solidFill>
                <a:srgbClr val="B3DF6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矩形 10">
            <a:extLst>
              <a:ext uri="{FF2B5EF4-FFF2-40B4-BE49-F238E27FC236}">
                <a16:creationId xmlns:a16="http://schemas.microsoft.com/office/drawing/2014/main" id="{17FCDA09-BD82-46CD-BA5D-4070314DE8C1}"/>
              </a:ext>
            </a:extLst>
          </p:cNvPr>
          <p:cNvSpPr/>
          <p:nvPr/>
        </p:nvSpPr>
        <p:spPr>
          <a:xfrm>
            <a:off x="530360" y="1192026"/>
            <a:ext cx="5821835" cy="29817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lvl="0" indent="-457200" algn="just">
              <a:lnSpc>
                <a:spcPct val="150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CN" sz="2800" kern="100" dirty="0">
                <a:latin typeface="+mn-ea"/>
                <a:cs typeface="Times New Roman" panose="02020603050405020304" pitchFamily="18" charset="0"/>
              </a:rPr>
              <a:t>Step1</a:t>
            </a:r>
            <a:r>
              <a:rPr lang="zh-CN" altLang="en-US" sz="2800" kern="100" dirty="0">
                <a:latin typeface="+mn-ea"/>
                <a:cs typeface="Times New Roman" panose="02020603050405020304" pitchFamily="18" charset="0"/>
              </a:rPr>
              <a:t>：</a:t>
            </a:r>
            <a:endParaRPr lang="en-US" altLang="zh-CN" sz="2800" kern="100" dirty="0">
              <a:latin typeface="+mn-ea"/>
              <a:cs typeface="Times New Roman" panose="02020603050405020304" pitchFamily="18" charset="0"/>
            </a:endParaRPr>
          </a:p>
          <a:p>
            <a:pPr marL="914400" lvl="1" indent="-457200" algn="just">
              <a:lnSpc>
                <a:spcPct val="150000"/>
              </a:lnSpc>
              <a:buFont typeface="Calibri" panose="020F0502020204030204" pitchFamily="34" charset="0"/>
              <a:buChar char="−"/>
            </a:pPr>
            <a:r>
              <a:rPr lang="zh-CN" altLang="en-US" sz="2400" kern="100" dirty="0">
                <a:latin typeface="+mn-ea"/>
                <a:cs typeface="Times New Roman" panose="02020603050405020304" pitchFamily="18" charset="0"/>
              </a:rPr>
              <a:t>新建文件，以字符串存放</a:t>
            </a:r>
            <a:r>
              <a:rPr lang="en-US" altLang="zh-CN" sz="2400" kern="100" dirty="0">
                <a:latin typeface="+mn-ea"/>
                <a:cs typeface="Times New Roman" panose="02020603050405020304" pitchFamily="18" charset="0"/>
              </a:rPr>
              <a:t>90</a:t>
            </a:r>
            <a:r>
              <a:rPr lang="zh-CN" altLang="en-US" sz="2400" kern="100" dirty="0">
                <a:latin typeface="+mn-ea"/>
                <a:cs typeface="Times New Roman" panose="02020603050405020304" pitchFamily="18" charset="0"/>
              </a:rPr>
              <a:t>个调查结果，如右图。</a:t>
            </a:r>
            <a:endParaRPr lang="en-US" altLang="zh-CN" sz="2400" kern="100" dirty="0">
              <a:latin typeface="+mn-ea"/>
              <a:cs typeface="Times New Roman" panose="02020603050405020304" pitchFamily="18" charset="0"/>
            </a:endParaRP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800" kern="100" dirty="0">
                <a:latin typeface="+mn-ea"/>
                <a:cs typeface="Times New Roman" panose="02020603050405020304" pitchFamily="18" charset="0"/>
              </a:rPr>
              <a:t>Step2</a:t>
            </a:r>
            <a:r>
              <a:rPr lang="zh-CN" altLang="en-US" sz="2800" kern="100" dirty="0">
                <a:latin typeface="+mn-ea"/>
                <a:cs typeface="Times New Roman" panose="02020603050405020304" pitchFamily="18" charset="0"/>
              </a:rPr>
              <a:t>：</a:t>
            </a:r>
            <a:endParaRPr lang="en-US" altLang="zh-CN" sz="2800" kern="100" dirty="0">
              <a:latin typeface="+mn-ea"/>
              <a:cs typeface="Times New Roman" panose="02020603050405020304" pitchFamily="18" charset="0"/>
            </a:endParaRPr>
          </a:p>
          <a:p>
            <a:pPr marL="914400" lvl="1" indent="-457200" algn="just">
              <a:lnSpc>
                <a:spcPct val="150000"/>
              </a:lnSpc>
              <a:buFont typeface="Calibri" panose="020F0502020204030204" pitchFamily="34" charset="0"/>
              <a:buChar char="−"/>
            </a:pPr>
            <a:r>
              <a:rPr lang="zh-CN" altLang="en-US" sz="2400" kern="100" dirty="0">
                <a:latin typeface="+mn-ea"/>
                <a:cs typeface="Times New Roman" panose="02020603050405020304" pitchFamily="18" charset="0"/>
              </a:rPr>
              <a:t>编写读文件函数，返回字符串。</a:t>
            </a:r>
            <a:endParaRPr lang="en-US" altLang="zh-CN" sz="2400" kern="100" dirty="0">
              <a:latin typeface="+mn-ea"/>
              <a:cs typeface="Times New Roman" panose="02020603050405020304" pitchFamily="18" charset="0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AD733D0D-ACFA-4CD1-B533-09DE406D1D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0967" y="1104567"/>
            <a:ext cx="5191125" cy="5343525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E6FFD117-DD7B-48EA-A5FA-BE57C065FDF0}"/>
              </a:ext>
            </a:extLst>
          </p:cNvPr>
          <p:cNvSpPr/>
          <p:nvPr/>
        </p:nvSpPr>
        <p:spPr>
          <a:xfrm>
            <a:off x="1516333" y="4197027"/>
            <a:ext cx="4431452" cy="22510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rgbClr val="FF9900"/>
                </a:solidFill>
              </a:rPr>
              <a:t>def</a:t>
            </a:r>
            <a:r>
              <a:rPr lang="en-US" altLang="zh-CN" sz="2400" dirty="0"/>
              <a:t> </a:t>
            </a:r>
            <a:r>
              <a:rPr lang="en-US" altLang="zh-CN" sz="2400" dirty="0" err="1">
                <a:solidFill>
                  <a:srgbClr val="0000FF"/>
                </a:solidFill>
              </a:rPr>
              <a:t>readFile</a:t>
            </a:r>
            <a:r>
              <a:rPr lang="en-US" altLang="zh-CN" sz="2400" dirty="0"/>
              <a:t>(</a:t>
            </a:r>
            <a:r>
              <a:rPr lang="en-US" altLang="zh-CN" sz="2400" dirty="0" err="1"/>
              <a:t>fileName</a:t>
            </a:r>
            <a:r>
              <a:rPr lang="en-US" altLang="zh-CN" sz="2400" dirty="0"/>
              <a:t>):</a:t>
            </a:r>
          </a:p>
          <a:p>
            <a:pPr>
              <a:lnSpc>
                <a:spcPct val="150000"/>
              </a:lnSpc>
            </a:pPr>
            <a:r>
              <a:rPr lang="en-US" altLang="zh-CN" sz="2400" dirty="0"/>
              <a:t>    file = </a:t>
            </a:r>
            <a:r>
              <a:rPr lang="en-US" altLang="zh-CN" sz="2400" dirty="0">
                <a:solidFill>
                  <a:srgbClr val="7030A0"/>
                </a:solidFill>
              </a:rPr>
              <a:t>open</a:t>
            </a:r>
            <a:r>
              <a:rPr lang="en-US" altLang="zh-CN" sz="2400" dirty="0"/>
              <a:t>(</a:t>
            </a:r>
            <a:r>
              <a:rPr lang="en-US" altLang="zh-CN" sz="2400" dirty="0" err="1"/>
              <a:t>fileName</a:t>
            </a:r>
            <a:r>
              <a:rPr lang="en-US" altLang="zh-CN" sz="2400" dirty="0"/>
              <a:t>,</a:t>
            </a:r>
            <a:r>
              <a:rPr lang="en-US" altLang="zh-CN" sz="2400" dirty="0">
                <a:solidFill>
                  <a:srgbClr val="00B050"/>
                </a:solidFill>
              </a:rPr>
              <a:t>'r'</a:t>
            </a:r>
            <a:r>
              <a:rPr lang="en-US" altLang="zh-CN" sz="2400" dirty="0"/>
              <a:t>)</a:t>
            </a:r>
          </a:p>
          <a:p>
            <a:pPr>
              <a:lnSpc>
                <a:spcPct val="150000"/>
              </a:lnSpc>
            </a:pPr>
            <a:r>
              <a:rPr lang="en-US" altLang="zh-CN" sz="2400" dirty="0"/>
              <a:t>    res = </a:t>
            </a:r>
            <a:r>
              <a:rPr lang="en-US" altLang="zh-CN" sz="2400" dirty="0" err="1"/>
              <a:t>file.read</a:t>
            </a:r>
            <a:r>
              <a:rPr lang="en-US" altLang="zh-CN" sz="2400" dirty="0"/>
              <a:t>()</a:t>
            </a:r>
          </a:p>
          <a:p>
            <a:pPr>
              <a:lnSpc>
                <a:spcPct val="150000"/>
              </a:lnSpc>
            </a:pPr>
            <a:r>
              <a:rPr lang="en-US" altLang="zh-CN" sz="2400" dirty="0"/>
              <a:t>    </a:t>
            </a:r>
            <a:r>
              <a:rPr lang="en-US" altLang="zh-CN" sz="2400" dirty="0">
                <a:solidFill>
                  <a:srgbClr val="FF9900"/>
                </a:solidFill>
              </a:rPr>
              <a:t>return</a:t>
            </a:r>
            <a:r>
              <a:rPr lang="en-US" altLang="zh-CN" sz="2400" dirty="0"/>
              <a:t> res</a:t>
            </a:r>
          </a:p>
        </p:txBody>
      </p:sp>
    </p:spTree>
    <p:extLst>
      <p:ext uri="{BB962C8B-B14F-4D97-AF65-F5344CB8AC3E}">
        <p14:creationId xmlns:p14="http://schemas.microsoft.com/office/powerpoint/2010/main" val="7418991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组合 31">
            <a:extLst>
              <a:ext uri="{FF2B5EF4-FFF2-40B4-BE49-F238E27FC236}">
                <a16:creationId xmlns:a16="http://schemas.microsoft.com/office/drawing/2014/main" id="{032EF26F-0D58-4A0E-97C1-668713F80B14}"/>
              </a:ext>
            </a:extLst>
          </p:cNvPr>
          <p:cNvGrpSpPr/>
          <p:nvPr/>
        </p:nvGrpSpPr>
        <p:grpSpPr>
          <a:xfrm>
            <a:off x="170320" y="203448"/>
            <a:ext cx="6511833" cy="504056"/>
            <a:chOff x="169526" y="203448"/>
            <a:chExt cx="6511833" cy="504056"/>
          </a:xfrm>
        </p:grpSpPr>
        <p:sp>
          <p:nvSpPr>
            <p:cNvPr id="4" name="TextBox 3"/>
            <p:cNvSpPr txBox="1"/>
            <p:nvPr/>
          </p:nvSpPr>
          <p:spPr>
            <a:xfrm>
              <a:off x="781172" y="245839"/>
              <a:ext cx="590018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spc="300" dirty="0">
                  <a:solidFill>
                    <a:srgbClr val="1E6787"/>
                  </a:solidFill>
                  <a:latin typeface="微软雅黑" pitchFamily="34" charset="-122"/>
                  <a:ea typeface="微软雅黑" pitchFamily="34" charset="-122"/>
                </a:rPr>
                <a:t>文件操作</a:t>
              </a:r>
              <a:r>
                <a:rPr lang="en-US" altLang="zh-CN" sz="2400" b="1" spc="300" dirty="0">
                  <a:solidFill>
                    <a:srgbClr val="1E6787"/>
                  </a:solidFill>
                  <a:latin typeface="微软雅黑" pitchFamily="34" charset="-122"/>
                  <a:ea typeface="微软雅黑" pitchFamily="34" charset="-122"/>
                </a:rPr>
                <a:t>—</a:t>
              </a:r>
              <a:r>
                <a:rPr lang="zh-CN" altLang="en-US" sz="2400" b="1" spc="300" dirty="0">
                  <a:solidFill>
                    <a:srgbClr val="1E6787"/>
                  </a:solidFill>
                  <a:latin typeface="微软雅黑" pitchFamily="34" charset="-122"/>
                  <a:ea typeface="微软雅黑" pitchFamily="34" charset="-122"/>
                </a:rPr>
                <a:t>练习</a:t>
              </a:r>
              <a:endParaRPr lang="zh-CN" altLang="en-US" sz="2000" b="1" spc="300" dirty="0">
                <a:solidFill>
                  <a:srgbClr val="1E6787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grpSp>
          <p:nvGrpSpPr>
            <p:cNvPr id="56" name="组合 55">
              <a:extLst>
                <a:ext uri="{FF2B5EF4-FFF2-40B4-BE49-F238E27FC236}">
                  <a16:creationId xmlns:a16="http://schemas.microsoft.com/office/drawing/2014/main" id="{B3ECA4EB-10D1-4B65-B604-4032302CDAF4}"/>
                </a:ext>
              </a:extLst>
            </p:cNvPr>
            <p:cNvGrpSpPr/>
            <p:nvPr/>
          </p:nvGrpSpPr>
          <p:grpSpPr>
            <a:xfrm>
              <a:off x="169526" y="203448"/>
              <a:ext cx="504056" cy="504056"/>
              <a:chOff x="11207774" y="442662"/>
              <a:chExt cx="504056" cy="504056"/>
            </a:xfr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grpSpPr>
          <p:sp>
            <p:nvSpPr>
              <p:cNvPr id="57" name="椭圆 56">
                <a:extLst>
                  <a:ext uri="{FF2B5EF4-FFF2-40B4-BE49-F238E27FC236}">
                    <a16:creationId xmlns:a16="http://schemas.microsoft.com/office/drawing/2014/main" id="{FF372EA1-AB4F-47B1-B450-59AB8827ECD5}"/>
                  </a:ext>
                </a:extLst>
              </p:cNvPr>
              <p:cNvSpPr/>
              <p:nvPr/>
            </p:nvSpPr>
            <p:spPr>
              <a:xfrm>
                <a:off x="11351790" y="601230"/>
                <a:ext cx="216024" cy="216024"/>
              </a:xfrm>
              <a:prstGeom prst="ellipse">
                <a:avLst/>
              </a:prstGeom>
              <a:solidFill>
                <a:srgbClr val="B3DF63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prstClr val="white"/>
                  </a:solidFill>
                  <a:latin typeface="Calibri"/>
                  <a:ea typeface="微软雅黑"/>
                </a:endParaRPr>
              </a:p>
            </p:txBody>
          </p:sp>
          <p:sp>
            <p:nvSpPr>
              <p:cNvPr id="58" name="椭圆 57">
                <a:extLst>
                  <a:ext uri="{FF2B5EF4-FFF2-40B4-BE49-F238E27FC236}">
                    <a16:creationId xmlns:a16="http://schemas.microsoft.com/office/drawing/2014/main" id="{0BEE7D95-9E9C-4C6D-91AA-6429F74B9F98}"/>
                  </a:ext>
                </a:extLst>
              </p:cNvPr>
              <p:cNvSpPr/>
              <p:nvPr/>
            </p:nvSpPr>
            <p:spPr>
              <a:xfrm>
                <a:off x="11207774" y="442662"/>
                <a:ext cx="504056" cy="504056"/>
              </a:xfrm>
              <a:prstGeom prst="ellipse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Calibri"/>
                  <a:ea typeface="微软雅黑"/>
                </a:endParaRPr>
              </a:p>
            </p:txBody>
          </p:sp>
        </p:grpSp>
        <p:cxnSp>
          <p:nvCxnSpPr>
            <p:cNvPr id="20" name="直接连接符 19">
              <a:extLst>
                <a:ext uri="{FF2B5EF4-FFF2-40B4-BE49-F238E27FC236}">
                  <a16:creationId xmlns:a16="http://schemas.microsoft.com/office/drawing/2014/main" id="{C4FBB3C1-88AA-4E76-B54C-31018E3BFAA0}"/>
                </a:ext>
              </a:extLst>
            </p:cNvPr>
            <p:cNvCxnSpPr>
              <a:cxnSpLocks/>
            </p:cNvCxnSpPr>
            <p:nvPr/>
          </p:nvCxnSpPr>
          <p:spPr>
            <a:xfrm>
              <a:off x="775303" y="707504"/>
              <a:ext cx="1833288" cy="0"/>
            </a:xfrm>
            <a:prstGeom prst="line">
              <a:avLst/>
            </a:prstGeom>
            <a:ln>
              <a:solidFill>
                <a:srgbClr val="B3DF6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矩形 10">
            <a:extLst>
              <a:ext uri="{FF2B5EF4-FFF2-40B4-BE49-F238E27FC236}">
                <a16:creationId xmlns:a16="http://schemas.microsoft.com/office/drawing/2014/main" id="{17FCDA09-BD82-46CD-BA5D-4070314DE8C1}"/>
              </a:ext>
            </a:extLst>
          </p:cNvPr>
          <p:cNvSpPr/>
          <p:nvPr/>
        </p:nvSpPr>
        <p:spPr>
          <a:xfrm>
            <a:off x="367329" y="1397589"/>
            <a:ext cx="4396059" cy="17813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lvl="0" indent="-457200" algn="just">
              <a:lnSpc>
                <a:spcPct val="150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CN" sz="2800" kern="100" dirty="0">
                <a:latin typeface="+mn-ea"/>
                <a:cs typeface="Times New Roman" panose="02020603050405020304" pitchFamily="18" charset="0"/>
              </a:rPr>
              <a:t>Step3</a:t>
            </a:r>
            <a:r>
              <a:rPr lang="zh-CN" altLang="en-US" sz="2800" kern="100" dirty="0">
                <a:latin typeface="+mn-ea"/>
                <a:cs typeface="Times New Roman" panose="02020603050405020304" pitchFamily="18" charset="0"/>
              </a:rPr>
              <a:t>：</a:t>
            </a:r>
            <a:endParaRPr lang="en-US" altLang="zh-CN" sz="2800" kern="100" dirty="0">
              <a:latin typeface="+mn-ea"/>
              <a:cs typeface="Times New Roman" panose="02020603050405020304" pitchFamily="18" charset="0"/>
            </a:endParaRPr>
          </a:p>
          <a:p>
            <a:pPr marL="914400" lvl="1" indent="-457200" algn="just">
              <a:lnSpc>
                <a:spcPct val="150000"/>
              </a:lnSpc>
              <a:buFont typeface="Calibri" panose="020F0502020204030204" pitchFamily="34" charset="0"/>
              <a:buChar char="−"/>
            </a:pPr>
            <a:r>
              <a:rPr lang="zh-CN" altLang="en-US" sz="2400" kern="100" dirty="0">
                <a:latin typeface="+mn-ea"/>
                <a:cs typeface="Times New Roman" panose="02020603050405020304" pitchFamily="18" charset="0"/>
              </a:rPr>
              <a:t>统计各评语出现的次数，结果放在字典里。</a:t>
            </a:r>
            <a:endParaRPr lang="en-US" altLang="zh-CN" sz="2800" kern="100" dirty="0">
              <a:latin typeface="+mn-ea"/>
              <a:cs typeface="Times New Roman" panose="02020603050405020304" pitchFamily="18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AF7E606-234A-4291-86DA-918FA00F926F}"/>
              </a:ext>
            </a:extLst>
          </p:cNvPr>
          <p:cNvSpPr/>
          <p:nvPr/>
        </p:nvSpPr>
        <p:spPr>
          <a:xfrm>
            <a:off x="4253026" y="2819813"/>
            <a:ext cx="6904072" cy="33590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rgbClr val="FF9900"/>
                </a:solidFill>
              </a:rPr>
              <a:t>def</a:t>
            </a:r>
            <a:r>
              <a:rPr lang="en-US" altLang="zh-CN" sz="2400" dirty="0"/>
              <a:t> </a:t>
            </a:r>
            <a:r>
              <a:rPr lang="en-US" altLang="zh-CN" sz="2400" dirty="0" err="1">
                <a:solidFill>
                  <a:srgbClr val="0000FF"/>
                </a:solidFill>
              </a:rPr>
              <a:t>countComments</a:t>
            </a:r>
            <a:r>
              <a:rPr lang="en-US" altLang="zh-CN" sz="2400" dirty="0"/>
              <a:t>(result):</a:t>
            </a:r>
          </a:p>
          <a:p>
            <a:pPr>
              <a:lnSpc>
                <a:spcPct val="150000"/>
              </a:lnSpc>
            </a:pPr>
            <a:r>
              <a:rPr lang="en-US" altLang="zh-CN" sz="2400" dirty="0"/>
              <a:t>    	</a:t>
            </a:r>
            <a:r>
              <a:rPr lang="en-US" altLang="zh-CN" sz="2400" dirty="0" err="1"/>
              <a:t>resList</a:t>
            </a:r>
            <a:r>
              <a:rPr lang="en-US" altLang="zh-CN" sz="2400" dirty="0"/>
              <a:t>=</a:t>
            </a:r>
            <a:r>
              <a:rPr lang="en-US" altLang="zh-CN" sz="2400" dirty="0" err="1"/>
              <a:t>result.split</a:t>
            </a:r>
            <a:r>
              <a:rPr lang="en-US" altLang="zh-CN" sz="2400" dirty="0"/>
              <a:t>(</a:t>
            </a:r>
            <a:r>
              <a:rPr lang="en-US" altLang="zh-CN" sz="2400" dirty="0">
                <a:solidFill>
                  <a:srgbClr val="00B050"/>
                </a:solidFill>
              </a:rPr>
              <a:t>','</a:t>
            </a:r>
            <a:r>
              <a:rPr lang="en-US" altLang="zh-CN" sz="2400" dirty="0"/>
              <a:t>)</a:t>
            </a:r>
          </a:p>
          <a:p>
            <a:pPr>
              <a:lnSpc>
                <a:spcPct val="150000"/>
              </a:lnSpc>
            </a:pPr>
            <a:r>
              <a:rPr lang="en-US" altLang="zh-CN" sz="2400" dirty="0"/>
              <a:t>    	</a:t>
            </a:r>
            <a:r>
              <a:rPr lang="en-US" altLang="zh-CN" sz="2400" dirty="0" err="1"/>
              <a:t>commentCnts</a:t>
            </a:r>
            <a:r>
              <a:rPr lang="en-US" altLang="zh-CN" sz="2400" dirty="0"/>
              <a:t>={}</a:t>
            </a:r>
          </a:p>
          <a:p>
            <a:pPr>
              <a:lnSpc>
                <a:spcPct val="150000"/>
              </a:lnSpc>
            </a:pPr>
            <a:r>
              <a:rPr lang="en-US" altLang="zh-CN" sz="2400" dirty="0"/>
              <a:t>    </a:t>
            </a:r>
            <a:r>
              <a:rPr lang="en-US" altLang="zh-CN" sz="2400" dirty="0">
                <a:solidFill>
                  <a:srgbClr val="FF9900"/>
                </a:solidFill>
              </a:rPr>
              <a:t>for</a:t>
            </a:r>
            <a:r>
              <a:rPr lang="en-US" altLang="zh-CN" sz="2400" dirty="0"/>
              <a:t> res </a:t>
            </a:r>
            <a:r>
              <a:rPr lang="en-US" altLang="zh-CN" sz="2400" dirty="0">
                <a:solidFill>
                  <a:srgbClr val="FF9900"/>
                </a:solidFill>
              </a:rPr>
              <a:t>in</a:t>
            </a:r>
            <a:r>
              <a:rPr lang="en-US" altLang="zh-CN" sz="2400" dirty="0"/>
              <a:t> </a:t>
            </a:r>
            <a:r>
              <a:rPr lang="en-US" altLang="zh-CN" sz="2400" dirty="0" err="1"/>
              <a:t>resList</a:t>
            </a:r>
            <a:r>
              <a:rPr lang="en-US" altLang="zh-CN" sz="2400" dirty="0"/>
              <a:t>:</a:t>
            </a:r>
          </a:p>
          <a:p>
            <a:pPr>
              <a:lnSpc>
                <a:spcPct val="150000"/>
              </a:lnSpc>
            </a:pPr>
            <a:r>
              <a:rPr lang="en-US" altLang="zh-CN" sz="2400" dirty="0"/>
              <a:t>    	</a:t>
            </a:r>
            <a:r>
              <a:rPr lang="en-US" altLang="zh-CN" sz="2400" dirty="0" err="1"/>
              <a:t>commentCnts</a:t>
            </a:r>
            <a:r>
              <a:rPr lang="en-US" altLang="zh-CN" sz="2400" dirty="0"/>
              <a:t>[res]=</a:t>
            </a:r>
            <a:r>
              <a:rPr lang="en-US" altLang="zh-CN" sz="2400" dirty="0" err="1"/>
              <a:t>commentCnts.get</a:t>
            </a:r>
            <a:r>
              <a:rPr lang="en-US" altLang="zh-CN" sz="2400" dirty="0"/>
              <a:t>(res,0)+1</a:t>
            </a:r>
          </a:p>
          <a:p>
            <a:pPr>
              <a:lnSpc>
                <a:spcPct val="150000"/>
              </a:lnSpc>
            </a:pPr>
            <a:r>
              <a:rPr lang="en-US" altLang="zh-CN" sz="2400" dirty="0"/>
              <a:t>    </a:t>
            </a:r>
            <a:r>
              <a:rPr lang="en-US" altLang="zh-CN" sz="2400" dirty="0">
                <a:solidFill>
                  <a:srgbClr val="FF9900"/>
                </a:solidFill>
              </a:rPr>
              <a:t>return</a:t>
            </a:r>
            <a:r>
              <a:rPr lang="en-US" altLang="zh-CN" sz="2400" dirty="0"/>
              <a:t> </a:t>
            </a:r>
            <a:r>
              <a:rPr lang="en-US" altLang="zh-CN" sz="2400" dirty="0" err="1"/>
              <a:t>commentCnts</a:t>
            </a:r>
            <a:endParaRPr lang="en-US" altLang="zh-CN" sz="2400" dirty="0"/>
          </a:p>
        </p:txBody>
      </p:sp>
    </p:spTree>
    <p:extLst>
      <p:ext uri="{BB962C8B-B14F-4D97-AF65-F5344CB8AC3E}">
        <p14:creationId xmlns:p14="http://schemas.microsoft.com/office/powerpoint/2010/main" val="4524280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组合 31">
            <a:extLst>
              <a:ext uri="{FF2B5EF4-FFF2-40B4-BE49-F238E27FC236}">
                <a16:creationId xmlns:a16="http://schemas.microsoft.com/office/drawing/2014/main" id="{032EF26F-0D58-4A0E-97C1-668713F80B14}"/>
              </a:ext>
            </a:extLst>
          </p:cNvPr>
          <p:cNvGrpSpPr/>
          <p:nvPr/>
        </p:nvGrpSpPr>
        <p:grpSpPr>
          <a:xfrm>
            <a:off x="170320" y="203448"/>
            <a:ext cx="6511833" cy="504056"/>
            <a:chOff x="169526" y="203448"/>
            <a:chExt cx="6511833" cy="504056"/>
          </a:xfrm>
        </p:grpSpPr>
        <p:sp>
          <p:nvSpPr>
            <p:cNvPr id="4" name="TextBox 3"/>
            <p:cNvSpPr txBox="1"/>
            <p:nvPr/>
          </p:nvSpPr>
          <p:spPr>
            <a:xfrm>
              <a:off x="781172" y="245839"/>
              <a:ext cx="590018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spc="300" dirty="0">
                  <a:solidFill>
                    <a:srgbClr val="1E6787"/>
                  </a:solidFill>
                  <a:latin typeface="微软雅黑" pitchFamily="34" charset="-122"/>
                  <a:ea typeface="微软雅黑" pitchFamily="34" charset="-122"/>
                </a:rPr>
                <a:t>文件操作</a:t>
              </a:r>
              <a:r>
                <a:rPr lang="en-US" altLang="zh-CN" sz="2400" b="1" spc="300" dirty="0">
                  <a:solidFill>
                    <a:srgbClr val="1E6787"/>
                  </a:solidFill>
                  <a:latin typeface="微软雅黑" pitchFamily="34" charset="-122"/>
                  <a:ea typeface="微软雅黑" pitchFamily="34" charset="-122"/>
                </a:rPr>
                <a:t>—</a:t>
              </a:r>
              <a:r>
                <a:rPr lang="zh-CN" altLang="en-US" sz="2400" b="1" spc="300" dirty="0">
                  <a:solidFill>
                    <a:srgbClr val="1E6787"/>
                  </a:solidFill>
                  <a:latin typeface="微软雅黑" pitchFamily="34" charset="-122"/>
                  <a:ea typeface="微软雅黑" pitchFamily="34" charset="-122"/>
                </a:rPr>
                <a:t>练习</a:t>
              </a:r>
              <a:endParaRPr lang="zh-CN" altLang="en-US" sz="2000" b="1" spc="300" dirty="0">
                <a:solidFill>
                  <a:srgbClr val="1E6787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grpSp>
          <p:nvGrpSpPr>
            <p:cNvPr id="56" name="组合 55">
              <a:extLst>
                <a:ext uri="{FF2B5EF4-FFF2-40B4-BE49-F238E27FC236}">
                  <a16:creationId xmlns:a16="http://schemas.microsoft.com/office/drawing/2014/main" id="{B3ECA4EB-10D1-4B65-B604-4032302CDAF4}"/>
                </a:ext>
              </a:extLst>
            </p:cNvPr>
            <p:cNvGrpSpPr/>
            <p:nvPr/>
          </p:nvGrpSpPr>
          <p:grpSpPr>
            <a:xfrm>
              <a:off x="169526" y="203448"/>
              <a:ext cx="504056" cy="504056"/>
              <a:chOff x="11207774" y="442662"/>
              <a:chExt cx="504056" cy="504056"/>
            </a:xfr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grpSpPr>
          <p:sp>
            <p:nvSpPr>
              <p:cNvPr id="57" name="椭圆 56">
                <a:extLst>
                  <a:ext uri="{FF2B5EF4-FFF2-40B4-BE49-F238E27FC236}">
                    <a16:creationId xmlns:a16="http://schemas.microsoft.com/office/drawing/2014/main" id="{FF372EA1-AB4F-47B1-B450-59AB8827ECD5}"/>
                  </a:ext>
                </a:extLst>
              </p:cNvPr>
              <p:cNvSpPr/>
              <p:nvPr/>
            </p:nvSpPr>
            <p:spPr>
              <a:xfrm>
                <a:off x="11351790" y="601230"/>
                <a:ext cx="216024" cy="216024"/>
              </a:xfrm>
              <a:prstGeom prst="ellipse">
                <a:avLst/>
              </a:prstGeom>
              <a:solidFill>
                <a:srgbClr val="B3DF63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prstClr val="white"/>
                  </a:solidFill>
                  <a:latin typeface="Calibri"/>
                  <a:ea typeface="微软雅黑"/>
                </a:endParaRPr>
              </a:p>
            </p:txBody>
          </p:sp>
          <p:sp>
            <p:nvSpPr>
              <p:cNvPr id="58" name="椭圆 57">
                <a:extLst>
                  <a:ext uri="{FF2B5EF4-FFF2-40B4-BE49-F238E27FC236}">
                    <a16:creationId xmlns:a16="http://schemas.microsoft.com/office/drawing/2014/main" id="{0BEE7D95-9E9C-4C6D-91AA-6429F74B9F98}"/>
                  </a:ext>
                </a:extLst>
              </p:cNvPr>
              <p:cNvSpPr/>
              <p:nvPr/>
            </p:nvSpPr>
            <p:spPr>
              <a:xfrm>
                <a:off x="11207774" y="442662"/>
                <a:ext cx="504056" cy="504056"/>
              </a:xfrm>
              <a:prstGeom prst="ellipse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Calibri"/>
                  <a:ea typeface="微软雅黑"/>
                </a:endParaRPr>
              </a:p>
            </p:txBody>
          </p:sp>
        </p:grpSp>
        <p:cxnSp>
          <p:nvCxnSpPr>
            <p:cNvPr id="20" name="直接连接符 19">
              <a:extLst>
                <a:ext uri="{FF2B5EF4-FFF2-40B4-BE49-F238E27FC236}">
                  <a16:creationId xmlns:a16="http://schemas.microsoft.com/office/drawing/2014/main" id="{C4FBB3C1-88AA-4E76-B54C-31018E3BFAA0}"/>
                </a:ext>
              </a:extLst>
            </p:cNvPr>
            <p:cNvCxnSpPr>
              <a:cxnSpLocks/>
            </p:cNvCxnSpPr>
            <p:nvPr/>
          </p:nvCxnSpPr>
          <p:spPr>
            <a:xfrm>
              <a:off x="775303" y="707504"/>
              <a:ext cx="1833288" cy="0"/>
            </a:xfrm>
            <a:prstGeom prst="line">
              <a:avLst/>
            </a:prstGeom>
            <a:ln>
              <a:solidFill>
                <a:srgbClr val="B3DF6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矩形 10">
            <a:extLst>
              <a:ext uri="{FF2B5EF4-FFF2-40B4-BE49-F238E27FC236}">
                <a16:creationId xmlns:a16="http://schemas.microsoft.com/office/drawing/2014/main" id="{17FCDA09-BD82-46CD-BA5D-4070314DE8C1}"/>
              </a:ext>
            </a:extLst>
          </p:cNvPr>
          <p:cNvSpPr/>
          <p:nvPr/>
        </p:nvSpPr>
        <p:spPr>
          <a:xfrm>
            <a:off x="56906" y="1438841"/>
            <a:ext cx="3714108" cy="28893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lvl="0" indent="-457200" algn="just">
              <a:lnSpc>
                <a:spcPct val="150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CN" sz="2800" kern="100" dirty="0">
                <a:latin typeface="+mn-ea"/>
                <a:cs typeface="Times New Roman" panose="02020603050405020304" pitchFamily="18" charset="0"/>
              </a:rPr>
              <a:t>Step4</a:t>
            </a:r>
            <a:r>
              <a:rPr lang="zh-CN" altLang="en-US" sz="2800" kern="100" dirty="0">
                <a:latin typeface="+mn-ea"/>
                <a:cs typeface="Times New Roman" panose="02020603050405020304" pitchFamily="18" charset="0"/>
              </a:rPr>
              <a:t>：</a:t>
            </a:r>
            <a:endParaRPr lang="en-US" altLang="zh-CN" sz="2800" kern="100" dirty="0">
              <a:latin typeface="+mn-ea"/>
              <a:cs typeface="Times New Roman" panose="02020603050405020304" pitchFamily="18" charset="0"/>
            </a:endParaRPr>
          </a:p>
          <a:p>
            <a:pPr marL="914400" lvl="1" indent="-457200" algn="just">
              <a:lnSpc>
                <a:spcPct val="150000"/>
              </a:lnSpc>
              <a:buFont typeface="Calibri" panose="020F0502020204030204" pitchFamily="34" charset="0"/>
              <a:buChar char="−"/>
            </a:pPr>
            <a:r>
              <a:rPr lang="zh-CN" altLang="en-US" sz="2400" kern="100" dirty="0">
                <a:latin typeface="+mn-ea"/>
                <a:cs typeface="Times New Roman" panose="02020603050405020304" pitchFamily="18" charset="0"/>
              </a:rPr>
              <a:t>调用读文件函数和统计函数，并将结果追加至</a:t>
            </a:r>
            <a:r>
              <a:rPr lang="en-US" altLang="zh-CN" sz="2400" kern="100" dirty="0">
                <a:latin typeface="+mn-ea"/>
                <a:cs typeface="Times New Roman" panose="02020603050405020304" pitchFamily="18" charset="0"/>
              </a:rPr>
              <a:t>result</a:t>
            </a:r>
            <a:r>
              <a:rPr lang="zh-CN" altLang="en-US" sz="2400" kern="100" dirty="0">
                <a:latin typeface="+mn-ea"/>
                <a:cs typeface="Times New Roman" panose="02020603050405020304" pitchFamily="18" charset="0"/>
              </a:rPr>
              <a:t>文件中，如图。</a:t>
            </a:r>
            <a:endParaRPr lang="en-US" altLang="zh-CN" sz="2400" kern="100" dirty="0">
              <a:latin typeface="+mn-ea"/>
              <a:cs typeface="Times New Roman" panose="02020603050405020304" pitchFamily="18" charset="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6FFD117-DD7B-48EA-A5FA-BE57C065FDF0}"/>
              </a:ext>
            </a:extLst>
          </p:cNvPr>
          <p:cNvSpPr/>
          <p:nvPr/>
        </p:nvSpPr>
        <p:spPr>
          <a:xfrm>
            <a:off x="4581474" y="565890"/>
            <a:ext cx="7029280" cy="60462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dirty="0"/>
              <a:t>file = </a:t>
            </a:r>
            <a:r>
              <a:rPr lang="en-US" altLang="zh-CN" sz="2000" dirty="0">
                <a:solidFill>
                  <a:srgbClr val="7030A0"/>
                </a:solidFill>
              </a:rPr>
              <a:t>open</a:t>
            </a:r>
            <a:r>
              <a:rPr lang="en-US" altLang="zh-CN" sz="2000" dirty="0"/>
              <a:t>(</a:t>
            </a:r>
            <a:r>
              <a:rPr lang="en-US" altLang="zh-CN" sz="2000" dirty="0">
                <a:solidFill>
                  <a:srgbClr val="00B050"/>
                </a:solidFill>
              </a:rPr>
              <a:t>"d:\\result.txt"</a:t>
            </a:r>
            <a:r>
              <a:rPr lang="en-US" altLang="zh-CN" sz="2000" dirty="0"/>
              <a:t>,</a:t>
            </a:r>
            <a:r>
              <a:rPr lang="en-US" altLang="zh-CN" sz="2000" dirty="0">
                <a:solidFill>
                  <a:srgbClr val="00B050"/>
                </a:solidFill>
              </a:rPr>
              <a:t>'a'</a:t>
            </a:r>
            <a:r>
              <a:rPr lang="en-US" altLang="zh-CN" sz="2000" dirty="0"/>
              <a:t>)</a:t>
            </a:r>
          </a:p>
          <a:p>
            <a:pPr>
              <a:lnSpc>
                <a:spcPct val="150000"/>
              </a:lnSpc>
            </a:pPr>
            <a:r>
              <a:rPr lang="en-US" altLang="zh-CN" sz="2000" dirty="0"/>
              <a:t>most=</a:t>
            </a:r>
            <a:r>
              <a:rPr lang="en-US" altLang="zh-CN" sz="2000" dirty="0">
                <a:solidFill>
                  <a:srgbClr val="7030A0"/>
                </a:solidFill>
              </a:rPr>
              <a:t>max</a:t>
            </a:r>
            <a:r>
              <a:rPr lang="en-US" altLang="zh-CN" sz="2000" dirty="0"/>
              <a:t>(</a:t>
            </a:r>
            <a:r>
              <a:rPr lang="en-US" altLang="zh-CN" sz="2000" dirty="0" err="1"/>
              <a:t>dicCnts.values</a:t>
            </a:r>
            <a:r>
              <a:rPr lang="en-US" altLang="zh-CN" sz="2000" dirty="0"/>
              <a:t>())</a:t>
            </a:r>
          </a:p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FF9900"/>
                </a:solidFill>
              </a:rPr>
              <a:t>for</a:t>
            </a:r>
            <a:r>
              <a:rPr lang="en-US" altLang="zh-CN" sz="2000" dirty="0"/>
              <a:t> </a:t>
            </a:r>
            <a:r>
              <a:rPr lang="en-US" altLang="zh-CN" sz="2000" dirty="0" err="1"/>
              <a:t>k,v</a:t>
            </a:r>
            <a:r>
              <a:rPr lang="en-US" altLang="zh-CN" sz="2000" dirty="0"/>
              <a:t> </a:t>
            </a:r>
            <a:r>
              <a:rPr lang="en-US" altLang="zh-CN" sz="2000" dirty="0">
                <a:solidFill>
                  <a:srgbClr val="FF9900"/>
                </a:solidFill>
              </a:rPr>
              <a:t>in</a:t>
            </a:r>
            <a:r>
              <a:rPr lang="en-US" altLang="zh-CN" sz="2000" dirty="0"/>
              <a:t> </a:t>
            </a:r>
            <a:r>
              <a:rPr lang="en-US" altLang="zh-CN" sz="2000" dirty="0" err="1"/>
              <a:t>dicCnts.items</a:t>
            </a:r>
            <a:r>
              <a:rPr lang="en-US" altLang="zh-CN" sz="2000" dirty="0"/>
              <a:t>():</a:t>
            </a:r>
          </a:p>
          <a:p>
            <a:pPr>
              <a:lnSpc>
                <a:spcPct val="150000"/>
              </a:lnSpc>
            </a:pPr>
            <a:r>
              <a:rPr lang="en-US" altLang="zh-CN" sz="2000" dirty="0"/>
              <a:t>    </a:t>
            </a:r>
            <a:r>
              <a:rPr lang="en-US" altLang="zh-CN" sz="2000" dirty="0">
                <a:solidFill>
                  <a:srgbClr val="FF9900"/>
                </a:solidFill>
              </a:rPr>
              <a:t>if</a:t>
            </a:r>
            <a:r>
              <a:rPr lang="en-US" altLang="zh-CN" sz="2000" dirty="0"/>
              <a:t> v == most:</a:t>
            </a:r>
          </a:p>
          <a:p>
            <a:pPr>
              <a:lnSpc>
                <a:spcPct val="150000"/>
              </a:lnSpc>
            </a:pPr>
            <a:r>
              <a:rPr lang="en-US" altLang="zh-CN" sz="2000" dirty="0"/>
              <a:t>        </a:t>
            </a:r>
            <a:r>
              <a:rPr lang="en-US" altLang="zh-CN" sz="2000" dirty="0" err="1"/>
              <a:t>mostComment</a:t>
            </a:r>
            <a:r>
              <a:rPr lang="en-US" altLang="zh-CN" sz="2000" dirty="0"/>
              <a:t> = k</a:t>
            </a:r>
          </a:p>
          <a:p>
            <a:pPr>
              <a:lnSpc>
                <a:spcPct val="150000"/>
              </a:lnSpc>
            </a:pPr>
            <a:r>
              <a:rPr lang="en-US" altLang="zh-CN" sz="2000" dirty="0"/>
              <a:t>        </a:t>
            </a:r>
            <a:r>
              <a:rPr lang="en-US" altLang="zh-CN" sz="2000" dirty="0">
                <a:solidFill>
                  <a:srgbClr val="FF9900"/>
                </a:solidFill>
              </a:rPr>
              <a:t>break</a:t>
            </a:r>
          </a:p>
          <a:p>
            <a:pPr>
              <a:lnSpc>
                <a:spcPct val="150000"/>
              </a:lnSpc>
            </a:pPr>
            <a:r>
              <a:rPr lang="en-US" altLang="zh-CN" sz="2000" dirty="0" err="1"/>
              <a:t>file.write</a:t>
            </a:r>
            <a:r>
              <a:rPr lang="en-US" altLang="zh-CN" sz="2000" dirty="0"/>
              <a:t>(</a:t>
            </a:r>
            <a:r>
              <a:rPr lang="en-US" altLang="zh-CN" sz="2000" dirty="0">
                <a:solidFill>
                  <a:srgbClr val="00B050"/>
                </a:solidFill>
              </a:rPr>
              <a:t>"</a:t>
            </a:r>
            <a:r>
              <a:rPr lang="zh-CN" altLang="en-US" sz="2000" dirty="0">
                <a:solidFill>
                  <a:srgbClr val="00B050"/>
                </a:solidFill>
              </a:rPr>
              <a:t>根据统计</a:t>
            </a:r>
            <a:r>
              <a:rPr lang="en-US" altLang="zh-CN" sz="2000" dirty="0">
                <a:solidFill>
                  <a:srgbClr val="00B050"/>
                </a:solidFill>
              </a:rPr>
              <a:t>,</a:t>
            </a:r>
            <a:r>
              <a:rPr lang="zh-CN" altLang="en-US" sz="2000" dirty="0">
                <a:solidFill>
                  <a:srgbClr val="00B050"/>
                </a:solidFill>
              </a:rPr>
              <a:t>对今天伙食感觉</a:t>
            </a:r>
            <a:r>
              <a:rPr lang="en-US" altLang="zh-CN" sz="2000" dirty="0">
                <a:solidFill>
                  <a:srgbClr val="00B050"/>
                </a:solidFill>
              </a:rPr>
              <a:t>:\n"</a:t>
            </a:r>
            <a:r>
              <a:rPr lang="en-US" altLang="zh-CN" sz="2000" dirty="0"/>
              <a:t>)</a:t>
            </a:r>
          </a:p>
          <a:p>
            <a:pPr>
              <a:lnSpc>
                <a:spcPct val="150000"/>
              </a:lnSpc>
            </a:pPr>
            <a:r>
              <a:rPr lang="en-US" altLang="zh-CN" sz="2000" dirty="0" err="1"/>
              <a:t>file.write</a:t>
            </a:r>
            <a:r>
              <a:rPr lang="en-US" altLang="zh-CN" sz="2000" dirty="0"/>
              <a:t>(</a:t>
            </a:r>
            <a:r>
              <a:rPr lang="en-US" altLang="zh-CN" sz="2000" dirty="0">
                <a:solidFill>
                  <a:srgbClr val="00B050"/>
                </a:solidFill>
              </a:rPr>
              <a:t>"'</a:t>
            </a:r>
            <a:r>
              <a:rPr lang="zh-CN" altLang="en-US" sz="2000" dirty="0">
                <a:solidFill>
                  <a:srgbClr val="00B050"/>
                </a:solidFill>
              </a:rPr>
              <a:t>很满意</a:t>
            </a:r>
            <a:r>
              <a:rPr lang="en-US" altLang="zh-CN" sz="2000" dirty="0">
                <a:solidFill>
                  <a:srgbClr val="00B050"/>
                </a:solidFill>
              </a:rPr>
              <a:t>'</a:t>
            </a:r>
            <a:r>
              <a:rPr lang="zh-CN" altLang="en-US" sz="2000" dirty="0">
                <a:solidFill>
                  <a:srgbClr val="00B050"/>
                </a:solidFill>
              </a:rPr>
              <a:t>的学生</a:t>
            </a:r>
            <a:r>
              <a:rPr lang="en-US" altLang="zh-CN" sz="2000" dirty="0">
                <a:solidFill>
                  <a:srgbClr val="00B050"/>
                </a:solidFill>
              </a:rPr>
              <a:t>{}</a:t>
            </a:r>
            <a:r>
              <a:rPr lang="zh-CN" altLang="en-US" sz="2000" dirty="0">
                <a:solidFill>
                  <a:srgbClr val="00B050"/>
                </a:solidFill>
              </a:rPr>
              <a:t>人</a:t>
            </a:r>
            <a:r>
              <a:rPr lang="en-US" altLang="zh-CN" sz="2000" dirty="0">
                <a:solidFill>
                  <a:srgbClr val="00B050"/>
                </a:solidFill>
              </a:rPr>
              <a:t>;\</a:t>
            </a:r>
            <a:r>
              <a:rPr lang="en-US" altLang="zh-CN" sz="2000" dirty="0" err="1">
                <a:solidFill>
                  <a:srgbClr val="00B050"/>
                </a:solidFill>
              </a:rPr>
              <a:t>n"</a:t>
            </a:r>
            <a:r>
              <a:rPr lang="en-US" altLang="zh-CN" sz="2000" dirty="0" err="1"/>
              <a:t>.format</a:t>
            </a:r>
            <a:r>
              <a:rPr lang="en-US" altLang="zh-CN" sz="2000" dirty="0"/>
              <a:t>(</a:t>
            </a:r>
            <a:r>
              <a:rPr lang="en-US" altLang="zh-CN" sz="2000" dirty="0" err="1"/>
              <a:t>dicCnts</a:t>
            </a:r>
            <a:r>
              <a:rPr lang="en-US" altLang="zh-CN" sz="2000" dirty="0"/>
              <a:t>[</a:t>
            </a:r>
            <a:r>
              <a:rPr lang="en-US" altLang="zh-CN" sz="2000" dirty="0">
                <a:solidFill>
                  <a:srgbClr val="00B050"/>
                </a:solidFill>
              </a:rPr>
              <a:t>"</a:t>
            </a:r>
            <a:r>
              <a:rPr lang="zh-CN" altLang="en-US" sz="2000" dirty="0">
                <a:solidFill>
                  <a:srgbClr val="00B050"/>
                </a:solidFill>
              </a:rPr>
              <a:t>很满意</a:t>
            </a:r>
            <a:r>
              <a:rPr lang="en-US" altLang="zh-CN" sz="2000" dirty="0">
                <a:solidFill>
                  <a:srgbClr val="00B050"/>
                </a:solidFill>
              </a:rPr>
              <a:t>"</a:t>
            </a:r>
            <a:r>
              <a:rPr lang="en-US" altLang="zh-CN" sz="2000" dirty="0"/>
              <a:t>]))</a:t>
            </a:r>
          </a:p>
          <a:p>
            <a:pPr>
              <a:lnSpc>
                <a:spcPct val="150000"/>
              </a:lnSpc>
            </a:pPr>
            <a:r>
              <a:rPr lang="en-US" altLang="zh-CN" sz="2000" dirty="0" err="1"/>
              <a:t>file.write</a:t>
            </a:r>
            <a:r>
              <a:rPr lang="en-US" altLang="zh-CN" sz="2000" dirty="0"/>
              <a:t>(</a:t>
            </a:r>
            <a:r>
              <a:rPr lang="en-US" altLang="zh-CN" sz="2000" dirty="0">
                <a:solidFill>
                  <a:srgbClr val="00B050"/>
                </a:solidFill>
              </a:rPr>
              <a:t>"'</a:t>
            </a:r>
            <a:r>
              <a:rPr lang="zh-CN" altLang="en-US" sz="2000" dirty="0">
                <a:solidFill>
                  <a:srgbClr val="00B050"/>
                </a:solidFill>
              </a:rPr>
              <a:t>满意</a:t>
            </a:r>
            <a:r>
              <a:rPr lang="en-US" altLang="zh-CN" sz="2000" dirty="0">
                <a:solidFill>
                  <a:srgbClr val="00B050"/>
                </a:solidFill>
              </a:rPr>
              <a:t>'</a:t>
            </a:r>
            <a:r>
              <a:rPr lang="zh-CN" altLang="en-US" sz="2000" dirty="0">
                <a:solidFill>
                  <a:srgbClr val="00B050"/>
                </a:solidFill>
              </a:rPr>
              <a:t>的学生</a:t>
            </a:r>
            <a:r>
              <a:rPr lang="en-US" altLang="zh-CN" sz="2000" dirty="0">
                <a:solidFill>
                  <a:srgbClr val="00B050"/>
                </a:solidFill>
              </a:rPr>
              <a:t>{}</a:t>
            </a:r>
            <a:r>
              <a:rPr lang="zh-CN" altLang="en-US" sz="2000" dirty="0">
                <a:solidFill>
                  <a:srgbClr val="00B050"/>
                </a:solidFill>
              </a:rPr>
              <a:t>人</a:t>
            </a:r>
            <a:r>
              <a:rPr lang="en-US" altLang="zh-CN" sz="2000" dirty="0">
                <a:solidFill>
                  <a:srgbClr val="00B050"/>
                </a:solidFill>
              </a:rPr>
              <a:t>;\</a:t>
            </a:r>
            <a:r>
              <a:rPr lang="en-US" altLang="zh-CN" sz="2000" dirty="0" err="1">
                <a:solidFill>
                  <a:srgbClr val="00B050"/>
                </a:solidFill>
              </a:rPr>
              <a:t>n"</a:t>
            </a:r>
            <a:r>
              <a:rPr lang="en-US" altLang="zh-CN" sz="2000" dirty="0" err="1"/>
              <a:t>.format</a:t>
            </a:r>
            <a:r>
              <a:rPr lang="en-US" altLang="zh-CN" sz="2000" dirty="0"/>
              <a:t>(</a:t>
            </a:r>
            <a:r>
              <a:rPr lang="en-US" altLang="zh-CN" sz="2000" dirty="0" err="1"/>
              <a:t>dicCnts</a:t>
            </a:r>
            <a:r>
              <a:rPr lang="en-US" altLang="zh-CN" sz="2000" dirty="0"/>
              <a:t>[</a:t>
            </a:r>
            <a:r>
              <a:rPr lang="en-US" altLang="zh-CN" sz="2000" dirty="0">
                <a:solidFill>
                  <a:srgbClr val="00B050"/>
                </a:solidFill>
              </a:rPr>
              <a:t>"</a:t>
            </a:r>
            <a:r>
              <a:rPr lang="zh-CN" altLang="en-US" sz="2000" dirty="0">
                <a:solidFill>
                  <a:srgbClr val="00B050"/>
                </a:solidFill>
              </a:rPr>
              <a:t>满意</a:t>
            </a:r>
            <a:r>
              <a:rPr lang="en-US" altLang="zh-CN" sz="2000" dirty="0">
                <a:solidFill>
                  <a:srgbClr val="00B050"/>
                </a:solidFill>
              </a:rPr>
              <a:t>"</a:t>
            </a:r>
            <a:r>
              <a:rPr lang="en-US" altLang="zh-CN" sz="2000" dirty="0"/>
              <a:t>]))</a:t>
            </a:r>
          </a:p>
          <a:p>
            <a:pPr>
              <a:lnSpc>
                <a:spcPct val="150000"/>
              </a:lnSpc>
            </a:pPr>
            <a:r>
              <a:rPr lang="en-US" altLang="zh-CN" sz="2000" dirty="0" err="1"/>
              <a:t>file.write</a:t>
            </a:r>
            <a:r>
              <a:rPr lang="en-US" altLang="zh-CN" sz="2000" dirty="0"/>
              <a:t>(</a:t>
            </a:r>
            <a:r>
              <a:rPr lang="en-US" altLang="zh-CN" sz="2000" dirty="0">
                <a:solidFill>
                  <a:srgbClr val="00B050"/>
                </a:solidFill>
              </a:rPr>
              <a:t>"'</a:t>
            </a:r>
            <a:r>
              <a:rPr lang="zh-CN" altLang="en-US" sz="2000" dirty="0">
                <a:solidFill>
                  <a:srgbClr val="00B050"/>
                </a:solidFill>
              </a:rPr>
              <a:t>一般</a:t>
            </a:r>
            <a:r>
              <a:rPr lang="en-US" altLang="zh-CN" sz="2000" dirty="0">
                <a:solidFill>
                  <a:srgbClr val="00B050"/>
                </a:solidFill>
              </a:rPr>
              <a:t>'</a:t>
            </a:r>
            <a:r>
              <a:rPr lang="zh-CN" altLang="en-US" sz="2000" dirty="0">
                <a:solidFill>
                  <a:srgbClr val="00B050"/>
                </a:solidFill>
              </a:rPr>
              <a:t>的学生</a:t>
            </a:r>
            <a:r>
              <a:rPr lang="en-US" altLang="zh-CN" sz="2000" dirty="0">
                <a:solidFill>
                  <a:srgbClr val="00B050"/>
                </a:solidFill>
              </a:rPr>
              <a:t>{}</a:t>
            </a:r>
            <a:r>
              <a:rPr lang="zh-CN" altLang="en-US" sz="2000" dirty="0">
                <a:solidFill>
                  <a:srgbClr val="00B050"/>
                </a:solidFill>
              </a:rPr>
              <a:t>人</a:t>
            </a:r>
            <a:r>
              <a:rPr lang="en-US" altLang="zh-CN" sz="2000" dirty="0">
                <a:solidFill>
                  <a:srgbClr val="00B050"/>
                </a:solidFill>
              </a:rPr>
              <a:t>;\</a:t>
            </a:r>
            <a:r>
              <a:rPr lang="en-US" altLang="zh-CN" sz="2000" dirty="0" err="1">
                <a:solidFill>
                  <a:srgbClr val="00B050"/>
                </a:solidFill>
              </a:rPr>
              <a:t>n"</a:t>
            </a:r>
            <a:r>
              <a:rPr lang="en-US" altLang="zh-CN" sz="2000" dirty="0" err="1"/>
              <a:t>.format</a:t>
            </a:r>
            <a:r>
              <a:rPr lang="en-US" altLang="zh-CN" sz="2000" dirty="0"/>
              <a:t>(</a:t>
            </a:r>
            <a:r>
              <a:rPr lang="en-US" altLang="zh-CN" sz="2000" dirty="0" err="1"/>
              <a:t>dicCnts</a:t>
            </a:r>
            <a:r>
              <a:rPr lang="en-US" altLang="zh-CN" sz="2000" dirty="0"/>
              <a:t>[</a:t>
            </a:r>
            <a:r>
              <a:rPr lang="en-US" altLang="zh-CN" sz="2000" dirty="0">
                <a:solidFill>
                  <a:srgbClr val="00B050"/>
                </a:solidFill>
              </a:rPr>
              <a:t>"</a:t>
            </a:r>
            <a:r>
              <a:rPr lang="zh-CN" altLang="en-US" sz="2000" dirty="0">
                <a:solidFill>
                  <a:srgbClr val="00B050"/>
                </a:solidFill>
              </a:rPr>
              <a:t>一般</a:t>
            </a:r>
            <a:r>
              <a:rPr lang="en-US" altLang="zh-CN" sz="2000" dirty="0">
                <a:solidFill>
                  <a:srgbClr val="00B050"/>
                </a:solidFill>
              </a:rPr>
              <a:t>"</a:t>
            </a:r>
            <a:r>
              <a:rPr lang="en-US" altLang="zh-CN" sz="2000" dirty="0"/>
              <a:t>]))</a:t>
            </a:r>
          </a:p>
          <a:p>
            <a:pPr>
              <a:lnSpc>
                <a:spcPct val="150000"/>
              </a:lnSpc>
            </a:pPr>
            <a:r>
              <a:rPr lang="en-US" altLang="zh-CN" sz="2000" dirty="0" err="1"/>
              <a:t>file.write</a:t>
            </a:r>
            <a:r>
              <a:rPr lang="en-US" altLang="zh-CN" sz="2000" dirty="0"/>
              <a:t>(</a:t>
            </a:r>
            <a:r>
              <a:rPr lang="en-US" altLang="zh-CN" sz="2000" dirty="0">
                <a:solidFill>
                  <a:srgbClr val="00B050"/>
                </a:solidFill>
              </a:rPr>
              <a:t>"'</a:t>
            </a:r>
            <a:r>
              <a:rPr lang="zh-CN" altLang="en-US" sz="2000" dirty="0">
                <a:solidFill>
                  <a:srgbClr val="00B050"/>
                </a:solidFill>
              </a:rPr>
              <a:t>不满意</a:t>
            </a:r>
            <a:r>
              <a:rPr lang="en-US" altLang="zh-CN" sz="2000" dirty="0">
                <a:solidFill>
                  <a:srgbClr val="00B050"/>
                </a:solidFill>
              </a:rPr>
              <a:t>'</a:t>
            </a:r>
            <a:r>
              <a:rPr lang="zh-CN" altLang="en-US" sz="2000" dirty="0">
                <a:solidFill>
                  <a:srgbClr val="00B050"/>
                </a:solidFill>
              </a:rPr>
              <a:t>的学生</a:t>
            </a:r>
            <a:r>
              <a:rPr lang="en-US" altLang="zh-CN" sz="2000" dirty="0">
                <a:solidFill>
                  <a:srgbClr val="00B050"/>
                </a:solidFill>
              </a:rPr>
              <a:t>{}</a:t>
            </a:r>
            <a:r>
              <a:rPr lang="zh-CN" altLang="en-US" sz="2000" dirty="0">
                <a:solidFill>
                  <a:srgbClr val="00B050"/>
                </a:solidFill>
              </a:rPr>
              <a:t>人。</a:t>
            </a:r>
            <a:r>
              <a:rPr lang="en-US" altLang="zh-CN" sz="2000" dirty="0">
                <a:solidFill>
                  <a:srgbClr val="00B050"/>
                </a:solidFill>
              </a:rPr>
              <a:t>\</a:t>
            </a:r>
            <a:r>
              <a:rPr lang="en-US" altLang="zh-CN" sz="2000" dirty="0" err="1">
                <a:solidFill>
                  <a:srgbClr val="00B050"/>
                </a:solidFill>
              </a:rPr>
              <a:t>n"</a:t>
            </a:r>
            <a:r>
              <a:rPr lang="en-US" altLang="zh-CN" sz="2000" dirty="0" err="1"/>
              <a:t>.format</a:t>
            </a:r>
            <a:r>
              <a:rPr lang="en-US" altLang="zh-CN" sz="2000" dirty="0"/>
              <a:t>(</a:t>
            </a:r>
            <a:r>
              <a:rPr lang="en-US" altLang="zh-CN" sz="2000" dirty="0" err="1"/>
              <a:t>dicCnts</a:t>
            </a:r>
            <a:r>
              <a:rPr lang="en-US" altLang="zh-CN" sz="2000" dirty="0"/>
              <a:t>[</a:t>
            </a:r>
            <a:r>
              <a:rPr lang="en-US" altLang="zh-CN" sz="2000" dirty="0">
                <a:solidFill>
                  <a:srgbClr val="00B050"/>
                </a:solidFill>
              </a:rPr>
              <a:t>"</a:t>
            </a:r>
            <a:r>
              <a:rPr lang="zh-CN" altLang="en-US" sz="2000" dirty="0">
                <a:solidFill>
                  <a:srgbClr val="00B050"/>
                </a:solidFill>
              </a:rPr>
              <a:t>不满意</a:t>
            </a:r>
            <a:r>
              <a:rPr lang="en-US" altLang="zh-CN" sz="2000" dirty="0">
                <a:solidFill>
                  <a:srgbClr val="00B050"/>
                </a:solidFill>
              </a:rPr>
              <a:t>"</a:t>
            </a:r>
            <a:r>
              <a:rPr lang="en-US" altLang="zh-CN" sz="2000" dirty="0"/>
              <a:t>]))</a:t>
            </a:r>
          </a:p>
          <a:p>
            <a:pPr>
              <a:lnSpc>
                <a:spcPct val="150000"/>
              </a:lnSpc>
            </a:pPr>
            <a:r>
              <a:rPr lang="en-US" altLang="zh-CN" sz="2000" dirty="0" err="1"/>
              <a:t>file.write</a:t>
            </a:r>
            <a:r>
              <a:rPr lang="en-US" altLang="zh-CN" sz="2000" dirty="0"/>
              <a:t>(</a:t>
            </a:r>
            <a:r>
              <a:rPr lang="en-US" altLang="zh-CN" sz="2000" dirty="0">
                <a:solidFill>
                  <a:srgbClr val="00B050"/>
                </a:solidFill>
              </a:rPr>
              <a:t>"</a:t>
            </a:r>
            <a:r>
              <a:rPr lang="zh-CN" altLang="en-US" sz="2000" dirty="0">
                <a:solidFill>
                  <a:srgbClr val="00B050"/>
                </a:solidFill>
              </a:rPr>
              <a:t>出现次数最多的评语是</a:t>
            </a:r>
            <a:r>
              <a:rPr lang="en-US" altLang="zh-CN" sz="2000" dirty="0">
                <a:solidFill>
                  <a:srgbClr val="00B050"/>
                </a:solidFill>
              </a:rPr>
              <a:t>{}\</a:t>
            </a:r>
            <a:r>
              <a:rPr lang="en-US" altLang="zh-CN" sz="2000" dirty="0" err="1">
                <a:solidFill>
                  <a:srgbClr val="00B050"/>
                </a:solidFill>
              </a:rPr>
              <a:t>n"</a:t>
            </a:r>
            <a:r>
              <a:rPr lang="en-US" altLang="zh-CN" sz="2000" dirty="0" err="1"/>
              <a:t>.format</a:t>
            </a:r>
            <a:r>
              <a:rPr lang="en-US" altLang="zh-CN" sz="2000" dirty="0"/>
              <a:t>(</a:t>
            </a:r>
            <a:r>
              <a:rPr lang="en-US" altLang="zh-CN" sz="2000" dirty="0" err="1"/>
              <a:t>mostComment</a:t>
            </a:r>
            <a:r>
              <a:rPr lang="en-US" altLang="zh-CN" sz="2000" dirty="0"/>
              <a:t>))</a:t>
            </a:r>
          </a:p>
          <a:p>
            <a:pPr>
              <a:lnSpc>
                <a:spcPct val="150000"/>
              </a:lnSpc>
            </a:pPr>
            <a:r>
              <a:rPr lang="en-US" altLang="zh-CN" sz="2000" dirty="0" err="1"/>
              <a:t>file.close</a:t>
            </a:r>
            <a:r>
              <a:rPr lang="en-US" altLang="zh-CN" sz="2000" dirty="0"/>
              <a:t>()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3D8785B-C668-4874-BCE2-FDE5C2F962B1}"/>
              </a:ext>
            </a:extLst>
          </p:cNvPr>
          <p:cNvSpPr/>
          <p:nvPr/>
        </p:nvSpPr>
        <p:spPr>
          <a:xfrm>
            <a:off x="530360" y="4753820"/>
            <a:ext cx="4125234" cy="9679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dirty="0"/>
              <a:t>result = </a:t>
            </a:r>
            <a:r>
              <a:rPr lang="en-US" altLang="zh-CN" sz="2000" dirty="0" err="1"/>
              <a:t>readFile</a:t>
            </a:r>
            <a:r>
              <a:rPr lang="en-US" altLang="zh-CN" sz="2000" dirty="0"/>
              <a:t>(</a:t>
            </a:r>
            <a:r>
              <a:rPr lang="en-US" altLang="zh-CN" sz="2000" dirty="0">
                <a:solidFill>
                  <a:srgbClr val="00B050"/>
                </a:solidFill>
              </a:rPr>
              <a:t>"d:\\result.txt"</a:t>
            </a:r>
            <a:r>
              <a:rPr lang="en-US" altLang="zh-CN" sz="2000" dirty="0"/>
              <a:t>)</a:t>
            </a:r>
          </a:p>
          <a:p>
            <a:pPr>
              <a:lnSpc>
                <a:spcPct val="150000"/>
              </a:lnSpc>
            </a:pPr>
            <a:r>
              <a:rPr lang="en-US" altLang="zh-CN" sz="2000" dirty="0" err="1"/>
              <a:t>dicCnts</a:t>
            </a:r>
            <a:r>
              <a:rPr lang="en-US" altLang="zh-CN" sz="2000" dirty="0"/>
              <a:t> = </a:t>
            </a:r>
            <a:r>
              <a:rPr lang="en-US" altLang="zh-CN" sz="2000" dirty="0" err="1"/>
              <a:t>countComments</a:t>
            </a:r>
            <a:r>
              <a:rPr lang="en-US" altLang="zh-CN" sz="2000" dirty="0"/>
              <a:t>(result)</a:t>
            </a:r>
            <a:endParaRPr lang="zh-CN" altLang="en-US" sz="2000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85200695-9E42-47EE-8362-267332A6CB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3451" y="362016"/>
            <a:ext cx="3568229" cy="2973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77426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图片 18">
            <a:extLst>
              <a:ext uri="{FF2B5EF4-FFF2-40B4-BE49-F238E27FC236}">
                <a16:creationId xmlns:a16="http://schemas.microsoft.com/office/drawing/2014/main" id="{F8014AE3-2F6F-4D03-ABA5-98B6F9BB3E23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DFF"/>
              </a:clrFrom>
              <a:clrTo>
                <a:srgbClr val="FFFD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-1" y="0"/>
            <a:ext cx="12192001" cy="6870567"/>
          </a:xfrm>
          <a:prstGeom prst="rect">
            <a:avLst/>
          </a:prstGeom>
        </p:spPr>
      </p:pic>
      <p:sp>
        <p:nvSpPr>
          <p:cNvPr id="10" name="TextBox 1">
            <a:extLst>
              <a:ext uri="{FF2B5EF4-FFF2-40B4-BE49-F238E27FC236}">
                <a16:creationId xmlns:a16="http://schemas.microsoft.com/office/drawing/2014/main" id="{9852CEF3-AF68-464A-8EBB-F8859FB71535}"/>
              </a:ext>
            </a:extLst>
          </p:cNvPr>
          <p:cNvSpPr txBox="1"/>
          <p:nvPr/>
        </p:nvSpPr>
        <p:spPr>
          <a:xfrm>
            <a:off x="4707110" y="2835723"/>
            <a:ext cx="387317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800" b="1" dirty="0">
                <a:ln w="12700">
                  <a:noFill/>
                  <a:prstDash val="solid"/>
                </a:ln>
                <a:solidFill>
                  <a:prstClr val="white"/>
                </a:solidFill>
                <a:effectLst>
                  <a:outerShdw dist="50800" dir="4800000" algn="tl" rotWithShape="0">
                    <a:srgbClr val="000000">
                      <a:alpha val="40000"/>
                    </a:srgbClr>
                  </a:outerShdw>
                </a:effectLst>
                <a:latin typeface="造字工房尚黑（非商用）细体" pitchFamily="50" charset="-122"/>
                <a:ea typeface="造字工房尚黑（非商用）细体" pitchFamily="50" charset="-122"/>
              </a:rPr>
              <a:t>CSV</a:t>
            </a:r>
            <a:r>
              <a:rPr lang="zh-CN" altLang="en-US" sz="4800" b="1" dirty="0">
                <a:ln w="12700">
                  <a:noFill/>
                  <a:prstDash val="solid"/>
                </a:ln>
                <a:solidFill>
                  <a:prstClr val="white"/>
                </a:solidFill>
                <a:effectLst>
                  <a:outerShdw dist="50800" dir="4800000" algn="tl" rotWithShape="0">
                    <a:srgbClr val="000000">
                      <a:alpha val="40000"/>
                    </a:srgbClr>
                  </a:outerShdw>
                </a:effectLst>
                <a:latin typeface="造字工房尚黑（非商用）细体" pitchFamily="50" charset="-122"/>
                <a:ea typeface="造字工房尚黑（非商用）细体" pitchFamily="50" charset="-122"/>
              </a:rPr>
              <a:t>文件操作</a:t>
            </a:r>
          </a:p>
        </p:txBody>
      </p:sp>
      <p:grpSp>
        <p:nvGrpSpPr>
          <p:cNvPr id="13" name="Group 5">
            <a:extLst>
              <a:ext uri="{FF2B5EF4-FFF2-40B4-BE49-F238E27FC236}">
                <a16:creationId xmlns:a16="http://schemas.microsoft.com/office/drawing/2014/main" id="{D4E457FC-7ABC-46A4-AA05-460516D34D97}"/>
              </a:ext>
            </a:extLst>
          </p:cNvPr>
          <p:cNvGrpSpPr/>
          <p:nvPr/>
        </p:nvGrpSpPr>
        <p:grpSpPr>
          <a:xfrm>
            <a:off x="8825614" y="4241498"/>
            <a:ext cx="2169488" cy="2175406"/>
            <a:chOff x="5292553" y="3355717"/>
            <a:chExt cx="1711365" cy="2494000"/>
          </a:xfrm>
          <a:solidFill>
            <a:schemeClr val="bg1">
              <a:lumMod val="95000"/>
            </a:schemeClr>
          </a:solidFill>
        </p:grpSpPr>
        <p:sp>
          <p:nvSpPr>
            <p:cNvPr id="14" name="Rectangle 5">
              <a:extLst>
                <a:ext uri="{FF2B5EF4-FFF2-40B4-BE49-F238E27FC236}">
                  <a16:creationId xmlns:a16="http://schemas.microsoft.com/office/drawing/2014/main" id="{92665014-DCFC-4389-9C6A-F93E9F8C55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92553" y="3573075"/>
              <a:ext cx="992082" cy="190188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15" name="Rectangle 6">
              <a:extLst>
                <a:ext uri="{FF2B5EF4-FFF2-40B4-BE49-F238E27FC236}">
                  <a16:creationId xmlns:a16="http://schemas.microsoft.com/office/drawing/2014/main" id="{EF3EFA7A-78BB-47D6-BE99-3EE9E3B71F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02008" y="4624848"/>
              <a:ext cx="804223" cy="291104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16" name="Rectangle 7">
              <a:extLst>
                <a:ext uri="{FF2B5EF4-FFF2-40B4-BE49-F238E27FC236}">
                  <a16:creationId xmlns:a16="http://schemas.microsoft.com/office/drawing/2014/main" id="{058493F4-5F10-4640-8C9D-0CB576F6D1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71873" y="3355717"/>
              <a:ext cx="1124825" cy="219686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17" name="Rectangle 8">
              <a:extLst>
                <a:ext uri="{FF2B5EF4-FFF2-40B4-BE49-F238E27FC236}">
                  <a16:creationId xmlns:a16="http://schemas.microsoft.com/office/drawing/2014/main" id="{0C69EF19-DB4B-4B37-B32F-74A6E48FE6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82601" y="3902993"/>
              <a:ext cx="1127154" cy="78404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20" name="Rectangle 9">
              <a:extLst>
                <a:ext uri="{FF2B5EF4-FFF2-40B4-BE49-F238E27FC236}">
                  <a16:creationId xmlns:a16="http://schemas.microsoft.com/office/drawing/2014/main" id="{C42AAB68-43AB-415D-A741-A21AA5CC8B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92196" y="3981397"/>
              <a:ext cx="1004502" cy="114113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22" name="Rectangle 10">
              <a:extLst>
                <a:ext uri="{FF2B5EF4-FFF2-40B4-BE49-F238E27FC236}">
                  <a16:creationId xmlns:a16="http://schemas.microsoft.com/office/drawing/2014/main" id="{2FF85755-A50E-4545-A1DB-E47E58A521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71873" y="4093379"/>
              <a:ext cx="874864" cy="73746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23" name="Rectangle 11">
              <a:extLst>
                <a:ext uri="{FF2B5EF4-FFF2-40B4-BE49-F238E27FC236}">
                  <a16:creationId xmlns:a16="http://schemas.microsoft.com/office/drawing/2014/main" id="{99E19DCB-AACF-4D06-86E1-5E525529F4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92196" y="4166845"/>
              <a:ext cx="1026238" cy="254619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25" name="Rectangle 12">
              <a:extLst>
                <a:ext uri="{FF2B5EF4-FFF2-40B4-BE49-F238E27FC236}">
                  <a16:creationId xmlns:a16="http://schemas.microsoft.com/office/drawing/2014/main" id="{8DD2322D-625A-4087-B7F3-2B20CA9F94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70460" y="4915952"/>
              <a:ext cx="902034" cy="52011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27" name="Rectangle 13">
              <a:extLst>
                <a:ext uri="{FF2B5EF4-FFF2-40B4-BE49-F238E27FC236}">
                  <a16:creationId xmlns:a16="http://schemas.microsoft.com/office/drawing/2014/main" id="{2FA9C19B-9DE3-4109-88DD-09A4015E9E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90783" y="4967962"/>
              <a:ext cx="693215" cy="141282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28" name="Rectangle 14">
              <a:extLst>
                <a:ext uri="{FF2B5EF4-FFF2-40B4-BE49-F238E27FC236}">
                  <a16:creationId xmlns:a16="http://schemas.microsoft.com/office/drawing/2014/main" id="{E0E32E6A-E28E-48C4-B20A-677FE8EEE9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09771" y="5109245"/>
              <a:ext cx="936966" cy="234436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30" name="Rectangle 16">
              <a:extLst>
                <a:ext uri="{FF2B5EF4-FFF2-40B4-BE49-F238E27FC236}">
                  <a16:creationId xmlns:a16="http://schemas.microsoft.com/office/drawing/2014/main" id="{02F916DA-1539-4D39-AA70-3EC92AD56B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32562" y="5343680"/>
              <a:ext cx="877193" cy="114113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31" name="Rectangle 17">
              <a:extLst>
                <a:ext uri="{FF2B5EF4-FFF2-40B4-BE49-F238E27FC236}">
                  <a16:creationId xmlns:a16="http://schemas.microsoft.com/office/drawing/2014/main" id="{BB3FA358-821C-4D1A-A707-A68DF726EA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40682" y="5458288"/>
              <a:ext cx="823630" cy="166900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32" name="Rectangle 18">
              <a:extLst>
                <a:ext uri="{FF2B5EF4-FFF2-40B4-BE49-F238E27FC236}">
                  <a16:creationId xmlns:a16="http://schemas.microsoft.com/office/drawing/2014/main" id="{02A6F228-49CC-4714-AAC2-E3F6594C69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36304" y="5625188"/>
              <a:ext cx="1110076" cy="224344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33" name="Rectangle 19">
              <a:extLst>
                <a:ext uri="{FF2B5EF4-FFF2-40B4-BE49-F238E27FC236}">
                  <a16:creationId xmlns:a16="http://schemas.microsoft.com/office/drawing/2014/main" id="{BE0167A9-BDDD-4BAB-A716-5F33BC58CA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11944" y="3355717"/>
              <a:ext cx="24841" cy="219686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34" name="Rectangle 20">
              <a:extLst>
                <a:ext uri="{FF2B5EF4-FFF2-40B4-BE49-F238E27FC236}">
                  <a16:creationId xmlns:a16="http://schemas.microsoft.com/office/drawing/2014/main" id="{3C7D64CC-2562-4099-9D5E-6F3D4B2821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36785" y="3575404"/>
              <a:ext cx="776" cy="776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35" name="Rectangle 21">
              <a:extLst>
                <a:ext uri="{FF2B5EF4-FFF2-40B4-BE49-F238E27FC236}">
                  <a16:creationId xmlns:a16="http://schemas.microsoft.com/office/drawing/2014/main" id="{94B094DA-4C85-418A-ABB5-A5E9406311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92196" y="3355717"/>
              <a:ext cx="40366" cy="219686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36" name="Rectangle 22">
              <a:extLst>
                <a:ext uri="{FF2B5EF4-FFF2-40B4-BE49-F238E27FC236}">
                  <a16:creationId xmlns:a16="http://schemas.microsoft.com/office/drawing/2014/main" id="{3E399475-D326-404C-93F7-37D0F271F1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09755" y="4166845"/>
              <a:ext cx="16302" cy="254619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37" name="Rectangle 23">
              <a:extLst>
                <a:ext uri="{FF2B5EF4-FFF2-40B4-BE49-F238E27FC236}">
                  <a16:creationId xmlns:a16="http://schemas.microsoft.com/office/drawing/2014/main" id="{9A2A5F54-B98F-4337-AC05-ED458A97DC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76034" y="4166845"/>
              <a:ext cx="158360" cy="254619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38" name="Freeform 24">
              <a:extLst>
                <a:ext uri="{FF2B5EF4-FFF2-40B4-BE49-F238E27FC236}">
                  <a16:creationId xmlns:a16="http://schemas.microsoft.com/office/drawing/2014/main" id="{6F4F9818-8003-40F2-AEA8-9F26A0CC72EE}"/>
                </a:ext>
              </a:extLst>
            </p:cNvPr>
            <p:cNvSpPr>
              <a:spLocks/>
            </p:cNvSpPr>
            <p:nvPr/>
          </p:nvSpPr>
          <p:spPr bwMode="auto">
            <a:xfrm>
              <a:off x="6455866" y="4793204"/>
              <a:ext cx="548052" cy="1056513"/>
            </a:xfrm>
            <a:custGeom>
              <a:avLst/>
              <a:gdLst>
                <a:gd name="T0" fmla="*/ 393 w 706"/>
                <a:gd name="T1" fmla="*/ 1361 h 1361"/>
                <a:gd name="T2" fmla="*/ 0 w 706"/>
                <a:gd name="T3" fmla="*/ 98 h 1361"/>
                <a:gd name="T4" fmla="*/ 314 w 706"/>
                <a:gd name="T5" fmla="*/ 0 h 1361"/>
                <a:gd name="T6" fmla="*/ 706 w 706"/>
                <a:gd name="T7" fmla="*/ 1263 h 1361"/>
                <a:gd name="T8" fmla="*/ 393 w 706"/>
                <a:gd name="T9" fmla="*/ 1361 h 13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06" h="1361">
                  <a:moveTo>
                    <a:pt x="393" y="1361"/>
                  </a:moveTo>
                  <a:lnTo>
                    <a:pt x="0" y="98"/>
                  </a:lnTo>
                  <a:lnTo>
                    <a:pt x="314" y="0"/>
                  </a:lnTo>
                  <a:lnTo>
                    <a:pt x="706" y="1263"/>
                  </a:lnTo>
                  <a:lnTo>
                    <a:pt x="393" y="1361"/>
                  </a:lnTo>
                  <a:close/>
                </a:path>
              </a:pathLst>
            </a:custGeom>
            <a:solidFill>
              <a:srgbClr val="6BE137"/>
            </a:solidFill>
            <a:ln w="9525">
              <a:solidFill>
                <a:schemeClr val="accent1"/>
              </a:solidFill>
              <a:round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 dirty="0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39" name="Freeform 25">
              <a:extLst>
                <a:ext uri="{FF2B5EF4-FFF2-40B4-BE49-F238E27FC236}">
                  <a16:creationId xmlns:a16="http://schemas.microsoft.com/office/drawing/2014/main" id="{9EF0C857-DA9B-4519-85D9-B60F89BD6791}"/>
                </a:ext>
              </a:extLst>
            </p:cNvPr>
            <p:cNvSpPr>
              <a:spLocks/>
            </p:cNvSpPr>
            <p:nvPr/>
          </p:nvSpPr>
          <p:spPr bwMode="auto">
            <a:xfrm>
              <a:off x="6731444" y="5683594"/>
              <a:ext cx="248409" cy="91601"/>
            </a:xfrm>
            <a:custGeom>
              <a:avLst/>
              <a:gdLst>
                <a:gd name="T0" fmla="*/ 7 w 320"/>
                <a:gd name="T1" fmla="*/ 118 h 118"/>
                <a:gd name="T2" fmla="*/ 0 w 320"/>
                <a:gd name="T3" fmla="*/ 97 h 118"/>
                <a:gd name="T4" fmla="*/ 314 w 320"/>
                <a:gd name="T5" fmla="*/ 0 h 118"/>
                <a:gd name="T6" fmla="*/ 320 w 320"/>
                <a:gd name="T7" fmla="*/ 21 h 118"/>
                <a:gd name="T8" fmla="*/ 7 w 320"/>
                <a:gd name="T9" fmla="*/ 118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0" h="118">
                  <a:moveTo>
                    <a:pt x="7" y="118"/>
                  </a:moveTo>
                  <a:lnTo>
                    <a:pt x="0" y="97"/>
                  </a:lnTo>
                  <a:lnTo>
                    <a:pt x="314" y="0"/>
                  </a:lnTo>
                  <a:lnTo>
                    <a:pt x="320" y="21"/>
                  </a:lnTo>
                  <a:lnTo>
                    <a:pt x="7" y="118"/>
                  </a:lnTo>
                  <a:close/>
                </a:path>
              </a:pathLst>
            </a:custGeom>
            <a:grpFill/>
            <a:ln w="9525">
              <a:solidFill>
                <a:schemeClr val="accent1"/>
              </a:solidFill>
              <a:round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40" name="Freeform 26">
              <a:extLst>
                <a:ext uri="{FF2B5EF4-FFF2-40B4-BE49-F238E27FC236}">
                  <a16:creationId xmlns:a16="http://schemas.microsoft.com/office/drawing/2014/main" id="{2E59EB70-1015-4512-AC21-D0F475D034AA}"/>
                </a:ext>
              </a:extLst>
            </p:cNvPr>
            <p:cNvSpPr>
              <a:spLocks/>
            </p:cNvSpPr>
            <p:nvPr/>
          </p:nvSpPr>
          <p:spPr bwMode="auto">
            <a:xfrm>
              <a:off x="6481483" y="4874713"/>
              <a:ext cx="290328" cy="226673"/>
            </a:xfrm>
            <a:custGeom>
              <a:avLst/>
              <a:gdLst>
                <a:gd name="T0" fmla="*/ 61 w 374"/>
                <a:gd name="T1" fmla="*/ 292 h 292"/>
                <a:gd name="T2" fmla="*/ 0 w 374"/>
                <a:gd name="T3" fmla="*/ 98 h 292"/>
                <a:gd name="T4" fmla="*/ 314 w 374"/>
                <a:gd name="T5" fmla="*/ 0 h 292"/>
                <a:gd name="T6" fmla="*/ 374 w 374"/>
                <a:gd name="T7" fmla="*/ 194 h 292"/>
                <a:gd name="T8" fmla="*/ 61 w 374"/>
                <a:gd name="T9" fmla="*/ 292 h 2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4" h="292">
                  <a:moveTo>
                    <a:pt x="61" y="292"/>
                  </a:moveTo>
                  <a:lnTo>
                    <a:pt x="0" y="98"/>
                  </a:lnTo>
                  <a:lnTo>
                    <a:pt x="314" y="0"/>
                  </a:lnTo>
                  <a:lnTo>
                    <a:pt x="374" y="194"/>
                  </a:lnTo>
                  <a:lnTo>
                    <a:pt x="61" y="292"/>
                  </a:lnTo>
                  <a:close/>
                </a:path>
              </a:pathLst>
            </a:custGeom>
            <a:grpFill/>
            <a:ln w="9525">
              <a:solidFill>
                <a:schemeClr val="accent1"/>
              </a:solidFill>
              <a:round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41" name="Rectangle 27">
              <a:extLst>
                <a:ext uri="{FF2B5EF4-FFF2-40B4-BE49-F238E27FC236}">
                  <a16:creationId xmlns:a16="http://schemas.microsoft.com/office/drawing/2014/main" id="{BA03F342-0396-4C16-8834-78EF529F54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06526" y="4421463"/>
              <a:ext cx="817420" cy="203385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42" name="Rectangle 28">
              <a:extLst>
                <a:ext uri="{FF2B5EF4-FFF2-40B4-BE49-F238E27FC236}">
                  <a16:creationId xmlns:a16="http://schemas.microsoft.com/office/drawing/2014/main" id="{96B6A2F7-A8E4-49C2-AB28-29FE56A077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08001" y="4421463"/>
              <a:ext cx="60550" cy="203385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43" name="Rectangle 29">
              <a:extLst>
                <a:ext uri="{FF2B5EF4-FFF2-40B4-BE49-F238E27FC236}">
                  <a16:creationId xmlns:a16="http://schemas.microsoft.com/office/drawing/2014/main" id="{5B95C07C-C2FD-431C-8EFF-17E7E40AD5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52745" y="4421463"/>
              <a:ext cx="62102" cy="203385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44" name="Rectangle 30">
              <a:extLst>
                <a:ext uri="{FF2B5EF4-FFF2-40B4-BE49-F238E27FC236}">
                  <a16:creationId xmlns:a16="http://schemas.microsoft.com/office/drawing/2014/main" id="{993E383B-994E-4D7F-B66E-CD16C11375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38136" y="4624848"/>
              <a:ext cx="126533" cy="291104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45" name="Rectangle 31">
              <a:extLst>
                <a:ext uri="{FF2B5EF4-FFF2-40B4-BE49-F238E27FC236}">
                  <a16:creationId xmlns:a16="http://schemas.microsoft.com/office/drawing/2014/main" id="{60A3D686-1CA8-48B6-89B6-51998533CF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38136" y="4967962"/>
              <a:ext cx="16302" cy="141282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46" name="Rectangle 32">
              <a:extLst>
                <a:ext uri="{FF2B5EF4-FFF2-40B4-BE49-F238E27FC236}">
                  <a16:creationId xmlns:a16="http://schemas.microsoft.com/office/drawing/2014/main" id="{E8EF4CAD-9253-4658-85B4-A3668DE360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72292" y="4967962"/>
              <a:ext cx="16302" cy="141282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47" name="Rectangle 33">
              <a:extLst>
                <a:ext uri="{FF2B5EF4-FFF2-40B4-BE49-F238E27FC236}">
                  <a16:creationId xmlns:a16="http://schemas.microsoft.com/office/drawing/2014/main" id="{A52B571C-64C2-4B89-8993-66E8E67928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4452" y="4967962"/>
              <a:ext cx="19407" cy="141282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48" name="Rectangle 34">
              <a:extLst>
                <a:ext uri="{FF2B5EF4-FFF2-40B4-BE49-F238E27FC236}">
                  <a16:creationId xmlns:a16="http://schemas.microsoft.com/office/drawing/2014/main" id="{A8BA74F2-0316-451F-8C70-A26F6D50CC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11804" y="4967962"/>
              <a:ext cx="14749" cy="141282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49" name="Rectangle 35">
              <a:extLst>
                <a:ext uri="{FF2B5EF4-FFF2-40B4-BE49-F238E27FC236}">
                  <a16:creationId xmlns:a16="http://schemas.microsoft.com/office/drawing/2014/main" id="{2156F5CB-A99E-412B-B5FD-7B257B2E2A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90783" y="3761710"/>
              <a:ext cx="693215" cy="141282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50" name="Rectangle 36">
              <a:extLst>
                <a:ext uri="{FF2B5EF4-FFF2-40B4-BE49-F238E27FC236}">
                  <a16:creationId xmlns:a16="http://schemas.microsoft.com/office/drawing/2014/main" id="{A79E93FA-6C27-400F-97C4-6522F2C002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38136" y="3761710"/>
              <a:ext cx="16302" cy="141282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51" name="Rectangle 37">
              <a:extLst>
                <a:ext uri="{FF2B5EF4-FFF2-40B4-BE49-F238E27FC236}">
                  <a16:creationId xmlns:a16="http://schemas.microsoft.com/office/drawing/2014/main" id="{4E2EB931-9110-4098-9C3B-4B4CD819A2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72292" y="3761710"/>
              <a:ext cx="16302" cy="141282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52" name="Rectangle 38">
              <a:extLst>
                <a:ext uri="{FF2B5EF4-FFF2-40B4-BE49-F238E27FC236}">
                  <a16:creationId xmlns:a16="http://schemas.microsoft.com/office/drawing/2014/main" id="{DB0A8F99-1214-48CD-BC9B-77D10B917F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4452" y="3761710"/>
              <a:ext cx="19407" cy="141282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53" name="Rectangle 39">
              <a:extLst>
                <a:ext uri="{FF2B5EF4-FFF2-40B4-BE49-F238E27FC236}">
                  <a16:creationId xmlns:a16="http://schemas.microsoft.com/office/drawing/2014/main" id="{55AB096E-46FB-4184-B802-A0978E46AC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11804" y="3761710"/>
              <a:ext cx="14749" cy="141282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54" name="Freeform 40">
              <a:extLst>
                <a:ext uri="{FF2B5EF4-FFF2-40B4-BE49-F238E27FC236}">
                  <a16:creationId xmlns:a16="http://schemas.microsoft.com/office/drawing/2014/main" id="{E95E694A-A30E-4932-8CD4-3FB943046FFE}"/>
                </a:ext>
              </a:extLst>
            </p:cNvPr>
            <p:cNvSpPr>
              <a:spLocks/>
            </p:cNvSpPr>
            <p:nvPr/>
          </p:nvSpPr>
          <p:spPr bwMode="auto">
            <a:xfrm>
              <a:off x="5604616" y="5664002"/>
              <a:ext cx="416084" cy="148269"/>
            </a:xfrm>
            <a:custGeom>
              <a:avLst/>
              <a:gdLst>
                <a:gd name="T0" fmla="*/ 328 w 328"/>
                <a:gd name="T1" fmla="*/ 90 h 117"/>
                <a:gd name="T2" fmla="*/ 301 w 328"/>
                <a:gd name="T3" fmla="*/ 117 h 117"/>
                <a:gd name="T4" fmla="*/ 27 w 328"/>
                <a:gd name="T5" fmla="*/ 117 h 117"/>
                <a:gd name="T6" fmla="*/ 0 w 328"/>
                <a:gd name="T7" fmla="*/ 90 h 117"/>
                <a:gd name="T8" fmla="*/ 0 w 328"/>
                <a:gd name="T9" fmla="*/ 27 h 117"/>
                <a:gd name="T10" fmla="*/ 27 w 328"/>
                <a:gd name="T11" fmla="*/ 0 h 117"/>
                <a:gd name="T12" fmla="*/ 301 w 328"/>
                <a:gd name="T13" fmla="*/ 0 h 117"/>
                <a:gd name="T14" fmla="*/ 328 w 328"/>
                <a:gd name="T15" fmla="*/ 27 h 117"/>
                <a:gd name="T16" fmla="*/ 328 w 328"/>
                <a:gd name="T17" fmla="*/ 9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28" h="117">
                  <a:moveTo>
                    <a:pt x="328" y="90"/>
                  </a:moveTo>
                  <a:cubicBezTo>
                    <a:pt x="328" y="105"/>
                    <a:pt x="316" y="117"/>
                    <a:pt x="301" y="117"/>
                  </a:cubicBezTo>
                  <a:cubicBezTo>
                    <a:pt x="27" y="117"/>
                    <a:pt x="27" y="117"/>
                    <a:pt x="27" y="117"/>
                  </a:cubicBezTo>
                  <a:cubicBezTo>
                    <a:pt x="12" y="117"/>
                    <a:pt x="0" y="105"/>
                    <a:pt x="0" y="90"/>
                  </a:cubicBezTo>
                  <a:cubicBezTo>
                    <a:pt x="0" y="27"/>
                    <a:pt x="0" y="27"/>
                    <a:pt x="0" y="27"/>
                  </a:cubicBezTo>
                  <a:cubicBezTo>
                    <a:pt x="0" y="12"/>
                    <a:pt x="12" y="0"/>
                    <a:pt x="27" y="0"/>
                  </a:cubicBezTo>
                  <a:cubicBezTo>
                    <a:pt x="301" y="0"/>
                    <a:pt x="301" y="0"/>
                    <a:pt x="301" y="0"/>
                  </a:cubicBezTo>
                  <a:cubicBezTo>
                    <a:pt x="316" y="0"/>
                    <a:pt x="328" y="12"/>
                    <a:pt x="328" y="27"/>
                  </a:cubicBezTo>
                  <a:lnTo>
                    <a:pt x="328" y="90"/>
                  </a:lnTo>
                  <a:close/>
                </a:path>
              </a:pathLst>
            </a:custGeom>
            <a:grpFill/>
            <a:ln w="9525">
              <a:solidFill>
                <a:schemeClr val="accent1"/>
              </a:solidFill>
              <a:round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55" name="Freeform 41">
              <a:extLst>
                <a:ext uri="{FF2B5EF4-FFF2-40B4-BE49-F238E27FC236}">
                  <a16:creationId xmlns:a16="http://schemas.microsoft.com/office/drawing/2014/main" id="{563BFF38-2F07-42FF-9032-0A2D023B6B41}"/>
                </a:ext>
              </a:extLst>
            </p:cNvPr>
            <p:cNvSpPr>
              <a:spLocks/>
            </p:cNvSpPr>
            <p:nvPr/>
          </p:nvSpPr>
          <p:spPr bwMode="auto">
            <a:xfrm>
              <a:off x="6547793" y="5664002"/>
              <a:ext cx="40366" cy="167676"/>
            </a:xfrm>
            <a:custGeom>
              <a:avLst/>
              <a:gdLst>
                <a:gd name="T0" fmla="*/ 32 w 32"/>
                <a:gd name="T1" fmla="*/ 116 h 132"/>
                <a:gd name="T2" fmla="*/ 16 w 32"/>
                <a:gd name="T3" fmla="*/ 132 h 132"/>
                <a:gd name="T4" fmla="*/ 16 w 32"/>
                <a:gd name="T5" fmla="*/ 132 h 132"/>
                <a:gd name="T6" fmla="*/ 0 w 32"/>
                <a:gd name="T7" fmla="*/ 116 h 132"/>
                <a:gd name="T8" fmla="*/ 0 w 32"/>
                <a:gd name="T9" fmla="*/ 16 h 132"/>
                <a:gd name="T10" fmla="*/ 16 w 32"/>
                <a:gd name="T11" fmla="*/ 0 h 132"/>
                <a:gd name="T12" fmla="*/ 16 w 32"/>
                <a:gd name="T13" fmla="*/ 0 h 132"/>
                <a:gd name="T14" fmla="*/ 32 w 32"/>
                <a:gd name="T15" fmla="*/ 16 h 132"/>
                <a:gd name="T16" fmla="*/ 32 w 32"/>
                <a:gd name="T17" fmla="*/ 116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2" h="132">
                  <a:moveTo>
                    <a:pt x="32" y="116"/>
                  </a:moveTo>
                  <a:cubicBezTo>
                    <a:pt x="32" y="125"/>
                    <a:pt x="25" y="132"/>
                    <a:pt x="16" y="132"/>
                  </a:cubicBezTo>
                  <a:cubicBezTo>
                    <a:pt x="16" y="132"/>
                    <a:pt x="16" y="132"/>
                    <a:pt x="16" y="132"/>
                  </a:cubicBezTo>
                  <a:cubicBezTo>
                    <a:pt x="7" y="132"/>
                    <a:pt x="0" y="125"/>
                    <a:pt x="0" y="116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7"/>
                    <a:pt x="7" y="0"/>
                    <a:pt x="16" y="0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25" y="0"/>
                    <a:pt x="32" y="7"/>
                    <a:pt x="32" y="16"/>
                  </a:cubicBezTo>
                  <a:lnTo>
                    <a:pt x="32" y="116"/>
                  </a:lnTo>
                  <a:close/>
                </a:path>
              </a:pathLst>
            </a:custGeom>
            <a:grpFill/>
            <a:ln w="9525">
              <a:solidFill>
                <a:schemeClr val="accent1"/>
              </a:solidFill>
              <a:round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56" name="Freeform 42">
              <a:extLst>
                <a:ext uri="{FF2B5EF4-FFF2-40B4-BE49-F238E27FC236}">
                  <a16:creationId xmlns:a16="http://schemas.microsoft.com/office/drawing/2014/main" id="{0B7847E0-FA80-4A28-B935-5A7817EBE109}"/>
                </a:ext>
              </a:extLst>
            </p:cNvPr>
            <p:cNvSpPr>
              <a:spLocks/>
            </p:cNvSpPr>
            <p:nvPr/>
          </p:nvSpPr>
          <p:spPr bwMode="auto">
            <a:xfrm>
              <a:off x="5409771" y="5514180"/>
              <a:ext cx="70641" cy="72194"/>
            </a:xfrm>
            <a:custGeom>
              <a:avLst/>
              <a:gdLst>
                <a:gd name="T0" fmla="*/ 56 w 56"/>
                <a:gd name="T1" fmla="*/ 29 h 57"/>
                <a:gd name="T2" fmla="*/ 28 w 56"/>
                <a:gd name="T3" fmla="*/ 57 h 57"/>
                <a:gd name="T4" fmla="*/ 27 w 56"/>
                <a:gd name="T5" fmla="*/ 57 h 57"/>
                <a:gd name="T6" fmla="*/ 0 w 56"/>
                <a:gd name="T7" fmla="*/ 29 h 57"/>
                <a:gd name="T8" fmla="*/ 0 w 56"/>
                <a:gd name="T9" fmla="*/ 28 h 57"/>
                <a:gd name="T10" fmla="*/ 27 w 56"/>
                <a:gd name="T11" fmla="*/ 0 h 57"/>
                <a:gd name="T12" fmla="*/ 28 w 56"/>
                <a:gd name="T13" fmla="*/ 0 h 57"/>
                <a:gd name="T14" fmla="*/ 56 w 56"/>
                <a:gd name="T15" fmla="*/ 28 h 57"/>
                <a:gd name="T16" fmla="*/ 56 w 56"/>
                <a:gd name="T17" fmla="*/ 29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6" h="57">
                  <a:moveTo>
                    <a:pt x="56" y="29"/>
                  </a:moveTo>
                  <a:cubicBezTo>
                    <a:pt x="56" y="44"/>
                    <a:pt x="44" y="57"/>
                    <a:pt x="28" y="57"/>
                  </a:cubicBezTo>
                  <a:cubicBezTo>
                    <a:pt x="27" y="57"/>
                    <a:pt x="27" y="57"/>
                    <a:pt x="27" y="57"/>
                  </a:cubicBezTo>
                  <a:cubicBezTo>
                    <a:pt x="12" y="57"/>
                    <a:pt x="0" y="44"/>
                    <a:pt x="0" y="29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13"/>
                    <a:pt x="12" y="0"/>
                    <a:pt x="27" y="0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44" y="0"/>
                    <a:pt x="56" y="13"/>
                    <a:pt x="56" y="28"/>
                  </a:cubicBezTo>
                  <a:lnTo>
                    <a:pt x="56" y="29"/>
                  </a:lnTo>
                  <a:close/>
                </a:path>
              </a:pathLst>
            </a:custGeom>
            <a:grpFill/>
            <a:ln w="9525">
              <a:solidFill>
                <a:schemeClr val="accent1"/>
              </a:solidFill>
              <a:round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57" name="Freeform 43">
              <a:extLst>
                <a:ext uri="{FF2B5EF4-FFF2-40B4-BE49-F238E27FC236}">
                  <a16:creationId xmlns:a16="http://schemas.microsoft.com/office/drawing/2014/main" id="{73B4B591-FCC4-4551-B7D1-02D1641ACC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2620" y="5514180"/>
              <a:ext cx="71417" cy="72194"/>
            </a:xfrm>
            <a:custGeom>
              <a:avLst/>
              <a:gdLst>
                <a:gd name="T0" fmla="*/ 56 w 56"/>
                <a:gd name="T1" fmla="*/ 29 h 57"/>
                <a:gd name="T2" fmla="*/ 29 w 56"/>
                <a:gd name="T3" fmla="*/ 57 h 57"/>
                <a:gd name="T4" fmla="*/ 28 w 56"/>
                <a:gd name="T5" fmla="*/ 57 h 57"/>
                <a:gd name="T6" fmla="*/ 0 w 56"/>
                <a:gd name="T7" fmla="*/ 29 h 57"/>
                <a:gd name="T8" fmla="*/ 0 w 56"/>
                <a:gd name="T9" fmla="*/ 28 h 57"/>
                <a:gd name="T10" fmla="*/ 28 w 56"/>
                <a:gd name="T11" fmla="*/ 0 h 57"/>
                <a:gd name="T12" fmla="*/ 29 w 56"/>
                <a:gd name="T13" fmla="*/ 0 h 57"/>
                <a:gd name="T14" fmla="*/ 56 w 56"/>
                <a:gd name="T15" fmla="*/ 28 h 57"/>
                <a:gd name="T16" fmla="*/ 56 w 56"/>
                <a:gd name="T17" fmla="*/ 29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6" h="57">
                  <a:moveTo>
                    <a:pt x="56" y="29"/>
                  </a:moveTo>
                  <a:cubicBezTo>
                    <a:pt x="56" y="44"/>
                    <a:pt x="44" y="57"/>
                    <a:pt x="29" y="57"/>
                  </a:cubicBezTo>
                  <a:cubicBezTo>
                    <a:pt x="28" y="57"/>
                    <a:pt x="28" y="57"/>
                    <a:pt x="28" y="57"/>
                  </a:cubicBezTo>
                  <a:cubicBezTo>
                    <a:pt x="13" y="57"/>
                    <a:pt x="0" y="44"/>
                    <a:pt x="0" y="29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13"/>
                    <a:pt x="13" y="0"/>
                    <a:pt x="28" y="0"/>
                  </a:cubicBezTo>
                  <a:cubicBezTo>
                    <a:pt x="29" y="0"/>
                    <a:pt x="29" y="0"/>
                    <a:pt x="29" y="0"/>
                  </a:cubicBezTo>
                  <a:cubicBezTo>
                    <a:pt x="44" y="0"/>
                    <a:pt x="56" y="13"/>
                    <a:pt x="56" y="28"/>
                  </a:cubicBezTo>
                  <a:lnTo>
                    <a:pt x="56" y="29"/>
                  </a:lnTo>
                  <a:close/>
                </a:path>
              </a:pathLst>
            </a:custGeom>
            <a:grpFill/>
            <a:ln w="9525">
              <a:solidFill>
                <a:schemeClr val="accent1"/>
              </a:solidFill>
              <a:round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58" name="Freeform 44">
              <a:extLst>
                <a:ext uri="{FF2B5EF4-FFF2-40B4-BE49-F238E27FC236}">
                  <a16:creationId xmlns:a16="http://schemas.microsoft.com/office/drawing/2014/main" id="{440F120C-E752-4984-AF5B-294A2CBF69AA}"/>
                </a:ext>
              </a:extLst>
            </p:cNvPr>
            <p:cNvSpPr>
              <a:spLocks/>
            </p:cNvSpPr>
            <p:nvPr/>
          </p:nvSpPr>
          <p:spPr bwMode="auto">
            <a:xfrm>
              <a:off x="5576670" y="5179886"/>
              <a:ext cx="665269" cy="93153"/>
            </a:xfrm>
            <a:custGeom>
              <a:avLst/>
              <a:gdLst>
                <a:gd name="T0" fmla="*/ 524 w 524"/>
                <a:gd name="T1" fmla="*/ 45 h 73"/>
                <a:gd name="T2" fmla="*/ 497 w 524"/>
                <a:gd name="T3" fmla="*/ 73 h 73"/>
                <a:gd name="T4" fmla="*/ 28 w 524"/>
                <a:gd name="T5" fmla="*/ 73 h 73"/>
                <a:gd name="T6" fmla="*/ 0 w 524"/>
                <a:gd name="T7" fmla="*/ 45 h 73"/>
                <a:gd name="T8" fmla="*/ 0 w 524"/>
                <a:gd name="T9" fmla="*/ 27 h 73"/>
                <a:gd name="T10" fmla="*/ 28 w 524"/>
                <a:gd name="T11" fmla="*/ 0 h 73"/>
                <a:gd name="T12" fmla="*/ 497 w 524"/>
                <a:gd name="T13" fmla="*/ 0 h 73"/>
                <a:gd name="T14" fmla="*/ 524 w 524"/>
                <a:gd name="T15" fmla="*/ 27 h 73"/>
                <a:gd name="T16" fmla="*/ 524 w 524"/>
                <a:gd name="T17" fmla="*/ 45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24" h="73">
                  <a:moveTo>
                    <a:pt x="524" y="45"/>
                  </a:moveTo>
                  <a:cubicBezTo>
                    <a:pt x="524" y="61"/>
                    <a:pt x="512" y="73"/>
                    <a:pt x="497" y="73"/>
                  </a:cubicBezTo>
                  <a:cubicBezTo>
                    <a:pt x="28" y="73"/>
                    <a:pt x="28" y="73"/>
                    <a:pt x="28" y="73"/>
                  </a:cubicBezTo>
                  <a:cubicBezTo>
                    <a:pt x="12" y="73"/>
                    <a:pt x="0" y="61"/>
                    <a:pt x="0" y="45"/>
                  </a:cubicBezTo>
                  <a:cubicBezTo>
                    <a:pt x="0" y="27"/>
                    <a:pt x="0" y="27"/>
                    <a:pt x="0" y="27"/>
                  </a:cubicBezTo>
                  <a:cubicBezTo>
                    <a:pt x="0" y="12"/>
                    <a:pt x="12" y="0"/>
                    <a:pt x="28" y="0"/>
                  </a:cubicBezTo>
                  <a:cubicBezTo>
                    <a:pt x="497" y="0"/>
                    <a:pt x="497" y="0"/>
                    <a:pt x="497" y="0"/>
                  </a:cubicBezTo>
                  <a:cubicBezTo>
                    <a:pt x="512" y="0"/>
                    <a:pt x="524" y="12"/>
                    <a:pt x="524" y="27"/>
                  </a:cubicBezTo>
                  <a:lnTo>
                    <a:pt x="524" y="45"/>
                  </a:lnTo>
                  <a:close/>
                </a:path>
              </a:pathLst>
            </a:custGeom>
            <a:grpFill/>
            <a:ln w="9525">
              <a:solidFill>
                <a:schemeClr val="accent1"/>
              </a:solidFill>
              <a:round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59" name="Oval 45">
              <a:extLst>
                <a:ext uri="{FF2B5EF4-FFF2-40B4-BE49-F238E27FC236}">
                  <a16:creationId xmlns:a16="http://schemas.microsoft.com/office/drawing/2014/main" id="{4316F2F3-5FF5-4483-9AFA-4804D0CDA2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28603" y="3612665"/>
              <a:ext cx="111784" cy="111008"/>
            </a:xfrm>
            <a:prstGeom prst="ellipse">
              <a:avLst/>
            </a:prstGeom>
            <a:grpFill/>
            <a:ln w="9525">
              <a:solidFill>
                <a:schemeClr val="accent1"/>
              </a:solidFill>
              <a:round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60" name="Oval 46">
              <a:extLst>
                <a:ext uri="{FF2B5EF4-FFF2-40B4-BE49-F238E27FC236}">
                  <a16:creationId xmlns:a16="http://schemas.microsoft.com/office/drawing/2014/main" id="{13112507-81B4-4F17-BE2F-A6D91E4333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25933" y="3617323"/>
              <a:ext cx="111784" cy="111784"/>
            </a:xfrm>
            <a:prstGeom prst="ellipse">
              <a:avLst/>
            </a:prstGeom>
            <a:grpFill/>
            <a:ln w="9525">
              <a:solidFill>
                <a:schemeClr val="accent1"/>
              </a:solidFill>
              <a:round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</p:grpSp>
      <p:grpSp>
        <p:nvGrpSpPr>
          <p:cNvPr id="3" name="组合 2">
            <a:extLst>
              <a:ext uri="{FF2B5EF4-FFF2-40B4-BE49-F238E27FC236}">
                <a16:creationId xmlns:a16="http://schemas.microsoft.com/office/drawing/2014/main" id="{C2461B74-A819-4A83-9663-12536D2079CC}"/>
              </a:ext>
            </a:extLst>
          </p:cNvPr>
          <p:cNvGrpSpPr/>
          <p:nvPr/>
        </p:nvGrpSpPr>
        <p:grpSpPr>
          <a:xfrm>
            <a:off x="443983" y="1112313"/>
            <a:ext cx="1936868" cy="1936868"/>
            <a:chOff x="2572456" y="958222"/>
            <a:chExt cx="1936868" cy="1936868"/>
          </a:xfrm>
        </p:grpSpPr>
        <p:grpSp>
          <p:nvGrpSpPr>
            <p:cNvPr id="61" name="组合 60">
              <a:extLst>
                <a:ext uri="{FF2B5EF4-FFF2-40B4-BE49-F238E27FC236}">
                  <a16:creationId xmlns:a16="http://schemas.microsoft.com/office/drawing/2014/main" id="{E101FB23-2A31-47FF-9EB9-CFBD1D4D64F2}"/>
                </a:ext>
              </a:extLst>
            </p:cNvPr>
            <p:cNvGrpSpPr/>
            <p:nvPr/>
          </p:nvGrpSpPr>
          <p:grpSpPr>
            <a:xfrm>
              <a:off x="2572456" y="958222"/>
              <a:ext cx="1936868" cy="1936868"/>
              <a:chOff x="11207774" y="442662"/>
              <a:chExt cx="504056" cy="504056"/>
            </a:xfrm>
            <a:solidFill>
              <a:srgbClr val="B3DF63"/>
            </a:solidFill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grpSpPr>
          <p:sp>
            <p:nvSpPr>
              <p:cNvPr id="62" name="椭圆 61">
                <a:extLst>
                  <a:ext uri="{FF2B5EF4-FFF2-40B4-BE49-F238E27FC236}">
                    <a16:creationId xmlns:a16="http://schemas.microsoft.com/office/drawing/2014/main" id="{FF045C64-65A6-454D-8459-BA881DFB0159}"/>
                  </a:ext>
                </a:extLst>
              </p:cNvPr>
              <p:cNvSpPr/>
              <p:nvPr/>
            </p:nvSpPr>
            <p:spPr>
              <a:xfrm>
                <a:off x="11273029" y="517620"/>
                <a:ext cx="373547" cy="373547"/>
              </a:xfrm>
              <a:prstGeom prst="ellipse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prstClr val="white"/>
                  </a:solidFill>
                  <a:latin typeface="Calibri"/>
                  <a:ea typeface="微软雅黑"/>
                </a:endParaRPr>
              </a:p>
            </p:txBody>
          </p:sp>
          <p:sp>
            <p:nvSpPr>
              <p:cNvPr id="63" name="椭圆 62">
                <a:extLst>
                  <a:ext uri="{FF2B5EF4-FFF2-40B4-BE49-F238E27FC236}">
                    <a16:creationId xmlns:a16="http://schemas.microsoft.com/office/drawing/2014/main" id="{A03140CE-37E4-4604-B76C-9AEBE595F5F9}"/>
                  </a:ext>
                </a:extLst>
              </p:cNvPr>
              <p:cNvSpPr/>
              <p:nvPr/>
            </p:nvSpPr>
            <p:spPr>
              <a:xfrm>
                <a:off x="11207774" y="442662"/>
                <a:ext cx="504056" cy="504056"/>
              </a:xfrm>
              <a:prstGeom prst="ellipse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prstClr val="white"/>
                  </a:solidFill>
                  <a:latin typeface="Calibri"/>
                  <a:ea typeface="微软雅黑"/>
                </a:endParaRPr>
              </a:p>
            </p:txBody>
          </p:sp>
        </p:grpSp>
        <p:sp>
          <p:nvSpPr>
            <p:cNvPr id="64" name="TextBox 1">
              <a:extLst>
                <a:ext uri="{FF2B5EF4-FFF2-40B4-BE49-F238E27FC236}">
                  <a16:creationId xmlns:a16="http://schemas.microsoft.com/office/drawing/2014/main" id="{F45F1328-8259-42E9-BE98-A45AFDCB6EAE}"/>
                </a:ext>
              </a:extLst>
            </p:cNvPr>
            <p:cNvSpPr txBox="1"/>
            <p:nvPr/>
          </p:nvSpPr>
          <p:spPr>
            <a:xfrm>
              <a:off x="2815371" y="1264937"/>
              <a:ext cx="1451038" cy="132343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8000" b="1" dirty="0">
                  <a:ln w="12700">
                    <a:noFill/>
                    <a:prstDash val="solid"/>
                  </a:ln>
                  <a:solidFill>
                    <a:prstClr val="white"/>
                  </a:solidFill>
                  <a:effectLst>
                    <a:outerShdw dist="50800" dir="4800000" algn="tl" rotWithShape="0">
                      <a:srgbClr val="000000">
                        <a:alpha val="40000"/>
                      </a:srgbClr>
                    </a:outerShdw>
                  </a:effectLst>
                  <a:latin typeface="造字工房尚黑（非商用）细体" pitchFamily="50" charset="-122"/>
                  <a:ea typeface="造字工房尚黑（非商用）细体" pitchFamily="50" charset="-122"/>
                </a:rPr>
                <a:t>02</a:t>
              </a:r>
              <a:endParaRPr lang="zh-CN" altLang="en-US" sz="8000" b="1" dirty="0">
                <a:ln w="12700">
                  <a:noFill/>
                  <a:prstDash val="solid"/>
                </a:ln>
                <a:solidFill>
                  <a:prstClr val="white"/>
                </a:solidFill>
                <a:effectLst>
                  <a:outerShdw dist="50800" dir="4800000" algn="tl" rotWithShape="0">
                    <a:srgbClr val="000000">
                      <a:alpha val="40000"/>
                    </a:srgbClr>
                  </a:outerShdw>
                </a:effectLst>
                <a:latin typeface="造字工房尚黑（非商用）细体" pitchFamily="50" charset="-122"/>
                <a:ea typeface="造字工房尚黑（非商用）细体" pitchFamily="50" charset="-122"/>
              </a:endParaRPr>
            </a:p>
          </p:txBody>
        </p:sp>
      </p:grpSp>
      <p:grpSp>
        <p:nvGrpSpPr>
          <p:cNvPr id="65" name="组合 64">
            <a:extLst>
              <a:ext uri="{FF2B5EF4-FFF2-40B4-BE49-F238E27FC236}">
                <a16:creationId xmlns:a16="http://schemas.microsoft.com/office/drawing/2014/main" id="{C1C2C104-F13A-4AF1-8295-FE73E656BCD1}"/>
              </a:ext>
            </a:extLst>
          </p:cNvPr>
          <p:cNvGrpSpPr/>
          <p:nvPr/>
        </p:nvGrpSpPr>
        <p:grpSpPr>
          <a:xfrm rot="5400000">
            <a:off x="7939470" y="-3214903"/>
            <a:ext cx="942183" cy="7462505"/>
            <a:chOff x="-11273" y="-594773"/>
            <a:chExt cx="719786" cy="7462505"/>
          </a:xfrm>
        </p:grpSpPr>
        <p:sp>
          <p:nvSpPr>
            <p:cNvPr id="66" name="等腰三角形 65">
              <a:extLst>
                <a:ext uri="{FF2B5EF4-FFF2-40B4-BE49-F238E27FC236}">
                  <a16:creationId xmlns:a16="http://schemas.microsoft.com/office/drawing/2014/main" id="{58839FDC-22C4-4CA7-B863-C67559C21699}"/>
                </a:ext>
              </a:extLst>
            </p:cNvPr>
            <p:cNvSpPr/>
            <p:nvPr/>
          </p:nvSpPr>
          <p:spPr>
            <a:xfrm rot="5400000">
              <a:off x="-68856" y="2776017"/>
              <a:ext cx="834952" cy="719786"/>
            </a:xfrm>
            <a:prstGeom prst="triangl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67" name="等腰三角形 66">
              <a:extLst>
                <a:ext uri="{FF2B5EF4-FFF2-40B4-BE49-F238E27FC236}">
                  <a16:creationId xmlns:a16="http://schemas.microsoft.com/office/drawing/2014/main" id="{A5264352-D114-4656-BC14-E38E3FE58AC7}"/>
                </a:ext>
              </a:extLst>
            </p:cNvPr>
            <p:cNvSpPr/>
            <p:nvPr/>
          </p:nvSpPr>
          <p:spPr>
            <a:xfrm rot="5400000">
              <a:off x="-68856" y="1958050"/>
              <a:ext cx="834952" cy="719786"/>
            </a:xfrm>
            <a:prstGeom prst="triangl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68" name="等腰三角形 67">
              <a:extLst>
                <a:ext uri="{FF2B5EF4-FFF2-40B4-BE49-F238E27FC236}">
                  <a16:creationId xmlns:a16="http://schemas.microsoft.com/office/drawing/2014/main" id="{D2787C4C-1049-4848-A392-0F96696494DB}"/>
                </a:ext>
              </a:extLst>
            </p:cNvPr>
            <p:cNvSpPr/>
            <p:nvPr/>
          </p:nvSpPr>
          <p:spPr>
            <a:xfrm rot="5400000">
              <a:off x="-68856" y="1114606"/>
              <a:ext cx="834952" cy="71978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69" name="等腰三角形 68">
              <a:extLst>
                <a:ext uri="{FF2B5EF4-FFF2-40B4-BE49-F238E27FC236}">
                  <a16:creationId xmlns:a16="http://schemas.microsoft.com/office/drawing/2014/main" id="{EE61B577-3444-4CAB-92C2-AFFB2FFB8904}"/>
                </a:ext>
              </a:extLst>
            </p:cNvPr>
            <p:cNvSpPr/>
            <p:nvPr/>
          </p:nvSpPr>
          <p:spPr>
            <a:xfrm rot="5400000">
              <a:off x="-68856" y="296639"/>
              <a:ext cx="834952" cy="719786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70" name="等腰三角形 69">
              <a:extLst>
                <a:ext uri="{FF2B5EF4-FFF2-40B4-BE49-F238E27FC236}">
                  <a16:creationId xmlns:a16="http://schemas.microsoft.com/office/drawing/2014/main" id="{3AEDED66-0861-468F-8D6E-CFA4F090C0E2}"/>
                </a:ext>
              </a:extLst>
            </p:cNvPr>
            <p:cNvSpPr/>
            <p:nvPr/>
          </p:nvSpPr>
          <p:spPr>
            <a:xfrm rot="5400000">
              <a:off x="-68856" y="3610969"/>
              <a:ext cx="834952" cy="719786"/>
            </a:xfrm>
            <a:prstGeom prst="triangl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71" name="等腰三角形 70">
              <a:extLst>
                <a:ext uri="{FF2B5EF4-FFF2-40B4-BE49-F238E27FC236}">
                  <a16:creationId xmlns:a16="http://schemas.microsoft.com/office/drawing/2014/main" id="{0F6FF0BF-FA43-40F1-9E2D-D32B05AE8788}"/>
                </a:ext>
              </a:extLst>
            </p:cNvPr>
            <p:cNvSpPr/>
            <p:nvPr/>
          </p:nvSpPr>
          <p:spPr>
            <a:xfrm rot="5400000">
              <a:off x="-68856" y="4443673"/>
              <a:ext cx="834952" cy="719786"/>
            </a:xfrm>
            <a:prstGeom prst="triangle">
              <a:avLst/>
            </a:prstGeom>
            <a:solidFill>
              <a:srgbClr val="94CA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72" name="等腰三角形 71">
              <a:extLst>
                <a:ext uri="{FF2B5EF4-FFF2-40B4-BE49-F238E27FC236}">
                  <a16:creationId xmlns:a16="http://schemas.microsoft.com/office/drawing/2014/main" id="{4CF11EF2-5B94-45E8-842B-40755A182437}"/>
                </a:ext>
              </a:extLst>
            </p:cNvPr>
            <p:cNvSpPr/>
            <p:nvPr/>
          </p:nvSpPr>
          <p:spPr>
            <a:xfrm rot="5400000">
              <a:off x="-68856" y="5264883"/>
              <a:ext cx="834952" cy="719786"/>
            </a:xfrm>
            <a:prstGeom prst="triangl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73" name="等腰三角形 72">
              <a:extLst>
                <a:ext uri="{FF2B5EF4-FFF2-40B4-BE49-F238E27FC236}">
                  <a16:creationId xmlns:a16="http://schemas.microsoft.com/office/drawing/2014/main" id="{2399D565-C0DA-4F00-B731-140755CC1CD7}"/>
                </a:ext>
              </a:extLst>
            </p:cNvPr>
            <p:cNvSpPr/>
            <p:nvPr/>
          </p:nvSpPr>
          <p:spPr>
            <a:xfrm rot="5400000">
              <a:off x="-68856" y="6090363"/>
              <a:ext cx="834952" cy="719786"/>
            </a:xfrm>
            <a:prstGeom prst="triangl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74" name="等腰三角形 73">
              <a:extLst>
                <a:ext uri="{FF2B5EF4-FFF2-40B4-BE49-F238E27FC236}">
                  <a16:creationId xmlns:a16="http://schemas.microsoft.com/office/drawing/2014/main" id="{101F5175-7DA4-411A-B158-0E4A24C9421D}"/>
                </a:ext>
              </a:extLst>
            </p:cNvPr>
            <p:cNvSpPr/>
            <p:nvPr/>
          </p:nvSpPr>
          <p:spPr>
            <a:xfrm rot="5400000">
              <a:off x="-68856" y="-537190"/>
              <a:ext cx="834952" cy="719786"/>
            </a:xfrm>
            <a:prstGeom prst="triangl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718888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8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8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8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8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800" tmFilter="0,0; .5, 1; 1, 1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28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组合 31">
            <a:extLst>
              <a:ext uri="{FF2B5EF4-FFF2-40B4-BE49-F238E27FC236}">
                <a16:creationId xmlns:a16="http://schemas.microsoft.com/office/drawing/2014/main" id="{032EF26F-0D58-4A0E-97C1-668713F80B14}"/>
              </a:ext>
            </a:extLst>
          </p:cNvPr>
          <p:cNvGrpSpPr/>
          <p:nvPr/>
        </p:nvGrpSpPr>
        <p:grpSpPr>
          <a:xfrm>
            <a:off x="170320" y="203448"/>
            <a:ext cx="6511833" cy="504056"/>
            <a:chOff x="169526" y="203448"/>
            <a:chExt cx="6511833" cy="504056"/>
          </a:xfrm>
        </p:grpSpPr>
        <p:sp>
          <p:nvSpPr>
            <p:cNvPr id="4" name="TextBox 3"/>
            <p:cNvSpPr txBox="1"/>
            <p:nvPr/>
          </p:nvSpPr>
          <p:spPr>
            <a:xfrm>
              <a:off x="781172" y="245839"/>
              <a:ext cx="590018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b="1" spc="300" dirty="0">
                  <a:solidFill>
                    <a:srgbClr val="1E6787"/>
                  </a:solidFill>
                  <a:latin typeface="微软雅黑" pitchFamily="34" charset="-122"/>
                  <a:ea typeface="微软雅黑" pitchFamily="34" charset="-122"/>
                </a:rPr>
                <a:t>CSV</a:t>
              </a:r>
              <a:r>
                <a:rPr lang="zh-CN" altLang="en-US" sz="2400" b="1" spc="300" dirty="0">
                  <a:solidFill>
                    <a:srgbClr val="1E6787"/>
                  </a:solidFill>
                  <a:latin typeface="微软雅黑" pitchFamily="34" charset="-122"/>
                  <a:ea typeface="微软雅黑" pitchFamily="34" charset="-122"/>
                </a:rPr>
                <a:t>文件简介</a:t>
              </a:r>
              <a:endParaRPr lang="zh-CN" altLang="en-US" sz="2000" b="1" spc="300" dirty="0">
                <a:solidFill>
                  <a:srgbClr val="1E6787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grpSp>
          <p:nvGrpSpPr>
            <p:cNvPr id="56" name="组合 55">
              <a:extLst>
                <a:ext uri="{FF2B5EF4-FFF2-40B4-BE49-F238E27FC236}">
                  <a16:creationId xmlns:a16="http://schemas.microsoft.com/office/drawing/2014/main" id="{B3ECA4EB-10D1-4B65-B604-4032302CDAF4}"/>
                </a:ext>
              </a:extLst>
            </p:cNvPr>
            <p:cNvGrpSpPr/>
            <p:nvPr/>
          </p:nvGrpSpPr>
          <p:grpSpPr>
            <a:xfrm>
              <a:off x="169526" y="203448"/>
              <a:ext cx="504056" cy="504056"/>
              <a:chOff x="11207774" y="442662"/>
              <a:chExt cx="504056" cy="504056"/>
            </a:xfr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grpSpPr>
          <p:sp>
            <p:nvSpPr>
              <p:cNvPr id="57" name="椭圆 56">
                <a:extLst>
                  <a:ext uri="{FF2B5EF4-FFF2-40B4-BE49-F238E27FC236}">
                    <a16:creationId xmlns:a16="http://schemas.microsoft.com/office/drawing/2014/main" id="{FF372EA1-AB4F-47B1-B450-59AB8827ECD5}"/>
                  </a:ext>
                </a:extLst>
              </p:cNvPr>
              <p:cNvSpPr/>
              <p:nvPr/>
            </p:nvSpPr>
            <p:spPr>
              <a:xfrm>
                <a:off x="11351790" y="601230"/>
                <a:ext cx="216024" cy="216024"/>
              </a:xfrm>
              <a:prstGeom prst="ellipse">
                <a:avLst/>
              </a:prstGeom>
              <a:solidFill>
                <a:srgbClr val="B3DF63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prstClr val="white"/>
                  </a:solidFill>
                  <a:latin typeface="Calibri"/>
                  <a:ea typeface="微软雅黑"/>
                </a:endParaRPr>
              </a:p>
            </p:txBody>
          </p:sp>
          <p:sp>
            <p:nvSpPr>
              <p:cNvPr id="58" name="椭圆 57">
                <a:extLst>
                  <a:ext uri="{FF2B5EF4-FFF2-40B4-BE49-F238E27FC236}">
                    <a16:creationId xmlns:a16="http://schemas.microsoft.com/office/drawing/2014/main" id="{0BEE7D95-9E9C-4C6D-91AA-6429F74B9F98}"/>
                  </a:ext>
                </a:extLst>
              </p:cNvPr>
              <p:cNvSpPr/>
              <p:nvPr/>
            </p:nvSpPr>
            <p:spPr>
              <a:xfrm>
                <a:off x="11207774" y="442662"/>
                <a:ext cx="504056" cy="504056"/>
              </a:xfrm>
              <a:prstGeom prst="ellipse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Calibri"/>
                  <a:ea typeface="微软雅黑"/>
                </a:endParaRPr>
              </a:p>
            </p:txBody>
          </p:sp>
        </p:grpSp>
        <p:cxnSp>
          <p:nvCxnSpPr>
            <p:cNvPr id="20" name="直接连接符 19">
              <a:extLst>
                <a:ext uri="{FF2B5EF4-FFF2-40B4-BE49-F238E27FC236}">
                  <a16:creationId xmlns:a16="http://schemas.microsoft.com/office/drawing/2014/main" id="{C4FBB3C1-88AA-4E76-B54C-31018E3BFAA0}"/>
                </a:ext>
              </a:extLst>
            </p:cNvPr>
            <p:cNvCxnSpPr>
              <a:cxnSpLocks/>
            </p:cNvCxnSpPr>
            <p:nvPr/>
          </p:nvCxnSpPr>
          <p:spPr>
            <a:xfrm>
              <a:off x="775303" y="707504"/>
              <a:ext cx="1833288" cy="0"/>
            </a:xfrm>
            <a:prstGeom prst="line">
              <a:avLst/>
            </a:prstGeom>
            <a:ln>
              <a:solidFill>
                <a:srgbClr val="B3DF6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9" name="矩形 48">
            <a:extLst>
              <a:ext uri="{FF2B5EF4-FFF2-40B4-BE49-F238E27FC236}">
                <a16:creationId xmlns:a16="http://schemas.microsoft.com/office/drawing/2014/main" id="{2D834A0F-3130-4C5B-B4A3-49FE07333EE4}"/>
              </a:ext>
            </a:extLst>
          </p:cNvPr>
          <p:cNvSpPr/>
          <p:nvPr/>
        </p:nvSpPr>
        <p:spPr>
          <a:xfrm>
            <a:off x="530359" y="971228"/>
            <a:ext cx="11328487" cy="54638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266700"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2800" dirty="0"/>
              <a:t>CSV</a:t>
            </a:r>
            <a:r>
              <a:rPr lang="zh-CN" altLang="zh-CN" sz="2800" dirty="0"/>
              <a:t>，是英文</a:t>
            </a:r>
            <a:r>
              <a:rPr lang="en-US" altLang="zh-CN" sz="2800" dirty="0"/>
              <a:t>Comma-Separated Values</a:t>
            </a:r>
            <a:r>
              <a:rPr lang="zh-CN" altLang="zh-CN" sz="2800" dirty="0"/>
              <a:t>的缩写，翻译为“逗号分隔值”。</a:t>
            </a:r>
            <a:r>
              <a:rPr lang="en-US" altLang="zh-CN" sz="2800" dirty="0"/>
              <a:t>CSV</a:t>
            </a:r>
            <a:r>
              <a:rPr lang="zh-CN" altLang="zh-CN" sz="2800" dirty="0"/>
              <a:t>文件可以理解为以</a:t>
            </a:r>
            <a:r>
              <a:rPr lang="zh-CN" altLang="zh-CN" sz="2800" dirty="0">
                <a:solidFill>
                  <a:srgbClr val="FF0000"/>
                </a:solidFill>
              </a:rPr>
              <a:t>带逗号分隔</a:t>
            </a:r>
            <a:r>
              <a:rPr lang="zh-CN" altLang="zh-CN" sz="2800" dirty="0"/>
              <a:t>（也可以是其他简单字符分割）</a:t>
            </a:r>
            <a:r>
              <a:rPr lang="zh-CN" altLang="zh-CN" sz="2800" dirty="0">
                <a:solidFill>
                  <a:srgbClr val="FF0000"/>
                </a:solidFill>
              </a:rPr>
              <a:t>的纯文本</a:t>
            </a:r>
            <a:r>
              <a:rPr lang="zh-CN" altLang="zh-CN" sz="2800" dirty="0"/>
              <a:t>形式存储表格数据的文件。</a:t>
            </a:r>
            <a:r>
              <a:rPr lang="en-US" altLang="zh-CN" sz="2800" dirty="0"/>
              <a:t>			</a:t>
            </a:r>
          </a:p>
          <a:p>
            <a:pPr indent="266700" algn="just">
              <a:lnSpc>
                <a:spcPct val="150000"/>
              </a:lnSpc>
              <a:spcAft>
                <a:spcPts val="0"/>
              </a:spcAft>
            </a:pPr>
            <a:endParaRPr lang="en-US" altLang="zh-CN" sz="2400" dirty="0"/>
          </a:p>
          <a:p>
            <a:pPr indent="266700"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2400" dirty="0"/>
              <a:t>stu.csv</a:t>
            </a:r>
            <a:r>
              <a:rPr lang="zh-CN" altLang="en-US" sz="2400" dirty="0"/>
              <a:t>文件</a:t>
            </a:r>
            <a:endParaRPr lang="en-US" altLang="zh-CN" sz="2400" dirty="0"/>
          </a:p>
          <a:p>
            <a:pPr indent="266700" algn="just">
              <a:lnSpc>
                <a:spcPct val="150000"/>
              </a:lnSpc>
              <a:spcAft>
                <a:spcPts val="0"/>
              </a:spcAft>
            </a:pPr>
            <a:r>
              <a:rPr lang="zh-CN" altLang="en-US" sz="2400" dirty="0"/>
              <a:t>可以用记事本，</a:t>
            </a:r>
            <a:endParaRPr lang="en-US" altLang="zh-CN" sz="2400" dirty="0"/>
          </a:p>
          <a:p>
            <a:pPr indent="266700" algn="just">
              <a:lnSpc>
                <a:spcPct val="150000"/>
              </a:lnSpc>
              <a:spcAft>
                <a:spcPts val="0"/>
              </a:spcAft>
            </a:pPr>
            <a:r>
              <a:rPr lang="zh-CN" altLang="en-US" sz="2400" dirty="0"/>
              <a:t>也可用</a:t>
            </a:r>
            <a:r>
              <a:rPr lang="en-US" altLang="zh-CN" sz="2400" dirty="0"/>
              <a:t>Excel</a:t>
            </a:r>
            <a:r>
              <a:rPr lang="zh-CN" altLang="en-US" sz="2400" dirty="0"/>
              <a:t>打开</a:t>
            </a:r>
            <a:endParaRPr lang="en-US" altLang="zh-CN" sz="2400" dirty="0"/>
          </a:p>
          <a:p>
            <a:pPr indent="266700" algn="just">
              <a:lnSpc>
                <a:spcPct val="150000"/>
              </a:lnSpc>
              <a:spcAft>
                <a:spcPts val="0"/>
              </a:spcAft>
            </a:pPr>
            <a:endParaRPr lang="en-US" altLang="zh-CN" sz="2800" dirty="0"/>
          </a:p>
          <a:p>
            <a:pPr indent="266700" algn="just">
              <a:lnSpc>
                <a:spcPct val="150000"/>
              </a:lnSpc>
              <a:spcAft>
                <a:spcPts val="0"/>
              </a:spcAft>
            </a:pPr>
            <a:endParaRPr lang="zh-CN" altLang="zh-CN" sz="2800" kern="100" dirty="0">
              <a:latin typeface="+mn-ea"/>
              <a:cs typeface="Times New Roman" panose="02020603050405020304" pitchFamily="18" charset="0"/>
            </a:endParaRP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D4C2D132-F0EC-4797-A1C4-C2E4D5974581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27734" y="2995740"/>
            <a:ext cx="3047098" cy="3352835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C8280450-644A-45E4-BD62-96EE0284B850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8447080" y="2995740"/>
            <a:ext cx="3214561" cy="3296374"/>
          </a:xfrm>
          <a:prstGeom prst="rect">
            <a:avLst/>
          </a:prstGeom>
        </p:spPr>
      </p:pic>
      <p:sp>
        <p:nvSpPr>
          <p:cNvPr id="5" name="箭头: 右 4">
            <a:extLst>
              <a:ext uri="{FF2B5EF4-FFF2-40B4-BE49-F238E27FC236}">
                <a16:creationId xmlns:a16="http://schemas.microsoft.com/office/drawing/2014/main" id="{B1E3CE3A-A825-4373-9578-F6DBEBD258AF}"/>
              </a:ext>
            </a:extLst>
          </p:cNvPr>
          <p:cNvSpPr/>
          <p:nvPr/>
        </p:nvSpPr>
        <p:spPr>
          <a:xfrm>
            <a:off x="3338623" y="4210493"/>
            <a:ext cx="701749" cy="461665"/>
          </a:xfrm>
          <a:prstGeom prst="rightArrow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24580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4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4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2" presetClass="entr" presetSubtype="2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2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组合 31">
            <a:extLst>
              <a:ext uri="{FF2B5EF4-FFF2-40B4-BE49-F238E27FC236}">
                <a16:creationId xmlns:a16="http://schemas.microsoft.com/office/drawing/2014/main" id="{032EF26F-0D58-4A0E-97C1-668713F80B14}"/>
              </a:ext>
            </a:extLst>
          </p:cNvPr>
          <p:cNvGrpSpPr/>
          <p:nvPr/>
        </p:nvGrpSpPr>
        <p:grpSpPr>
          <a:xfrm>
            <a:off x="170320" y="203448"/>
            <a:ext cx="6511833" cy="504056"/>
            <a:chOff x="169526" y="203448"/>
            <a:chExt cx="6511833" cy="504056"/>
          </a:xfrm>
        </p:grpSpPr>
        <p:sp>
          <p:nvSpPr>
            <p:cNvPr id="4" name="TextBox 3"/>
            <p:cNvSpPr txBox="1"/>
            <p:nvPr/>
          </p:nvSpPr>
          <p:spPr>
            <a:xfrm>
              <a:off x="781172" y="245839"/>
              <a:ext cx="590018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b="1" spc="300" dirty="0">
                  <a:solidFill>
                    <a:srgbClr val="1E6787"/>
                  </a:solidFill>
                  <a:latin typeface="微软雅黑" pitchFamily="34" charset="-122"/>
                  <a:ea typeface="微软雅黑" pitchFamily="34" charset="-122"/>
                </a:rPr>
                <a:t>CSV</a:t>
              </a:r>
              <a:r>
                <a:rPr lang="zh-CN" altLang="en-US" sz="2400" b="1" spc="300" dirty="0">
                  <a:solidFill>
                    <a:srgbClr val="1E6787"/>
                  </a:solidFill>
                  <a:latin typeface="微软雅黑" pitchFamily="34" charset="-122"/>
                  <a:ea typeface="微软雅黑" pitchFamily="34" charset="-122"/>
                </a:rPr>
                <a:t>文件简介</a:t>
              </a:r>
              <a:endParaRPr lang="zh-CN" altLang="en-US" sz="2000" b="1" spc="300" dirty="0">
                <a:solidFill>
                  <a:srgbClr val="1E6787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grpSp>
          <p:nvGrpSpPr>
            <p:cNvPr id="56" name="组合 55">
              <a:extLst>
                <a:ext uri="{FF2B5EF4-FFF2-40B4-BE49-F238E27FC236}">
                  <a16:creationId xmlns:a16="http://schemas.microsoft.com/office/drawing/2014/main" id="{B3ECA4EB-10D1-4B65-B604-4032302CDAF4}"/>
                </a:ext>
              </a:extLst>
            </p:cNvPr>
            <p:cNvGrpSpPr/>
            <p:nvPr/>
          </p:nvGrpSpPr>
          <p:grpSpPr>
            <a:xfrm>
              <a:off x="169526" y="203448"/>
              <a:ext cx="504056" cy="504056"/>
              <a:chOff x="11207774" y="442662"/>
              <a:chExt cx="504056" cy="504056"/>
            </a:xfr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grpSpPr>
          <p:sp>
            <p:nvSpPr>
              <p:cNvPr id="57" name="椭圆 56">
                <a:extLst>
                  <a:ext uri="{FF2B5EF4-FFF2-40B4-BE49-F238E27FC236}">
                    <a16:creationId xmlns:a16="http://schemas.microsoft.com/office/drawing/2014/main" id="{FF372EA1-AB4F-47B1-B450-59AB8827ECD5}"/>
                  </a:ext>
                </a:extLst>
              </p:cNvPr>
              <p:cNvSpPr/>
              <p:nvPr/>
            </p:nvSpPr>
            <p:spPr>
              <a:xfrm>
                <a:off x="11351790" y="601230"/>
                <a:ext cx="216024" cy="216024"/>
              </a:xfrm>
              <a:prstGeom prst="ellipse">
                <a:avLst/>
              </a:prstGeom>
              <a:solidFill>
                <a:srgbClr val="B3DF63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prstClr val="white"/>
                  </a:solidFill>
                  <a:latin typeface="Calibri"/>
                  <a:ea typeface="微软雅黑"/>
                </a:endParaRPr>
              </a:p>
            </p:txBody>
          </p:sp>
          <p:sp>
            <p:nvSpPr>
              <p:cNvPr id="58" name="椭圆 57">
                <a:extLst>
                  <a:ext uri="{FF2B5EF4-FFF2-40B4-BE49-F238E27FC236}">
                    <a16:creationId xmlns:a16="http://schemas.microsoft.com/office/drawing/2014/main" id="{0BEE7D95-9E9C-4C6D-91AA-6429F74B9F98}"/>
                  </a:ext>
                </a:extLst>
              </p:cNvPr>
              <p:cNvSpPr/>
              <p:nvPr/>
            </p:nvSpPr>
            <p:spPr>
              <a:xfrm>
                <a:off x="11207774" y="442662"/>
                <a:ext cx="504056" cy="504056"/>
              </a:xfrm>
              <a:prstGeom prst="ellipse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Calibri"/>
                  <a:ea typeface="微软雅黑"/>
                </a:endParaRPr>
              </a:p>
            </p:txBody>
          </p:sp>
        </p:grpSp>
        <p:cxnSp>
          <p:nvCxnSpPr>
            <p:cNvPr id="20" name="直接连接符 19">
              <a:extLst>
                <a:ext uri="{FF2B5EF4-FFF2-40B4-BE49-F238E27FC236}">
                  <a16:creationId xmlns:a16="http://schemas.microsoft.com/office/drawing/2014/main" id="{C4FBB3C1-88AA-4E76-B54C-31018E3BFAA0}"/>
                </a:ext>
              </a:extLst>
            </p:cNvPr>
            <p:cNvCxnSpPr>
              <a:cxnSpLocks/>
            </p:cNvCxnSpPr>
            <p:nvPr/>
          </p:nvCxnSpPr>
          <p:spPr>
            <a:xfrm>
              <a:off x="775303" y="707504"/>
              <a:ext cx="1833288" cy="0"/>
            </a:xfrm>
            <a:prstGeom prst="line">
              <a:avLst/>
            </a:prstGeom>
            <a:ln>
              <a:solidFill>
                <a:srgbClr val="B3DF6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9" name="矩形 48">
            <a:extLst>
              <a:ext uri="{FF2B5EF4-FFF2-40B4-BE49-F238E27FC236}">
                <a16:creationId xmlns:a16="http://schemas.microsoft.com/office/drawing/2014/main" id="{2D834A0F-3130-4C5B-B4A3-49FE07333EE4}"/>
              </a:ext>
            </a:extLst>
          </p:cNvPr>
          <p:cNvSpPr/>
          <p:nvPr/>
        </p:nvSpPr>
        <p:spPr>
          <a:xfrm>
            <a:off x="530360" y="1169169"/>
            <a:ext cx="11328487" cy="4003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266700"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2800" dirty="0"/>
              <a:t>CSV</a:t>
            </a:r>
            <a:r>
              <a:rPr lang="zh-CN" altLang="en-US" sz="2800" dirty="0"/>
              <a:t>文件，一般具有以下特征：</a:t>
            </a:r>
            <a:endParaRPr lang="en-US" altLang="zh-CN" sz="2800" dirty="0"/>
          </a:p>
          <a:p>
            <a:pPr marL="914400" lvl="1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400" dirty="0">
                <a:solidFill>
                  <a:srgbClr val="FF9900"/>
                </a:solidFill>
              </a:rPr>
              <a:t>纯文本</a:t>
            </a:r>
            <a:r>
              <a:rPr lang="zh-CN" altLang="en-US" sz="2400" dirty="0"/>
              <a:t>，使用某个字符集，比如</a:t>
            </a:r>
            <a:r>
              <a:rPr lang="en-US" altLang="zh-CN" sz="2400" dirty="0"/>
              <a:t>ASCII</a:t>
            </a:r>
            <a:r>
              <a:rPr lang="zh-CN" altLang="en-US" sz="2400" dirty="0"/>
              <a:t>、</a:t>
            </a:r>
            <a:r>
              <a:rPr lang="en-US" altLang="zh-CN" sz="2400" dirty="0"/>
              <a:t>Unicode</a:t>
            </a:r>
            <a:r>
              <a:rPr lang="zh-CN" altLang="en-US" sz="2400" dirty="0"/>
              <a:t>、</a:t>
            </a:r>
            <a:r>
              <a:rPr lang="en-US" altLang="zh-CN" sz="2400" dirty="0"/>
              <a:t>EBCDIC</a:t>
            </a:r>
            <a:r>
              <a:rPr lang="zh-CN" altLang="en-US" sz="2400" dirty="0"/>
              <a:t>或</a:t>
            </a:r>
            <a:r>
              <a:rPr lang="en-US" altLang="zh-CN" sz="2400" dirty="0"/>
              <a:t>GB2312</a:t>
            </a:r>
            <a:r>
              <a:rPr lang="zh-CN" altLang="en-US" sz="2400" dirty="0"/>
              <a:t>；</a:t>
            </a:r>
          </a:p>
          <a:p>
            <a:pPr marL="914400" lvl="1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400" dirty="0"/>
              <a:t>由</a:t>
            </a:r>
            <a:r>
              <a:rPr lang="zh-CN" altLang="en-US" sz="2400" dirty="0">
                <a:solidFill>
                  <a:srgbClr val="FF9900"/>
                </a:solidFill>
              </a:rPr>
              <a:t>记录组成</a:t>
            </a:r>
            <a:r>
              <a:rPr lang="zh-CN" altLang="en-US" sz="2400" dirty="0"/>
              <a:t>，一行对应一条记录，</a:t>
            </a:r>
            <a:r>
              <a:rPr lang="zh-CN" altLang="en-US" sz="2400" dirty="0">
                <a:solidFill>
                  <a:srgbClr val="FF0000"/>
                </a:solidFill>
              </a:rPr>
              <a:t>每行开头不留空格</a:t>
            </a:r>
            <a:r>
              <a:rPr lang="zh-CN" altLang="en-US" sz="2400" dirty="0"/>
              <a:t>；</a:t>
            </a:r>
          </a:p>
          <a:p>
            <a:pPr marL="914400" lvl="1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400" dirty="0"/>
              <a:t>每条记录被</a:t>
            </a:r>
            <a:r>
              <a:rPr lang="zh-CN" altLang="en-US" sz="2400" dirty="0">
                <a:solidFill>
                  <a:srgbClr val="FF9900"/>
                </a:solidFill>
              </a:rPr>
              <a:t>英文半角分隔符</a:t>
            </a:r>
            <a:r>
              <a:rPr lang="zh-CN" altLang="en-US" sz="2400" dirty="0"/>
              <a:t>（可以使逗号、分号、制表符等）分割为字段；</a:t>
            </a:r>
          </a:p>
          <a:p>
            <a:pPr marL="914400" lvl="1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400" dirty="0"/>
              <a:t>每条记录都有</a:t>
            </a:r>
            <a:r>
              <a:rPr lang="zh-CN" altLang="en-US" sz="2400" dirty="0">
                <a:solidFill>
                  <a:srgbClr val="FF9900"/>
                </a:solidFill>
              </a:rPr>
              <a:t>同样的字段序列</a:t>
            </a:r>
            <a:r>
              <a:rPr lang="zh-CN" altLang="en-US" sz="2400" dirty="0"/>
              <a:t>；</a:t>
            </a:r>
          </a:p>
          <a:p>
            <a:pPr marL="914400" lvl="1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400" dirty="0"/>
              <a:t>如果文件包含字段名，</a:t>
            </a:r>
            <a:r>
              <a:rPr lang="zh-CN" altLang="en-US" sz="2400" dirty="0">
                <a:solidFill>
                  <a:srgbClr val="FF0000"/>
                </a:solidFill>
              </a:rPr>
              <a:t>字段名写在文件第一行</a:t>
            </a:r>
            <a:r>
              <a:rPr lang="zh-CN" altLang="en-US" sz="2400" dirty="0"/>
              <a:t>；</a:t>
            </a:r>
          </a:p>
          <a:p>
            <a:pPr marL="914400" lvl="1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400" dirty="0"/>
              <a:t>不包含特殊字符，文件中均为</a:t>
            </a:r>
            <a:r>
              <a:rPr lang="zh-CN" altLang="en-US" sz="2400" dirty="0">
                <a:solidFill>
                  <a:srgbClr val="FF9900"/>
                </a:solidFill>
              </a:rPr>
              <a:t>字符串</a:t>
            </a:r>
            <a:r>
              <a:rPr lang="zh-CN" altLang="en-US" sz="2400" dirty="0"/>
              <a:t>。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C8FA4CE-3D15-48CC-87EC-8CAEB82B74CA}"/>
              </a:ext>
            </a:extLst>
          </p:cNvPr>
          <p:cNvSpPr/>
          <p:nvPr/>
        </p:nvSpPr>
        <p:spPr>
          <a:xfrm>
            <a:off x="2346225" y="5688831"/>
            <a:ext cx="7923131" cy="523220"/>
          </a:xfrm>
          <a:prstGeom prst="rect">
            <a:avLst/>
          </a:prstGeom>
          <a:solidFill>
            <a:schemeClr val="accent1"/>
          </a:solidFill>
        </p:spPr>
        <p:txBody>
          <a:bodyPr wrap="none">
            <a:spAutoFit/>
          </a:bodyPr>
          <a:lstStyle/>
          <a:p>
            <a:r>
              <a:rPr lang="en-US" altLang="zh-CN" sz="2800" dirty="0">
                <a:solidFill>
                  <a:schemeClr val="bg1"/>
                </a:solidFill>
              </a:rPr>
              <a:t>CSV</a:t>
            </a:r>
            <a:r>
              <a:rPr lang="zh-CN" altLang="en-US" sz="2800" dirty="0">
                <a:solidFill>
                  <a:schemeClr val="bg1"/>
                </a:solidFill>
              </a:rPr>
              <a:t>文件广泛应用于在不同程序之间转移表格数据</a:t>
            </a:r>
          </a:p>
        </p:txBody>
      </p:sp>
    </p:spTree>
    <p:extLst>
      <p:ext uri="{BB962C8B-B14F-4D97-AF65-F5344CB8AC3E}">
        <p14:creationId xmlns:p14="http://schemas.microsoft.com/office/powerpoint/2010/main" val="23710678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组合 31">
            <a:extLst>
              <a:ext uri="{FF2B5EF4-FFF2-40B4-BE49-F238E27FC236}">
                <a16:creationId xmlns:a16="http://schemas.microsoft.com/office/drawing/2014/main" id="{032EF26F-0D58-4A0E-97C1-668713F80B14}"/>
              </a:ext>
            </a:extLst>
          </p:cNvPr>
          <p:cNvGrpSpPr/>
          <p:nvPr/>
        </p:nvGrpSpPr>
        <p:grpSpPr>
          <a:xfrm>
            <a:off x="170320" y="203448"/>
            <a:ext cx="6511833" cy="504056"/>
            <a:chOff x="169526" y="203448"/>
            <a:chExt cx="6511833" cy="504056"/>
          </a:xfrm>
        </p:grpSpPr>
        <p:sp>
          <p:nvSpPr>
            <p:cNvPr id="4" name="TextBox 3"/>
            <p:cNvSpPr txBox="1"/>
            <p:nvPr/>
          </p:nvSpPr>
          <p:spPr>
            <a:xfrm>
              <a:off x="781172" y="245839"/>
              <a:ext cx="590018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b="1" spc="300" dirty="0">
                  <a:solidFill>
                    <a:srgbClr val="1E6787"/>
                  </a:solidFill>
                  <a:latin typeface="微软雅黑" pitchFamily="34" charset="-122"/>
                  <a:ea typeface="微软雅黑" pitchFamily="34" charset="-122"/>
                </a:rPr>
                <a:t>CSV</a:t>
              </a:r>
              <a:r>
                <a:rPr lang="zh-CN" altLang="en-US" sz="2400" b="1" spc="300" dirty="0">
                  <a:solidFill>
                    <a:srgbClr val="1E6787"/>
                  </a:solidFill>
                  <a:latin typeface="微软雅黑" pitchFamily="34" charset="-122"/>
                  <a:ea typeface="微软雅黑" pitchFamily="34" charset="-122"/>
                </a:rPr>
                <a:t>文件操作</a:t>
              </a:r>
              <a:endParaRPr lang="zh-CN" altLang="en-US" sz="2000" b="1" spc="300" dirty="0">
                <a:solidFill>
                  <a:srgbClr val="1E6787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grpSp>
          <p:nvGrpSpPr>
            <p:cNvPr id="56" name="组合 55">
              <a:extLst>
                <a:ext uri="{FF2B5EF4-FFF2-40B4-BE49-F238E27FC236}">
                  <a16:creationId xmlns:a16="http://schemas.microsoft.com/office/drawing/2014/main" id="{B3ECA4EB-10D1-4B65-B604-4032302CDAF4}"/>
                </a:ext>
              </a:extLst>
            </p:cNvPr>
            <p:cNvGrpSpPr/>
            <p:nvPr/>
          </p:nvGrpSpPr>
          <p:grpSpPr>
            <a:xfrm>
              <a:off x="169526" y="203448"/>
              <a:ext cx="504056" cy="504056"/>
              <a:chOff x="11207774" y="442662"/>
              <a:chExt cx="504056" cy="504056"/>
            </a:xfr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grpSpPr>
          <p:sp>
            <p:nvSpPr>
              <p:cNvPr id="57" name="椭圆 56">
                <a:extLst>
                  <a:ext uri="{FF2B5EF4-FFF2-40B4-BE49-F238E27FC236}">
                    <a16:creationId xmlns:a16="http://schemas.microsoft.com/office/drawing/2014/main" id="{FF372EA1-AB4F-47B1-B450-59AB8827ECD5}"/>
                  </a:ext>
                </a:extLst>
              </p:cNvPr>
              <p:cNvSpPr/>
              <p:nvPr/>
            </p:nvSpPr>
            <p:spPr>
              <a:xfrm>
                <a:off x="11351790" y="601230"/>
                <a:ext cx="216024" cy="216024"/>
              </a:xfrm>
              <a:prstGeom prst="ellipse">
                <a:avLst/>
              </a:prstGeom>
              <a:solidFill>
                <a:srgbClr val="B3DF63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prstClr val="white"/>
                  </a:solidFill>
                  <a:latin typeface="Calibri"/>
                  <a:ea typeface="微软雅黑"/>
                </a:endParaRPr>
              </a:p>
            </p:txBody>
          </p:sp>
          <p:sp>
            <p:nvSpPr>
              <p:cNvPr id="58" name="椭圆 57">
                <a:extLst>
                  <a:ext uri="{FF2B5EF4-FFF2-40B4-BE49-F238E27FC236}">
                    <a16:creationId xmlns:a16="http://schemas.microsoft.com/office/drawing/2014/main" id="{0BEE7D95-9E9C-4C6D-91AA-6429F74B9F98}"/>
                  </a:ext>
                </a:extLst>
              </p:cNvPr>
              <p:cNvSpPr/>
              <p:nvPr/>
            </p:nvSpPr>
            <p:spPr>
              <a:xfrm>
                <a:off x="11207774" y="442662"/>
                <a:ext cx="504056" cy="504056"/>
              </a:xfrm>
              <a:prstGeom prst="ellipse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Calibri"/>
                  <a:ea typeface="微软雅黑"/>
                </a:endParaRPr>
              </a:p>
            </p:txBody>
          </p:sp>
        </p:grpSp>
        <p:cxnSp>
          <p:nvCxnSpPr>
            <p:cNvPr id="20" name="直接连接符 19">
              <a:extLst>
                <a:ext uri="{FF2B5EF4-FFF2-40B4-BE49-F238E27FC236}">
                  <a16:creationId xmlns:a16="http://schemas.microsoft.com/office/drawing/2014/main" id="{C4FBB3C1-88AA-4E76-B54C-31018E3BFAA0}"/>
                </a:ext>
              </a:extLst>
            </p:cNvPr>
            <p:cNvCxnSpPr>
              <a:cxnSpLocks/>
            </p:cNvCxnSpPr>
            <p:nvPr/>
          </p:nvCxnSpPr>
          <p:spPr>
            <a:xfrm>
              <a:off x="775303" y="707504"/>
              <a:ext cx="1833288" cy="0"/>
            </a:xfrm>
            <a:prstGeom prst="line">
              <a:avLst/>
            </a:prstGeom>
            <a:ln>
              <a:solidFill>
                <a:srgbClr val="B3DF6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9" name="矩形 48">
            <a:extLst>
              <a:ext uri="{FF2B5EF4-FFF2-40B4-BE49-F238E27FC236}">
                <a16:creationId xmlns:a16="http://schemas.microsoft.com/office/drawing/2014/main" id="{2D834A0F-3130-4C5B-B4A3-49FE07333EE4}"/>
              </a:ext>
            </a:extLst>
          </p:cNvPr>
          <p:cNvSpPr/>
          <p:nvPr/>
        </p:nvSpPr>
        <p:spPr>
          <a:xfrm>
            <a:off x="530361" y="1169169"/>
            <a:ext cx="10605472" cy="19625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266700" algn="just">
              <a:lnSpc>
                <a:spcPct val="150000"/>
              </a:lnSpc>
              <a:spcAft>
                <a:spcPts val="0"/>
              </a:spcAft>
            </a:pPr>
            <a:r>
              <a:rPr lang="zh-CN" altLang="en-US" sz="2800" dirty="0"/>
              <a:t>针对</a:t>
            </a:r>
            <a:r>
              <a:rPr lang="en-US" altLang="zh-CN" sz="2800" dirty="0"/>
              <a:t>CSV</a:t>
            </a:r>
            <a:r>
              <a:rPr lang="zh-CN" altLang="en-US" sz="2800" dirty="0"/>
              <a:t>文件，</a:t>
            </a:r>
            <a:r>
              <a:rPr lang="en-US" altLang="zh-CN" sz="2800" dirty="0"/>
              <a:t>Python</a:t>
            </a:r>
            <a:r>
              <a:rPr lang="zh-CN" altLang="en-US" sz="2800" dirty="0"/>
              <a:t>提供了内置同名模块</a:t>
            </a:r>
            <a:r>
              <a:rPr lang="en-US" altLang="zh-CN" sz="2800" dirty="0"/>
              <a:t>csv</a:t>
            </a:r>
            <a:r>
              <a:rPr lang="zh-CN" altLang="en-US" sz="2800" dirty="0"/>
              <a:t>进行读写操作，读操作使用模块中的</a:t>
            </a:r>
            <a:r>
              <a:rPr lang="en-US" altLang="zh-CN" sz="2800" dirty="0"/>
              <a:t>reader</a:t>
            </a:r>
            <a:r>
              <a:rPr lang="zh-CN" altLang="en-US" sz="2800" dirty="0"/>
              <a:t>对象，写操作使用模块中的</a:t>
            </a:r>
            <a:r>
              <a:rPr lang="en-US" altLang="zh-CN" sz="2800" dirty="0"/>
              <a:t>writer</a:t>
            </a:r>
            <a:r>
              <a:rPr lang="zh-CN" altLang="en-US" sz="2800" dirty="0"/>
              <a:t>对象。</a:t>
            </a:r>
            <a:endParaRPr lang="en-US" altLang="zh-CN" sz="2800" dirty="0"/>
          </a:p>
          <a:p>
            <a:pPr indent="266700"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2800" dirty="0"/>
              <a:t>CSV</a:t>
            </a:r>
            <a:r>
              <a:rPr lang="zh-CN" altLang="en-US" sz="2800" dirty="0"/>
              <a:t>文件进行读、写操作前也需要先打开文件。</a:t>
            </a:r>
            <a:endParaRPr lang="en-US" altLang="zh-CN" sz="2800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91DEF64-685E-4228-9112-33B757BDE484}"/>
              </a:ext>
            </a:extLst>
          </p:cNvPr>
          <p:cNvSpPr/>
          <p:nvPr/>
        </p:nvSpPr>
        <p:spPr>
          <a:xfrm>
            <a:off x="1139847" y="3619939"/>
            <a:ext cx="6096000" cy="1695336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/>
              <a:t>&gt;&gt;&gt; </a:t>
            </a:r>
            <a:r>
              <a:rPr lang="en-US" altLang="zh-CN" sz="2400" dirty="0">
                <a:solidFill>
                  <a:srgbClr val="FF9900"/>
                </a:solidFill>
              </a:rPr>
              <a:t>import</a:t>
            </a:r>
            <a:r>
              <a:rPr lang="en-US" altLang="zh-CN" sz="2400" dirty="0"/>
              <a:t> csv</a:t>
            </a:r>
            <a:endParaRPr lang="zh-CN" altLang="zh-CN" sz="2400" dirty="0"/>
          </a:p>
          <a:p>
            <a:pPr>
              <a:lnSpc>
                <a:spcPct val="150000"/>
              </a:lnSpc>
            </a:pPr>
            <a:r>
              <a:rPr lang="en-US" altLang="zh-CN" sz="2400" dirty="0"/>
              <a:t>&gt;&gt;&gt; </a:t>
            </a:r>
            <a:r>
              <a:rPr lang="en-US" altLang="zh-CN" sz="2400" dirty="0">
                <a:solidFill>
                  <a:srgbClr val="FF9900"/>
                </a:solidFill>
              </a:rPr>
              <a:t>with</a:t>
            </a:r>
            <a:r>
              <a:rPr lang="en-US" altLang="zh-CN" sz="2400" dirty="0"/>
              <a:t> </a:t>
            </a:r>
            <a:r>
              <a:rPr lang="en-US" altLang="zh-CN" sz="2400" dirty="0">
                <a:solidFill>
                  <a:srgbClr val="7030A0"/>
                </a:solidFill>
              </a:rPr>
              <a:t>open</a:t>
            </a:r>
            <a:r>
              <a:rPr lang="en-US" altLang="zh-CN" sz="2400" dirty="0"/>
              <a:t>(</a:t>
            </a:r>
            <a:r>
              <a:rPr lang="zh-CN" altLang="en-US" sz="2400" dirty="0">
                <a:solidFill>
                  <a:srgbClr val="00B050"/>
                </a:solidFill>
              </a:rPr>
              <a:t>文件名</a:t>
            </a:r>
            <a:r>
              <a:rPr lang="en-US" altLang="zh-CN" sz="2400" dirty="0"/>
              <a:t>,</a:t>
            </a:r>
            <a:r>
              <a:rPr lang="zh-CN" altLang="en-US" sz="2400" dirty="0">
                <a:solidFill>
                  <a:srgbClr val="00B050"/>
                </a:solidFill>
              </a:rPr>
              <a:t>读写模式</a:t>
            </a:r>
            <a:r>
              <a:rPr lang="en-US" altLang="zh-CN" sz="2400" dirty="0"/>
              <a:t>) </a:t>
            </a:r>
            <a:r>
              <a:rPr lang="en-US" altLang="zh-CN" sz="2400" dirty="0">
                <a:solidFill>
                  <a:srgbClr val="FF9900"/>
                </a:solidFill>
              </a:rPr>
              <a:t>as</a:t>
            </a:r>
            <a:r>
              <a:rPr lang="en-US" altLang="zh-CN" sz="2400" dirty="0"/>
              <a:t> file</a:t>
            </a:r>
            <a:r>
              <a:rPr lang="zh-CN" altLang="en-US" sz="2400" dirty="0"/>
              <a:t>对象名</a:t>
            </a:r>
            <a:r>
              <a:rPr lang="en-US" altLang="zh-CN" sz="2400" dirty="0"/>
              <a:t>:</a:t>
            </a:r>
            <a:endParaRPr lang="zh-CN" altLang="zh-CN" sz="2400" dirty="0"/>
          </a:p>
          <a:p>
            <a:pPr>
              <a:lnSpc>
                <a:spcPct val="150000"/>
              </a:lnSpc>
            </a:pPr>
            <a:r>
              <a:rPr lang="en-US" altLang="zh-CN" sz="2400" dirty="0"/>
              <a:t>	</a:t>
            </a:r>
            <a:r>
              <a:rPr lang="en-US" altLang="zh-CN" sz="2400" dirty="0">
                <a:solidFill>
                  <a:srgbClr val="C00000"/>
                </a:solidFill>
              </a:rPr>
              <a:t>#</a:t>
            </a:r>
            <a:r>
              <a:rPr lang="zh-CN" altLang="en-US" sz="2400" dirty="0">
                <a:solidFill>
                  <a:srgbClr val="C00000"/>
                </a:solidFill>
              </a:rPr>
              <a:t>读写操作</a:t>
            </a:r>
            <a:r>
              <a:rPr lang="en-US" altLang="zh-CN" sz="2400" dirty="0"/>
              <a:t>		</a:t>
            </a:r>
            <a:endParaRPr lang="zh-CN" altLang="en-US" sz="2400" dirty="0"/>
          </a:p>
        </p:txBody>
      </p:sp>
      <p:sp>
        <p:nvSpPr>
          <p:cNvPr id="5" name="对话气泡: 矩形 4">
            <a:extLst>
              <a:ext uri="{FF2B5EF4-FFF2-40B4-BE49-F238E27FC236}">
                <a16:creationId xmlns:a16="http://schemas.microsoft.com/office/drawing/2014/main" id="{3C9BB712-6E58-45D5-B238-FAD814817A1D}"/>
              </a:ext>
            </a:extLst>
          </p:cNvPr>
          <p:cNvSpPr/>
          <p:nvPr/>
        </p:nvSpPr>
        <p:spPr>
          <a:xfrm>
            <a:off x="7732033" y="3086945"/>
            <a:ext cx="4182140" cy="2346698"/>
          </a:xfrm>
          <a:prstGeom prst="wedgeRectCallout">
            <a:avLst>
              <a:gd name="adj1" fmla="val -60591"/>
              <a:gd name="adj2" fmla="val -2599"/>
            </a:avLst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zh-CN" altLang="en-US" sz="2400" dirty="0"/>
              <a:t>用</a:t>
            </a:r>
            <a:r>
              <a:rPr lang="en-US" altLang="zh-CN" sz="2400" dirty="0"/>
              <a:t>with</a:t>
            </a:r>
            <a:r>
              <a:rPr lang="zh-CN" altLang="en-US" sz="2400" dirty="0"/>
              <a:t>子句打开的文件，当文件读操作结束后，系统自动调用</a:t>
            </a:r>
            <a:r>
              <a:rPr lang="en-US" altLang="zh-CN" sz="2400" dirty="0"/>
              <a:t>close</a:t>
            </a:r>
            <a:r>
              <a:rPr lang="zh-CN" altLang="en-US" sz="2400" dirty="0"/>
              <a:t>方法关闭文件。</a:t>
            </a:r>
          </a:p>
        </p:txBody>
      </p:sp>
    </p:spTree>
    <p:extLst>
      <p:ext uri="{BB962C8B-B14F-4D97-AF65-F5344CB8AC3E}">
        <p14:creationId xmlns:p14="http://schemas.microsoft.com/office/powerpoint/2010/main" val="14214783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组合 31">
            <a:extLst>
              <a:ext uri="{FF2B5EF4-FFF2-40B4-BE49-F238E27FC236}">
                <a16:creationId xmlns:a16="http://schemas.microsoft.com/office/drawing/2014/main" id="{032EF26F-0D58-4A0E-97C1-668713F80B14}"/>
              </a:ext>
            </a:extLst>
          </p:cNvPr>
          <p:cNvGrpSpPr/>
          <p:nvPr/>
        </p:nvGrpSpPr>
        <p:grpSpPr>
          <a:xfrm>
            <a:off x="170320" y="203448"/>
            <a:ext cx="6511833" cy="504056"/>
            <a:chOff x="169526" y="203448"/>
            <a:chExt cx="6511833" cy="504056"/>
          </a:xfrm>
        </p:grpSpPr>
        <p:sp>
          <p:nvSpPr>
            <p:cNvPr id="4" name="TextBox 3"/>
            <p:cNvSpPr txBox="1"/>
            <p:nvPr/>
          </p:nvSpPr>
          <p:spPr>
            <a:xfrm>
              <a:off x="781172" y="245839"/>
              <a:ext cx="590018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b="1" spc="300" dirty="0">
                  <a:solidFill>
                    <a:srgbClr val="1E6787"/>
                  </a:solidFill>
                  <a:latin typeface="微软雅黑" pitchFamily="34" charset="-122"/>
                  <a:ea typeface="微软雅黑" pitchFamily="34" charset="-122"/>
                </a:rPr>
                <a:t>CSV</a:t>
              </a:r>
              <a:r>
                <a:rPr lang="zh-CN" altLang="en-US" sz="2400" b="1" spc="300" dirty="0">
                  <a:solidFill>
                    <a:srgbClr val="1E6787"/>
                  </a:solidFill>
                  <a:latin typeface="微软雅黑" pitchFamily="34" charset="-122"/>
                  <a:ea typeface="微软雅黑" pitchFamily="34" charset="-122"/>
                </a:rPr>
                <a:t>文件操作</a:t>
              </a:r>
              <a:r>
                <a:rPr lang="en-US" altLang="zh-CN" sz="2400" b="1" spc="300" dirty="0">
                  <a:solidFill>
                    <a:srgbClr val="1E6787"/>
                  </a:solidFill>
                  <a:latin typeface="微软雅黑" pitchFamily="34" charset="-122"/>
                  <a:ea typeface="微软雅黑" pitchFamily="34" charset="-122"/>
                </a:rPr>
                <a:t>—</a:t>
              </a:r>
              <a:r>
                <a:rPr lang="zh-CN" altLang="en-US" sz="2400" b="1" spc="300" dirty="0">
                  <a:solidFill>
                    <a:srgbClr val="1E6787"/>
                  </a:solidFill>
                  <a:latin typeface="微软雅黑" pitchFamily="34" charset="-122"/>
                  <a:ea typeface="微软雅黑" pitchFamily="34" charset="-122"/>
                </a:rPr>
                <a:t>读文件</a:t>
              </a:r>
              <a:endParaRPr lang="zh-CN" altLang="en-US" sz="2000" b="1" spc="300" dirty="0">
                <a:solidFill>
                  <a:srgbClr val="1E6787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grpSp>
          <p:nvGrpSpPr>
            <p:cNvPr id="56" name="组合 55">
              <a:extLst>
                <a:ext uri="{FF2B5EF4-FFF2-40B4-BE49-F238E27FC236}">
                  <a16:creationId xmlns:a16="http://schemas.microsoft.com/office/drawing/2014/main" id="{B3ECA4EB-10D1-4B65-B604-4032302CDAF4}"/>
                </a:ext>
              </a:extLst>
            </p:cNvPr>
            <p:cNvGrpSpPr/>
            <p:nvPr/>
          </p:nvGrpSpPr>
          <p:grpSpPr>
            <a:xfrm>
              <a:off x="169526" y="203448"/>
              <a:ext cx="504056" cy="504056"/>
              <a:chOff x="11207774" y="442662"/>
              <a:chExt cx="504056" cy="504056"/>
            </a:xfr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grpSpPr>
          <p:sp>
            <p:nvSpPr>
              <p:cNvPr id="57" name="椭圆 56">
                <a:extLst>
                  <a:ext uri="{FF2B5EF4-FFF2-40B4-BE49-F238E27FC236}">
                    <a16:creationId xmlns:a16="http://schemas.microsoft.com/office/drawing/2014/main" id="{FF372EA1-AB4F-47B1-B450-59AB8827ECD5}"/>
                  </a:ext>
                </a:extLst>
              </p:cNvPr>
              <p:cNvSpPr/>
              <p:nvPr/>
            </p:nvSpPr>
            <p:spPr>
              <a:xfrm>
                <a:off x="11351790" y="601230"/>
                <a:ext cx="216024" cy="216024"/>
              </a:xfrm>
              <a:prstGeom prst="ellipse">
                <a:avLst/>
              </a:prstGeom>
              <a:solidFill>
                <a:srgbClr val="B3DF63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prstClr val="white"/>
                  </a:solidFill>
                  <a:latin typeface="Calibri"/>
                  <a:ea typeface="微软雅黑"/>
                </a:endParaRPr>
              </a:p>
            </p:txBody>
          </p:sp>
          <p:sp>
            <p:nvSpPr>
              <p:cNvPr id="58" name="椭圆 57">
                <a:extLst>
                  <a:ext uri="{FF2B5EF4-FFF2-40B4-BE49-F238E27FC236}">
                    <a16:creationId xmlns:a16="http://schemas.microsoft.com/office/drawing/2014/main" id="{0BEE7D95-9E9C-4C6D-91AA-6429F74B9F98}"/>
                  </a:ext>
                </a:extLst>
              </p:cNvPr>
              <p:cNvSpPr/>
              <p:nvPr/>
            </p:nvSpPr>
            <p:spPr>
              <a:xfrm>
                <a:off x="11207774" y="442662"/>
                <a:ext cx="504056" cy="504056"/>
              </a:xfrm>
              <a:prstGeom prst="ellipse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Calibri"/>
                  <a:ea typeface="微软雅黑"/>
                </a:endParaRPr>
              </a:p>
            </p:txBody>
          </p:sp>
        </p:grpSp>
        <p:cxnSp>
          <p:nvCxnSpPr>
            <p:cNvPr id="20" name="直接连接符 19">
              <a:extLst>
                <a:ext uri="{FF2B5EF4-FFF2-40B4-BE49-F238E27FC236}">
                  <a16:creationId xmlns:a16="http://schemas.microsoft.com/office/drawing/2014/main" id="{C4FBB3C1-88AA-4E76-B54C-31018E3BFAA0}"/>
                </a:ext>
              </a:extLst>
            </p:cNvPr>
            <p:cNvCxnSpPr>
              <a:cxnSpLocks/>
            </p:cNvCxnSpPr>
            <p:nvPr/>
          </p:nvCxnSpPr>
          <p:spPr>
            <a:xfrm>
              <a:off x="775303" y="707504"/>
              <a:ext cx="1833288" cy="0"/>
            </a:xfrm>
            <a:prstGeom prst="line">
              <a:avLst/>
            </a:prstGeom>
            <a:ln>
              <a:solidFill>
                <a:srgbClr val="B3DF6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矩形 2">
            <a:extLst>
              <a:ext uri="{FF2B5EF4-FFF2-40B4-BE49-F238E27FC236}">
                <a16:creationId xmlns:a16="http://schemas.microsoft.com/office/drawing/2014/main" id="{F91DEF64-685E-4228-9112-33B757BDE484}"/>
              </a:ext>
            </a:extLst>
          </p:cNvPr>
          <p:cNvSpPr/>
          <p:nvPr/>
        </p:nvSpPr>
        <p:spPr>
          <a:xfrm>
            <a:off x="422348" y="1287864"/>
            <a:ext cx="6096000" cy="2308324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/>
              <a:t>&gt;&gt;&gt; </a:t>
            </a:r>
            <a:r>
              <a:rPr lang="en-US" altLang="zh-CN" sz="2400" dirty="0">
                <a:solidFill>
                  <a:srgbClr val="FF9900"/>
                </a:solidFill>
              </a:rPr>
              <a:t>import</a:t>
            </a:r>
            <a:r>
              <a:rPr lang="en-US" altLang="zh-CN" sz="2400" dirty="0"/>
              <a:t> csv</a:t>
            </a:r>
            <a:endParaRPr lang="zh-CN" altLang="zh-CN" sz="2400" dirty="0"/>
          </a:p>
          <a:p>
            <a:pPr>
              <a:lnSpc>
                <a:spcPct val="150000"/>
              </a:lnSpc>
            </a:pPr>
            <a:r>
              <a:rPr lang="en-US" altLang="zh-CN" sz="2400" dirty="0"/>
              <a:t>&gt;&gt;&gt; </a:t>
            </a:r>
            <a:r>
              <a:rPr lang="en-US" altLang="zh-CN" sz="2400" dirty="0">
                <a:solidFill>
                  <a:srgbClr val="FF9900"/>
                </a:solidFill>
              </a:rPr>
              <a:t>with</a:t>
            </a:r>
            <a:r>
              <a:rPr lang="en-US" altLang="zh-CN" sz="2400" dirty="0"/>
              <a:t> </a:t>
            </a:r>
            <a:r>
              <a:rPr lang="en-US" altLang="zh-CN" sz="2400" dirty="0">
                <a:solidFill>
                  <a:srgbClr val="7030A0"/>
                </a:solidFill>
              </a:rPr>
              <a:t>open</a:t>
            </a:r>
            <a:r>
              <a:rPr lang="en-US" altLang="zh-CN" sz="2400" dirty="0"/>
              <a:t>(</a:t>
            </a:r>
            <a:r>
              <a:rPr lang="en-US" altLang="zh-CN" sz="2400" dirty="0">
                <a:solidFill>
                  <a:srgbClr val="00B050"/>
                </a:solidFill>
              </a:rPr>
              <a:t>“stu.csv”</a:t>
            </a:r>
            <a:r>
              <a:rPr lang="en-US" altLang="zh-CN" sz="2400" dirty="0"/>
              <a:t>,</a:t>
            </a:r>
            <a:r>
              <a:rPr lang="zh-CN" altLang="en-US" sz="2400" dirty="0">
                <a:solidFill>
                  <a:srgbClr val="00B050"/>
                </a:solidFill>
              </a:rPr>
              <a:t>‘</a:t>
            </a:r>
            <a:r>
              <a:rPr lang="en-US" altLang="zh-CN" sz="2400" dirty="0">
                <a:solidFill>
                  <a:srgbClr val="00B050"/>
                </a:solidFill>
              </a:rPr>
              <a:t>r</a:t>
            </a:r>
            <a:r>
              <a:rPr lang="zh-CN" altLang="en-US" sz="2400" dirty="0">
                <a:solidFill>
                  <a:srgbClr val="00B050"/>
                </a:solidFill>
              </a:rPr>
              <a:t>’</a:t>
            </a:r>
            <a:r>
              <a:rPr lang="en-US" altLang="zh-CN" sz="2400" dirty="0"/>
              <a:t>) </a:t>
            </a:r>
            <a:r>
              <a:rPr lang="en-US" altLang="zh-CN" sz="2400" dirty="0">
                <a:solidFill>
                  <a:srgbClr val="FF9900"/>
                </a:solidFill>
              </a:rPr>
              <a:t>as</a:t>
            </a:r>
            <a:r>
              <a:rPr lang="en-US" altLang="zh-CN" sz="2400" dirty="0"/>
              <a:t> </a:t>
            </a:r>
            <a:r>
              <a:rPr lang="en-US" altLang="zh-CN" sz="2400" dirty="0" err="1"/>
              <a:t>stucsv</a:t>
            </a:r>
            <a:r>
              <a:rPr lang="en-US" altLang="zh-CN" sz="2400" dirty="0"/>
              <a:t>:</a:t>
            </a:r>
            <a:endParaRPr lang="zh-CN" altLang="zh-CN" sz="2400" dirty="0"/>
          </a:p>
          <a:p>
            <a:r>
              <a:rPr lang="en-US" altLang="zh-CN" sz="2400" dirty="0"/>
              <a:t>	reader = </a:t>
            </a:r>
            <a:r>
              <a:rPr lang="en-US" altLang="zh-CN" sz="2400" dirty="0" err="1"/>
              <a:t>csv.reader</a:t>
            </a:r>
            <a:r>
              <a:rPr lang="en-US" altLang="zh-CN" sz="2400" dirty="0"/>
              <a:t>(</a:t>
            </a:r>
            <a:r>
              <a:rPr lang="en-US" altLang="zh-CN" sz="2400" dirty="0" err="1"/>
              <a:t>stucsv</a:t>
            </a:r>
            <a:r>
              <a:rPr lang="en-US" altLang="zh-CN" sz="2400" dirty="0"/>
              <a:t>)</a:t>
            </a:r>
            <a:endParaRPr lang="zh-CN" altLang="zh-CN" sz="2400" dirty="0"/>
          </a:p>
          <a:p>
            <a:r>
              <a:rPr lang="en-US" altLang="zh-CN" sz="2400" dirty="0"/>
              <a:t>	</a:t>
            </a:r>
            <a:r>
              <a:rPr lang="en-US" altLang="zh-CN" sz="2400" dirty="0">
                <a:solidFill>
                  <a:srgbClr val="FF9900"/>
                </a:solidFill>
              </a:rPr>
              <a:t>for</a:t>
            </a:r>
            <a:r>
              <a:rPr lang="en-US" altLang="zh-CN" sz="2400" dirty="0"/>
              <a:t> row </a:t>
            </a:r>
            <a:r>
              <a:rPr lang="en-US" altLang="zh-CN" sz="2400" dirty="0">
                <a:solidFill>
                  <a:srgbClr val="FF9900"/>
                </a:solidFill>
              </a:rPr>
              <a:t>in</a:t>
            </a:r>
            <a:r>
              <a:rPr lang="en-US" altLang="zh-CN" sz="2400" dirty="0"/>
              <a:t> reader:</a:t>
            </a:r>
            <a:endParaRPr lang="zh-CN" altLang="zh-CN" sz="2400" dirty="0"/>
          </a:p>
          <a:p>
            <a:r>
              <a:rPr lang="en-US" altLang="zh-CN" sz="2400" dirty="0"/>
              <a:t>		</a:t>
            </a:r>
            <a:r>
              <a:rPr lang="en-US" altLang="zh-CN" sz="2400" dirty="0">
                <a:solidFill>
                  <a:srgbClr val="7030A0"/>
                </a:solidFill>
              </a:rPr>
              <a:t>print</a:t>
            </a:r>
            <a:r>
              <a:rPr lang="en-US" altLang="zh-CN" sz="2400" dirty="0"/>
              <a:t>(row)		</a:t>
            </a:r>
            <a:endParaRPr lang="zh-CN" altLang="en-US" sz="2400" dirty="0"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89962BB2-2665-4571-9620-8DEDE2BE7BD9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64069" y="707504"/>
            <a:ext cx="3047098" cy="3352835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980CD832-6DAD-449B-8408-10F6DD774515}"/>
              </a:ext>
            </a:extLst>
          </p:cNvPr>
          <p:cNvSpPr/>
          <p:nvPr/>
        </p:nvSpPr>
        <p:spPr>
          <a:xfrm>
            <a:off x="674376" y="3812457"/>
            <a:ext cx="6096000" cy="267765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CN" sz="2400" kern="100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['</a:t>
            </a:r>
            <a:r>
              <a:rPr lang="zh-CN" altLang="zh-CN" sz="2400" kern="100" dirty="0">
                <a:solidFill>
                  <a:srgbClr val="0000FF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姓名</a:t>
            </a:r>
            <a:r>
              <a:rPr lang="en-US" altLang="zh-CN" sz="2400" kern="100" dirty="0">
                <a:solidFill>
                  <a:srgbClr val="0000FF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', '</a:t>
            </a:r>
            <a:r>
              <a:rPr lang="zh-CN" altLang="zh-CN" sz="2400" kern="100" dirty="0">
                <a:solidFill>
                  <a:srgbClr val="0000FF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性别</a:t>
            </a:r>
            <a:r>
              <a:rPr lang="en-US" altLang="zh-CN" sz="2400" kern="100" dirty="0">
                <a:solidFill>
                  <a:srgbClr val="0000FF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', '</a:t>
            </a:r>
            <a:r>
              <a:rPr lang="zh-CN" altLang="zh-CN" sz="2400" kern="100" dirty="0">
                <a:solidFill>
                  <a:srgbClr val="0000FF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年龄</a:t>
            </a:r>
            <a:r>
              <a:rPr lang="en-US" altLang="zh-CN" sz="2400" kern="100" dirty="0">
                <a:solidFill>
                  <a:srgbClr val="0000FF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']</a:t>
            </a:r>
            <a:endParaRPr lang="zh-CN" altLang="zh-CN" sz="2400" kern="100" dirty="0">
              <a:solidFill>
                <a:srgbClr val="0000FF"/>
              </a:solidFill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2400" kern="100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['</a:t>
            </a:r>
            <a:r>
              <a:rPr lang="zh-CN" altLang="zh-CN" sz="2400" kern="100" dirty="0">
                <a:solidFill>
                  <a:srgbClr val="0000FF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李明</a:t>
            </a:r>
            <a:r>
              <a:rPr lang="en-US" altLang="zh-CN" sz="2400" kern="100" dirty="0">
                <a:solidFill>
                  <a:srgbClr val="0000FF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', '</a:t>
            </a:r>
            <a:r>
              <a:rPr lang="zh-CN" altLang="zh-CN" sz="2400" kern="100" dirty="0">
                <a:solidFill>
                  <a:srgbClr val="0000FF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男</a:t>
            </a:r>
            <a:r>
              <a:rPr lang="en-US" altLang="zh-CN" sz="2400" kern="100" dirty="0">
                <a:solidFill>
                  <a:srgbClr val="0000FF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', '19']</a:t>
            </a:r>
            <a:endParaRPr lang="zh-CN" altLang="zh-CN" sz="2400" kern="100" dirty="0">
              <a:solidFill>
                <a:srgbClr val="0000FF"/>
              </a:solidFill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2400" kern="100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['</a:t>
            </a:r>
            <a:r>
              <a:rPr lang="zh-CN" altLang="zh-CN" sz="2400" kern="100" dirty="0">
                <a:solidFill>
                  <a:srgbClr val="0000FF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杨柳</a:t>
            </a:r>
            <a:r>
              <a:rPr lang="en-US" altLang="zh-CN" sz="2400" kern="100" dirty="0">
                <a:solidFill>
                  <a:srgbClr val="0000FF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', '</a:t>
            </a:r>
            <a:r>
              <a:rPr lang="zh-CN" altLang="zh-CN" sz="2400" kern="100" dirty="0">
                <a:solidFill>
                  <a:srgbClr val="0000FF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女</a:t>
            </a:r>
            <a:r>
              <a:rPr lang="en-US" altLang="zh-CN" sz="2400" kern="100" dirty="0">
                <a:solidFill>
                  <a:srgbClr val="0000FF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', '18']</a:t>
            </a:r>
            <a:endParaRPr lang="zh-CN" altLang="zh-CN" sz="2400" kern="100" dirty="0">
              <a:solidFill>
                <a:srgbClr val="0000FF"/>
              </a:solidFill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2400" kern="100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['</a:t>
            </a:r>
            <a:r>
              <a:rPr lang="zh-CN" altLang="zh-CN" sz="2400" kern="100" dirty="0">
                <a:solidFill>
                  <a:srgbClr val="0000FF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张一凡</a:t>
            </a:r>
            <a:r>
              <a:rPr lang="en-US" altLang="zh-CN" sz="2400" kern="100" dirty="0">
                <a:solidFill>
                  <a:srgbClr val="0000FF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', '</a:t>
            </a:r>
            <a:r>
              <a:rPr lang="zh-CN" altLang="zh-CN" sz="2400" kern="100" dirty="0">
                <a:solidFill>
                  <a:srgbClr val="0000FF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男</a:t>
            </a:r>
            <a:r>
              <a:rPr lang="en-US" altLang="zh-CN" sz="2400" kern="100" dirty="0">
                <a:solidFill>
                  <a:srgbClr val="0000FF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', '18']</a:t>
            </a:r>
            <a:endParaRPr lang="zh-CN" altLang="zh-CN" sz="2400" kern="100" dirty="0">
              <a:solidFill>
                <a:srgbClr val="0000FF"/>
              </a:solidFill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2400" kern="100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['</a:t>
            </a:r>
            <a:r>
              <a:rPr lang="zh-CN" altLang="zh-CN" sz="2400" kern="100" dirty="0">
                <a:solidFill>
                  <a:srgbClr val="0000FF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许可</a:t>
            </a:r>
            <a:r>
              <a:rPr lang="en-US" altLang="zh-CN" sz="2400" kern="100" dirty="0">
                <a:solidFill>
                  <a:srgbClr val="0000FF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', '</a:t>
            </a:r>
            <a:r>
              <a:rPr lang="zh-CN" altLang="zh-CN" sz="2400" kern="100" dirty="0">
                <a:solidFill>
                  <a:srgbClr val="0000FF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女</a:t>
            </a:r>
            <a:r>
              <a:rPr lang="en-US" altLang="zh-CN" sz="2400" kern="100" dirty="0">
                <a:solidFill>
                  <a:srgbClr val="0000FF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', '20']</a:t>
            </a:r>
            <a:endParaRPr lang="zh-CN" altLang="zh-CN" sz="2400" kern="100" dirty="0">
              <a:solidFill>
                <a:srgbClr val="0000FF"/>
              </a:solidFill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2400" kern="100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['</a:t>
            </a:r>
            <a:r>
              <a:rPr lang="zh-CN" altLang="zh-CN" sz="2400" kern="100" dirty="0">
                <a:solidFill>
                  <a:srgbClr val="0000FF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王小小</a:t>
            </a:r>
            <a:r>
              <a:rPr lang="en-US" altLang="zh-CN" sz="2400" kern="100" dirty="0">
                <a:solidFill>
                  <a:srgbClr val="0000FF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', '</a:t>
            </a:r>
            <a:r>
              <a:rPr lang="zh-CN" altLang="zh-CN" sz="2400" kern="100" dirty="0">
                <a:solidFill>
                  <a:srgbClr val="0000FF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女</a:t>
            </a:r>
            <a:r>
              <a:rPr lang="en-US" altLang="zh-CN" sz="2400" kern="100" dirty="0">
                <a:solidFill>
                  <a:srgbClr val="0000FF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', '19']</a:t>
            </a:r>
            <a:endParaRPr lang="zh-CN" altLang="zh-CN" sz="2400" kern="100" dirty="0">
              <a:solidFill>
                <a:srgbClr val="0000FF"/>
              </a:solidFill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2400" kern="100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['</a:t>
            </a:r>
            <a:r>
              <a:rPr lang="zh-CN" altLang="zh-CN" sz="2400" kern="100" dirty="0">
                <a:solidFill>
                  <a:srgbClr val="0000FF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陈心</a:t>
            </a:r>
            <a:r>
              <a:rPr lang="en-US" altLang="zh-CN" sz="2400" kern="100" dirty="0">
                <a:solidFill>
                  <a:srgbClr val="0000FF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', '</a:t>
            </a:r>
            <a:r>
              <a:rPr lang="zh-CN" altLang="zh-CN" sz="2400" kern="100" dirty="0">
                <a:solidFill>
                  <a:srgbClr val="0000FF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女</a:t>
            </a:r>
            <a:r>
              <a:rPr lang="en-US" altLang="zh-CN" sz="2400" kern="100" dirty="0">
                <a:solidFill>
                  <a:srgbClr val="0000FF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', '19']</a:t>
            </a:r>
            <a:endParaRPr lang="zh-CN" altLang="zh-CN" sz="2400" kern="100" dirty="0">
              <a:solidFill>
                <a:srgbClr val="0000FF"/>
              </a:solidFill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8623859-3F51-42C4-AAA6-74E70E203A20}"/>
              </a:ext>
            </a:extLst>
          </p:cNvPr>
          <p:cNvSpPr/>
          <p:nvPr/>
        </p:nvSpPr>
        <p:spPr>
          <a:xfrm>
            <a:off x="5089450" y="4247063"/>
            <a:ext cx="6691423" cy="22430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400" dirty="0">
                <a:latin typeface="+mn-ea"/>
                <a:cs typeface="Times New Roman" panose="02020603050405020304" pitchFamily="18" charset="0"/>
              </a:rPr>
              <a:t>使用</a:t>
            </a:r>
            <a:r>
              <a:rPr lang="en-US" altLang="zh-CN" sz="2400" dirty="0">
                <a:latin typeface="+mn-ea"/>
                <a:cs typeface="Times New Roman" panose="02020603050405020304" pitchFamily="18" charset="0"/>
              </a:rPr>
              <a:t>csv</a:t>
            </a:r>
            <a:r>
              <a:rPr lang="zh-CN" altLang="zh-CN" sz="2400" dirty="0">
                <a:latin typeface="+mn-ea"/>
                <a:cs typeface="Times New Roman" panose="02020603050405020304" pitchFamily="18" charset="0"/>
              </a:rPr>
              <a:t>模块读取</a:t>
            </a:r>
            <a:r>
              <a:rPr lang="en-US" altLang="zh-CN" sz="2400" dirty="0">
                <a:latin typeface="+mn-ea"/>
                <a:cs typeface="Times New Roman" panose="02020603050405020304" pitchFamily="18" charset="0"/>
              </a:rPr>
              <a:t>CSV</a:t>
            </a:r>
            <a:r>
              <a:rPr lang="zh-CN" altLang="zh-CN" sz="2400" dirty="0">
                <a:latin typeface="+mn-ea"/>
                <a:cs typeface="Times New Roman" panose="02020603050405020304" pitchFamily="18" charset="0"/>
              </a:rPr>
              <a:t>文件数据</a:t>
            </a:r>
            <a:endParaRPr lang="en-US" altLang="zh-CN" sz="2400" dirty="0">
              <a:latin typeface="+mn-ea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50000"/>
              </a:lnSpc>
              <a:buFont typeface="微软雅黑" panose="020B0503020204020204" pitchFamily="34" charset="-122"/>
              <a:buChar char="–"/>
            </a:pPr>
            <a:r>
              <a:rPr lang="zh-CN" altLang="zh-CN" sz="2400" dirty="0">
                <a:latin typeface="+mn-ea"/>
                <a:cs typeface="Times New Roman" panose="02020603050405020304" pitchFamily="18" charset="0"/>
              </a:rPr>
              <a:t>先创建一个</a:t>
            </a:r>
            <a:r>
              <a:rPr lang="en-US" altLang="zh-CN" sz="2400" dirty="0">
                <a:latin typeface="+mn-ea"/>
                <a:cs typeface="Times New Roman" panose="02020603050405020304" pitchFamily="18" charset="0"/>
              </a:rPr>
              <a:t>reader</a:t>
            </a:r>
            <a:r>
              <a:rPr lang="zh-CN" altLang="zh-CN" sz="2400" dirty="0">
                <a:latin typeface="+mn-ea"/>
                <a:cs typeface="Times New Roman" panose="02020603050405020304" pitchFamily="18" charset="0"/>
              </a:rPr>
              <a:t>对象。</a:t>
            </a:r>
            <a:endParaRPr lang="en-US" altLang="zh-CN" sz="2400" dirty="0">
              <a:latin typeface="+mn-ea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50000"/>
              </a:lnSpc>
              <a:buFont typeface="微软雅黑" panose="020B0503020204020204" pitchFamily="34" charset="-122"/>
              <a:buChar char="–"/>
            </a:pPr>
            <a:r>
              <a:rPr lang="zh-CN" altLang="zh-CN" sz="2400" dirty="0">
                <a:latin typeface="+mn-ea"/>
                <a:cs typeface="Times New Roman" panose="02020603050405020304" pitchFamily="18" charset="0"/>
              </a:rPr>
              <a:t>然后通过迭代遍历</a:t>
            </a:r>
            <a:r>
              <a:rPr lang="en-US" altLang="zh-CN" sz="2400" dirty="0">
                <a:latin typeface="+mn-ea"/>
                <a:cs typeface="Times New Roman" panose="02020603050405020304" pitchFamily="18" charset="0"/>
              </a:rPr>
              <a:t>reader</a:t>
            </a:r>
            <a:r>
              <a:rPr lang="zh-CN" altLang="zh-CN" sz="2400" dirty="0">
                <a:latin typeface="+mn-ea"/>
                <a:cs typeface="Times New Roman" panose="02020603050405020304" pitchFamily="18" charset="0"/>
              </a:rPr>
              <a:t>对象</a:t>
            </a:r>
            <a:r>
              <a:rPr lang="zh-CN" altLang="en-US" sz="2400" dirty="0">
                <a:latin typeface="+mn-ea"/>
                <a:cs typeface="Times New Roman" panose="02020603050405020304" pitchFamily="18" charset="0"/>
              </a:rPr>
              <a:t>读出</a:t>
            </a:r>
            <a:r>
              <a:rPr lang="zh-CN" altLang="zh-CN" sz="2400" dirty="0">
                <a:latin typeface="+mn-ea"/>
                <a:cs typeface="Times New Roman" panose="02020603050405020304" pitchFamily="18" charset="0"/>
              </a:rPr>
              <a:t>文件中的每一行</a:t>
            </a:r>
            <a:endParaRPr lang="zh-CN" altLang="en-US" sz="2400" dirty="0">
              <a:latin typeface="+mn-ea"/>
            </a:endParaRPr>
          </a:p>
        </p:txBody>
      </p:sp>
      <p:sp>
        <p:nvSpPr>
          <p:cNvPr id="7" name="标注: 线形 6">
            <a:extLst>
              <a:ext uri="{FF2B5EF4-FFF2-40B4-BE49-F238E27FC236}">
                <a16:creationId xmlns:a16="http://schemas.microsoft.com/office/drawing/2014/main" id="{17EFF5B9-A6A6-490D-8ED2-0F84204788D7}"/>
              </a:ext>
            </a:extLst>
          </p:cNvPr>
          <p:cNvSpPr/>
          <p:nvPr/>
        </p:nvSpPr>
        <p:spPr>
          <a:xfrm>
            <a:off x="5571461" y="2906233"/>
            <a:ext cx="2799907" cy="1145973"/>
          </a:xfrm>
          <a:prstGeom prst="borderCallout1">
            <a:avLst>
              <a:gd name="adj1" fmla="val 18750"/>
              <a:gd name="adj2" fmla="val -8333"/>
              <a:gd name="adj3" fmla="val 139018"/>
              <a:gd name="adj4" fmla="val -58586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zh-CN" altLang="en-US" sz="2000" dirty="0">
                <a:solidFill>
                  <a:srgbClr val="FF0000"/>
                </a:solidFill>
              </a:rPr>
              <a:t>一行对应一个列表</a:t>
            </a:r>
            <a:endParaRPr lang="en-US" altLang="zh-CN" sz="2000" dirty="0">
              <a:solidFill>
                <a:srgbClr val="FF0000"/>
              </a:solidFill>
            </a:endParaRPr>
          </a:p>
          <a:p>
            <a:pPr algn="ctr">
              <a:lnSpc>
                <a:spcPct val="150000"/>
              </a:lnSpc>
            </a:pPr>
            <a:r>
              <a:rPr lang="zh-CN" altLang="en-US" sz="2000" dirty="0">
                <a:solidFill>
                  <a:srgbClr val="FF0000"/>
                </a:solidFill>
              </a:rPr>
              <a:t>列表元素都是字符串</a:t>
            </a:r>
          </a:p>
        </p:txBody>
      </p:sp>
    </p:spTree>
    <p:extLst>
      <p:ext uri="{BB962C8B-B14F-4D97-AF65-F5344CB8AC3E}">
        <p14:creationId xmlns:p14="http://schemas.microsoft.com/office/powerpoint/2010/main" val="199051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 animBg="1"/>
      <p:bldP spid="7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组合 31">
            <a:extLst>
              <a:ext uri="{FF2B5EF4-FFF2-40B4-BE49-F238E27FC236}">
                <a16:creationId xmlns:a16="http://schemas.microsoft.com/office/drawing/2014/main" id="{032EF26F-0D58-4A0E-97C1-668713F80B14}"/>
              </a:ext>
            </a:extLst>
          </p:cNvPr>
          <p:cNvGrpSpPr/>
          <p:nvPr/>
        </p:nvGrpSpPr>
        <p:grpSpPr>
          <a:xfrm>
            <a:off x="170320" y="203448"/>
            <a:ext cx="6511833" cy="504056"/>
            <a:chOff x="169526" y="203448"/>
            <a:chExt cx="6511833" cy="504056"/>
          </a:xfrm>
        </p:grpSpPr>
        <p:sp>
          <p:nvSpPr>
            <p:cNvPr id="4" name="TextBox 3"/>
            <p:cNvSpPr txBox="1"/>
            <p:nvPr/>
          </p:nvSpPr>
          <p:spPr>
            <a:xfrm>
              <a:off x="781172" y="245839"/>
              <a:ext cx="590018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b="1" spc="300" dirty="0">
                  <a:solidFill>
                    <a:srgbClr val="1E6787"/>
                  </a:solidFill>
                  <a:latin typeface="微软雅黑" pitchFamily="34" charset="-122"/>
                  <a:ea typeface="微软雅黑" pitchFamily="34" charset="-122"/>
                </a:rPr>
                <a:t>CSV</a:t>
              </a:r>
              <a:r>
                <a:rPr lang="zh-CN" altLang="en-US" sz="2400" b="1" spc="300" dirty="0">
                  <a:solidFill>
                    <a:srgbClr val="1E6787"/>
                  </a:solidFill>
                  <a:latin typeface="微软雅黑" pitchFamily="34" charset="-122"/>
                  <a:ea typeface="微软雅黑" pitchFamily="34" charset="-122"/>
                </a:rPr>
                <a:t>文件操作</a:t>
              </a:r>
              <a:r>
                <a:rPr lang="en-US" altLang="zh-CN" sz="2400" b="1" spc="300" dirty="0">
                  <a:solidFill>
                    <a:srgbClr val="1E6787"/>
                  </a:solidFill>
                  <a:latin typeface="微软雅黑" pitchFamily="34" charset="-122"/>
                  <a:ea typeface="微软雅黑" pitchFamily="34" charset="-122"/>
                </a:rPr>
                <a:t>—</a:t>
              </a:r>
              <a:r>
                <a:rPr lang="zh-CN" altLang="en-US" sz="2400" b="1" spc="300" dirty="0">
                  <a:solidFill>
                    <a:srgbClr val="1E6787"/>
                  </a:solidFill>
                  <a:latin typeface="微软雅黑" pitchFamily="34" charset="-122"/>
                  <a:ea typeface="微软雅黑" pitchFamily="34" charset="-122"/>
                </a:rPr>
                <a:t>写文件</a:t>
              </a:r>
              <a:endParaRPr lang="zh-CN" altLang="en-US" sz="2000" b="1" spc="300" dirty="0">
                <a:solidFill>
                  <a:srgbClr val="1E6787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grpSp>
          <p:nvGrpSpPr>
            <p:cNvPr id="56" name="组合 55">
              <a:extLst>
                <a:ext uri="{FF2B5EF4-FFF2-40B4-BE49-F238E27FC236}">
                  <a16:creationId xmlns:a16="http://schemas.microsoft.com/office/drawing/2014/main" id="{B3ECA4EB-10D1-4B65-B604-4032302CDAF4}"/>
                </a:ext>
              </a:extLst>
            </p:cNvPr>
            <p:cNvGrpSpPr/>
            <p:nvPr/>
          </p:nvGrpSpPr>
          <p:grpSpPr>
            <a:xfrm>
              <a:off x="169526" y="203448"/>
              <a:ext cx="504056" cy="504056"/>
              <a:chOff x="11207774" y="442662"/>
              <a:chExt cx="504056" cy="504056"/>
            </a:xfr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grpSpPr>
          <p:sp>
            <p:nvSpPr>
              <p:cNvPr id="57" name="椭圆 56">
                <a:extLst>
                  <a:ext uri="{FF2B5EF4-FFF2-40B4-BE49-F238E27FC236}">
                    <a16:creationId xmlns:a16="http://schemas.microsoft.com/office/drawing/2014/main" id="{FF372EA1-AB4F-47B1-B450-59AB8827ECD5}"/>
                  </a:ext>
                </a:extLst>
              </p:cNvPr>
              <p:cNvSpPr/>
              <p:nvPr/>
            </p:nvSpPr>
            <p:spPr>
              <a:xfrm>
                <a:off x="11351790" y="601230"/>
                <a:ext cx="216024" cy="216024"/>
              </a:xfrm>
              <a:prstGeom prst="ellipse">
                <a:avLst/>
              </a:prstGeom>
              <a:solidFill>
                <a:srgbClr val="B3DF63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prstClr val="white"/>
                  </a:solidFill>
                  <a:latin typeface="Calibri"/>
                  <a:ea typeface="微软雅黑"/>
                </a:endParaRPr>
              </a:p>
            </p:txBody>
          </p:sp>
          <p:sp>
            <p:nvSpPr>
              <p:cNvPr id="58" name="椭圆 57">
                <a:extLst>
                  <a:ext uri="{FF2B5EF4-FFF2-40B4-BE49-F238E27FC236}">
                    <a16:creationId xmlns:a16="http://schemas.microsoft.com/office/drawing/2014/main" id="{0BEE7D95-9E9C-4C6D-91AA-6429F74B9F98}"/>
                  </a:ext>
                </a:extLst>
              </p:cNvPr>
              <p:cNvSpPr/>
              <p:nvPr/>
            </p:nvSpPr>
            <p:spPr>
              <a:xfrm>
                <a:off x="11207774" y="442662"/>
                <a:ext cx="504056" cy="504056"/>
              </a:xfrm>
              <a:prstGeom prst="ellipse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Calibri"/>
                  <a:ea typeface="微软雅黑"/>
                </a:endParaRPr>
              </a:p>
            </p:txBody>
          </p:sp>
        </p:grpSp>
        <p:cxnSp>
          <p:nvCxnSpPr>
            <p:cNvPr id="20" name="直接连接符 19">
              <a:extLst>
                <a:ext uri="{FF2B5EF4-FFF2-40B4-BE49-F238E27FC236}">
                  <a16:creationId xmlns:a16="http://schemas.microsoft.com/office/drawing/2014/main" id="{C4FBB3C1-88AA-4E76-B54C-31018E3BFAA0}"/>
                </a:ext>
              </a:extLst>
            </p:cNvPr>
            <p:cNvCxnSpPr>
              <a:cxnSpLocks/>
            </p:cNvCxnSpPr>
            <p:nvPr/>
          </p:nvCxnSpPr>
          <p:spPr>
            <a:xfrm>
              <a:off x="775303" y="707504"/>
              <a:ext cx="1833288" cy="0"/>
            </a:xfrm>
            <a:prstGeom prst="line">
              <a:avLst/>
            </a:prstGeom>
            <a:ln>
              <a:solidFill>
                <a:srgbClr val="B3DF6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矩形 2">
            <a:extLst>
              <a:ext uri="{FF2B5EF4-FFF2-40B4-BE49-F238E27FC236}">
                <a16:creationId xmlns:a16="http://schemas.microsoft.com/office/drawing/2014/main" id="{F91DEF64-685E-4228-9112-33B757BDE484}"/>
              </a:ext>
            </a:extLst>
          </p:cNvPr>
          <p:cNvSpPr/>
          <p:nvPr/>
        </p:nvSpPr>
        <p:spPr>
          <a:xfrm>
            <a:off x="480629" y="1365837"/>
            <a:ext cx="6096000" cy="335906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/>
              <a:t>&gt;&gt;&gt; </a:t>
            </a:r>
            <a:r>
              <a:rPr lang="en-US" altLang="zh-CN" sz="2400" dirty="0">
                <a:solidFill>
                  <a:srgbClr val="FF9900"/>
                </a:solidFill>
              </a:rPr>
              <a:t>import</a:t>
            </a:r>
            <a:r>
              <a:rPr lang="en-US" altLang="zh-CN" sz="2400" dirty="0"/>
              <a:t> csv</a:t>
            </a:r>
            <a:endParaRPr lang="zh-CN" altLang="zh-CN" sz="2400" dirty="0"/>
          </a:p>
          <a:p>
            <a:pPr>
              <a:lnSpc>
                <a:spcPct val="150000"/>
              </a:lnSpc>
            </a:pPr>
            <a:r>
              <a:rPr lang="en-US" altLang="zh-CN" sz="2400" dirty="0"/>
              <a:t>&gt;&gt;&gt; </a:t>
            </a:r>
            <a:r>
              <a:rPr lang="en-US" altLang="zh-CN" sz="2400" dirty="0">
                <a:solidFill>
                  <a:srgbClr val="FF9900"/>
                </a:solidFill>
              </a:rPr>
              <a:t>with</a:t>
            </a:r>
            <a:r>
              <a:rPr lang="en-US" altLang="zh-CN" sz="2400" dirty="0"/>
              <a:t> </a:t>
            </a:r>
            <a:r>
              <a:rPr lang="en-US" altLang="zh-CN" sz="2400" dirty="0">
                <a:solidFill>
                  <a:srgbClr val="7030A0"/>
                </a:solidFill>
              </a:rPr>
              <a:t>open</a:t>
            </a:r>
            <a:r>
              <a:rPr lang="en-US" altLang="zh-CN" sz="2400" dirty="0"/>
              <a:t>(</a:t>
            </a:r>
            <a:r>
              <a:rPr lang="en-US" altLang="zh-CN" sz="2400" dirty="0">
                <a:solidFill>
                  <a:srgbClr val="00B050"/>
                </a:solidFill>
              </a:rPr>
              <a:t>“stu.csv”</a:t>
            </a:r>
            <a:r>
              <a:rPr lang="en-US" altLang="zh-CN" sz="2400" dirty="0"/>
              <a:t>,</a:t>
            </a:r>
            <a:r>
              <a:rPr lang="zh-CN" altLang="en-US" sz="2400" dirty="0">
                <a:solidFill>
                  <a:srgbClr val="00B050"/>
                </a:solidFill>
              </a:rPr>
              <a:t>‘</a:t>
            </a:r>
            <a:r>
              <a:rPr lang="en-US" altLang="zh-CN" sz="2400" dirty="0">
                <a:solidFill>
                  <a:srgbClr val="00B050"/>
                </a:solidFill>
              </a:rPr>
              <a:t>a</a:t>
            </a:r>
            <a:r>
              <a:rPr lang="zh-CN" altLang="en-US" sz="2400" dirty="0">
                <a:solidFill>
                  <a:srgbClr val="00B050"/>
                </a:solidFill>
              </a:rPr>
              <a:t>’</a:t>
            </a:r>
            <a:r>
              <a:rPr lang="en-US" altLang="zh-CN" sz="2400" dirty="0"/>
              <a:t>) </a:t>
            </a:r>
            <a:r>
              <a:rPr lang="en-US" altLang="zh-CN" sz="2400" dirty="0">
                <a:solidFill>
                  <a:srgbClr val="FF9900"/>
                </a:solidFill>
              </a:rPr>
              <a:t>as</a:t>
            </a:r>
            <a:r>
              <a:rPr lang="en-US" altLang="zh-CN" sz="2400" dirty="0"/>
              <a:t> </a:t>
            </a:r>
            <a:r>
              <a:rPr lang="en-US" altLang="zh-CN" sz="2400" dirty="0" err="1"/>
              <a:t>stucsv</a:t>
            </a:r>
            <a:r>
              <a:rPr lang="en-US" altLang="zh-CN" sz="2400" dirty="0"/>
              <a:t>:</a:t>
            </a:r>
            <a:endParaRPr lang="zh-CN" altLang="zh-CN" sz="2400" dirty="0"/>
          </a:p>
          <a:p>
            <a:pPr>
              <a:lnSpc>
                <a:spcPct val="150000"/>
              </a:lnSpc>
            </a:pPr>
            <a:r>
              <a:rPr lang="en-US" altLang="zh-CN" sz="2400" dirty="0"/>
              <a:t>	writer=</a:t>
            </a:r>
            <a:r>
              <a:rPr lang="en-US" altLang="zh-CN" sz="2400" dirty="0" err="1"/>
              <a:t>csv.writer</a:t>
            </a:r>
            <a:r>
              <a:rPr lang="en-US" altLang="zh-CN" sz="2400" dirty="0"/>
              <a:t>(</a:t>
            </a:r>
            <a:r>
              <a:rPr lang="en-US" altLang="zh-CN" sz="2400" dirty="0" err="1"/>
              <a:t>stucsv</a:t>
            </a:r>
            <a:r>
              <a:rPr lang="en-US" altLang="zh-CN" sz="2400" dirty="0"/>
              <a:t>)</a:t>
            </a:r>
            <a:endParaRPr lang="zh-CN" altLang="zh-CN" sz="2400" dirty="0"/>
          </a:p>
          <a:p>
            <a:pPr>
              <a:lnSpc>
                <a:spcPct val="150000"/>
              </a:lnSpc>
            </a:pPr>
            <a:r>
              <a:rPr lang="en-US" altLang="zh-CN" sz="2400" dirty="0"/>
              <a:t>	</a:t>
            </a:r>
            <a:r>
              <a:rPr lang="en-US" altLang="zh-CN" sz="2400" dirty="0" err="1"/>
              <a:t>writer.writerow</a:t>
            </a:r>
            <a:r>
              <a:rPr lang="en-US" altLang="zh-CN" sz="2400" dirty="0"/>
              <a:t>(['</a:t>
            </a:r>
            <a:r>
              <a:rPr lang="zh-CN" altLang="zh-CN" sz="2400" dirty="0"/>
              <a:t>张芳</a:t>
            </a:r>
            <a:r>
              <a:rPr lang="en-US" altLang="zh-CN" sz="2400" dirty="0"/>
              <a:t>','</a:t>
            </a:r>
            <a:r>
              <a:rPr lang="zh-CN" altLang="zh-CN" sz="2400" dirty="0"/>
              <a:t>女</a:t>
            </a:r>
            <a:r>
              <a:rPr lang="en-US" altLang="zh-CN" sz="2400" dirty="0"/>
              <a:t>','20'])</a:t>
            </a:r>
            <a:endParaRPr lang="zh-CN" altLang="zh-CN" sz="2400" dirty="0"/>
          </a:p>
          <a:p>
            <a:pPr>
              <a:lnSpc>
                <a:spcPct val="150000"/>
              </a:lnSpc>
            </a:pPr>
            <a:r>
              <a:rPr lang="en-US" altLang="zh-CN" sz="2400" dirty="0"/>
              <a:t>	</a:t>
            </a:r>
            <a:r>
              <a:rPr lang="en-US" altLang="zh-CN" sz="2400" dirty="0" err="1"/>
              <a:t>writer.writerow</a:t>
            </a:r>
            <a:r>
              <a:rPr lang="en-US" altLang="zh-CN" sz="2400" dirty="0"/>
              <a:t>(['</a:t>
            </a:r>
            <a:r>
              <a:rPr lang="zh-CN" altLang="zh-CN" sz="2400" dirty="0"/>
              <a:t>王虎</a:t>
            </a:r>
            <a:r>
              <a:rPr lang="en-US" altLang="zh-CN" sz="2400" dirty="0"/>
              <a:t>','</a:t>
            </a:r>
            <a:r>
              <a:rPr lang="zh-CN" altLang="zh-CN" sz="2400" dirty="0"/>
              <a:t>男</a:t>
            </a:r>
            <a:r>
              <a:rPr lang="en-US" altLang="zh-CN" sz="2400" dirty="0"/>
              <a:t>','18'])</a:t>
            </a:r>
            <a:r>
              <a:rPr lang="en-US" altLang="zh-CN" dirty="0"/>
              <a:t>	</a:t>
            </a:r>
            <a:r>
              <a:rPr lang="en-US" altLang="zh-CN" sz="2400" dirty="0"/>
              <a:t>		</a:t>
            </a:r>
            <a:endParaRPr lang="zh-CN" altLang="en-US" sz="2400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8623859-3F51-42C4-AAA6-74E70E203A20}"/>
              </a:ext>
            </a:extLst>
          </p:cNvPr>
          <p:cNvSpPr/>
          <p:nvPr/>
        </p:nvSpPr>
        <p:spPr>
          <a:xfrm>
            <a:off x="314336" y="4647637"/>
            <a:ext cx="6691423" cy="168905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400" dirty="0">
                <a:latin typeface="+mn-ea"/>
                <a:cs typeface="Times New Roman" panose="02020603050405020304" pitchFamily="18" charset="0"/>
              </a:rPr>
              <a:t>使用</a:t>
            </a:r>
            <a:r>
              <a:rPr lang="en-US" altLang="zh-CN" sz="2400" dirty="0">
                <a:latin typeface="+mn-ea"/>
                <a:cs typeface="Times New Roman" panose="02020603050405020304" pitchFamily="18" charset="0"/>
              </a:rPr>
              <a:t>csv</a:t>
            </a:r>
            <a:r>
              <a:rPr lang="zh-CN" altLang="zh-CN" sz="2400" dirty="0">
                <a:latin typeface="+mn-ea"/>
                <a:cs typeface="Times New Roman" panose="02020603050405020304" pitchFamily="18" charset="0"/>
              </a:rPr>
              <a:t>模块</a:t>
            </a:r>
            <a:r>
              <a:rPr lang="zh-CN" altLang="en-US" sz="2400" dirty="0">
                <a:latin typeface="+mn-ea"/>
                <a:cs typeface="Times New Roman" panose="02020603050405020304" pitchFamily="18" charset="0"/>
              </a:rPr>
              <a:t>写</a:t>
            </a:r>
            <a:r>
              <a:rPr lang="en-US" altLang="zh-CN" sz="2400" dirty="0">
                <a:latin typeface="+mn-ea"/>
                <a:cs typeface="Times New Roman" panose="02020603050405020304" pitchFamily="18" charset="0"/>
              </a:rPr>
              <a:t>CSV</a:t>
            </a:r>
            <a:r>
              <a:rPr lang="zh-CN" altLang="zh-CN" sz="2400" dirty="0">
                <a:latin typeface="+mn-ea"/>
                <a:cs typeface="Times New Roman" panose="02020603050405020304" pitchFamily="18" charset="0"/>
              </a:rPr>
              <a:t>文件</a:t>
            </a:r>
            <a:r>
              <a:rPr lang="zh-CN" altLang="en-US" sz="2400" dirty="0">
                <a:latin typeface="+mn-ea"/>
                <a:cs typeface="Times New Roman" panose="02020603050405020304" pitchFamily="18" charset="0"/>
              </a:rPr>
              <a:t>时</a:t>
            </a:r>
            <a:endParaRPr lang="en-US" altLang="zh-CN" sz="2400" dirty="0">
              <a:latin typeface="+mn-ea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50000"/>
              </a:lnSpc>
              <a:buFont typeface="微软雅黑" panose="020B0503020204020204" pitchFamily="34" charset="-122"/>
              <a:buChar char="–"/>
            </a:pPr>
            <a:r>
              <a:rPr lang="zh-CN" altLang="en-US" sz="2400" dirty="0">
                <a:latin typeface="+mn-ea"/>
                <a:cs typeface="Times New Roman" panose="02020603050405020304" pitchFamily="18" charset="0"/>
              </a:rPr>
              <a:t>使用</a:t>
            </a:r>
            <a:r>
              <a:rPr lang="en-US" altLang="zh-CN" sz="2400" dirty="0">
                <a:latin typeface="+mn-ea"/>
                <a:cs typeface="Times New Roman" panose="02020603050405020304" pitchFamily="18" charset="0"/>
              </a:rPr>
              <a:t>writer</a:t>
            </a:r>
            <a:r>
              <a:rPr lang="zh-CN" altLang="en-US" sz="2400" dirty="0">
                <a:latin typeface="+mn-ea"/>
                <a:cs typeface="Times New Roman" panose="02020603050405020304" pitchFamily="18" charset="0"/>
              </a:rPr>
              <a:t>对象的</a:t>
            </a:r>
            <a:r>
              <a:rPr lang="en-US" altLang="zh-CN" sz="2400" dirty="0" err="1">
                <a:latin typeface="+mn-ea"/>
                <a:cs typeface="Times New Roman" panose="02020603050405020304" pitchFamily="18" charset="0"/>
              </a:rPr>
              <a:t>writerow</a:t>
            </a:r>
            <a:r>
              <a:rPr lang="zh-CN" altLang="en-US" sz="2400" dirty="0">
                <a:latin typeface="+mn-ea"/>
                <a:cs typeface="Times New Roman" panose="02020603050405020304" pitchFamily="18" charset="0"/>
              </a:rPr>
              <a:t>方法按行写入</a:t>
            </a:r>
            <a:r>
              <a:rPr lang="zh-CN" altLang="zh-CN" sz="2400" dirty="0">
                <a:latin typeface="+mn-ea"/>
                <a:cs typeface="Times New Roman" panose="02020603050405020304" pitchFamily="18" charset="0"/>
              </a:rPr>
              <a:t>。</a:t>
            </a:r>
            <a:endParaRPr lang="en-US" altLang="zh-CN" sz="2400" dirty="0">
              <a:latin typeface="+mn-ea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50000"/>
              </a:lnSpc>
              <a:buFont typeface="微软雅黑" panose="020B0503020204020204" pitchFamily="34" charset="-122"/>
              <a:buChar char="–"/>
            </a:pPr>
            <a:r>
              <a:rPr lang="zh-CN" altLang="en-US" sz="2400" dirty="0">
                <a:latin typeface="+mn-ea"/>
                <a:cs typeface="Times New Roman" panose="02020603050405020304" pitchFamily="18" charset="0"/>
              </a:rPr>
              <a:t>写入文件的一行内容要用列表存储</a:t>
            </a:r>
            <a:endParaRPr lang="zh-CN" altLang="en-US" sz="2400" dirty="0">
              <a:latin typeface="+mn-ea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74C5C17-1510-40D7-AAE8-6A028C81D0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2922" y="642804"/>
            <a:ext cx="4904466" cy="3885357"/>
          </a:xfrm>
          <a:prstGeom prst="rect">
            <a:avLst/>
          </a:prstGeom>
        </p:spPr>
      </p:pic>
      <p:sp>
        <p:nvSpPr>
          <p:cNvPr id="8" name="标注: 弯曲线形 7">
            <a:extLst>
              <a:ext uri="{FF2B5EF4-FFF2-40B4-BE49-F238E27FC236}">
                <a16:creationId xmlns:a16="http://schemas.microsoft.com/office/drawing/2014/main" id="{911C09B5-CA2A-401A-9C01-C654ABCA6CC6}"/>
              </a:ext>
            </a:extLst>
          </p:cNvPr>
          <p:cNvSpPr/>
          <p:nvPr/>
        </p:nvSpPr>
        <p:spPr>
          <a:xfrm>
            <a:off x="8224959" y="5211527"/>
            <a:ext cx="3570208" cy="1137106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-163732"/>
              <a:gd name="adj6" fmla="val -10064"/>
            </a:avLst>
          </a:prstGeom>
          <a:ln w="28575">
            <a:solidFill>
              <a:srgbClr val="FF0000"/>
            </a:solidFill>
          </a:ln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400" dirty="0">
                <a:solidFill>
                  <a:srgbClr val="FF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记录之间出现了空行，</a:t>
            </a:r>
            <a:endParaRPr lang="en-US" altLang="zh-CN" sz="2400" dirty="0">
              <a:solidFill>
                <a:srgbClr val="FF0000"/>
              </a:solidFill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zh-CN" sz="2400" dirty="0">
                <a:solidFill>
                  <a:srgbClr val="FF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读文件的时候会出现错误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57878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22" presetClass="entr" presetSubtype="1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组合 31">
            <a:extLst>
              <a:ext uri="{FF2B5EF4-FFF2-40B4-BE49-F238E27FC236}">
                <a16:creationId xmlns:a16="http://schemas.microsoft.com/office/drawing/2014/main" id="{032EF26F-0D58-4A0E-97C1-668713F80B14}"/>
              </a:ext>
            </a:extLst>
          </p:cNvPr>
          <p:cNvGrpSpPr/>
          <p:nvPr/>
        </p:nvGrpSpPr>
        <p:grpSpPr>
          <a:xfrm>
            <a:off x="170320" y="203448"/>
            <a:ext cx="6511833" cy="504056"/>
            <a:chOff x="169526" y="203448"/>
            <a:chExt cx="6511833" cy="504056"/>
          </a:xfrm>
        </p:grpSpPr>
        <p:sp>
          <p:nvSpPr>
            <p:cNvPr id="4" name="TextBox 3"/>
            <p:cNvSpPr txBox="1"/>
            <p:nvPr/>
          </p:nvSpPr>
          <p:spPr>
            <a:xfrm>
              <a:off x="781172" y="245839"/>
              <a:ext cx="590018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b="1" spc="300" dirty="0">
                  <a:solidFill>
                    <a:srgbClr val="1E6787"/>
                  </a:solidFill>
                  <a:latin typeface="微软雅黑" pitchFamily="34" charset="-122"/>
                  <a:ea typeface="微软雅黑" pitchFamily="34" charset="-122"/>
                </a:rPr>
                <a:t>CSV</a:t>
              </a:r>
              <a:r>
                <a:rPr lang="zh-CN" altLang="en-US" sz="2400" b="1" spc="300" dirty="0">
                  <a:solidFill>
                    <a:srgbClr val="1E6787"/>
                  </a:solidFill>
                  <a:latin typeface="微软雅黑" pitchFamily="34" charset="-122"/>
                  <a:ea typeface="微软雅黑" pitchFamily="34" charset="-122"/>
                </a:rPr>
                <a:t>文件操作</a:t>
              </a:r>
              <a:r>
                <a:rPr lang="en-US" altLang="zh-CN" sz="2400" b="1" spc="300" dirty="0">
                  <a:solidFill>
                    <a:srgbClr val="1E6787"/>
                  </a:solidFill>
                  <a:latin typeface="微软雅黑" pitchFamily="34" charset="-122"/>
                  <a:ea typeface="微软雅黑" pitchFamily="34" charset="-122"/>
                </a:rPr>
                <a:t>—</a:t>
              </a:r>
              <a:r>
                <a:rPr lang="zh-CN" altLang="en-US" sz="2400" b="1" spc="300" dirty="0">
                  <a:solidFill>
                    <a:srgbClr val="1E6787"/>
                  </a:solidFill>
                  <a:latin typeface="微软雅黑" pitchFamily="34" charset="-122"/>
                  <a:ea typeface="微软雅黑" pitchFamily="34" charset="-122"/>
                </a:rPr>
                <a:t>写文件</a:t>
              </a:r>
              <a:endParaRPr lang="zh-CN" altLang="en-US" sz="2000" b="1" spc="300" dirty="0">
                <a:solidFill>
                  <a:srgbClr val="1E6787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grpSp>
          <p:nvGrpSpPr>
            <p:cNvPr id="56" name="组合 55">
              <a:extLst>
                <a:ext uri="{FF2B5EF4-FFF2-40B4-BE49-F238E27FC236}">
                  <a16:creationId xmlns:a16="http://schemas.microsoft.com/office/drawing/2014/main" id="{B3ECA4EB-10D1-4B65-B604-4032302CDAF4}"/>
                </a:ext>
              </a:extLst>
            </p:cNvPr>
            <p:cNvGrpSpPr/>
            <p:nvPr/>
          </p:nvGrpSpPr>
          <p:grpSpPr>
            <a:xfrm>
              <a:off x="169526" y="203448"/>
              <a:ext cx="504056" cy="504056"/>
              <a:chOff x="11207774" y="442662"/>
              <a:chExt cx="504056" cy="504056"/>
            </a:xfr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grpSpPr>
          <p:sp>
            <p:nvSpPr>
              <p:cNvPr id="57" name="椭圆 56">
                <a:extLst>
                  <a:ext uri="{FF2B5EF4-FFF2-40B4-BE49-F238E27FC236}">
                    <a16:creationId xmlns:a16="http://schemas.microsoft.com/office/drawing/2014/main" id="{FF372EA1-AB4F-47B1-B450-59AB8827ECD5}"/>
                  </a:ext>
                </a:extLst>
              </p:cNvPr>
              <p:cNvSpPr/>
              <p:nvPr/>
            </p:nvSpPr>
            <p:spPr>
              <a:xfrm>
                <a:off x="11351790" y="601230"/>
                <a:ext cx="216024" cy="216024"/>
              </a:xfrm>
              <a:prstGeom prst="ellipse">
                <a:avLst/>
              </a:prstGeom>
              <a:solidFill>
                <a:srgbClr val="B3DF63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prstClr val="white"/>
                  </a:solidFill>
                  <a:latin typeface="Calibri"/>
                  <a:ea typeface="微软雅黑"/>
                </a:endParaRPr>
              </a:p>
            </p:txBody>
          </p:sp>
          <p:sp>
            <p:nvSpPr>
              <p:cNvPr id="58" name="椭圆 57">
                <a:extLst>
                  <a:ext uri="{FF2B5EF4-FFF2-40B4-BE49-F238E27FC236}">
                    <a16:creationId xmlns:a16="http://schemas.microsoft.com/office/drawing/2014/main" id="{0BEE7D95-9E9C-4C6D-91AA-6429F74B9F98}"/>
                  </a:ext>
                </a:extLst>
              </p:cNvPr>
              <p:cNvSpPr/>
              <p:nvPr/>
            </p:nvSpPr>
            <p:spPr>
              <a:xfrm>
                <a:off x="11207774" y="442662"/>
                <a:ext cx="504056" cy="504056"/>
              </a:xfrm>
              <a:prstGeom prst="ellipse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Calibri"/>
                  <a:ea typeface="微软雅黑"/>
                </a:endParaRPr>
              </a:p>
            </p:txBody>
          </p:sp>
        </p:grpSp>
        <p:cxnSp>
          <p:nvCxnSpPr>
            <p:cNvPr id="20" name="直接连接符 19">
              <a:extLst>
                <a:ext uri="{FF2B5EF4-FFF2-40B4-BE49-F238E27FC236}">
                  <a16:creationId xmlns:a16="http://schemas.microsoft.com/office/drawing/2014/main" id="{C4FBB3C1-88AA-4E76-B54C-31018E3BFAA0}"/>
                </a:ext>
              </a:extLst>
            </p:cNvPr>
            <p:cNvCxnSpPr>
              <a:cxnSpLocks/>
            </p:cNvCxnSpPr>
            <p:nvPr/>
          </p:nvCxnSpPr>
          <p:spPr>
            <a:xfrm>
              <a:off x="775303" y="707504"/>
              <a:ext cx="1833288" cy="0"/>
            </a:xfrm>
            <a:prstGeom prst="line">
              <a:avLst/>
            </a:prstGeom>
            <a:ln>
              <a:solidFill>
                <a:srgbClr val="B3DF6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矩形 2">
            <a:extLst>
              <a:ext uri="{FF2B5EF4-FFF2-40B4-BE49-F238E27FC236}">
                <a16:creationId xmlns:a16="http://schemas.microsoft.com/office/drawing/2014/main" id="{F91DEF64-685E-4228-9112-33B757BDE484}"/>
              </a:ext>
            </a:extLst>
          </p:cNvPr>
          <p:cNvSpPr/>
          <p:nvPr/>
        </p:nvSpPr>
        <p:spPr>
          <a:xfrm>
            <a:off x="204869" y="998039"/>
            <a:ext cx="7082665" cy="33590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/>
              <a:t>&gt;&gt;&gt; </a:t>
            </a:r>
            <a:r>
              <a:rPr lang="en-US" altLang="zh-CN" sz="2400" dirty="0">
                <a:solidFill>
                  <a:srgbClr val="FF9900"/>
                </a:solidFill>
              </a:rPr>
              <a:t>import</a:t>
            </a:r>
            <a:r>
              <a:rPr lang="en-US" altLang="zh-CN" sz="2400" dirty="0"/>
              <a:t> csv</a:t>
            </a:r>
            <a:endParaRPr lang="zh-CN" altLang="zh-CN" sz="2400" dirty="0"/>
          </a:p>
          <a:p>
            <a:pPr>
              <a:lnSpc>
                <a:spcPct val="150000"/>
              </a:lnSpc>
            </a:pPr>
            <a:r>
              <a:rPr lang="en-US" altLang="zh-CN" sz="2400" dirty="0"/>
              <a:t>&gt;&gt;&gt; </a:t>
            </a:r>
            <a:r>
              <a:rPr lang="en-US" altLang="zh-CN" sz="2400" dirty="0">
                <a:solidFill>
                  <a:srgbClr val="FF9900"/>
                </a:solidFill>
              </a:rPr>
              <a:t>with</a:t>
            </a:r>
            <a:r>
              <a:rPr lang="en-US" altLang="zh-CN" sz="2400" dirty="0"/>
              <a:t> </a:t>
            </a:r>
            <a:r>
              <a:rPr lang="en-US" altLang="zh-CN" sz="2400" dirty="0">
                <a:solidFill>
                  <a:srgbClr val="7030A0"/>
                </a:solidFill>
              </a:rPr>
              <a:t>open</a:t>
            </a:r>
            <a:r>
              <a:rPr lang="en-US" altLang="zh-CN" sz="2400" dirty="0"/>
              <a:t>(</a:t>
            </a:r>
            <a:r>
              <a:rPr lang="en-US" altLang="zh-CN" sz="2400" dirty="0">
                <a:solidFill>
                  <a:srgbClr val="00B050"/>
                </a:solidFill>
              </a:rPr>
              <a:t>“stu.csv”</a:t>
            </a:r>
            <a:r>
              <a:rPr lang="en-US" altLang="zh-CN" sz="2400" dirty="0"/>
              <a:t>,</a:t>
            </a:r>
            <a:r>
              <a:rPr lang="zh-CN" altLang="en-US" sz="2400" dirty="0">
                <a:solidFill>
                  <a:srgbClr val="00B050"/>
                </a:solidFill>
              </a:rPr>
              <a:t>‘</a:t>
            </a:r>
            <a:r>
              <a:rPr lang="en-US" altLang="zh-CN" sz="2400" dirty="0">
                <a:solidFill>
                  <a:srgbClr val="00B050"/>
                </a:solidFill>
              </a:rPr>
              <a:t>a</a:t>
            </a:r>
            <a:r>
              <a:rPr lang="zh-CN" altLang="en-US" sz="2400" dirty="0">
                <a:solidFill>
                  <a:srgbClr val="00B050"/>
                </a:solidFill>
              </a:rPr>
              <a:t>’</a:t>
            </a:r>
            <a:r>
              <a:rPr lang="zh-CN" altLang="en-US" sz="2400" dirty="0"/>
              <a:t>，</a:t>
            </a:r>
            <a:r>
              <a:rPr lang="en-US" altLang="zh-CN" sz="2400" dirty="0"/>
              <a:t>newline='') </a:t>
            </a:r>
            <a:r>
              <a:rPr lang="en-US" altLang="zh-CN" sz="2400" dirty="0">
                <a:solidFill>
                  <a:srgbClr val="FF9900"/>
                </a:solidFill>
              </a:rPr>
              <a:t>as</a:t>
            </a:r>
            <a:r>
              <a:rPr lang="en-US" altLang="zh-CN" sz="2400" dirty="0"/>
              <a:t> </a:t>
            </a:r>
            <a:r>
              <a:rPr lang="en-US" altLang="zh-CN" sz="2400" dirty="0" err="1"/>
              <a:t>stucsv</a:t>
            </a:r>
            <a:r>
              <a:rPr lang="en-US" altLang="zh-CN" sz="2400" dirty="0"/>
              <a:t>:</a:t>
            </a:r>
            <a:endParaRPr lang="zh-CN" altLang="zh-CN" sz="2400" dirty="0"/>
          </a:p>
          <a:p>
            <a:pPr>
              <a:lnSpc>
                <a:spcPct val="150000"/>
              </a:lnSpc>
            </a:pPr>
            <a:r>
              <a:rPr lang="en-US" altLang="zh-CN" sz="2400" dirty="0"/>
              <a:t>	writer=</a:t>
            </a:r>
            <a:r>
              <a:rPr lang="en-US" altLang="zh-CN" sz="2400" dirty="0" err="1"/>
              <a:t>csv.writer</a:t>
            </a:r>
            <a:r>
              <a:rPr lang="en-US" altLang="zh-CN" sz="2400" dirty="0"/>
              <a:t>(</a:t>
            </a:r>
            <a:r>
              <a:rPr lang="en-US" altLang="zh-CN" sz="2400" dirty="0" err="1"/>
              <a:t>stucsv</a:t>
            </a:r>
            <a:r>
              <a:rPr lang="en-US" altLang="zh-CN" sz="2400" dirty="0"/>
              <a:t>)</a:t>
            </a:r>
            <a:endParaRPr lang="zh-CN" altLang="zh-CN" sz="2400" dirty="0"/>
          </a:p>
          <a:p>
            <a:pPr>
              <a:lnSpc>
                <a:spcPct val="150000"/>
              </a:lnSpc>
            </a:pPr>
            <a:r>
              <a:rPr lang="en-US" altLang="zh-CN" sz="2400" dirty="0"/>
              <a:t>	</a:t>
            </a:r>
            <a:r>
              <a:rPr lang="en-US" altLang="zh-CN" sz="2400" dirty="0" err="1"/>
              <a:t>writer.writerow</a:t>
            </a:r>
            <a:r>
              <a:rPr lang="en-US" altLang="zh-CN" sz="2400" dirty="0"/>
              <a:t>(['</a:t>
            </a:r>
            <a:r>
              <a:rPr lang="zh-CN" altLang="zh-CN" sz="2400" dirty="0"/>
              <a:t>张芳</a:t>
            </a:r>
            <a:r>
              <a:rPr lang="en-US" altLang="zh-CN" sz="2400" dirty="0"/>
              <a:t>','</a:t>
            </a:r>
            <a:r>
              <a:rPr lang="zh-CN" altLang="zh-CN" sz="2400" dirty="0"/>
              <a:t>女</a:t>
            </a:r>
            <a:r>
              <a:rPr lang="en-US" altLang="zh-CN" sz="2400" dirty="0"/>
              <a:t>','20'])</a:t>
            </a:r>
            <a:endParaRPr lang="zh-CN" altLang="zh-CN" sz="2400" dirty="0"/>
          </a:p>
          <a:p>
            <a:pPr>
              <a:lnSpc>
                <a:spcPct val="150000"/>
              </a:lnSpc>
            </a:pPr>
            <a:r>
              <a:rPr lang="en-US" altLang="zh-CN" sz="2400" dirty="0"/>
              <a:t>	</a:t>
            </a:r>
            <a:r>
              <a:rPr lang="en-US" altLang="zh-CN" sz="2400" dirty="0" err="1"/>
              <a:t>writer.writerow</a:t>
            </a:r>
            <a:r>
              <a:rPr lang="en-US" altLang="zh-CN" sz="2400" dirty="0"/>
              <a:t>(['</a:t>
            </a:r>
            <a:r>
              <a:rPr lang="zh-CN" altLang="zh-CN" sz="2400" dirty="0"/>
              <a:t>王虎</a:t>
            </a:r>
            <a:r>
              <a:rPr lang="en-US" altLang="zh-CN" sz="2400" dirty="0"/>
              <a:t>','</a:t>
            </a:r>
            <a:r>
              <a:rPr lang="zh-CN" altLang="zh-CN" sz="2400" dirty="0"/>
              <a:t>男</a:t>
            </a:r>
            <a:r>
              <a:rPr lang="en-US" altLang="zh-CN" sz="2400" dirty="0"/>
              <a:t>','18'])</a:t>
            </a:r>
            <a:r>
              <a:rPr lang="en-US" altLang="zh-CN" dirty="0"/>
              <a:t>	</a:t>
            </a:r>
            <a:r>
              <a:rPr lang="en-US" altLang="zh-CN" sz="2400" dirty="0"/>
              <a:t>		</a:t>
            </a:r>
            <a:endParaRPr lang="zh-CN" altLang="en-US" sz="2400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8623859-3F51-42C4-AAA6-74E70E203A20}"/>
              </a:ext>
            </a:extLst>
          </p:cNvPr>
          <p:cNvSpPr/>
          <p:nvPr/>
        </p:nvSpPr>
        <p:spPr>
          <a:xfrm>
            <a:off x="629139" y="4515813"/>
            <a:ext cx="6205839" cy="113505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400" dirty="0"/>
              <a:t>打开文件时增加一个参数“</a:t>
            </a:r>
            <a:r>
              <a:rPr lang="en-US" altLang="zh-CN" sz="2400" dirty="0"/>
              <a:t>newline=‘’</a:t>
            </a:r>
            <a:r>
              <a:rPr lang="zh-CN" altLang="zh-CN" sz="2400" dirty="0"/>
              <a:t>”，</a:t>
            </a:r>
            <a:endParaRPr lang="en-US" altLang="zh-CN" sz="2400" dirty="0"/>
          </a:p>
          <a:p>
            <a:pPr>
              <a:lnSpc>
                <a:spcPct val="150000"/>
              </a:lnSpc>
            </a:pPr>
            <a:r>
              <a:rPr lang="zh-CN" altLang="zh-CN" sz="2400" dirty="0"/>
              <a:t>指明在写入新的记录后不插入空行</a:t>
            </a:r>
            <a:endParaRPr lang="zh-CN" altLang="en-US" sz="2400" dirty="0">
              <a:latin typeface="+mn-ea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DC0D734-F47C-4663-882F-000A91672F82}"/>
              </a:ext>
            </a:extLst>
          </p:cNvPr>
          <p:cNvSpPr/>
          <p:nvPr/>
        </p:nvSpPr>
        <p:spPr>
          <a:xfrm>
            <a:off x="4224669" y="1573618"/>
            <a:ext cx="1431851" cy="623777"/>
          </a:xfrm>
          <a:prstGeom prst="rect">
            <a:avLst/>
          </a:prstGeom>
          <a:noFill/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9A10A6AE-B31C-40C3-88AF-BB7CA75E892F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7306833" y="726997"/>
            <a:ext cx="4488333" cy="3845003"/>
          </a:xfrm>
          <a:prstGeom prst="rect">
            <a:avLst/>
          </a:prstGeom>
        </p:spPr>
      </p:pic>
      <p:sp>
        <p:nvSpPr>
          <p:cNvPr id="8" name="标注: 弯曲线形 7">
            <a:extLst>
              <a:ext uri="{FF2B5EF4-FFF2-40B4-BE49-F238E27FC236}">
                <a16:creationId xmlns:a16="http://schemas.microsoft.com/office/drawing/2014/main" id="{911C09B5-CA2A-401A-9C01-C654ABCA6CC6}"/>
              </a:ext>
            </a:extLst>
          </p:cNvPr>
          <p:cNvSpPr/>
          <p:nvPr/>
        </p:nvSpPr>
        <p:spPr>
          <a:xfrm>
            <a:off x="8224959" y="5211527"/>
            <a:ext cx="2954655" cy="583108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-240942"/>
              <a:gd name="adj6" fmla="val 9062"/>
            </a:avLst>
          </a:prstGeom>
          <a:ln w="28575">
            <a:solidFill>
              <a:srgbClr val="FF0000"/>
            </a:solidFill>
          </a:ln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400" dirty="0">
                <a:solidFill>
                  <a:srgbClr val="FF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记录之间</a:t>
            </a:r>
            <a:r>
              <a:rPr lang="zh-CN" altLang="en-US" sz="2400" dirty="0">
                <a:solidFill>
                  <a:srgbClr val="FF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不再有</a:t>
            </a:r>
            <a:r>
              <a:rPr lang="zh-CN" altLang="zh-CN" sz="2400" dirty="0">
                <a:solidFill>
                  <a:srgbClr val="FF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空行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009322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1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2" grpId="0" animBg="1"/>
      <p:bldP spid="8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组合 31">
            <a:extLst>
              <a:ext uri="{FF2B5EF4-FFF2-40B4-BE49-F238E27FC236}">
                <a16:creationId xmlns:a16="http://schemas.microsoft.com/office/drawing/2014/main" id="{032EF26F-0D58-4A0E-97C1-668713F80B14}"/>
              </a:ext>
            </a:extLst>
          </p:cNvPr>
          <p:cNvGrpSpPr/>
          <p:nvPr/>
        </p:nvGrpSpPr>
        <p:grpSpPr>
          <a:xfrm>
            <a:off x="170320" y="203448"/>
            <a:ext cx="6511833" cy="504056"/>
            <a:chOff x="169526" y="203448"/>
            <a:chExt cx="6511833" cy="504056"/>
          </a:xfrm>
        </p:grpSpPr>
        <p:sp>
          <p:nvSpPr>
            <p:cNvPr id="4" name="TextBox 3"/>
            <p:cNvSpPr txBox="1"/>
            <p:nvPr/>
          </p:nvSpPr>
          <p:spPr>
            <a:xfrm>
              <a:off x="781172" y="245839"/>
              <a:ext cx="590018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b="1" spc="300" dirty="0">
                  <a:solidFill>
                    <a:srgbClr val="1E6787"/>
                  </a:solidFill>
                  <a:latin typeface="微软雅黑" pitchFamily="34" charset="-122"/>
                  <a:ea typeface="微软雅黑" pitchFamily="34" charset="-122"/>
                </a:rPr>
                <a:t>CSV</a:t>
              </a:r>
              <a:r>
                <a:rPr lang="zh-CN" altLang="en-US" sz="2400" b="1" spc="300" dirty="0">
                  <a:solidFill>
                    <a:srgbClr val="1E6787"/>
                  </a:solidFill>
                  <a:latin typeface="微软雅黑" pitchFamily="34" charset="-122"/>
                  <a:ea typeface="微软雅黑" pitchFamily="34" charset="-122"/>
                </a:rPr>
                <a:t>文件操作</a:t>
              </a:r>
              <a:r>
                <a:rPr lang="en-US" altLang="zh-CN" sz="2400" b="1" spc="300" dirty="0">
                  <a:solidFill>
                    <a:srgbClr val="1E6787"/>
                  </a:solidFill>
                  <a:latin typeface="微软雅黑" pitchFamily="34" charset="-122"/>
                  <a:ea typeface="微软雅黑" pitchFamily="34" charset="-122"/>
                </a:rPr>
                <a:t>—</a:t>
              </a:r>
              <a:r>
                <a:rPr lang="zh-CN" altLang="en-US" sz="2400" b="1" spc="300" dirty="0">
                  <a:solidFill>
                    <a:srgbClr val="1E6787"/>
                  </a:solidFill>
                  <a:latin typeface="微软雅黑" pitchFamily="34" charset="-122"/>
                  <a:ea typeface="微软雅黑" pitchFamily="34" charset="-122"/>
                </a:rPr>
                <a:t>写文件</a:t>
              </a:r>
              <a:endParaRPr lang="zh-CN" altLang="en-US" sz="2000" b="1" spc="300" dirty="0">
                <a:solidFill>
                  <a:srgbClr val="1E6787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grpSp>
          <p:nvGrpSpPr>
            <p:cNvPr id="56" name="组合 55">
              <a:extLst>
                <a:ext uri="{FF2B5EF4-FFF2-40B4-BE49-F238E27FC236}">
                  <a16:creationId xmlns:a16="http://schemas.microsoft.com/office/drawing/2014/main" id="{B3ECA4EB-10D1-4B65-B604-4032302CDAF4}"/>
                </a:ext>
              </a:extLst>
            </p:cNvPr>
            <p:cNvGrpSpPr/>
            <p:nvPr/>
          </p:nvGrpSpPr>
          <p:grpSpPr>
            <a:xfrm>
              <a:off x="169526" y="203448"/>
              <a:ext cx="504056" cy="504056"/>
              <a:chOff x="11207774" y="442662"/>
              <a:chExt cx="504056" cy="504056"/>
            </a:xfr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grpSpPr>
          <p:sp>
            <p:nvSpPr>
              <p:cNvPr id="57" name="椭圆 56">
                <a:extLst>
                  <a:ext uri="{FF2B5EF4-FFF2-40B4-BE49-F238E27FC236}">
                    <a16:creationId xmlns:a16="http://schemas.microsoft.com/office/drawing/2014/main" id="{FF372EA1-AB4F-47B1-B450-59AB8827ECD5}"/>
                  </a:ext>
                </a:extLst>
              </p:cNvPr>
              <p:cNvSpPr/>
              <p:nvPr/>
            </p:nvSpPr>
            <p:spPr>
              <a:xfrm>
                <a:off x="11351790" y="601230"/>
                <a:ext cx="216024" cy="216024"/>
              </a:xfrm>
              <a:prstGeom prst="ellipse">
                <a:avLst/>
              </a:prstGeom>
              <a:solidFill>
                <a:srgbClr val="B3DF63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prstClr val="white"/>
                  </a:solidFill>
                  <a:latin typeface="Calibri"/>
                  <a:ea typeface="微软雅黑"/>
                </a:endParaRPr>
              </a:p>
            </p:txBody>
          </p:sp>
          <p:sp>
            <p:nvSpPr>
              <p:cNvPr id="58" name="椭圆 57">
                <a:extLst>
                  <a:ext uri="{FF2B5EF4-FFF2-40B4-BE49-F238E27FC236}">
                    <a16:creationId xmlns:a16="http://schemas.microsoft.com/office/drawing/2014/main" id="{0BEE7D95-9E9C-4C6D-91AA-6429F74B9F98}"/>
                  </a:ext>
                </a:extLst>
              </p:cNvPr>
              <p:cNvSpPr/>
              <p:nvPr/>
            </p:nvSpPr>
            <p:spPr>
              <a:xfrm>
                <a:off x="11207774" y="442662"/>
                <a:ext cx="504056" cy="504056"/>
              </a:xfrm>
              <a:prstGeom prst="ellipse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Calibri"/>
                  <a:ea typeface="微软雅黑"/>
                </a:endParaRPr>
              </a:p>
            </p:txBody>
          </p:sp>
        </p:grpSp>
        <p:cxnSp>
          <p:nvCxnSpPr>
            <p:cNvPr id="20" name="直接连接符 19">
              <a:extLst>
                <a:ext uri="{FF2B5EF4-FFF2-40B4-BE49-F238E27FC236}">
                  <a16:creationId xmlns:a16="http://schemas.microsoft.com/office/drawing/2014/main" id="{C4FBB3C1-88AA-4E76-B54C-31018E3BFAA0}"/>
                </a:ext>
              </a:extLst>
            </p:cNvPr>
            <p:cNvCxnSpPr>
              <a:cxnSpLocks/>
            </p:cNvCxnSpPr>
            <p:nvPr/>
          </p:nvCxnSpPr>
          <p:spPr>
            <a:xfrm>
              <a:off x="775303" y="707504"/>
              <a:ext cx="1833288" cy="0"/>
            </a:xfrm>
            <a:prstGeom prst="line">
              <a:avLst/>
            </a:prstGeom>
            <a:ln>
              <a:solidFill>
                <a:srgbClr val="B3DF6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矩形 2">
            <a:extLst>
              <a:ext uri="{FF2B5EF4-FFF2-40B4-BE49-F238E27FC236}">
                <a16:creationId xmlns:a16="http://schemas.microsoft.com/office/drawing/2014/main" id="{F91DEF64-685E-4228-9112-33B757BDE484}"/>
              </a:ext>
            </a:extLst>
          </p:cNvPr>
          <p:cNvSpPr/>
          <p:nvPr/>
        </p:nvSpPr>
        <p:spPr>
          <a:xfrm>
            <a:off x="204869" y="998039"/>
            <a:ext cx="10427689" cy="28050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/>
              <a:t>&gt;&gt;&gt; </a:t>
            </a:r>
            <a:r>
              <a:rPr lang="en-US" altLang="zh-CN" sz="2400" dirty="0">
                <a:solidFill>
                  <a:srgbClr val="FF9900"/>
                </a:solidFill>
              </a:rPr>
              <a:t>import</a:t>
            </a:r>
            <a:r>
              <a:rPr lang="en-US" altLang="zh-CN" sz="2400" dirty="0"/>
              <a:t> csv</a:t>
            </a:r>
            <a:endParaRPr lang="zh-CN" altLang="zh-CN" sz="2400" dirty="0"/>
          </a:p>
          <a:p>
            <a:pPr>
              <a:lnSpc>
                <a:spcPct val="150000"/>
              </a:lnSpc>
            </a:pPr>
            <a:r>
              <a:rPr lang="en-US" altLang="zh-CN" sz="2400" dirty="0"/>
              <a:t>&gt;&gt;&gt; </a:t>
            </a:r>
            <a:r>
              <a:rPr lang="en-US" altLang="zh-CN" sz="2400" dirty="0">
                <a:solidFill>
                  <a:srgbClr val="FF9900"/>
                </a:solidFill>
              </a:rPr>
              <a:t>with</a:t>
            </a:r>
            <a:r>
              <a:rPr lang="en-US" altLang="zh-CN" sz="2400" dirty="0"/>
              <a:t> </a:t>
            </a:r>
            <a:r>
              <a:rPr lang="en-US" altLang="zh-CN" sz="2400" dirty="0">
                <a:solidFill>
                  <a:srgbClr val="7030A0"/>
                </a:solidFill>
              </a:rPr>
              <a:t>open</a:t>
            </a:r>
            <a:r>
              <a:rPr lang="en-US" altLang="zh-CN" sz="2400" dirty="0"/>
              <a:t>(</a:t>
            </a:r>
            <a:r>
              <a:rPr lang="en-US" altLang="zh-CN" sz="2400" dirty="0">
                <a:solidFill>
                  <a:srgbClr val="00B050"/>
                </a:solidFill>
              </a:rPr>
              <a:t>“stu.csv”</a:t>
            </a:r>
            <a:r>
              <a:rPr lang="en-US" altLang="zh-CN" sz="2400" dirty="0"/>
              <a:t>,</a:t>
            </a:r>
            <a:r>
              <a:rPr lang="zh-CN" altLang="en-US" sz="2400" dirty="0">
                <a:solidFill>
                  <a:srgbClr val="00B050"/>
                </a:solidFill>
              </a:rPr>
              <a:t>‘</a:t>
            </a:r>
            <a:r>
              <a:rPr lang="en-US" altLang="zh-CN" sz="2400" dirty="0">
                <a:solidFill>
                  <a:srgbClr val="00B050"/>
                </a:solidFill>
              </a:rPr>
              <a:t>a</a:t>
            </a:r>
            <a:r>
              <a:rPr lang="zh-CN" altLang="en-US" sz="2400" dirty="0">
                <a:solidFill>
                  <a:srgbClr val="00B050"/>
                </a:solidFill>
              </a:rPr>
              <a:t>’</a:t>
            </a:r>
            <a:r>
              <a:rPr lang="zh-CN" altLang="en-US" sz="2400" dirty="0"/>
              <a:t>，</a:t>
            </a:r>
            <a:r>
              <a:rPr lang="en-US" altLang="zh-CN" sz="2400" dirty="0"/>
              <a:t>newline='') </a:t>
            </a:r>
            <a:r>
              <a:rPr lang="en-US" altLang="zh-CN" sz="2400" dirty="0">
                <a:solidFill>
                  <a:srgbClr val="FF9900"/>
                </a:solidFill>
              </a:rPr>
              <a:t>as</a:t>
            </a:r>
            <a:r>
              <a:rPr lang="en-US" altLang="zh-CN" sz="2400" dirty="0"/>
              <a:t> </a:t>
            </a:r>
            <a:r>
              <a:rPr lang="en-US" altLang="zh-CN" sz="2400" dirty="0" err="1"/>
              <a:t>stucsv</a:t>
            </a:r>
            <a:r>
              <a:rPr lang="en-US" altLang="zh-CN" sz="2400" dirty="0"/>
              <a:t>:</a:t>
            </a:r>
            <a:endParaRPr lang="zh-CN" altLang="zh-CN" sz="2400" dirty="0"/>
          </a:p>
          <a:p>
            <a:pPr>
              <a:lnSpc>
                <a:spcPct val="150000"/>
              </a:lnSpc>
            </a:pPr>
            <a:r>
              <a:rPr lang="en-US" altLang="zh-CN" sz="2400" dirty="0"/>
              <a:t>	writer=</a:t>
            </a:r>
            <a:r>
              <a:rPr lang="en-US" altLang="zh-CN" sz="2400" dirty="0" err="1"/>
              <a:t>csv.writer</a:t>
            </a:r>
            <a:r>
              <a:rPr lang="en-US" altLang="zh-CN" sz="2400" dirty="0"/>
              <a:t>(</a:t>
            </a:r>
            <a:r>
              <a:rPr lang="en-US" altLang="zh-CN" sz="2400" dirty="0" err="1"/>
              <a:t>stucsv</a:t>
            </a:r>
            <a:r>
              <a:rPr lang="en-US" altLang="zh-CN" sz="2400" dirty="0"/>
              <a:t>)</a:t>
            </a:r>
            <a:endParaRPr lang="zh-CN" altLang="zh-CN" sz="2400" dirty="0"/>
          </a:p>
          <a:p>
            <a:pPr>
              <a:lnSpc>
                <a:spcPct val="150000"/>
              </a:lnSpc>
            </a:pPr>
            <a:r>
              <a:rPr lang="en-US" altLang="zh-CN" sz="2400" dirty="0"/>
              <a:t>	</a:t>
            </a:r>
            <a:r>
              <a:rPr lang="en-US" altLang="zh-CN" sz="2400" dirty="0" err="1"/>
              <a:t>writer.writerow</a:t>
            </a:r>
            <a:r>
              <a:rPr lang="en-US" altLang="zh-CN" sz="2400" dirty="0" err="1">
                <a:solidFill>
                  <a:srgbClr val="FF0000"/>
                </a:solidFill>
              </a:rPr>
              <a:t>s</a:t>
            </a:r>
            <a:r>
              <a:rPr lang="en-US" altLang="zh-CN" sz="2400" dirty="0"/>
              <a:t>(</a:t>
            </a:r>
            <a:r>
              <a:rPr lang="en-US" altLang="zh-CN" sz="2400" dirty="0">
                <a:solidFill>
                  <a:srgbClr val="FF0000"/>
                </a:solidFill>
              </a:rPr>
              <a:t>[</a:t>
            </a:r>
            <a:r>
              <a:rPr lang="en-US" altLang="zh-CN" sz="2400" dirty="0"/>
              <a:t>['</a:t>
            </a:r>
            <a:r>
              <a:rPr lang="zh-CN" altLang="zh-CN" sz="2400" dirty="0"/>
              <a:t>张芳</a:t>
            </a:r>
            <a:r>
              <a:rPr lang="en-US" altLang="zh-CN" sz="2400" dirty="0"/>
              <a:t>','</a:t>
            </a:r>
            <a:r>
              <a:rPr lang="zh-CN" altLang="zh-CN" sz="2400" dirty="0"/>
              <a:t>女</a:t>
            </a:r>
            <a:r>
              <a:rPr lang="en-US" altLang="zh-CN" sz="2400" dirty="0"/>
              <a:t>','20']</a:t>
            </a:r>
            <a:r>
              <a:rPr lang="zh-CN" altLang="en-US" sz="2400" dirty="0"/>
              <a:t>，</a:t>
            </a:r>
            <a:r>
              <a:rPr lang="en-US" altLang="zh-CN" sz="2400" dirty="0"/>
              <a:t>['</a:t>
            </a:r>
            <a:r>
              <a:rPr lang="zh-CN" altLang="zh-CN" sz="2400" dirty="0"/>
              <a:t>王虎</a:t>
            </a:r>
            <a:r>
              <a:rPr lang="en-US" altLang="zh-CN" sz="2400" dirty="0"/>
              <a:t>','</a:t>
            </a:r>
            <a:r>
              <a:rPr lang="zh-CN" altLang="zh-CN" sz="2400" dirty="0"/>
              <a:t>男</a:t>
            </a:r>
            <a:r>
              <a:rPr lang="en-US" altLang="zh-CN" sz="2400" dirty="0"/>
              <a:t>','18’]</a:t>
            </a:r>
            <a:r>
              <a:rPr lang="en-US" altLang="zh-CN" sz="2400" dirty="0">
                <a:solidFill>
                  <a:srgbClr val="FF0000"/>
                </a:solidFill>
              </a:rPr>
              <a:t>]</a:t>
            </a:r>
            <a:r>
              <a:rPr lang="en-US" altLang="zh-CN" sz="2400" dirty="0"/>
              <a:t>)</a:t>
            </a:r>
            <a:endParaRPr lang="zh-CN" altLang="zh-CN" sz="2400" dirty="0"/>
          </a:p>
          <a:p>
            <a:pPr>
              <a:lnSpc>
                <a:spcPct val="150000"/>
              </a:lnSpc>
            </a:pPr>
            <a:r>
              <a:rPr lang="en-US" altLang="zh-CN" sz="2400" dirty="0"/>
              <a:t>	</a:t>
            </a:r>
            <a:r>
              <a:rPr lang="en-US" altLang="zh-CN" dirty="0"/>
              <a:t>	</a:t>
            </a:r>
            <a:r>
              <a:rPr lang="en-US" altLang="zh-CN" sz="2400" dirty="0"/>
              <a:t>		</a:t>
            </a:r>
            <a:endParaRPr lang="zh-CN" altLang="en-US" sz="2400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8623859-3F51-42C4-AAA6-74E70E203A20}"/>
              </a:ext>
            </a:extLst>
          </p:cNvPr>
          <p:cNvSpPr/>
          <p:nvPr/>
        </p:nvSpPr>
        <p:spPr>
          <a:xfrm>
            <a:off x="1366331" y="3746395"/>
            <a:ext cx="7331102" cy="279704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/>
              <a:t>csv</a:t>
            </a:r>
            <a:r>
              <a:rPr lang="zh-CN" altLang="en-US" sz="2400" dirty="0"/>
              <a:t>模块也可以使用</a:t>
            </a:r>
            <a:r>
              <a:rPr lang="en-US" altLang="zh-CN" sz="2400" dirty="0" err="1"/>
              <a:t>writerows</a:t>
            </a:r>
            <a:r>
              <a:rPr lang="zh-CN" altLang="en-US" sz="2400" dirty="0"/>
              <a:t>方法依次写入多行：</a:t>
            </a:r>
            <a:endParaRPr lang="en-US" altLang="zh-CN" sz="2400" dirty="0"/>
          </a:p>
          <a:p>
            <a:pPr marL="800100" lvl="1" indent="-342900">
              <a:lnSpc>
                <a:spcPct val="150000"/>
              </a:lnSpc>
              <a:buFont typeface="微软雅黑" panose="020B0503020204020204" pitchFamily="34" charset="-122"/>
              <a:buChar char="–"/>
            </a:pPr>
            <a:r>
              <a:rPr lang="zh-CN" altLang="en-US" sz="2400" dirty="0">
                <a:latin typeface="+mn-ea"/>
                <a:cs typeface="Times New Roman" panose="02020603050405020304" pitchFamily="18" charset="0"/>
              </a:rPr>
              <a:t>将要写入文件的每一行存储在一个列表中</a:t>
            </a:r>
            <a:endParaRPr lang="en-US" altLang="zh-CN" sz="2400" dirty="0">
              <a:latin typeface="+mn-ea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50000"/>
              </a:lnSpc>
              <a:buFont typeface="微软雅黑" panose="020B0503020204020204" pitchFamily="34" charset="-122"/>
              <a:buChar char="–"/>
            </a:pPr>
            <a:r>
              <a:rPr lang="zh-CN" altLang="en-US" sz="2400" dirty="0">
                <a:latin typeface="+mn-ea"/>
                <a:cs typeface="Times New Roman" panose="02020603050405020304" pitchFamily="18" charset="0"/>
              </a:rPr>
              <a:t>将每一个列表依次作为元素组成一个新序列</a:t>
            </a:r>
            <a:endParaRPr lang="en-US" altLang="zh-CN" sz="2400" dirty="0">
              <a:latin typeface="+mn-ea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50000"/>
              </a:lnSpc>
              <a:buFont typeface="微软雅黑" panose="020B0503020204020204" pitchFamily="34" charset="-122"/>
              <a:buChar char="–"/>
            </a:pPr>
            <a:r>
              <a:rPr lang="zh-CN" altLang="en-US" sz="2400" dirty="0">
                <a:latin typeface="+mn-ea"/>
                <a:cs typeface="Times New Roman" panose="02020603050405020304" pitchFamily="18" charset="0"/>
              </a:rPr>
              <a:t>将带有嵌套列表元素的序列作为参数使用</a:t>
            </a:r>
            <a:r>
              <a:rPr lang="en-US" altLang="zh-CN" sz="2400" dirty="0" err="1">
                <a:latin typeface="+mn-ea"/>
                <a:cs typeface="Times New Roman" panose="02020603050405020304" pitchFamily="18" charset="0"/>
              </a:rPr>
              <a:t>writerows</a:t>
            </a:r>
            <a:r>
              <a:rPr lang="zh-CN" altLang="en-US" sz="2400" dirty="0">
                <a:latin typeface="+mn-ea"/>
                <a:cs typeface="Times New Roman" panose="02020603050405020304" pitchFamily="18" charset="0"/>
              </a:rPr>
              <a:t>方法</a:t>
            </a:r>
          </a:p>
        </p:txBody>
      </p:sp>
      <p:sp>
        <p:nvSpPr>
          <p:cNvPr id="5" name="标注: 线形 4">
            <a:extLst>
              <a:ext uri="{FF2B5EF4-FFF2-40B4-BE49-F238E27FC236}">
                <a16:creationId xmlns:a16="http://schemas.microsoft.com/office/drawing/2014/main" id="{CF55B10E-DEFD-4C2A-A2C6-2F5264402EB2}"/>
              </a:ext>
            </a:extLst>
          </p:cNvPr>
          <p:cNvSpPr/>
          <p:nvPr/>
        </p:nvSpPr>
        <p:spPr>
          <a:xfrm>
            <a:off x="6195238" y="476671"/>
            <a:ext cx="5756452" cy="1137106"/>
          </a:xfrm>
          <a:prstGeom prst="borderCallout1">
            <a:avLst>
              <a:gd name="adj1" fmla="val 18750"/>
              <a:gd name="adj2" fmla="val -8333"/>
              <a:gd name="adj3" fmla="val 194194"/>
              <a:gd name="adj4" fmla="val -18883"/>
            </a:avLst>
          </a:prstGeom>
          <a:ln w="19050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 err="1">
                <a:solidFill>
                  <a:srgbClr val="FF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writerows</a:t>
            </a:r>
            <a:r>
              <a:rPr lang="zh-CN" altLang="zh-CN" sz="2400" dirty="0">
                <a:solidFill>
                  <a:srgbClr val="FF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方法只接受一个序列作为参数，</a:t>
            </a:r>
            <a:endParaRPr lang="en-US" altLang="zh-CN" sz="2400" dirty="0">
              <a:solidFill>
                <a:srgbClr val="FF0000"/>
              </a:solidFill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zh-CN" sz="2400" dirty="0">
                <a:solidFill>
                  <a:srgbClr val="FF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可以是列表，也可以是元组。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035764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5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组合 31">
            <a:extLst>
              <a:ext uri="{FF2B5EF4-FFF2-40B4-BE49-F238E27FC236}">
                <a16:creationId xmlns:a16="http://schemas.microsoft.com/office/drawing/2014/main" id="{032EF26F-0D58-4A0E-97C1-668713F80B14}"/>
              </a:ext>
            </a:extLst>
          </p:cNvPr>
          <p:cNvGrpSpPr/>
          <p:nvPr/>
        </p:nvGrpSpPr>
        <p:grpSpPr>
          <a:xfrm>
            <a:off x="170320" y="203448"/>
            <a:ext cx="6511833" cy="504056"/>
            <a:chOff x="169526" y="203448"/>
            <a:chExt cx="6511833" cy="504056"/>
          </a:xfrm>
        </p:grpSpPr>
        <p:sp>
          <p:nvSpPr>
            <p:cNvPr id="4" name="TextBox 3"/>
            <p:cNvSpPr txBox="1"/>
            <p:nvPr/>
          </p:nvSpPr>
          <p:spPr>
            <a:xfrm>
              <a:off x="781172" y="245839"/>
              <a:ext cx="590018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b="1" spc="300" dirty="0">
                  <a:solidFill>
                    <a:srgbClr val="1E6787"/>
                  </a:solidFill>
                  <a:latin typeface="微软雅黑" pitchFamily="34" charset="-122"/>
                  <a:ea typeface="微软雅黑" pitchFamily="34" charset="-122"/>
                </a:rPr>
                <a:t>CSV</a:t>
              </a:r>
              <a:r>
                <a:rPr lang="zh-CN" altLang="en-US" sz="2400" b="1" spc="300" dirty="0">
                  <a:solidFill>
                    <a:srgbClr val="1E6787"/>
                  </a:solidFill>
                  <a:latin typeface="微软雅黑" pitchFamily="34" charset="-122"/>
                  <a:ea typeface="微软雅黑" pitchFamily="34" charset="-122"/>
                </a:rPr>
                <a:t>文件操作</a:t>
              </a:r>
              <a:r>
                <a:rPr lang="en-US" altLang="zh-CN" sz="2400" b="1" spc="300" dirty="0">
                  <a:solidFill>
                    <a:srgbClr val="1E6787"/>
                  </a:solidFill>
                  <a:latin typeface="微软雅黑" pitchFamily="34" charset="-122"/>
                  <a:ea typeface="微软雅黑" pitchFamily="34" charset="-122"/>
                </a:rPr>
                <a:t>—</a:t>
              </a:r>
              <a:r>
                <a:rPr lang="zh-CN" altLang="en-US" sz="2400" b="1" spc="300" dirty="0">
                  <a:solidFill>
                    <a:srgbClr val="1E6787"/>
                  </a:solidFill>
                  <a:latin typeface="微软雅黑" pitchFamily="34" charset="-122"/>
                  <a:ea typeface="微软雅黑" pitchFamily="34" charset="-122"/>
                </a:rPr>
                <a:t>练习</a:t>
              </a:r>
              <a:endParaRPr lang="zh-CN" altLang="en-US" sz="2000" b="1" spc="300" dirty="0">
                <a:solidFill>
                  <a:srgbClr val="1E6787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grpSp>
          <p:nvGrpSpPr>
            <p:cNvPr id="56" name="组合 55">
              <a:extLst>
                <a:ext uri="{FF2B5EF4-FFF2-40B4-BE49-F238E27FC236}">
                  <a16:creationId xmlns:a16="http://schemas.microsoft.com/office/drawing/2014/main" id="{B3ECA4EB-10D1-4B65-B604-4032302CDAF4}"/>
                </a:ext>
              </a:extLst>
            </p:cNvPr>
            <p:cNvGrpSpPr/>
            <p:nvPr/>
          </p:nvGrpSpPr>
          <p:grpSpPr>
            <a:xfrm>
              <a:off x="169526" y="203448"/>
              <a:ext cx="504056" cy="504056"/>
              <a:chOff x="11207774" y="442662"/>
              <a:chExt cx="504056" cy="504056"/>
            </a:xfr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grpSpPr>
          <p:sp>
            <p:nvSpPr>
              <p:cNvPr id="57" name="椭圆 56">
                <a:extLst>
                  <a:ext uri="{FF2B5EF4-FFF2-40B4-BE49-F238E27FC236}">
                    <a16:creationId xmlns:a16="http://schemas.microsoft.com/office/drawing/2014/main" id="{FF372EA1-AB4F-47B1-B450-59AB8827ECD5}"/>
                  </a:ext>
                </a:extLst>
              </p:cNvPr>
              <p:cNvSpPr/>
              <p:nvPr/>
            </p:nvSpPr>
            <p:spPr>
              <a:xfrm>
                <a:off x="11351790" y="601230"/>
                <a:ext cx="216024" cy="216024"/>
              </a:xfrm>
              <a:prstGeom prst="ellipse">
                <a:avLst/>
              </a:prstGeom>
              <a:solidFill>
                <a:srgbClr val="B3DF63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prstClr val="white"/>
                  </a:solidFill>
                  <a:latin typeface="Calibri"/>
                  <a:ea typeface="微软雅黑"/>
                </a:endParaRPr>
              </a:p>
            </p:txBody>
          </p:sp>
          <p:sp>
            <p:nvSpPr>
              <p:cNvPr id="58" name="椭圆 57">
                <a:extLst>
                  <a:ext uri="{FF2B5EF4-FFF2-40B4-BE49-F238E27FC236}">
                    <a16:creationId xmlns:a16="http://schemas.microsoft.com/office/drawing/2014/main" id="{0BEE7D95-9E9C-4C6D-91AA-6429F74B9F98}"/>
                  </a:ext>
                </a:extLst>
              </p:cNvPr>
              <p:cNvSpPr/>
              <p:nvPr/>
            </p:nvSpPr>
            <p:spPr>
              <a:xfrm>
                <a:off x="11207774" y="442662"/>
                <a:ext cx="504056" cy="504056"/>
              </a:xfrm>
              <a:prstGeom prst="ellipse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Calibri"/>
                  <a:ea typeface="微软雅黑"/>
                </a:endParaRPr>
              </a:p>
            </p:txBody>
          </p:sp>
        </p:grpSp>
        <p:cxnSp>
          <p:nvCxnSpPr>
            <p:cNvPr id="20" name="直接连接符 19">
              <a:extLst>
                <a:ext uri="{FF2B5EF4-FFF2-40B4-BE49-F238E27FC236}">
                  <a16:creationId xmlns:a16="http://schemas.microsoft.com/office/drawing/2014/main" id="{C4FBB3C1-88AA-4E76-B54C-31018E3BFAA0}"/>
                </a:ext>
              </a:extLst>
            </p:cNvPr>
            <p:cNvCxnSpPr>
              <a:cxnSpLocks/>
            </p:cNvCxnSpPr>
            <p:nvPr/>
          </p:nvCxnSpPr>
          <p:spPr>
            <a:xfrm>
              <a:off x="775303" y="707504"/>
              <a:ext cx="1833288" cy="0"/>
            </a:xfrm>
            <a:prstGeom prst="line">
              <a:avLst/>
            </a:prstGeom>
            <a:ln>
              <a:solidFill>
                <a:srgbClr val="B3DF6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矩形 1">
            <a:extLst>
              <a:ext uri="{FF2B5EF4-FFF2-40B4-BE49-F238E27FC236}">
                <a16:creationId xmlns:a16="http://schemas.microsoft.com/office/drawing/2014/main" id="{D3DC0766-ED61-46D3-93BD-79524870C5F7}"/>
              </a:ext>
            </a:extLst>
          </p:cNvPr>
          <p:cNvSpPr/>
          <p:nvPr/>
        </p:nvSpPr>
        <p:spPr>
          <a:xfrm>
            <a:off x="530360" y="1039705"/>
            <a:ext cx="11274975" cy="13161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indent="457200">
              <a:lnSpc>
                <a:spcPct val="150000"/>
              </a:lnSpc>
            </a:pPr>
            <a:r>
              <a:rPr lang="zh-CN" altLang="zh-CN" sz="2800" dirty="0"/>
              <a:t>请编写程序根据第五章课后习题</a:t>
            </a:r>
            <a:r>
              <a:rPr lang="en-US" altLang="zh-CN" sz="2800" dirty="0"/>
              <a:t>1</a:t>
            </a:r>
            <a:r>
              <a:rPr lang="zh-CN" altLang="zh-CN" sz="2800" dirty="0"/>
              <a:t>中最后生成的通信录字典创建“通信录</a:t>
            </a:r>
            <a:r>
              <a:rPr lang="en-US" altLang="zh-CN" sz="2800" dirty="0"/>
              <a:t>.csv</a:t>
            </a:r>
            <a:r>
              <a:rPr lang="zh-CN" altLang="zh-CN" sz="2800" dirty="0"/>
              <a:t>”文件；然后在程序中查询大王的手机号、</a:t>
            </a:r>
            <a:r>
              <a:rPr lang="en-US" altLang="zh-CN" sz="2800" dirty="0"/>
              <a:t>QQ</a:t>
            </a:r>
            <a:r>
              <a:rPr lang="zh-CN" altLang="zh-CN" sz="2800" dirty="0"/>
              <a:t>号和微信号。</a:t>
            </a: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7A62852F-A18C-417B-A211-F558239B8B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403312"/>
              </p:ext>
            </p:extLst>
          </p:nvPr>
        </p:nvGraphicFramePr>
        <p:xfrm>
          <a:off x="1416308" y="2433628"/>
          <a:ext cx="9359385" cy="423223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395101">
                  <a:extLst>
                    <a:ext uri="{9D8B030D-6E8A-4147-A177-3AD203B41FA5}">
                      <a16:colId xmlns:a16="http://schemas.microsoft.com/office/drawing/2014/main" val="1597325236"/>
                    </a:ext>
                  </a:extLst>
                </a:gridCol>
                <a:gridCol w="2209048">
                  <a:extLst>
                    <a:ext uri="{9D8B030D-6E8A-4147-A177-3AD203B41FA5}">
                      <a16:colId xmlns:a16="http://schemas.microsoft.com/office/drawing/2014/main" val="928707280"/>
                    </a:ext>
                  </a:extLst>
                </a:gridCol>
                <a:gridCol w="2877618">
                  <a:extLst>
                    <a:ext uri="{9D8B030D-6E8A-4147-A177-3AD203B41FA5}">
                      <a16:colId xmlns:a16="http://schemas.microsoft.com/office/drawing/2014/main" val="3379943324"/>
                    </a:ext>
                  </a:extLst>
                </a:gridCol>
                <a:gridCol w="2877618">
                  <a:extLst>
                    <a:ext uri="{9D8B030D-6E8A-4147-A177-3AD203B41FA5}">
                      <a16:colId xmlns:a16="http://schemas.microsoft.com/office/drawing/2014/main" val="1972591264"/>
                    </a:ext>
                  </a:extLst>
                </a:gridCol>
              </a:tblGrid>
              <a:tr h="604605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zh-CN" sz="2400" kern="100" dirty="0">
                          <a:effectLst/>
                        </a:rPr>
                        <a:t>姓名</a:t>
                      </a:r>
                      <a:endParaRPr lang="zh-CN" sz="24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zh-CN" sz="2400" kern="100">
                          <a:effectLst/>
                        </a:rPr>
                        <a:t>手机</a:t>
                      </a:r>
                      <a:endParaRPr lang="zh-CN" sz="24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2400" kern="100" dirty="0">
                          <a:effectLst/>
                        </a:rPr>
                        <a:t>QQ</a:t>
                      </a:r>
                      <a:endParaRPr lang="zh-CN" sz="24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2400" kern="100" dirty="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微信号</a:t>
                      </a:r>
                      <a:endParaRPr lang="zh-CN" sz="24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1311897986"/>
                  </a:ext>
                </a:extLst>
              </a:tr>
              <a:tr h="604605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zh-CN" sz="2400" kern="100" dirty="0">
                          <a:effectLst/>
                        </a:rPr>
                        <a:t>小新</a:t>
                      </a:r>
                      <a:endParaRPr lang="zh-CN" sz="24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2400" kern="100" dirty="0">
                          <a:effectLst/>
                        </a:rPr>
                        <a:t>13913000001</a:t>
                      </a:r>
                      <a:endParaRPr lang="zh-CN" sz="24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2400" kern="100">
                          <a:effectLst/>
                        </a:rPr>
                        <a:t>18191220001</a:t>
                      </a:r>
                      <a:endParaRPr lang="zh-CN" sz="24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24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xx9907</a:t>
                      </a:r>
                      <a:endParaRPr lang="zh-CN" sz="24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4196202507"/>
                  </a:ext>
                </a:extLst>
              </a:tr>
              <a:tr h="604605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zh-CN" sz="2400" kern="100">
                          <a:effectLst/>
                        </a:rPr>
                        <a:t>小亮</a:t>
                      </a:r>
                      <a:endParaRPr lang="zh-CN" sz="24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2400" kern="100" dirty="0">
                          <a:effectLst/>
                        </a:rPr>
                        <a:t>13913000002</a:t>
                      </a:r>
                      <a:endParaRPr lang="zh-CN" sz="24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2400" kern="100" dirty="0">
                          <a:effectLst/>
                        </a:rPr>
                        <a:t>18191220002</a:t>
                      </a:r>
                      <a:endParaRPr lang="zh-CN" sz="24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2400" kern="100" dirty="0">
                          <a:effectLst/>
                        </a:rPr>
                        <a:t>13913000002</a:t>
                      </a:r>
                      <a:endParaRPr lang="zh-CN" sz="24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2053213136"/>
                  </a:ext>
                </a:extLst>
              </a:tr>
              <a:tr h="604605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zh-CN" sz="2400" kern="100">
                          <a:effectLst/>
                        </a:rPr>
                        <a:t>小刚</a:t>
                      </a:r>
                      <a:endParaRPr lang="zh-CN" sz="24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2400" kern="100">
                          <a:effectLst/>
                        </a:rPr>
                        <a:t>13913000003</a:t>
                      </a:r>
                      <a:endParaRPr lang="zh-CN" sz="24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2400" kern="100" dirty="0">
                          <a:effectLst/>
                        </a:rPr>
                        <a:t>18191220003</a:t>
                      </a:r>
                      <a:endParaRPr lang="zh-CN" sz="24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gang1004</a:t>
                      </a:r>
                      <a:endParaRPr lang="zh-CN" sz="24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2198570545"/>
                  </a:ext>
                </a:extLst>
              </a:tr>
              <a:tr h="604605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zh-CN" sz="2400" kern="100" dirty="0">
                          <a:effectLst/>
                        </a:rPr>
                        <a:t>大刘</a:t>
                      </a:r>
                      <a:endParaRPr lang="zh-CN" sz="24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2400" kern="100" dirty="0">
                          <a:effectLst/>
                        </a:rPr>
                        <a:t>13914000001</a:t>
                      </a:r>
                      <a:endParaRPr lang="zh-CN" sz="24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2400" kern="100" dirty="0">
                          <a:effectLst/>
                        </a:rPr>
                        <a:t>18191230001</a:t>
                      </a:r>
                      <a:endParaRPr lang="zh-CN" sz="24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liu666</a:t>
                      </a:r>
                      <a:endParaRPr lang="zh-CN" sz="24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4128132480"/>
                  </a:ext>
                </a:extLst>
              </a:tr>
              <a:tr h="604605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zh-CN" sz="2400" kern="100" dirty="0">
                          <a:effectLst/>
                        </a:rPr>
                        <a:t>大王</a:t>
                      </a:r>
                      <a:endParaRPr lang="zh-CN" sz="24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13914000004</a:t>
                      </a:r>
                      <a:endParaRPr lang="zh-CN" sz="24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2400" kern="100" dirty="0">
                          <a:effectLst/>
                        </a:rPr>
                        <a:t>18191230002</a:t>
                      </a:r>
                      <a:endParaRPr lang="zh-CN" sz="24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2400" kern="10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jack_w</a:t>
                      </a:r>
                      <a:endParaRPr lang="zh-CN" sz="24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1345928483"/>
                  </a:ext>
                </a:extLst>
              </a:tr>
              <a:tr h="604605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zh-CN" sz="2400" kern="100" dirty="0">
                          <a:effectLst/>
                        </a:rPr>
                        <a:t>大张</a:t>
                      </a:r>
                      <a:endParaRPr lang="zh-CN" sz="24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2400" kern="100" dirty="0">
                          <a:effectLst/>
                        </a:rPr>
                        <a:t>13914000003</a:t>
                      </a:r>
                      <a:endParaRPr lang="zh-CN" sz="24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2400" kern="100" dirty="0">
                          <a:effectLst/>
                        </a:rPr>
                        <a:t>18191230003</a:t>
                      </a:r>
                      <a:endParaRPr lang="zh-CN" sz="24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kern="100" dirty="0">
                          <a:effectLst/>
                        </a:rPr>
                        <a:t>13914000003</a:t>
                      </a:r>
                      <a:endParaRPr lang="zh-CN" altLang="zh-CN" sz="24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41483432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170041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组合 31">
            <a:extLst>
              <a:ext uri="{FF2B5EF4-FFF2-40B4-BE49-F238E27FC236}">
                <a16:creationId xmlns:a16="http://schemas.microsoft.com/office/drawing/2014/main" id="{032EF26F-0D58-4A0E-97C1-668713F80B14}"/>
              </a:ext>
            </a:extLst>
          </p:cNvPr>
          <p:cNvGrpSpPr/>
          <p:nvPr/>
        </p:nvGrpSpPr>
        <p:grpSpPr>
          <a:xfrm>
            <a:off x="170320" y="203448"/>
            <a:ext cx="6511833" cy="504056"/>
            <a:chOff x="169526" y="203448"/>
            <a:chExt cx="6511833" cy="504056"/>
          </a:xfrm>
        </p:grpSpPr>
        <p:sp>
          <p:nvSpPr>
            <p:cNvPr id="4" name="TextBox 3"/>
            <p:cNvSpPr txBox="1"/>
            <p:nvPr/>
          </p:nvSpPr>
          <p:spPr>
            <a:xfrm>
              <a:off x="781172" y="245839"/>
              <a:ext cx="590018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b="1" spc="300" dirty="0">
                  <a:solidFill>
                    <a:srgbClr val="1E6787"/>
                  </a:solidFill>
                  <a:latin typeface="微软雅黑" pitchFamily="34" charset="-122"/>
                  <a:ea typeface="微软雅黑" pitchFamily="34" charset="-122"/>
                </a:rPr>
                <a:t>CSV</a:t>
              </a:r>
              <a:r>
                <a:rPr lang="zh-CN" altLang="en-US" sz="2400" b="1" spc="300" dirty="0">
                  <a:solidFill>
                    <a:srgbClr val="1E6787"/>
                  </a:solidFill>
                  <a:latin typeface="微软雅黑" pitchFamily="34" charset="-122"/>
                  <a:ea typeface="微软雅黑" pitchFamily="34" charset="-122"/>
                </a:rPr>
                <a:t>文件操作</a:t>
              </a:r>
              <a:r>
                <a:rPr lang="en-US" altLang="zh-CN" sz="2400" b="1" spc="300" dirty="0">
                  <a:solidFill>
                    <a:srgbClr val="1E6787"/>
                  </a:solidFill>
                  <a:latin typeface="微软雅黑" pitchFamily="34" charset="-122"/>
                  <a:ea typeface="微软雅黑" pitchFamily="34" charset="-122"/>
                </a:rPr>
                <a:t>—</a:t>
              </a:r>
              <a:r>
                <a:rPr lang="zh-CN" altLang="en-US" sz="2400" b="1" spc="300" dirty="0">
                  <a:solidFill>
                    <a:srgbClr val="1E6787"/>
                  </a:solidFill>
                  <a:latin typeface="微软雅黑" pitchFamily="34" charset="-122"/>
                  <a:ea typeface="微软雅黑" pitchFamily="34" charset="-122"/>
                </a:rPr>
                <a:t>练习</a:t>
              </a:r>
              <a:endParaRPr lang="zh-CN" altLang="en-US" sz="2000" b="1" spc="300" dirty="0">
                <a:solidFill>
                  <a:srgbClr val="1E6787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grpSp>
          <p:nvGrpSpPr>
            <p:cNvPr id="56" name="组合 55">
              <a:extLst>
                <a:ext uri="{FF2B5EF4-FFF2-40B4-BE49-F238E27FC236}">
                  <a16:creationId xmlns:a16="http://schemas.microsoft.com/office/drawing/2014/main" id="{B3ECA4EB-10D1-4B65-B604-4032302CDAF4}"/>
                </a:ext>
              </a:extLst>
            </p:cNvPr>
            <p:cNvGrpSpPr/>
            <p:nvPr/>
          </p:nvGrpSpPr>
          <p:grpSpPr>
            <a:xfrm>
              <a:off x="169526" y="203448"/>
              <a:ext cx="504056" cy="504056"/>
              <a:chOff x="11207774" y="442662"/>
              <a:chExt cx="504056" cy="504056"/>
            </a:xfr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grpSpPr>
          <p:sp>
            <p:nvSpPr>
              <p:cNvPr id="57" name="椭圆 56">
                <a:extLst>
                  <a:ext uri="{FF2B5EF4-FFF2-40B4-BE49-F238E27FC236}">
                    <a16:creationId xmlns:a16="http://schemas.microsoft.com/office/drawing/2014/main" id="{FF372EA1-AB4F-47B1-B450-59AB8827ECD5}"/>
                  </a:ext>
                </a:extLst>
              </p:cNvPr>
              <p:cNvSpPr/>
              <p:nvPr/>
            </p:nvSpPr>
            <p:spPr>
              <a:xfrm>
                <a:off x="11351790" y="601230"/>
                <a:ext cx="216024" cy="216024"/>
              </a:xfrm>
              <a:prstGeom prst="ellipse">
                <a:avLst/>
              </a:prstGeom>
              <a:solidFill>
                <a:srgbClr val="B3DF63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prstClr val="white"/>
                  </a:solidFill>
                  <a:latin typeface="Calibri"/>
                  <a:ea typeface="微软雅黑"/>
                </a:endParaRPr>
              </a:p>
            </p:txBody>
          </p:sp>
          <p:sp>
            <p:nvSpPr>
              <p:cNvPr id="58" name="椭圆 57">
                <a:extLst>
                  <a:ext uri="{FF2B5EF4-FFF2-40B4-BE49-F238E27FC236}">
                    <a16:creationId xmlns:a16="http://schemas.microsoft.com/office/drawing/2014/main" id="{0BEE7D95-9E9C-4C6D-91AA-6429F74B9F98}"/>
                  </a:ext>
                </a:extLst>
              </p:cNvPr>
              <p:cNvSpPr/>
              <p:nvPr/>
            </p:nvSpPr>
            <p:spPr>
              <a:xfrm>
                <a:off x="11207774" y="442662"/>
                <a:ext cx="504056" cy="504056"/>
              </a:xfrm>
              <a:prstGeom prst="ellipse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Calibri"/>
                  <a:ea typeface="微软雅黑"/>
                </a:endParaRPr>
              </a:p>
            </p:txBody>
          </p:sp>
        </p:grpSp>
        <p:cxnSp>
          <p:nvCxnSpPr>
            <p:cNvPr id="20" name="直接连接符 19">
              <a:extLst>
                <a:ext uri="{FF2B5EF4-FFF2-40B4-BE49-F238E27FC236}">
                  <a16:creationId xmlns:a16="http://schemas.microsoft.com/office/drawing/2014/main" id="{C4FBB3C1-88AA-4E76-B54C-31018E3BFAA0}"/>
                </a:ext>
              </a:extLst>
            </p:cNvPr>
            <p:cNvCxnSpPr>
              <a:cxnSpLocks/>
            </p:cNvCxnSpPr>
            <p:nvPr/>
          </p:nvCxnSpPr>
          <p:spPr>
            <a:xfrm>
              <a:off x="775303" y="707504"/>
              <a:ext cx="1833288" cy="0"/>
            </a:xfrm>
            <a:prstGeom prst="line">
              <a:avLst/>
            </a:prstGeom>
            <a:ln>
              <a:solidFill>
                <a:srgbClr val="B3DF6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17082E5A-82DD-4D1B-998F-F56B83BAE0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2153" y="578040"/>
            <a:ext cx="5385796" cy="3863164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4D216CD0-4564-48AC-BC91-453ADA75499F}"/>
              </a:ext>
            </a:extLst>
          </p:cNvPr>
          <p:cNvSpPr/>
          <p:nvPr/>
        </p:nvSpPr>
        <p:spPr>
          <a:xfrm>
            <a:off x="314336" y="1800833"/>
            <a:ext cx="6096000" cy="415498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sz="2400" dirty="0">
                <a:solidFill>
                  <a:srgbClr val="FFC000"/>
                </a:solidFill>
              </a:rPr>
              <a:t>import</a:t>
            </a:r>
            <a:r>
              <a:rPr lang="zh-CN" altLang="en-US" sz="2400" dirty="0"/>
              <a:t> csv</a:t>
            </a:r>
          </a:p>
          <a:p>
            <a:r>
              <a:rPr lang="zh-CN" altLang="en-US" sz="2400" dirty="0">
                <a:solidFill>
                  <a:srgbClr val="FFC000"/>
                </a:solidFill>
              </a:rPr>
              <a:t>with</a:t>
            </a:r>
            <a:r>
              <a:rPr lang="zh-CN" altLang="en-US" sz="2400" dirty="0"/>
              <a:t> </a:t>
            </a:r>
            <a:r>
              <a:rPr lang="zh-CN" altLang="en-US" sz="2400" dirty="0">
                <a:solidFill>
                  <a:srgbClr val="7030A0"/>
                </a:solidFill>
              </a:rPr>
              <a:t>open</a:t>
            </a:r>
            <a:r>
              <a:rPr lang="zh-CN" altLang="en-US" sz="2400" dirty="0"/>
              <a:t>(</a:t>
            </a:r>
            <a:r>
              <a:rPr lang="zh-CN" altLang="en-US" sz="2400" dirty="0">
                <a:solidFill>
                  <a:srgbClr val="00B050"/>
                </a:solidFill>
              </a:rPr>
              <a:t>"d:\\通信录.csv"</a:t>
            </a:r>
            <a:r>
              <a:rPr lang="zh-CN" altLang="en-US" sz="2400" dirty="0"/>
              <a:t>,</a:t>
            </a:r>
            <a:r>
              <a:rPr lang="zh-CN" altLang="en-US" sz="2400" dirty="0">
                <a:solidFill>
                  <a:srgbClr val="00B050"/>
                </a:solidFill>
              </a:rPr>
              <a:t>'r'</a:t>
            </a:r>
            <a:r>
              <a:rPr lang="zh-CN" altLang="en-US" sz="2400" dirty="0"/>
              <a:t>,</a:t>
            </a:r>
            <a:r>
              <a:rPr lang="zh-CN" altLang="en-US" sz="2400" dirty="0">
                <a:solidFill>
                  <a:srgbClr val="00B050"/>
                </a:solidFill>
              </a:rPr>
              <a:t>encoding='utf-8'</a:t>
            </a:r>
            <a:r>
              <a:rPr lang="zh-CN" altLang="en-US" sz="2400" dirty="0"/>
              <a:t>) as txlcsv:</a:t>
            </a:r>
          </a:p>
          <a:p>
            <a:r>
              <a:rPr lang="zh-CN" altLang="en-US" sz="2400" dirty="0"/>
              <a:t>    reader = csv.reader(txlcsv)</a:t>
            </a:r>
          </a:p>
          <a:p>
            <a:r>
              <a:rPr lang="zh-CN" altLang="en-US" sz="2400" dirty="0"/>
              <a:t>    </a:t>
            </a:r>
            <a:r>
              <a:rPr lang="zh-CN" altLang="en-US" sz="2400" dirty="0">
                <a:solidFill>
                  <a:srgbClr val="FFC000"/>
                </a:solidFill>
              </a:rPr>
              <a:t>for</a:t>
            </a:r>
            <a:r>
              <a:rPr lang="zh-CN" altLang="en-US" sz="2400" dirty="0"/>
              <a:t> row </a:t>
            </a:r>
            <a:r>
              <a:rPr lang="zh-CN" altLang="en-US" sz="2400" dirty="0">
                <a:solidFill>
                  <a:srgbClr val="FFC000"/>
                </a:solidFill>
              </a:rPr>
              <a:t>in</a:t>
            </a:r>
            <a:r>
              <a:rPr lang="zh-CN" altLang="en-US" sz="2400" dirty="0"/>
              <a:t> reader:</a:t>
            </a:r>
          </a:p>
          <a:p>
            <a:r>
              <a:rPr lang="zh-CN" altLang="en-US" sz="2400" dirty="0"/>
              <a:t>        </a:t>
            </a:r>
            <a:r>
              <a:rPr lang="zh-CN" altLang="en-US" sz="2400" dirty="0">
                <a:solidFill>
                  <a:srgbClr val="FFC000"/>
                </a:solidFill>
              </a:rPr>
              <a:t>if</a:t>
            </a:r>
            <a:r>
              <a:rPr lang="zh-CN" altLang="en-US" sz="2400" dirty="0"/>
              <a:t> row[0] == '大王':</a:t>
            </a:r>
          </a:p>
          <a:p>
            <a:r>
              <a:rPr lang="zh-CN" altLang="en-US" sz="2400" dirty="0"/>
              <a:t>            res = row</a:t>
            </a:r>
          </a:p>
          <a:p>
            <a:r>
              <a:rPr lang="zh-CN" altLang="en-US" sz="2400" dirty="0"/>
              <a:t>            </a:t>
            </a:r>
            <a:r>
              <a:rPr lang="zh-CN" altLang="en-US" sz="2400" dirty="0">
                <a:solidFill>
                  <a:srgbClr val="FFC000"/>
                </a:solidFill>
              </a:rPr>
              <a:t>break</a:t>
            </a:r>
          </a:p>
          <a:p>
            <a:r>
              <a:rPr lang="zh-CN" altLang="en-US" sz="2400" dirty="0">
                <a:solidFill>
                  <a:srgbClr val="7030A0"/>
                </a:solidFill>
              </a:rPr>
              <a:t>print</a:t>
            </a:r>
            <a:r>
              <a:rPr lang="zh-CN" altLang="en-US" sz="2400" dirty="0"/>
              <a:t>(</a:t>
            </a:r>
            <a:r>
              <a:rPr lang="zh-CN" altLang="en-US" sz="2400" dirty="0">
                <a:solidFill>
                  <a:srgbClr val="00B050"/>
                </a:solidFill>
              </a:rPr>
              <a:t>"大王的手机号是："</a:t>
            </a:r>
            <a:r>
              <a:rPr lang="zh-CN" altLang="en-US" sz="2400" dirty="0"/>
              <a:t>,res[1])</a:t>
            </a:r>
          </a:p>
          <a:p>
            <a:r>
              <a:rPr lang="zh-CN" altLang="en-US" sz="2400" dirty="0">
                <a:solidFill>
                  <a:srgbClr val="7030A0"/>
                </a:solidFill>
              </a:rPr>
              <a:t>print</a:t>
            </a:r>
            <a:r>
              <a:rPr lang="zh-CN" altLang="en-US" sz="2400" dirty="0"/>
              <a:t>(</a:t>
            </a:r>
            <a:r>
              <a:rPr lang="zh-CN" altLang="en-US" sz="2400" dirty="0">
                <a:solidFill>
                  <a:srgbClr val="00B050"/>
                </a:solidFill>
              </a:rPr>
              <a:t>"大王的QQ号是："</a:t>
            </a:r>
            <a:r>
              <a:rPr lang="zh-CN" altLang="en-US" sz="2400" dirty="0"/>
              <a:t>,res[2])</a:t>
            </a:r>
          </a:p>
          <a:p>
            <a:r>
              <a:rPr lang="zh-CN" altLang="en-US" sz="2400" dirty="0">
                <a:solidFill>
                  <a:srgbClr val="7030A0"/>
                </a:solidFill>
              </a:rPr>
              <a:t>print</a:t>
            </a:r>
            <a:r>
              <a:rPr lang="zh-CN" altLang="en-US" sz="2400" dirty="0"/>
              <a:t>(</a:t>
            </a:r>
            <a:r>
              <a:rPr lang="zh-CN" altLang="en-US" sz="2400" dirty="0">
                <a:solidFill>
                  <a:srgbClr val="00B050"/>
                </a:solidFill>
              </a:rPr>
              <a:t>"大王的微信号是："</a:t>
            </a:r>
            <a:r>
              <a:rPr lang="zh-CN" altLang="en-US" sz="2400" dirty="0"/>
              <a:t>,res[3])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DA3B170-93F2-4B94-9A7B-973599DBAA1E}"/>
              </a:ext>
            </a:extLst>
          </p:cNvPr>
          <p:cNvSpPr/>
          <p:nvPr/>
        </p:nvSpPr>
        <p:spPr>
          <a:xfrm>
            <a:off x="6781390" y="4773405"/>
            <a:ext cx="4914424" cy="169533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0000FF"/>
                </a:solidFill>
              </a:rPr>
              <a:t>大王的手机号是： 13914000004</a:t>
            </a:r>
          </a:p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0000FF"/>
                </a:solidFill>
              </a:rPr>
              <a:t>大王的QQ号是： 18191230002</a:t>
            </a:r>
          </a:p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0000FF"/>
                </a:solidFill>
              </a:rPr>
              <a:t>大王的微信号是： jack_w</a:t>
            </a:r>
          </a:p>
        </p:txBody>
      </p:sp>
      <p:sp>
        <p:nvSpPr>
          <p:cNvPr id="8" name="标注: 弯曲线形 7">
            <a:extLst>
              <a:ext uri="{FF2B5EF4-FFF2-40B4-BE49-F238E27FC236}">
                <a16:creationId xmlns:a16="http://schemas.microsoft.com/office/drawing/2014/main" id="{A28D97F0-B624-473C-B9E4-7517B652C4C2}"/>
              </a:ext>
            </a:extLst>
          </p:cNvPr>
          <p:cNvSpPr/>
          <p:nvPr/>
        </p:nvSpPr>
        <p:spPr>
          <a:xfrm>
            <a:off x="2003912" y="834286"/>
            <a:ext cx="3110147" cy="966547"/>
          </a:xfrm>
          <a:prstGeom prst="borderCallout2">
            <a:avLst>
              <a:gd name="adj1" fmla="val 55216"/>
              <a:gd name="adj2" fmla="val 102476"/>
              <a:gd name="adj3" fmla="val 53296"/>
              <a:gd name="adj4" fmla="val 128975"/>
              <a:gd name="adj5" fmla="val 135000"/>
              <a:gd name="adj6" fmla="val 10744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chemeClr val="accent6"/>
                </a:solidFill>
              </a:rPr>
              <a:t>将编码指定为</a:t>
            </a:r>
            <a:r>
              <a:rPr lang="en-US" altLang="zh-CN" sz="2000" dirty="0">
                <a:solidFill>
                  <a:schemeClr val="accent6"/>
                </a:solidFill>
              </a:rPr>
              <a:t>UTF-8</a:t>
            </a:r>
            <a:r>
              <a:rPr lang="zh-CN" altLang="en-US" sz="2000" dirty="0">
                <a:solidFill>
                  <a:schemeClr val="accent6"/>
                </a:solidFill>
              </a:rPr>
              <a:t>编码，</a:t>
            </a:r>
            <a:endParaRPr lang="en-US" altLang="zh-CN" sz="2000" dirty="0">
              <a:solidFill>
                <a:schemeClr val="accent6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chemeClr val="accent6"/>
                </a:solidFill>
              </a:rPr>
              <a:t>避免中文文本读写错误</a:t>
            </a:r>
          </a:p>
        </p:txBody>
      </p:sp>
    </p:spTree>
    <p:extLst>
      <p:ext uri="{BB962C8B-B14F-4D97-AF65-F5344CB8AC3E}">
        <p14:creationId xmlns:p14="http://schemas.microsoft.com/office/powerpoint/2010/main" val="31345892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图片 18">
            <a:extLst>
              <a:ext uri="{FF2B5EF4-FFF2-40B4-BE49-F238E27FC236}">
                <a16:creationId xmlns:a16="http://schemas.microsoft.com/office/drawing/2014/main" id="{F8014AE3-2F6F-4D03-ABA5-98B6F9BB3E23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DFF"/>
              </a:clrFrom>
              <a:clrTo>
                <a:srgbClr val="FFFD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-1" y="0"/>
            <a:ext cx="12192001" cy="6870567"/>
          </a:xfrm>
          <a:prstGeom prst="rect">
            <a:avLst/>
          </a:prstGeom>
        </p:spPr>
      </p:pic>
      <p:sp>
        <p:nvSpPr>
          <p:cNvPr id="10" name="TextBox 1">
            <a:extLst>
              <a:ext uri="{FF2B5EF4-FFF2-40B4-BE49-F238E27FC236}">
                <a16:creationId xmlns:a16="http://schemas.microsoft.com/office/drawing/2014/main" id="{9852CEF3-AF68-464A-8EBB-F8859FB71535}"/>
              </a:ext>
            </a:extLst>
          </p:cNvPr>
          <p:cNvSpPr txBox="1"/>
          <p:nvPr/>
        </p:nvSpPr>
        <p:spPr>
          <a:xfrm>
            <a:off x="3977604" y="2703040"/>
            <a:ext cx="449353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800" b="1" dirty="0">
                <a:ln w="12700">
                  <a:noFill/>
                  <a:prstDash val="solid"/>
                </a:ln>
                <a:solidFill>
                  <a:prstClr val="white"/>
                </a:solidFill>
                <a:effectLst>
                  <a:outerShdw dist="50800" dir="4800000" algn="tl" rotWithShape="0">
                    <a:srgbClr val="000000">
                      <a:alpha val="40000"/>
                    </a:srgbClr>
                  </a:outerShdw>
                </a:effectLst>
                <a:latin typeface="造字工房尚黑（非商用）细体" pitchFamily="50" charset="-122"/>
                <a:ea typeface="造字工房尚黑（非商用）细体" pitchFamily="50" charset="-122"/>
              </a:rPr>
              <a:t>异常和异常处理</a:t>
            </a:r>
          </a:p>
        </p:txBody>
      </p:sp>
      <p:grpSp>
        <p:nvGrpSpPr>
          <p:cNvPr id="13" name="Group 5">
            <a:extLst>
              <a:ext uri="{FF2B5EF4-FFF2-40B4-BE49-F238E27FC236}">
                <a16:creationId xmlns:a16="http://schemas.microsoft.com/office/drawing/2014/main" id="{D4E457FC-7ABC-46A4-AA05-460516D34D97}"/>
              </a:ext>
            </a:extLst>
          </p:cNvPr>
          <p:cNvGrpSpPr/>
          <p:nvPr/>
        </p:nvGrpSpPr>
        <p:grpSpPr>
          <a:xfrm>
            <a:off x="8825614" y="4241498"/>
            <a:ext cx="2169488" cy="2175406"/>
            <a:chOff x="5292553" y="3355717"/>
            <a:chExt cx="1711365" cy="2494000"/>
          </a:xfrm>
          <a:solidFill>
            <a:schemeClr val="bg1">
              <a:lumMod val="95000"/>
            </a:schemeClr>
          </a:solidFill>
        </p:grpSpPr>
        <p:sp>
          <p:nvSpPr>
            <p:cNvPr id="14" name="Rectangle 5">
              <a:extLst>
                <a:ext uri="{FF2B5EF4-FFF2-40B4-BE49-F238E27FC236}">
                  <a16:creationId xmlns:a16="http://schemas.microsoft.com/office/drawing/2014/main" id="{92665014-DCFC-4389-9C6A-F93E9F8C55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92553" y="3573075"/>
              <a:ext cx="992082" cy="190188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15" name="Rectangle 6">
              <a:extLst>
                <a:ext uri="{FF2B5EF4-FFF2-40B4-BE49-F238E27FC236}">
                  <a16:creationId xmlns:a16="http://schemas.microsoft.com/office/drawing/2014/main" id="{EF3EFA7A-78BB-47D6-BE99-3EE9E3B71F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02008" y="4624848"/>
              <a:ext cx="804223" cy="291104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16" name="Rectangle 7">
              <a:extLst>
                <a:ext uri="{FF2B5EF4-FFF2-40B4-BE49-F238E27FC236}">
                  <a16:creationId xmlns:a16="http://schemas.microsoft.com/office/drawing/2014/main" id="{058493F4-5F10-4640-8C9D-0CB576F6D1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71873" y="3355717"/>
              <a:ext cx="1124825" cy="219686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17" name="Rectangle 8">
              <a:extLst>
                <a:ext uri="{FF2B5EF4-FFF2-40B4-BE49-F238E27FC236}">
                  <a16:creationId xmlns:a16="http://schemas.microsoft.com/office/drawing/2014/main" id="{0C69EF19-DB4B-4B37-B32F-74A6E48FE6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82601" y="3902993"/>
              <a:ext cx="1127154" cy="78404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20" name="Rectangle 9">
              <a:extLst>
                <a:ext uri="{FF2B5EF4-FFF2-40B4-BE49-F238E27FC236}">
                  <a16:creationId xmlns:a16="http://schemas.microsoft.com/office/drawing/2014/main" id="{C42AAB68-43AB-415D-A741-A21AA5CC8B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92196" y="3981397"/>
              <a:ext cx="1004502" cy="114113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22" name="Rectangle 10">
              <a:extLst>
                <a:ext uri="{FF2B5EF4-FFF2-40B4-BE49-F238E27FC236}">
                  <a16:creationId xmlns:a16="http://schemas.microsoft.com/office/drawing/2014/main" id="{2FF85755-A50E-4545-A1DB-E47E58A521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71873" y="4093379"/>
              <a:ext cx="874864" cy="73746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23" name="Rectangle 11">
              <a:extLst>
                <a:ext uri="{FF2B5EF4-FFF2-40B4-BE49-F238E27FC236}">
                  <a16:creationId xmlns:a16="http://schemas.microsoft.com/office/drawing/2014/main" id="{99E19DCB-AACF-4D06-86E1-5E525529F4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92196" y="4166845"/>
              <a:ext cx="1026238" cy="254619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25" name="Rectangle 12">
              <a:extLst>
                <a:ext uri="{FF2B5EF4-FFF2-40B4-BE49-F238E27FC236}">
                  <a16:creationId xmlns:a16="http://schemas.microsoft.com/office/drawing/2014/main" id="{8DD2322D-625A-4087-B7F3-2B20CA9F94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70460" y="4915952"/>
              <a:ext cx="902034" cy="52011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27" name="Rectangle 13">
              <a:extLst>
                <a:ext uri="{FF2B5EF4-FFF2-40B4-BE49-F238E27FC236}">
                  <a16:creationId xmlns:a16="http://schemas.microsoft.com/office/drawing/2014/main" id="{2FA9C19B-9DE3-4109-88DD-09A4015E9E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90783" y="4967962"/>
              <a:ext cx="693215" cy="141282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28" name="Rectangle 14">
              <a:extLst>
                <a:ext uri="{FF2B5EF4-FFF2-40B4-BE49-F238E27FC236}">
                  <a16:creationId xmlns:a16="http://schemas.microsoft.com/office/drawing/2014/main" id="{E0E32E6A-E28E-48C4-B20A-677FE8EEE9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09771" y="5109245"/>
              <a:ext cx="936966" cy="234436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30" name="Rectangle 16">
              <a:extLst>
                <a:ext uri="{FF2B5EF4-FFF2-40B4-BE49-F238E27FC236}">
                  <a16:creationId xmlns:a16="http://schemas.microsoft.com/office/drawing/2014/main" id="{02F916DA-1539-4D39-AA70-3EC92AD56B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32562" y="5343680"/>
              <a:ext cx="877193" cy="114113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31" name="Rectangle 17">
              <a:extLst>
                <a:ext uri="{FF2B5EF4-FFF2-40B4-BE49-F238E27FC236}">
                  <a16:creationId xmlns:a16="http://schemas.microsoft.com/office/drawing/2014/main" id="{BB3FA358-821C-4D1A-A707-A68DF726EA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40682" y="5458288"/>
              <a:ext cx="823630" cy="166900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32" name="Rectangle 18">
              <a:extLst>
                <a:ext uri="{FF2B5EF4-FFF2-40B4-BE49-F238E27FC236}">
                  <a16:creationId xmlns:a16="http://schemas.microsoft.com/office/drawing/2014/main" id="{02A6F228-49CC-4714-AAC2-E3F6594C69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36304" y="5625188"/>
              <a:ext cx="1110076" cy="224344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33" name="Rectangle 19">
              <a:extLst>
                <a:ext uri="{FF2B5EF4-FFF2-40B4-BE49-F238E27FC236}">
                  <a16:creationId xmlns:a16="http://schemas.microsoft.com/office/drawing/2014/main" id="{BE0167A9-BDDD-4BAB-A716-5F33BC58CA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11944" y="3355717"/>
              <a:ext cx="24841" cy="219686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34" name="Rectangle 20">
              <a:extLst>
                <a:ext uri="{FF2B5EF4-FFF2-40B4-BE49-F238E27FC236}">
                  <a16:creationId xmlns:a16="http://schemas.microsoft.com/office/drawing/2014/main" id="{3C7D64CC-2562-4099-9D5E-6F3D4B2821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36785" y="3575404"/>
              <a:ext cx="776" cy="776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35" name="Rectangle 21">
              <a:extLst>
                <a:ext uri="{FF2B5EF4-FFF2-40B4-BE49-F238E27FC236}">
                  <a16:creationId xmlns:a16="http://schemas.microsoft.com/office/drawing/2014/main" id="{94B094DA-4C85-418A-ABB5-A5E9406311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92196" y="3355717"/>
              <a:ext cx="40366" cy="219686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36" name="Rectangle 22">
              <a:extLst>
                <a:ext uri="{FF2B5EF4-FFF2-40B4-BE49-F238E27FC236}">
                  <a16:creationId xmlns:a16="http://schemas.microsoft.com/office/drawing/2014/main" id="{3E399475-D326-404C-93F7-37D0F271F1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09755" y="4166845"/>
              <a:ext cx="16302" cy="254619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37" name="Rectangle 23">
              <a:extLst>
                <a:ext uri="{FF2B5EF4-FFF2-40B4-BE49-F238E27FC236}">
                  <a16:creationId xmlns:a16="http://schemas.microsoft.com/office/drawing/2014/main" id="{9A2A5F54-B98F-4337-AC05-ED458A97DC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76034" y="4166845"/>
              <a:ext cx="158360" cy="254619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38" name="Freeform 24">
              <a:extLst>
                <a:ext uri="{FF2B5EF4-FFF2-40B4-BE49-F238E27FC236}">
                  <a16:creationId xmlns:a16="http://schemas.microsoft.com/office/drawing/2014/main" id="{6F4F9818-8003-40F2-AEA8-9F26A0CC72EE}"/>
                </a:ext>
              </a:extLst>
            </p:cNvPr>
            <p:cNvSpPr>
              <a:spLocks/>
            </p:cNvSpPr>
            <p:nvPr/>
          </p:nvSpPr>
          <p:spPr bwMode="auto">
            <a:xfrm>
              <a:off x="6455866" y="4793204"/>
              <a:ext cx="548052" cy="1056513"/>
            </a:xfrm>
            <a:custGeom>
              <a:avLst/>
              <a:gdLst>
                <a:gd name="T0" fmla="*/ 393 w 706"/>
                <a:gd name="T1" fmla="*/ 1361 h 1361"/>
                <a:gd name="T2" fmla="*/ 0 w 706"/>
                <a:gd name="T3" fmla="*/ 98 h 1361"/>
                <a:gd name="T4" fmla="*/ 314 w 706"/>
                <a:gd name="T5" fmla="*/ 0 h 1361"/>
                <a:gd name="T6" fmla="*/ 706 w 706"/>
                <a:gd name="T7" fmla="*/ 1263 h 1361"/>
                <a:gd name="T8" fmla="*/ 393 w 706"/>
                <a:gd name="T9" fmla="*/ 1361 h 13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06" h="1361">
                  <a:moveTo>
                    <a:pt x="393" y="1361"/>
                  </a:moveTo>
                  <a:lnTo>
                    <a:pt x="0" y="98"/>
                  </a:lnTo>
                  <a:lnTo>
                    <a:pt x="314" y="0"/>
                  </a:lnTo>
                  <a:lnTo>
                    <a:pt x="706" y="1263"/>
                  </a:lnTo>
                  <a:lnTo>
                    <a:pt x="393" y="1361"/>
                  </a:lnTo>
                  <a:close/>
                </a:path>
              </a:pathLst>
            </a:custGeom>
            <a:solidFill>
              <a:srgbClr val="6BE137"/>
            </a:solidFill>
            <a:ln w="9525">
              <a:solidFill>
                <a:schemeClr val="accent1"/>
              </a:solidFill>
              <a:round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 dirty="0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39" name="Freeform 25">
              <a:extLst>
                <a:ext uri="{FF2B5EF4-FFF2-40B4-BE49-F238E27FC236}">
                  <a16:creationId xmlns:a16="http://schemas.microsoft.com/office/drawing/2014/main" id="{9EF0C857-DA9B-4519-85D9-B60F89BD6791}"/>
                </a:ext>
              </a:extLst>
            </p:cNvPr>
            <p:cNvSpPr>
              <a:spLocks/>
            </p:cNvSpPr>
            <p:nvPr/>
          </p:nvSpPr>
          <p:spPr bwMode="auto">
            <a:xfrm>
              <a:off x="6731444" y="5683594"/>
              <a:ext cx="248409" cy="91601"/>
            </a:xfrm>
            <a:custGeom>
              <a:avLst/>
              <a:gdLst>
                <a:gd name="T0" fmla="*/ 7 w 320"/>
                <a:gd name="T1" fmla="*/ 118 h 118"/>
                <a:gd name="T2" fmla="*/ 0 w 320"/>
                <a:gd name="T3" fmla="*/ 97 h 118"/>
                <a:gd name="T4" fmla="*/ 314 w 320"/>
                <a:gd name="T5" fmla="*/ 0 h 118"/>
                <a:gd name="T6" fmla="*/ 320 w 320"/>
                <a:gd name="T7" fmla="*/ 21 h 118"/>
                <a:gd name="T8" fmla="*/ 7 w 320"/>
                <a:gd name="T9" fmla="*/ 118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0" h="118">
                  <a:moveTo>
                    <a:pt x="7" y="118"/>
                  </a:moveTo>
                  <a:lnTo>
                    <a:pt x="0" y="97"/>
                  </a:lnTo>
                  <a:lnTo>
                    <a:pt x="314" y="0"/>
                  </a:lnTo>
                  <a:lnTo>
                    <a:pt x="320" y="21"/>
                  </a:lnTo>
                  <a:lnTo>
                    <a:pt x="7" y="118"/>
                  </a:lnTo>
                  <a:close/>
                </a:path>
              </a:pathLst>
            </a:custGeom>
            <a:grpFill/>
            <a:ln w="9525">
              <a:solidFill>
                <a:schemeClr val="accent1"/>
              </a:solidFill>
              <a:round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40" name="Freeform 26">
              <a:extLst>
                <a:ext uri="{FF2B5EF4-FFF2-40B4-BE49-F238E27FC236}">
                  <a16:creationId xmlns:a16="http://schemas.microsoft.com/office/drawing/2014/main" id="{2E59EB70-1015-4512-AC21-D0F475D034AA}"/>
                </a:ext>
              </a:extLst>
            </p:cNvPr>
            <p:cNvSpPr>
              <a:spLocks/>
            </p:cNvSpPr>
            <p:nvPr/>
          </p:nvSpPr>
          <p:spPr bwMode="auto">
            <a:xfrm>
              <a:off x="6481483" y="4874713"/>
              <a:ext cx="290328" cy="226673"/>
            </a:xfrm>
            <a:custGeom>
              <a:avLst/>
              <a:gdLst>
                <a:gd name="T0" fmla="*/ 61 w 374"/>
                <a:gd name="T1" fmla="*/ 292 h 292"/>
                <a:gd name="T2" fmla="*/ 0 w 374"/>
                <a:gd name="T3" fmla="*/ 98 h 292"/>
                <a:gd name="T4" fmla="*/ 314 w 374"/>
                <a:gd name="T5" fmla="*/ 0 h 292"/>
                <a:gd name="T6" fmla="*/ 374 w 374"/>
                <a:gd name="T7" fmla="*/ 194 h 292"/>
                <a:gd name="T8" fmla="*/ 61 w 374"/>
                <a:gd name="T9" fmla="*/ 292 h 2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4" h="292">
                  <a:moveTo>
                    <a:pt x="61" y="292"/>
                  </a:moveTo>
                  <a:lnTo>
                    <a:pt x="0" y="98"/>
                  </a:lnTo>
                  <a:lnTo>
                    <a:pt x="314" y="0"/>
                  </a:lnTo>
                  <a:lnTo>
                    <a:pt x="374" y="194"/>
                  </a:lnTo>
                  <a:lnTo>
                    <a:pt x="61" y="292"/>
                  </a:lnTo>
                  <a:close/>
                </a:path>
              </a:pathLst>
            </a:custGeom>
            <a:grpFill/>
            <a:ln w="9525">
              <a:solidFill>
                <a:schemeClr val="accent1"/>
              </a:solidFill>
              <a:round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41" name="Rectangle 27">
              <a:extLst>
                <a:ext uri="{FF2B5EF4-FFF2-40B4-BE49-F238E27FC236}">
                  <a16:creationId xmlns:a16="http://schemas.microsoft.com/office/drawing/2014/main" id="{BA03F342-0396-4C16-8834-78EF529F54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06526" y="4421463"/>
              <a:ext cx="817420" cy="203385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42" name="Rectangle 28">
              <a:extLst>
                <a:ext uri="{FF2B5EF4-FFF2-40B4-BE49-F238E27FC236}">
                  <a16:creationId xmlns:a16="http://schemas.microsoft.com/office/drawing/2014/main" id="{96B6A2F7-A8E4-49C2-AB28-29FE56A077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08001" y="4421463"/>
              <a:ext cx="60550" cy="203385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43" name="Rectangle 29">
              <a:extLst>
                <a:ext uri="{FF2B5EF4-FFF2-40B4-BE49-F238E27FC236}">
                  <a16:creationId xmlns:a16="http://schemas.microsoft.com/office/drawing/2014/main" id="{5B95C07C-C2FD-431C-8EFF-17E7E40AD5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52745" y="4421463"/>
              <a:ext cx="62102" cy="203385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44" name="Rectangle 30">
              <a:extLst>
                <a:ext uri="{FF2B5EF4-FFF2-40B4-BE49-F238E27FC236}">
                  <a16:creationId xmlns:a16="http://schemas.microsoft.com/office/drawing/2014/main" id="{993E383B-994E-4D7F-B66E-CD16C11375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38136" y="4624848"/>
              <a:ext cx="126533" cy="291104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45" name="Rectangle 31">
              <a:extLst>
                <a:ext uri="{FF2B5EF4-FFF2-40B4-BE49-F238E27FC236}">
                  <a16:creationId xmlns:a16="http://schemas.microsoft.com/office/drawing/2014/main" id="{60A3D686-1CA8-48B6-89B6-51998533CF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38136" y="4967962"/>
              <a:ext cx="16302" cy="141282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46" name="Rectangle 32">
              <a:extLst>
                <a:ext uri="{FF2B5EF4-FFF2-40B4-BE49-F238E27FC236}">
                  <a16:creationId xmlns:a16="http://schemas.microsoft.com/office/drawing/2014/main" id="{E8EF4CAD-9253-4658-85B4-A3668DE360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72292" y="4967962"/>
              <a:ext cx="16302" cy="141282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47" name="Rectangle 33">
              <a:extLst>
                <a:ext uri="{FF2B5EF4-FFF2-40B4-BE49-F238E27FC236}">
                  <a16:creationId xmlns:a16="http://schemas.microsoft.com/office/drawing/2014/main" id="{A52B571C-64C2-4B89-8993-66E8E67928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4452" y="4967962"/>
              <a:ext cx="19407" cy="141282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48" name="Rectangle 34">
              <a:extLst>
                <a:ext uri="{FF2B5EF4-FFF2-40B4-BE49-F238E27FC236}">
                  <a16:creationId xmlns:a16="http://schemas.microsoft.com/office/drawing/2014/main" id="{A8BA74F2-0316-451F-8C70-A26F6D50CC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11804" y="4967962"/>
              <a:ext cx="14749" cy="141282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49" name="Rectangle 35">
              <a:extLst>
                <a:ext uri="{FF2B5EF4-FFF2-40B4-BE49-F238E27FC236}">
                  <a16:creationId xmlns:a16="http://schemas.microsoft.com/office/drawing/2014/main" id="{2156F5CB-A99E-412B-B5FD-7B257B2E2A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90783" y="3761710"/>
              <a:ext cx="693215" cy="141282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50" name="Rectangle 36">
              <a:extLst>
                <a:ext uri="{FF2B5EF4-FFF2-40B4-BE49-F238E27FC236}">
                  <a16:creationId xmlns:a16="http://schemas.microsoft.com/office/drawing/2014/main" id="{A79E93FA-6C27-400F-97C4-6522F2C002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38136" y="3761710"/>
              <a:ext cx="16302" cy="141282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51" name="Rectangle 37">
              <a:extLst>
                <a:ext uri="{FF2B5EF4-FFF2-40B4-BE49-F238E27FC236}">
                  <a16:creationId xmlns:a16="http://schemas.microsoft.com/office/drawing/2014/main" id="{4E2EB931-9110-4098-9C3B-4B4CD819A2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72292" y="3761710"/>
              <a:ext cx="16302" cy="141282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52" name="Rectangle 38">
              <a:extLst>
                <a:ext uri="{FF2B5EF4-FFF2-40B4-BE49-F238E27FC236}">
                  <a16:creationId xmlns:a16="http://schemas.microsoft.com/office/drawing/2014/main" id="{DB0A8F99-1214-48CD-BC9B-77D10B917F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4452" y="3761710"/>
              <a:ext cx="19407" cy="141282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53" name="Rectangle 39">
              <a:extLst>
                <a:ext uri="{FF2B5EF4-FFF2-40B4-BE49-F238E27FC236}">
                  <a16:creationId xmlns:a16="http://schemas.microsoft.com/office/drawing/2014/main" id="{55AB096E-46FB-4184-B802-A0978E46AC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11804" y="3761710"/>
              <a:ext cx="14749" cy="141282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54" name="Freeform 40">
              <a:extLst>
                <a:ext uri="{FF2B5EF4-FFF2-40B4-BE49-F238E27FC236}">
                  <a16:creationId xmlns:a16="http://schemas.microsoft.com/office/drawing/2014/main" id="{E95E694A-A30E-4932-8CD4-3FB943046FFE}"/>
                </a:ext>
              </a:extLst>
            </p:cNvPr>
            <p:cNvSpPr>
              <a:spLocks/>
            </p:cNvSpPr>
            <p:nvPr/>
          </p:nvSpPr>
          <p:spPr bwMode="auto">
            <a:xfrm>
              <a:off x="5604616" y="5664002"/>
              <a:ext cx="416084" cy="148269"/>
            </a:xfrm>
            <a:custGeom>
              <a:avLst/>
              <a:gdLst>
                <a:gd name="T0" fmla="*/ 328 w 328"/>
                <a:gd name="T1" fmla="*/ 90 h 117"/>
                <a:gd name="T2" fmla="*/ 301 w 328"/>
                <a:gd name="T3" fmla="*/ 117 h 117"/>
                <a:gd name="T4" fmla="*/ 27 w 328"/>
                <a:gd name="T5" fmla="*/ 117 h 117"/>
                <a:gd name="T6" fmla="*/ 0 w 328"/>
                <a:gd name="T7" fmla="*/ 90 h 117"/>
                <a:gd name="T8" fmla="*/ 0 w 328"/>
                <a:gd name="T9" fmla="*/ 27 h 117"/>
                <a:gd name="T10" fmla="*/ 27 w 328"/>
                <a:gd name="T11" fmla="*/ 0 h 117"/>
                <a:gd name="T12" fmla="*/ 301 w 328"/>
                <a:gd name="T13" fmla="*/ 0 h 117"/>
                <a:gd name="T14" fmla="*/ 328 w 328"/>
                <a:gd name="T15" fmla="*/ 27 h 117"/>
                <a:gd name="T16" fmla="*/ 328 w 328"/>
                <a:gd name="T17" fmla="*/ 9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28" h="117">
                  <a:moveTo>
                    <a:pt x="328" y="90"/>
                  </a:moveTo>
                  <a:cubicBezTo>
                    <a:pt x="328" y="105"/>
                    <a:pt x="316" y="117"/>
                    <a:pt x="301" y="117"/>
                  </a:cubicBezTo>
                  <a:cubicBezTo>
                    <a:pt x="27" y="117"/>
                    <a:pt x="27" y="117"/>
                    <a:pt x="27" y="117"/>
                  </a:cubicBezTo>
                  <a:cubicBezTo>
                    <a:pt x="12" y="117"/>
                    <a:pt x="0" y="105"/>
                    <a:pt x="0" y="90"/>
                  </a:cubicBezTo>
                  <a:cubicBezTo>
                    <a:pt x="0" y="27"/>
                    <a:pt x="0" y="27"/>
                    <a:pt x="0" y="27"/>
                  </a:cubicBezTo>
                  <a:cubicBezTo>
                    <a:pt x="0" y="12"/>
                    <a:pt x="12" y="0"/>
                    <a:pt x="27" y="0"/>
                  </a:cubicBezTo>
                  <a:cubicBezTo>
                    <a:pt x="301" y="0"/>
                    <a:pt x="301" y="0"/>
                    <a:pt x="301" y="0"/>
                  </a:cubicBezTo>
                  <a:cubicBezTo>
                    <a:pt x="316" y="0"/>
                    <a:pt x="328" y="12"/>
                    <a:pt x="328" y="27"/>
                  </a:cubicBezTo>
                  <a:lnTo>
                    <a:pt x="328" y="90"/>
                  </a:lnTo>
                  <a:close/>
                </a:path>
              </a:pathLst>
            </a:custGeom>
            <a:grpFill/>
            <a:ln w="9525">
              <a:solidFill>
                <a:schemeClr val="accent1"/>
              </a:solidFill>
              <a:round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55" name="Freeform 41">
              <a:extLst>
                <a:ext uri="{FF2B5EF4-FFF2-40B4-BE49-F238E27FC236}">
                  <a16:creationId xmlns:a16="http://schemas.microsoft.com/office/drawing/2014/main" id="{563BFF38-2F07-42FF-9032-0A2D023B6B41}"/>
                </a:ext>
              </a:extLst>
            </p:cNvPr>
            <p:cNvSpPr>
              <a:spLocks/>
            </p:cNvSpPr>
            <p:nvPr/>
          </p:nvSpPr>
          <p:spPr bwMode="auto">
            <a:xfrm>
              <a:off x="6547793" y="5664002"/>
              <a:ext cx="40366" cy="167676"/>
            </a:xfrm>
            <a:custGeom>
              <a:avLst/>
              <a:gdLst>
                <a:gd name="T0" fmla="*/ 32 w 32"/>
                <a:gd name="T1" fmla="*/ 116 h 132"/>
                <a:gd name="T2" fmla="*/ 16 w 32"/>
                <a:gd name="T3" fmla="*/ 132 h 132"/>
                <a:gd name="T4" fmla="*/ 16 w 32"/>
                <a:gd name="T5" fmla="*/ 132 h 132"/>
                <a:gd name="T6" fmla="*/ 0 w 32"/>
                <a:gd name="T7" fmla="*/ 116 h 132"/>
                <a:gd name="T8" fmla="*/ 0 w 32"/>
                <a:gd name="T9" fmla="*/ 16 h 132"/>
                <a:gd name="T10" fmla="*/ 16 w 32"/>
                <a:gd name="T11" fmla="*/ 0 h 132"/>
                <a:gd name="T12" fmla="*/ 16 w 32"/>
                <a:gd name="T13" fmla="*/ 0 h 132"/>
                <a:gd name="T14" fmla="*/ 32 w 32"/>
                <a:gd name="T15" fmla="*/ 16 h 132"/>
                <a:gd name="T16" fmla="*/ 32 w 32"/>
                <a:gd name="T17" fmla="*/ 116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2" h="132">
                  <a:moveTo>
                    <a:pt x="32" y="116"/>
                  </a:moveTo>
                  <a:cubicBezTo>
                    <a:pt x="32" y="125"/>
                    <a:pt x="25" y="132"/>
                    <a:pt x="16" y="132"/>
                  </a:cubicBezTo>
                  <a:cubicBezTo>
                    <a:pt x="16" y="132"/>
                    <a:pt x="16" y="132"/>
                    <a:pt x="16" y="132"/>
                  </a:cubicBezTo>
                  <a:cubicBezTo>
                    <a:pt x="7" y="132"/>
                    <a:pt x="0" y="125"/>
                    <a:pt x="0" y="116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7"/>
                    <a:pt x="7" y="0"/>
                    <a:pt x="16" y="0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25" y="0"/>
                    <a:pt x="32" y="7"/>
                    <a:pt x="32" y="16"/>
                  </a:cubicBezTo>
                  <a:lnTo>
                    <a:pt x="32" y="116"/>
                  </a:lnTo>
                  <a:close/>
                </a:path>
              </a:pathLst>
            </a:custGeom>
            <a:grpFill/>
            <a:ln w="9525">
              <a:solidFill>
                <a:schemeClr val="accent1"/>
              </a:solidFill>
              <a:round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56" name="Freeform 42">
              <a:extLst>
                <a:ext uri="{FF2B5EF4-FFF2-40B4-BE49-F238E27FC236}">
                  <a16:creationId xmlns:a16="http://schemas.microsoft.com/office/drawing/2014/main" id="{0B7847E0-FA80-4A28-B935-5A7817EBE109}"/>
                </a:ext>
              </a:extLst>
            </p:cNvPr>
            <p:cNvSpPr>
              <a:spLocks/>
            </p:cNvSpPr>
            <p:nvPr/>
          </p:nvSpPr>
          <p:spPr bwMode="auto">
            <a:xfrm>
              <a:off x="5409771" y="5514180"/>
              <a:ext cx="70641" cy="72194"/>
            </a:xfrm>
            <a:custGeom>
              <a:avLst/>
              <a:gdLst>
                <a:gd name="T0" fmla="*/ 56 w 56"/>
                <a:gd name="T1" fmla="*/ 29 h 57"/>
                <a:gd name="T2" fmla="*/ 28 w 56"/>
                <a:gd name="T3" fmla="*/ 57 h 57"/>
                <a:gd name="T4" fmla="*/ 27 w 56"/>
                <a:gd name="T5" fmla="*/ 57 h 57"/>
                <a:gd name="T6" fmla="*/ 0 w 56"/>
                <a:gd name="T7" fmla="*/ 29 h 57"/>
                <a:gd name="T8" fmla="*/ 0 w 56"/>
                <a:gd name="T9" fmla="*/ 28 h 57"/>
                <a:gd name="T10" fmla="*/ 27 w 56"/>
                <a:gd name="T11" fmla="*/ 0 h 57"/>
                <a:gd name="T12" fmla="*/ 28 w 56"/>
                <a:gd name="T13" fmla="*/ 0 h 57"/>
                <a:gd name="T14" fmla="*/ 56 w 56"/>
                <a:gd name="T15" fmla="*/ 28 h 57"/>
                <a:gd name="T16" fmla="*/ 56 w 56"/>
                <a:gd name="T17" fmla="*/ 29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6" h="57">
                  <a:moveTo>
                    <a:pt x="56" y="29"/>
                  </a:moveTo>
                  <a:cubicBezTo>
                    <a:pt x="56" y="44"/>
                    <a:pt x="44" y="57"/>
                    <a:pt x="28" y="57"/>
                  </a:cubicBezTo>
                  <a:cubicBezTo>
                    <a:pt x="27" y="57"/>
                    <a:pt x="27" y="57"/>
                    <a:pt x="27" y="57"/>
                  </a:cubicBezTo>
                  <a:cubicBezTo>
                    <a:pt x="12" y="57"/>
                    <a:pt x="0" y="44"/>
                    <a:pt x="0" y="29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13"/>
                    <a:pt x="12" y="0"/>
                    <a:pt x="27" y="0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44" y="0"/>
                    <a:pt x="56" y="13"/>
                    <a:pt x="56" y="28"/>
                  </a:cubicBezTo>
                  <a:lnTo>
                    <a:pt x="56" y="29"/>
                  </a:lnTo>
                  <a:close/>
                </a:path>
              </a:pathLst>
            </a:custGeom>
            <a:grpFill/>
            <a:ln w="9525">
              <a:solidFill>
                <a:schemeClr val="accent1"/>
              </a:solidFill>
              <a:round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57" name="Freeform 43">
              <a:extLst>
                <a:ext uri="{FF2B5EF4-FFF2-40B4-BE49-F238E27FC236}">
                  <a16:creationId xmlns:a16="http://schemas.microsoft.com/office/drawing/2014/main" id="{73B4B591-FCC4-4551-B7D1-02D1641ACC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2620" y="5514180"/>
              <a:ext cx="71417" cy="72194"/>
            </a:xfrm>
            <a:custGeom>
              <a:avLst/>
              <a:gdLst>
                <a:gd name="T0" fmla="*/ 56 w 56"/>
                <a:gd name="T1" fmla="*/ 29 h 57"/>
                <a:gd name="T2" fmla="*/ 29 w 56"/>
                <a:gd name="T3" fmla="*/ 57 h 57"/>
                <a:gd name="T4" fmla="*/ 28 w 56"/>
                <a:gd name="T5" fmla="*/ 57 h 57"/>
                <a:gd name="T6" fmla="*/ 0 w 56"/>
                <a:gd name="T7" fmla="*/ 29 h 57"/>
                <a:gd name="T8" fmla="*/ 0 w 56"/>
                <a:gd name="T9" fmla="*/ 28 h 57"/>
                <a:gd name="T10" fmla="*/ 28 w 56"/>
                <a:gd name="T11" fmla="*/ 0 h 57"/>
                <a:gd name="T12" fmla="*/ 29 w 56"/>
                <a:gd name="T13" fmla="*/ 0 h 57"/>
                <a:gd name="T14" fmla="*/ 56 w 56"/>
                <a:gd name="T15" fmla="*/ 28 h 57"/>
                <a:gd name="T16" fmla="*/ 56 w 56"/>
                <a:gd name="T17" fmla="*/ 29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6" h="57">
                  <a:moveTo>
                    <a:pt x="56" y="29"/>
                  </a:moveTo>
                  <a:cubicBezTo>
                    <a:pt x="56" y="44"/>
                    <a:pt x="44" y="57"/>
                    <a:pt x="29" y="57"/>
                  </a:cubicBezTo>
                  <a:cubicBezTo>
                    <a:pt x="28" y="57"/>
                    <a:pt x="28" y="57"/>
                    <a:pt x="28" y="57"/>
                  </a:cubicBezTo>
                  <a:cubicBezTo>
                    <a:pt x="13" y="57"/>
                    <a:pt x="0" y="44"/>
                    <a:pt x="0" y="29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13"/>
                    <a:pt x="13" y="0"/>
                    <a:pt x="28" y="0"/>
                  </a:cubicBezTo>
                  <a:cubicBezTo>
                    <a:pt x="29" y="0"/>
                    <a:pt x="29" y="0"/>
                    <a:pt x="29" y="0"/>
                  </a:cubicBezTo>
                  <a:cubicBezTo>
                    <a:pt x="44" y="0"/>
                    <a:pt x="56" y="13"/>
                    <a:pt x="56" y="28"/>
                  </a:cubicBezTo>
                  <a:lnTo>
                    <a:pt x="56" y="29"/>
                  </a:lnTo>
                  <a:close/>
                </a:path>
              </a:pathLst>
            </a:custGeom>
            <a:grpFill/>
            <a:ln w="9525">
              <a:solidFill>
                <a:schemeClr val="accent1"/>
              </a:solidFill>
              <a:round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58" name="Freeform 44">
              <a:extLst>
                <a:ext uri="{FF2B5EF4-FFF2-40B4-BE49-F238E27FC236}">
                  <a16:creationId xmlns:a16="http://schemas.microsoft.com/office/drawing/2014/main" id="{440F120C-E752-4984-AF5B-294A2CBF69AA}"/>
                </a:ext>
              </a:extLst>
            </p:cNvPr>
            <p:cNvSpPr>
              <a:spLocks/>
            </p:cNvSpPr>
            <p:nvPr/>
          </p:nvSpPr>
          <p:spPr bwMode="auto">
            <a:xfrm>
              <a:off x="5576670" y="5179886"/>
              <a:ext cx="665269" cy="93153"/>
            </a:xfrm>
            <a:custGeom>
              <a:avLst/>
              <a:gdLst>
                <a:gd name="T0" fmla="*/ 524 w 524"/>
                <a:gd name="T1" fmla="*/ 45 h 73"/>
                <a:gd name="T2" fmla="*/ 497 w 524"/>
                <a:gd name="T3" fmla="*/ 73 h 73"/>
                <a:gd name="T4" fmla="*/ 28 w 524"/>
                <a:gd name="T5" fmla="*/ 73 h 73"/>
                <a:gd name="T6" fmla="*/ 0 w 524"/>
                <a:gd name="T7" fmla="*/ 45 h 73"/>
                <a:gd name="T8" fmla="*/ 0 w 524"/>
                <a:gd name="T9" fmla="*/ 27 h 73"/>
                <a:gd name="T10" fmla="*/ 28 w 524"/>
                <a:gd name="T11" fmla="*/ 0 h 73"/>
                <a:gd name="T12" fmla="*/ 497 w 524"/>
                <a:gd name="T13" fmla="*/ 0 h 73"/>
                <a:gd name="T14" fmla="*/ 524 w 524"/>
                <a:gd name="T15" fmla="*/ 27 h 73"/>
                <a:gd name="T16" fmla="*/ 524 w 524"/>
                <a:gd name="T17" fmla="*/ 45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24" h="73">
                  <a:moveTo>
                    <a:pt x="524" y="45"/>
                  </a:moveTo>
                  <a:cubicBezTo>
                    <a:pt x="524" y="61"/>
                    <a:pt x="512" y="73"/>
                    <a:pt x="497" y="73"/>
                  </a:cubicBezTo>
                  <a:cubicBezTo>
                    <a:pt x="28" y="73"/>
                    <a:pt x="28" y="73"/>
                    <a:pt x="28" y="73"/>
                  </a:cubicBezTo>
                  <a:cubicBezTo>
                    <a:pt x="12" y="73"/>
                    <a:pt x="0" y="61"/>
                    <a:pt x="0" y="45"/>
                  </a:cubicBezTo>
                  <a:cubicBezTo>
                    <a:pt x="0" y="27"/>
                    <a:pt x="0" y="27"/>
                    <a:pt x="0" y="27"/>
                  </a:cubicBezTo>
                  <a:cubicBezTo>
                    <a:pt x="0" y="12"/>
                    <a:pt x="12" y="0"/>
                    <a:pt x="28" y="0"/>
                  </a:cubicBezTo>
                  <a:cubicBezTo>
                    <a:pt x="497" y="0"/>
                    <a:pt x="497" y="0"/>
                    <a:pt x="497" y="0"/>
                  </a:cubicBezTo>
                  <a:cubicBezTo>
                    <a:pt x="512" y="0"/>
                    <a:pt x="524" y="12"/>
                    <a:pt x="524" y="27"/>
                  </a:cubicBezTo>
                  <a:lnTo>
                    <a:pt x="524" y="45"/>
                  </a:lnTo>
                  <a:close/>
                </a:path>
              </a:pathLst>
            </a:custGeom>
            <a:grpFill/>
            <a:ln w="9525">
              <a:solidFill>
                <a:schemeClr val="accent1"/>
              </a:solidFill>
              <a:round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59" name="Oval 45">
              <a:extLst>
                <a:ext uri="{FF2B5EF4-FFF2-40B4-BE49-F238E27FC236}">
                  <a16:creationId xmlns:a16="http://schemas.microsoft.com/office/drawing/2014/main" id="{4316F2F3-5FF5-4483-9AFA-4804D0CDA2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28603" y="3612665"/>
              <a:ext cx="111784" cy="111008"/>
            </a:xfrm>
            <a:prstGeom prst="ellipse">
              <a:avLst/>
            </a:prstGeom>
            <a:grpFill/>
            <a:ln w="9525">
              <a:solidFill>
                <a:schemeClr val="accent1"/>
              </a:solidFill>
              <a:round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60" name="Oval 46">
              <a:extLst>
                <a:ext uri="{FF2B5EF4-FFF2-40B4-BE49-F238E27FC236}">
                  <a16:creationId xmlns:a16="http://schemas.microsoft.com/office/drawing/2014/main" id="{13112507-81B4-4F17-BE2F-A6D91E4333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25933" y="3617323"/>
              <a:ext cx="111784" cy="111784"/>
            </a:xfrm>
            <a:prstGeom prst="ellipse">
              <a:avLst/>
            </a:prstGeom>
            <a:grpFill/>
            <a:ln w="9525">
              <a:solidFill>
                <a:schemeClr val="accent1"/>
              </a:solidFill>
              <a:round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</p:grpSp>
      <p:grpSp>
        <p:nvGrpSpPr>
          <p:cNvPr id="3" name="组合 2">
            <a:extLst>
              <a:ext uri="{FF2B5EF4-FFF2-40B4-BE49-F238E27FC236}">
                <a16:creationId xmlns:a16="http://schemas.microsoft.com/office/drawing/2014/main" id="{C2461B74-A819-4A83-9663-12536D2079CC}"/>
              </a:ext>
            </a:extLst>
          </p:cNvPr>
          <p:cNvGrpSpPr/>
          <p:nvPr/>
        </p:nvGrpSpPr>
        <p:grpSpPr>
          <a:xfrm>
            <a:off x="443983" y="1112313"/>
            <a:ext cx="1936868" cy="1936868"/>
            <a:chOff x="2572456" y="958222"/>
            <a:chExt cx="1936868" cy="1936868"/>
          </a:xfrm>
        </p:grpSpPr>
        <p:grpSp>
          <p:nvGrpSpPr>
            <p:cNvPr id="61" name="组合 60">
              <a:extLst>
                <a:ext uri="{FF2B5EF4-FFF2-40B4-BE49-F238E27FC236}">
                  <a16:creationId xmlns:a16="http://schemas.microsoft.com/office/drawing/2014/main" id="{E101FB23-2A31-47FF-9EB9-CFBD1D4D64F2}"/>
                </a:ext>
              </a:extLst>
            </p:cNvPr>
            <p:cNvGrpSpPr/>
            <p:nvPr/>
          </p:nvGrpSpPr>
          <p:grpSpPr>
            <a:xfrm>
              <a:off x="2572456" y="958222"/>
              <a:ext cx="1936868" cy="1936868"/>
              <a:chOff x="11207774" y="442662"/>
              <a:chExt cx="504056" cy="504056"/>
            </a:xfrm>
            <a:solidFill>
              <a:srgbClr val="B3DF63"/>
            </a:solidFill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grpSpPr>
          <p:sp>
            <p:nvSpPr>
              <p:cNvPr id="62" name="椭圆 61">
                <a:extLst>
                  <a:ext uri="{FF2B5EF4-FFF2-40B4-BE49-F238E27FC236}">
                    <a16:creationId xmlns:a16="http://schemas.microsoft.com/office/drawing/2014/main" id="{FF045C64-65A6-454D-8459-BA881DFB0159}"/>
                  </a:ext>
                </a:extLst>
              </p:cNvPr>
              <p:cNvSpPr/>
              <p:nvPr/>
            </p:nvSpPr>
            <p:spPr>
              <a:xfrm>
                <a:off x="11273029" y="517620"/>
                <a:ext cx="373547" cy="373547"/>
              </a:xfrm>
              <a:prstGeom prst="ellipse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prstClr val="white"/>
                  </a:solidFill>
                  <a:latin typeface="Calibri"/>
                  <a:ea typeface="微软雅黑"/>
                </a:endParaRPr>
              </a:p>
            </p:txBody>
          </p:sp>
          <p:sp>
            <p:nvSpPr>
              <p:cNvPr id="63" name="椭圆 62">
                <a:extLst>
                  <a:ext uri="{FF2B5EF4-FFF2-40B4-BE49-F238E27FC236}">
                    <a16:creationId xmlns:a16="http://schemas.microsoft.com/office/drawing/2014/main" id="{A03140CE-37E4-4604-B76C-9AEBE595F5F9}"/>
                  </a:ext>
                </a:extLst>
              </p:cNvPr>
              <p:cNvSpPr/>
              <p:nvPr/>
            </p:nvSpPr>
            <p:spPr>
              <a:xfrm>
                <a:off x="11207774" y="442662"/>
                <a:ext cx="504056" cy="504056"/>
              </a:xfrm>
              <a:prstGeom prst="ellipse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prstClr val="white"/>
                  </a:solidFill>
                  <a:latin typeface="Calibri"/>
                  <a:ea typeface="微软雅黑"/>
                </a:endParaRPr>
              </a:p>
            </p:txBody>
          </p:sp>
        </p:grpSp>
        <p:sp>
          <p:nvSpPr>
            <p:cNvPr id="64" name="TextBox 1">
              <a:extLst>
                <a:ext uri="{FF2B5EF4-FFF2-40B4-BE49-F238E27FC236}">
                  <a16:creationId xmlns:a16="http://schemas.microsoft.com/office/drawing/2014/main" id="{F45F1328-8259-42E9-BE98-A45AFDCB6EAE}"/>
                </a:ext>
              </a:extLst>
            </p:cNvPr>
            <p:cNvSpPr txBox="1"/>
            <p:nvPr/>
          </p:nvSpPr>
          <p:spPr>
            <a:xfrm>
              <a:off x="2815371" y="1264937"/>
              <a:ext cx="1451038" cy="132343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8000" b="1" dirty="0">
                  <a:ln w="12700">
                    <a:noFill/>
                    <a:prstDash val="solid"/>
                  </a:ln>
                  <a:solidFill>
                    <a:prstClr val="white"/>
                  </a:solidFill>
                  <a:effectLst>
                    <a:outerShdw dist="50800" dir="4800000" algn="tl" rotWithShape="0">
                      <a:srgbClr val="000000">
                        <a:alpha val="40000"/>
                      </a:srgbClr>
                    </a:outerShdw>
                  </a:effectLst>
                  <a:latin typeface="造字工房尚黑（非商用）细体" pitchFamily="50" charset="-122"/>
                  <a:ea typeface="造字工房尚黑（非商用）细体" pitchFamily="50" charset="-122"/>
                </a:rPr>
                <a:t>03</a:t>
              </a:r>
              <a:endParaRPr lang="zh-CN" altLang="en-US" sz="8000" b="1" dirty="0">
                <a:ln w="12700">
                  <a:noFill/>
                  <a:prstDash val="solid"/>
                </a:ln>
                <a:solidFill>
                  <a:prstClr val="white"/>
                </a:solidFill>
                <a:effectLst>
                  <a:outerShdw dist="50800" dir="4800000" algn="tl" rotWithShape="0">
                    <a:srgbClr val="000000">
                      <a:alpha val="40000"/>
                    </a:srgbClr>
                  </a:outerShdw>
                </a:effectLst>
                <a:latin typeface="造字工房尚黑（非商用）细体" pitchFamily="50" charset="-122"/>
                <a:ea typeface="造字工房尚黑（非商用）细体" pitchFamily="50" charset="-122"/>
              </a:endParaRPr>
            </a:p>
          </p:txBody>
        </p:sp>
      </p:grpSp>
      <p:grpSp>
        <p:nvGrpSpPr>
          <p:cNvPr id="65" name="组合 64">
            <a:extLst>
              <a:ext uri="{FF2B5EF4-FFF2-40B4-BE49-F238E27FC236}">
                <a16:creationId xmlns:a16="http://schemas.microsoft.com/office/drawing/2014/main" id="{C1C2C104-F13A-4AF1-8295-FE73E656BCD1}"/>
              </a:ext>
            </a:extLst>
          </p:cNvPr>
          <p:cNvGrpSpPr/>
          <p:nvPr/>
        </p:nvGrpSpPr>
        <p:grpSpPr>
          <a:xfrm rot="5400000">
            <a:off x="7939470" y="-3214903"/>
            <a:ext cx="942183" cy="7462505"/>
            <a:chOff x="-11273" y="-594773"/>
            <a:chExt cx="719786" cy="7462505"/>
          </a:xfrm>
        </p:grpSpPr>
        <p:sp>
          <p:nvSpPr>
            <p:cNvPr id="66" name="等腰三角形 65">
              <a:extLst>
                <a:ext uri="{FF2B5EF4-FFF2-40B4-BE49-F238E27FC236}">
                  <a16:creationId xmlns:a16="http://schemas.microsoft.com/office/drawing/2014/main" id="{58839FDC-22C4-4CA7-B863-C67559C21699}"/>
                </a:ext>
              </a:extLst>
            </p:cNvPr>
            <p:cNvSpPr/>
            <p:nvPr/>
          </p:nvSpPr>
          <p:spPr>
            <a:xfrm rot="5400000">
              <a:off x="-68856" y="2776017"/>
              <a:ext cx="834952" cy="719786"/>
            </a:xfrm>
            <a:prstGeom prst="triangl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67" name="等腰三角形 66">
              <a:extLst>
                <a:ext uri="{FF2B5EF4-FFF2-40B4-BE49-F238E27FC236}">
                  <a16:creationId xmlns:a16="http://schemas.microsoft.com/office/drawing/2014/main" id="{A5264352-D114-4656-BC14-E38E3FE58AC7}"/>
                </a:ext>
              </a:extLst>
            </p:cNvPr>
            <p:cNvSpPr/>
            <p:nvPr/>
          </p:nvSpPr>
          <p:spPr>
            <a:xfrm rot="5400000">
              <a:off x="-68856" y="1958050"/>
              <a:ext cx="834952" cy="719786"/>
            </a:xfrm>
            <a:prstGeom prst="triangl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68" name="等腰三角形 67">
              <a:extLst>
                <a:ext uri="{FF2B5EF4-FFF2-40B4-BE49-F238E27FC236}">
                  <a16:creationId xmlns:a16="http://schemas.microsoft.com/office/drawing/2014/main" id="{D2787C4C-1049-4848-A392-0F96696494DB}"/>
                </a:ext>
              </a:extLst>
            </p:cNvPr>
            <p:cNvSpPr/>
            <p:nvPr/>
          </p:nvSpPr>
          <p:spPr>
            <a:xfrm rot="5400000">
              <a:off x="-68856" y="1114606"/>
              <a:ext cx="834952" cy="71978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69" name="等腰三角形 68">
              <a:extLst>
                <a:ext uri="{FF2B5EF4-FFF2-40B4-BE49-F238E27FC236}">
                  <a16:creationId xmlns:a16="http://schemas.microsoft.com/office/drawing/2014/main" id="{EE61B577-3444-4CAB-92C2-AFFB2FFB8904}"/>
                </a:ext>
              </a:extLst>
            </p:cNvPr>
            <p:cNvSpPr/>
            <p:nvPr/>
          </p:nvSpPr>
          <p:spPr>
            <a:xfrm rot="5400000">
              <a:off x="-68856" y="296639"/>
              <a:ext cx="834952" cy="719786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70" name="等腰三角形 69">
              <a:extLst>
                <a:ext uri="{FF2B5EF4-FFF2-40B4-BE49-F238E27FC236}">
                  <a16:creationId xmlns:a16="http://schemas.microsoft.com/office/drawing/2014/main" id="{3AEDED66-0861-468F-8D6E-CFA4F090C0E2}"/>
                </a:ext>
              </a:extLst>
            </p:cNvPr>
            <p:cNvSpPr/>
            <p:nvPr/>
          </p:nvSpPr>
          <p:spPr>
            <a:xfrm rot="5400000">
              <a:off x="-68856" y="3610969"/>
              <a:ext cx="834952" cy="719786"/>
            </a:xfrm>
            <a:prstGeom prst="triangl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71" name="等腰三角形 70">
              <a:extLst>
                <a:ext uri="{FF2B5EF4-FFF2-40B4-BE49-F238E27FC236}">
                  <a16:creationId xmlns:a16="http://schemas.microsoft.com/office/drawing/2014/main" id="{0F6FF0BF-FA43-40F1-9E2D-D32B05AE8788}"/>
                </a:ext>
              </a:extLst>
            </p:cNvPr>
            <p:cNvSpPr/>
            <p:nvPr/>
          </p:nvSpPr>
          <p:spPr>
            <a:xfrm rot="5400000">
              <a:off x="-68856" y="4443673"/>
              <a:ext cx="834952" cy="719786"/>
            </a:xfrm>
            <a:prstGeom prst="triangle">
              <a:avLst/>
            </a:prstGeom>
            <a:solidFill>
              <a:srgbClr val="94CA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72" name="等腰三角形 71">
              <a:extLst>
                <a:ext uri="{FF2B5EF4-FFF2-40B4-BE49-F238E27FC236}">
                  <a16:creationId xmlns:a16="http://schemas.microsoft.com/office/drawing/2014/main" id="{4CF11EF2-5B94-45E8-842B-40755A182437}"/>
                </a:ext>
              </a:extLst>
            </p:cNvPr>
            <p:cNvSpPr/>
            <p:nvPr/>
          </p:nvSpPr>
          <p:spPr>
            <a:xfrm rot="5400000">
              <a:off x="-68856" y="5264883"/>
              <a:ext cx="834952" cy="719786"/>
            </a:xfrm>
            <a:prstGeom prst="triangl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73" name="等腰三角形 72">
              <a:extLst>
                <a:ext uri="{FF2B5EF4-FFF2-40B4-BE49-F238E27FC236}">
                  <a16:creationId xmlns:a16="http://schemas.microsoft.com/office/drawing/2014/main" id="{2399D565-C0DA-4F00-B731-140755CC1CD7}"/>
                </a:ext>
              </a:extLst>
            </p:cNvPr>
            <p:cNvSpPr/>
            <p:nvPr/>
          </p:nvSpPr>
          <p:spPr>
            <a:xfrm rot="5400000">
              <a:off x="-68856" y="6090363"/>
              <a:ext cx="834952" cy="719786"/>
            </a:xfrm>
            <a:prstGeom prst="triangl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74" name="等腰三角形 73">
              <a:extLst>
                <a:ext uri="{FF2B5EF4-FFF2-40B4-BE49-F238E27FC236}">
                  <a16:creationId xmlns:a16="http://schemas.microsoft.com/office/drawing/2014/main" id="{101F5175-7DA4-411A-B158-0E4A24C9421D}"/>
                </a:ext>
              </a:extLst>
            </p:cNvPr>
            <p:cNvSpPr/>
            <p:nvPr/>
          </p:nvSpPr>
          <p:spPr>
            <a:xfrm rot="5400000">
              <a:off x="-68856" y="-537190"/>
              <a:ext cx="834952" cy="719786"/>
            </a:xfrm>
            <a:prstGeom prst="triangl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346572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8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8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8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8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800" tmFilter="0,0; .5, 1; 1, 1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28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组合 31">
            <a:extLst>
              <a:ext uri="{FF2B5EF4-FFF2-40B4-BE49-F238E27FC236}">
                <a16:creationId xmlns:a16="http://schemas.microsoft.com/office/drawing/2014/main" id="{032EF26F-0D58-4A0E-97C1-668713F80B14}"/>
              </a:ext>
            </a:extLst>
          </p:cNvPr>
          <p:cNvGrpSpPr/>
          <p:nvPr/>
        </p:nvGrpSpPr>
        <p:grpSpPr>
          <a:xfrm>
            <a:off x="170320" y="203448"/>
            <a:ext cx="6511833" cy="504056"/>
            <a:chOff x="169526" y="203448"/>
            <a:chExt cx="6511833" cy="504056"/>
          </a:xfrm>
        </p:grpSpPr>
        <p:sp>
          <p:nvSpPr>
            <p:cNvPr id="4" name="TextBox 3"/>
            <p:cNvSpPr txBox="1"/>
            <p:nvPr/>
          </p:nvSpPr>
          <p:spPr>
            <a:xfrm>
              <a:off x="781172" y="245839"/>
              <a:ext cx="590018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spc="300" dirty="0">
                  <a:solidFill>
                    <a:srgbClr val="1E6787"/>
                  </a:solidFill>
                  <a:latin typeface="微软雅黑" pitchFamily="34" charset="-122"/>
                  <a:ea typeface="微软雅黑" pitchFamily="34" charset="-122"/>
                </a:rPr>
                <a:t>异常简介</a:t>
              </a:r>
              <a:endParaRPr lang="zh-CN" altLang="en-US" sz="2000" b="1" spc="300" dirty="0">
                <a:solidFill>
                  <a:srgbClr val="1E6787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grpSp>
          <p:nvGrpSpPr>
            <p:cNvPr id="56" name="组合 55">
              <a:extLst>
                <a:ext uri="{FF2B5EF4-FFF2-40B4-BE49-F238E27FC236}">
                  <a16:creationId xmlns:a16="http://schemas.microsoft.com/office/drawing/2014/main" id="{B3ECA4EB-10D1-4B65-B604-4032302CDAF4}"/>
                </a:ext>
              </a:extLst>
            </p:cNvPr>
            <p:cNvGrpSpPr/>
            <p:nvPr/>
          </p:nvGrpSpPr>
          <p:grpSpPr>
            <a:xfrm>
              <a:off x="169526" y="203448"/>
              <a:ext cx="504056" cy="504056"/>
              <a:chOff x="11207774" y="442662"/>
              <a:chExt cx="504056" cy="504056"/>
            </a:xfr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grpSpPr>
          <p:sp>
            <p:nvSpPr>
              <p:cNvPr id="57" name="椭圆 56">
                <a:extLst>
                  <a:ext uri="{FF2B5EF4-FFF2-40B4-BE49-F238E27FC236}">
                    <a16:creationId xmlns:a16="http://schemas.microsoft.com/office/drawing/2014/main" id="{FF372EA1-AB4F-47B1-B450-59AB8827ECD5}"/>
                  </a:ext>
                </a:extLst>
              </p:cNvPr>
              <p:cNvSpPr/>
              <p:nvPr/>
            </p:nvSpPr>
            <p:spPr>
              <a:xfrm>
                <a:off x="11351790" y="601230"/>
                <a:ext cx="216024" cy="216024"/>
              </a:xfrm>
              <a:prstGeom prst="ellipse">
                <a:avLst/>
              </a:prstGeom>
              <a:solidFill>
                <a:srgbClr val="B3DF63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prstClr val="white"/>
                  </a:solidFill>
                  <a:latin typeface="Calibri"/>
                  <a:ea typeface="微软雅黑"/>
                </a:endParaRPr>
              </a:p>
            </p:txBody>
          </p:sp>
          <p:sp>
            <p:nvSpPr>
              <p:cNvPr id="58" name="椭圆 57">
                <a:extLst>
                  <a:ext uri="{FF2B5EF4-FFF2-40B4-BE49-F238E27FC236}">
                    <a16:creationId xmlns:a16="http://schemas.microsoft.com/office/drawing/2014/main" id="{0BEE7D95-9E9C-4C6D-91AA-6429F74B9F98}"/>
                  </a:ext>
                </a:extLst>
              </p:cNvPr>
              <p:cNvSpPr/>
              <p:nvPr/>
            </p:nvSpPr>
            <p:spPr>
              <a:xfrm>
                <a:off x="11207774" y="442662"/>
                <a:ext cx="504056" cy="504056"/>
              </a:xfrm>
              <a:prstGeom prst="ellipse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Calibri"/>
                  <a:ea typeface="微软雅黑"/>
                </a:endParaRPr>
              </a:p>
            </p:txBody>
          </p:sp>
        </p:grpSp>
        <p:cxnSp>
          <p:nvCxnSpPr>
            <p:cNvPr id="20" name="直接连接符 19">
              <a:extLst>
                <a:ext uri="{FF2B5EF4-FFF2-40B4-BE49-F238E27FC236}">
                  <a16:creationId xmlns:a16="http://schemas.microsoft.com/office/drawing/2014/main" id="{C4FBB3C1-88AA-4E76-B54C-31018E3BFAA0}"/>
                </a:ext>
              </a:extLst>
            </p:cNvPr>
            <p:cNvCxnSpPr>
              <a:cxnSpLocks/>
            </p:cNvCxnSpPr>
            <p:nvPr/>
          </p:nvCxnSpPr>
          <p:spPr>
            <a:xfrm>
              <a:off x="775303" y="707504"/>
              <a:ext cx="1833288" cy="0"/>
            </a:xfrm>
            <a:prstGeom prst="line">
              <a:avLst/>
            </a:prstGeom>
            <a:ln>
              <a:solidFill>
                <a:srgbClr val="B3DF6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9" name="矩形 48">
            <a:extLst>
              <a:ext uri="{FF2B5EF4-FFF2-40B4-BE49-F238E27FC236}">
                <a16:creationId xmlns:a16="http://schemas.microsoft.com/office/drawing/2014/main" id="{2D834A0F-3130-4C5B-B4A3-49FE07333EE4}"/>
              </a:ext>
            </a:extLst>
          </p:cNvPr>
          <p:cNvSpPr/>
          <p:nvPr/>
        </p:nvSpPr>
        <p:spPr>
          <a:xfrm>
            <a:off x="530359" y="971228"/>
            <a:ext cx="11328487" cy="25092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266700"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2800" dirty="0"/>
              <a:t>		</a:t>
            </a:r>
          </a:p>
          <a:p>
            <a:pPr indent="266700" algn="just">
              <a:lnSpc>
                <a:spcPct val="150000"/>
              </a:lnSpc>
              <a:spcAft>
                <a:spcPts val="0"/>
              </a:spcAft>
            </a:pPr>
            <a:endParaRPr lang="en-US" altLang="zh-CN" sz="2400" dirty="0"/>
          </a:p>
          <a:p>
            <a:pPr indent="266700" algn="just">
              <a:lnSpc>
                <a:spcPct val="150000"/>
              </a:lnSpc>
              <a:spcAft>
                <a:spcPts val="0"/>
              </a:spcAft>
            </a:pPr>
            <a:endParaRPr lang="en-US" altLang="zh-CN" sz="2800" dirty="0"/>
          </a:p>
          <a:p>
            <a:pPr indent="266700" algn="just">
              <a:lnSpc>
                <a:spcPct val="150000"/>
              </a:lnSpc>
              <a:spcAft>
                <a:spcPts val="0"/>
              </a:spcAft>
            </a:pPr>
            <a:endParaRPr lang="zh-CN" altLang="zh-CN" sz="2800" kern="100" dirty="0">
              <a:latin typeface="+mn-ea"/>
              <a:cs typeface="Times New Roman" panose="02020603050405020304" pitchFamily="18" charset="0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745817CB-82E6-4423-B964-D54193B8B5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083" y="942498"/>
            <a:ext cx="5491002" cy="1227975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668A881D-7511-46D0-8E06-246076DF51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8954" y="2245761"/>
            <a:ext cx="5546731" cy="1166271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A7EBBD88-3CE5-44E8-AE7F-29F2E17B7CD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1825" y="3555729"/>
            <a:ext cx="5540988" cy="1234484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026356F6-D011-4898-B0B9-1A13FA44672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6083" y="5046872"/>
            <a:ext cx="5726298" cy="1192384"/>
          </a:xfrm>
          <a:prstGeom prst="rect">
            <a:avLst/>
          </a:prstGeom>
        </p:spPr>
      </p:pic>
      <p:sp>
        <p:nvSpPr>
          <p:cNvPr id="8" name="右大括号 7">
            <a:extLst>
              <a:ext uri="{FF2B5EF4-FFF2-40B4-BE49-F238E27FC236}">
                <a16:creationId xmlns:a16="http://schemas.microsoft.com/office/drawing/2014/main" id="{EE460400-48AC-47B4-86F9-959B39CBD3AA}"/>
              </a:ext>
            </a:extLst>
          </p:cNvPr>
          <p:cNvSpPr/>
          <p:nvPr/>
        </p:nvSpPr>
        <p:spPr>
          <a:xfrm>
            <a:off x="6552381" y="1502735"/>
            <a:ext cx="642317" cy="4384037"/>
          </a:xfrm>
          <a:prstGeom prst="rightBrac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02B3942-CA20-4BCA-B556-8D840451321F}"/>
              </a:ext>
            </a:extLst>
          </p:cNvPr>
          <p:cNvSpPr/>
          <p:nvPr/>
        </p:nvSpPr>
        <p:spPr>
          <a:xfrm>
            <a:off x="7289830" y="3275100"/>
            <a:ext cx="4070345" cy="178138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异常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50000"/>
              </a:lnSpc>
              <a:buFont typeface="微软雅黑" panose="020B0503020204020204" pitchFamily="34" charset="-122"/>
              <a:buChar char="–"/>
            </a:pP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影响了程序的正常执行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50000"/>
              </a:lnSpc>
              <a:buFont typeface="微软雅黑" panose="020B0503020204020204" pitchFamily="34" charset="-122"/>
              <a:buChar char="–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导致程序非正常终止</a:t>
            </a:r>
          </a:p>
        </p:txBody>
      </p:sp>
      <p:sp>
        <p:nvSpPr>
          <p:cNvPr id="10" name="箭头: 下 9">
            <a:extLst>
              <a:ext uri="{FF2B5EF4-FFF2-40B4-BE49-F238E27FC236}">
                <a16:creationId xmlns:a16="http://schemas.microsoft.com/office/drawing/2014/main" id="{C841ED41-A485-4D95-816E-A035178CE836}"/>
              </a:ext>
            </a:extLst>
          </p:cNvPr>
          <p:cNvSpPr/>
          <p:nvPr/>
        </p:nvSpPr>
        <p:spPr>
          <a:xfrm>
            <a:off x="9158177" y="5056485"/>
            <a:ext cx="524539" cy="387385"/>
          </a:xfrm>
          <a:prstGeom prst="downArrow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B42F06E-70A2-4FD6-B3AD-4025597BDC00}"/>
              </a:ext>
            </a:extLst>
          </p:cNvPr>
          <p:cNvSpPr/>
          <p:nvPr/>
        </p:nvSpPr>
        <p:spPr>
          <a:xfrm>
            <a:off x="7268870" y="5264354"/>
            <a:ext cx="4487452" cy="11128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solidFill>
                  <a:schemeClr val="accent6"/>
                </a:solidFill>
              </a:rPr>
              <a:t>捕获异常、控制异常</a:t>
            </a:r>
          </a:p>
        </p:txBody>
      </p:sp>
    </p:spTree>
    <p:extLst>
      <p:ext uri="{BB962C8B-B14F-4D97-AF65-F5344CB8AC3E}">
        <p14:creationId xmlns:p14="http://schemas.microsoft.com/office/powerpoint/2010/main" val="3605890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50"/>
                            </p:stCondLst>
                            <p:childTnLst>
                              <p:par>
                                <p:cTn id="11" presetID="1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/>
      <p:bldP spid="10" grpId="0" animBg="1"/>
      <p:bldP spid="11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组合 31">
            <a:extLst>
              <a:ext uri="{FF2B5EF4-FFF2-40B4-BE49-F238E27FC236}">
                <a16:creationId xmlns:a16="http://schemas.microsoft.com/office/drawing/2014/main" id="{032EF26F-0D58-4A0E-97C1-668713F80B14}"/>
              </a:ext>
            </a:extLst>
          </p:cNvPr>
          <p:cNvGrpSpPr/>
          <p:nvPr/>
        </p:nvGrpSpPr>
        <p:grpSpPr>
          <a:xfrm>
            <a:off x="170320" y="203448"/>
            <a:ext cx="6511833" cy="504056"/>
            <a:chOff x="169526" y="203448"/>
            <a:chExt cx="6511833" cy="504056"/>
          </a:xfrm>
        </p:grpSpPr>
        <p:sp>
          <p:nvSpPr>
            <p:cNvPr id="4" name="TextBox 3"/>
            <p:cNvSpPr txBox="1"/>
            <p:nvPr/>
          </p:nvSpPr>
          <p:spPr>
            <a:xfrm>
              <a:off x="781172" y="245839"/>
              <a:ext cx="590018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spc="300" dirty="0">
                  <a:solidFill>
                    <a:srgbClr val="1E6787"/>
                  </a:solidFill>
                  <a:latin typeface="微软雅黑" pitchFamily="34" charset="-122"/>
                  <a:ea typeface="微软雅黑" pitchFamily="34" charset="-122"/>
                </a:rPr>
                <a:t>异常简介</a:t>
              </a:r>
              <a:endParaRPr lang="zh-CN" altLang="en-US" sz="2000" b="1" spc="300" dirty="0">
                <a:solidFill>
                  <a:srgbClr val="1E6787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grpSp>
          <p:nvGrpSpPr>
            <p:cNvPr id="56" name="组合 55">
              <a:extLst>
                <a:ext uri="{FF2B5EF4-FFF2-40B4-BE49-F238E27FC236}">
                  <a16:creationId xmlns:a16="http://schemas.microsoft.com/office/drawing/2014/main" id="{B3ECA4EB-10D1-4B65-B604-4032302CDAF4}"/>
                </a:ext>
              </a:extLst>
            </p:cNvPr>
            <p:cNvGrpSpPr/>
            <p:nvPr/>
          </p:nvGrpSpPr>
          <p:grpSpPr>
            <a:xfrm>
              <a:off x="169526" y="203448"/>
              <a:ext cx="504056" cy="504056"/>
              <a:chOff x="11207774" y="442662"/>
              <a:chExt cx="504056" cy="504056"/>
            </a:xfr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grpSpPr>
          <p:sp>
            <p:nvSpPr>
              <p:cNvPr id="57" name="椭圆 56">
                <a:extLst>
                  <a:ext uri="{FF2B5EF4-FFF2-40B4-BE49-F238E27FC236}">
                    <a16:creationId xmlns:a16="http://schemas.microsoft.com/office/drawing/2014/main" id="{FF372EA1-AB4F-47B1-B450-59AB8827ECD5}"/>
                  </a:ext>
                </a:extLst>
              </p:cNvPr>
              <p:cNvSpPr/>
              <p:nvPr/>
            </p:nvSpPr>
            <p:spPr>
              <a:xfrm>
                <a:off x="11351790" y="601230"/>
                <a:ext cx="216024" cy="216024"/>
              </a:xfrm>
              <a:prstGeom prst="ellipse">
                <a:avLst/>
              </a:prstGeom>
              <a:solidFill>
                <a:srgbClr val="B3DF63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prstClr val="white"/>
                  </a:solidFill>
                  <a:latin typeface="Calibri"/>
                  <a:ea typeface="微软雅黑"/>
                </a:endParaRPr>
              </a:p>
            </p:txBody>
          </p:sp>
          <p:sp>
            <p:nvSpPr>
              <p:cNvPr id="58" name="椭圆 57">
                <a:extLst>
                  <a:ext uri="{FF2B5EF4-FFF2-40B4-BE49-F238E27FC236}">
                    <a16:creationId xmlns:a16="http://schemas.microsoft.com/office/drawing/2014/main" id="{0BEE7D95-9E9C-4C6D-91AA-6429F74B9F98}"/>
                  </a:ext>
                </a:extLst>
              </p:cNvPr>
              <p:cNvSpPr/>
              <p:nvPr/>
            </p:nvSpPr>
            <p:spPr>
              <a:xfrm>
                <a:off x="11207774" y="442662"/>
                <a:ext cx="504056" cy="504056"/>
              </a:xfrm>
              <a:prstGeom prst="ellipse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Calibri"/>
                  <a:ea typeface="微软雅黑"/>
                </a:endParaRPr>
              </a:p>
            </p:txBody>
          </p:sp>
        </p:grpSp>
        <p:cxnSp>
          <p:nvCxnSpPr>
            <p:cNvPr id="20" name="直接连接符 19">
              <a:extLst>
                <a:ext uri="{FF2B5EF4-FFF2-40B4-BE49-F238E27FC236}">
                  <a16:creationId xmlns:a16="http://schemas.microsoft.com/office/drawing/2014/main" id="{C4FBB3C1-88AA-4E76-B54C-31018E3BFAA0}"/>
                </a:ext>
              </a:extLst>
            </p:cNvPr>
            <p:cNvCxnSpPr>
              <a:cxnSpLocks/>
            </p:cNvCxnSpPr>
            <p:nvPr/>
          </p:nvCxnSpPr>
          <p:spPr>
            <a:xfrm>
              <a:off x="775303" y="707504"/>
              <a:ext cx="1833288" cy="0"/>
            </a:xfrm>
            <a:prstGeom prst="line">
              <a:avLst/>
            </a:prstGeom>
            <a:ln>
              <a:solidFill>
                <a:srgbClr val="B3DF6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9260B3D1-88B8-4AED-998E-56C276C62A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3795492"/>
              </p:ext>
            </p:extLst>
          </p:nvPr>
        </p:nvGraphicFramePr>
        <p:xfrm>
          <a:off x="864405" y="1169168"/>
          <a:ext cx="10604581" cy="453691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568415">
                  <a:extLst>
                    <a:ext uri="{9D8B030D-6E8A-4147-A177-3AD203B41FA5}">
                      <a16:colId xmlns:a16="http://schemas.microsoft.com/office/drawing/2014/main" val="2775072790"/>
                    </a:ext>
                  </a:extLst>
                </a:gridCol>
                <a:gridCol w="7036166">
                  <a:extLst>
                    <a:ext uri="{9D8B030D-6E8A-4147-A177-3AD203B41FA5}">
                      <a16:colId xmlns:a16="http://schemas.microsoft.com/office/drawing/2014/main" val="3712957325"/>
                    </a:ext>
                  </a:extLst>
                </a:gridCol>
              </a:tblGrid>
              <a:tr h="648131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400" kern="100">
                          <a:effectLst/>
                        </a:rPr>
                        <a:t>异常名称</a:t>
                      </a:r>
                      <a:endParaRPr lang="zh-CN" sz="24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400" kern="100">
                          <a:effectLst/>
                        </a:rPr>
                        <a:t>描述</a:t>
                      </a:r>
                      <a:endParaRPr lang="zh-CN" sz="24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988816885"/>
                  </a:ext>
                </a:extLst>
              </a:tr>
              <a:tr h="648131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kern="100">
                          <a:effectLst/>
                        </a:rPr>
                        <a:t>Exception</a:t>
                      </a:r>
                      <a:endParaRPr lang="zh-CN" sz="24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400" kern="100">
                          <a:effectLst/>
                        </a:rPr>
                        <a:t>常规异常的基类</a:t>
                      </a:r>
                      <a:endParaRPr lang="zh-CN" sz="24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634905643"/>
                  </a:ext>
                </a:extLst>
              </a:tr>
              <a:tr h="648131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kern="100">
                          <a:effectLst/>
                        </a:rPr>
                        <a:t>ZeroDivisionError</a:t>
                      </a:r>
                      <a:endParaRPr lang="zh-CN" sz="24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400" kern="100">
                          <a:effectLst/>
                        </a:rPr>
                        <a:t>除数为零</a:t>
                      </a:r>
                      <a:endParaRPr lang="zh-CN" sz="24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248341201"/>
                  </a:ext>
                </a:extLst>
              </a:tr>
              <a:tr h="648131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kern="100">
                          <a:effectLst/>
                        </a:rPr>
                        <a:t>IOError</a:t>
                      </a:r>
                      <a:endParaRPr lang="zh-CN" sz="24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400" kern="100">
                          <a:effectLst/>
                        </a:rPr>
                        <a:t>输入</a:t>
                      </a:r>
                      <a:r>
                        <a:rPr lang="en-US" sz="2400" kern="100">
                          <a:effectLst/>
                        </a:rPr>
                        <a:t>/</a:t>
                      </a:r>
                      <a:r>
                        <a:rPr lang="zh-CN" sz="2400" kern="100">
                          <a:effectLst/>
                        </a:rPr>
                        <a:t>输出操作失败</a:t>
                      </a:r>
                      <a:endParaRPr lang="zh-CN" sz="24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926662194"/>
                  </a:ext>
                </a:extLst>
              </a:tr>
              <a:tr h="648131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kern="100">
                          <a:effectLst/>
                        </a:rPr>
                        <a:t>IndexError</a:t>
                      </a:r>
                      <a:endParaRPr lang="zh-CN" sz="24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400" kern="100">
                          <a:effectLst/>
                        </a:rPr>
                        <a:t>序列中没有此索引</a:t>
                      </a:r>
                      <a:r>
                        <a:rPr lang="en-US" sz="2400" kern="100">
                          <a:effectLst/>
                        </a:rPr>
                        <a:t>(index)</a:t>
                      </a:r>
                      <a:endParaRPr lang="zh-CN" sz="24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093445368"/>
                  </a:ext>
                </a:extLst>
              </a:tr>
              <a:tr h="648131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kern="100">
                          <a:effectLst/>
                        </a:rPr>
                        <a:t>KeyError</a:t>
                      </a:r>
                      <a:endParaRPr lang="zh-CN" sz="24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400" kern="100">
                          <a:effectLst/>
                        </a:rPr>
                        <a:t>映射中没有这个键</a:t>
                      </a:r>
                      <a:endParaRPr lang="zh-CN" sz="24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630258069"/>
                  </a:ext>
                </a:extLst>
              </a:tr>
              <a:tr h="648131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kern="100">
                          <a:effectLst/>
                        </a:rPr>
                        <a:t>NameError</a:t>
                      </a:r>
                      <a:endParaRPr lang="zh-CN" sz="24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400" kern="100" dirty="0">
                          <a:effectLst/>
                        </a:rPr>
                        <a:t>未声明</a:t>
                      </a:r>
                      <a:r>
                        <a:rPr lang="en-US" sz="2400" kern="100" dirty="0">
                          <a:effectLst/>
                        </a:rPr>
                        <a:t>/</a:t>
                      </a:r>
                      <a:r>
                        <a:rPr lang="zh-CN" sz="2400" kern="100" dirty="0">
                          <a:effectLst/>
                        </a:rPr>
                        <a:t>初始化对象</a:t>
                      </a:r>
                      <a:r>
                        <a:rPr lang="en-US" sz="2400" kern="100" dirty="0">
                          <a:effectLst/>
                        </a:rPr>
                        <a:t> (</a:t>
                      </a:r>
                      <a:r>
                        <a:rPr lang="zh-CN" sz="2400" kern="100" dirty="0">
                          <a:effectLst/>
                        </a:rPr>
                        <a:t>没有属性</a:t>
                      </a:r>
                      <a:r>
                        <a:rPr lang="en-US" sz="2400" kern="100" dirty="0">
                          <a:effectLst/>
                        </a:rPr>
                        <a:t>)</a:t>
                      </a:r>
                      <a:endParaRPr lang="zh-CN" sz="24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348368053"/>
                  </a:ext>
                </a:extLst>
              </a:tr>
            </a:tbl>
          </a:graphicData>
        </a:graphic>
      </p:graphicFrame>
      <p:sp>
        <p:nvSpPr>
          <p:cNvPr id="12" name="矩形 11">
            <a:extLst>
              <a:ext uri="{FF2B5EF4-FFF2-40B4-BE49-F238E27FC236}">
                <a16:creationId xmlns:a16="http://schemas.microsoft.com/office/drawing/2014/main" id="{53F0AC16-9226-4FBC-89AE-60114D7AB391}"/>
              </a:ext>
            </a:extLst>
          </p:cNvPr>
          <p:cNvSpPr/>
          <p:nvPr/>
        </p:nvSpPr>
        <p:spPr>
          <a:xfrm>
            <a:off x="5048440" y="5824503"/>
            <a:ext cx="223651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常见异常及其描述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520051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组合 31">
            <a:extLst>
              <a:ext uri="{FF2B5EF4-FFF2-40B4-BE49-F238E27FC236}">
                <a16:creationId xmlns:a16="http://schemas.microsoft.com/office/drawing/2014/main" id="{032EF26F-0D58-4A0E-97C1-668713F80B14}"/>
              </a:ext>
            </a:extLst>
          </p:cNvPr>
          <p:cNvGrpSpPr/>
          <p:nvPr/>
        </p:nvGrpSpPr>
        <p:grpSpPr>
          <a:xfrm>
            <a:off x="170320" y="203448"/>
            <a:ext cx="6511833" cy="504056"/>
            <a:chOff x="169526" y="203448"/>
            <a:chExt cx="6511833" cy="504056"/>
          </a:xfrm>
        </p:grpSpPr>
        <p:sp>
          <p:nvSpPr>
            <p:cNvPr id="4" name="TextBox 3"/>
            <p:cNvSpPr txBox="1"/>
            <p:nvPr/>
          </p:nvSpPr>
          <p:spPr>
            <a:xfrm>
              <a:off x="781172" y="245839"/>
              <a:ext cx="590018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spc="300" dirty="0">
                  <a:solidFill>
                    <a:srgbClr val="1E6787"/>
                  </a:solidFill>
                  <a:latin typeface="微软雅黑" pitchFamily="34" charset="-122"/>
                  <a:ea typeface="微软雅黑" pitchFamily="34" charset="-122"/>
                </a:rPr>
                <a:t>异常处理</a:t>
              </a:r>
              <a:endParaRPr lang="zh-CN" altLang="en-US" sz="2000" b="1" spc="300" dirty="0">
                <a:solidFill>
                  <a:srgbClr val="1E6787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grpSp>
          <p:nvGrpSpPr>
            <p:cNvPr id="56" name="组合 55">
              <a:extLst>
                <a:ext uri="{FF2B5EF4-FFF2-40B4-BE49-F238E27FC236}">
                  <a16:creationId xmlns:a16="http://schemas.microsoft.com/office/drawing/2014/main" id="{B3ECA4EB-10D1-4B65-B604-4032302CDAF4}"/>
                </a:ext>
              </a:extLst>
            </p:cNvPr>
            <p:cNvGrpSpPr/>
            <p:nvPr/>
          </p:nvGrpSpPr>
          <p:grpSpPr>
            <a:xfrm>
              <a:off x="169526" y="203448"/>
              <a:ext cx="504056" cy="504056"/>
              <a:chOff x="11207774" y="442662"/>
              <a:chExt cx="504056" cy="504056"/>
            </a:xfr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grpSpPr>
          <p:sp>
            <p:nvSpPr>
              <p:cNvPr id="57" name="椭圆 56">
                <a:extLst>
                  <a:ext uri="{FF2B5EF4-FFF2-40B4-BE49-F238E27FC236}">
                    <a16:creationId xmlns:a16="http://schemas.microsoft.com/office/drawing/2014/main" id="{FF372EA1-AB4F-47B1-B450-59AB8827ECD5}"/>
                  </a:ext>
                </a:extLst>
              </p:cNvPr>
              <p:cNvSpPr/>
              <p:nvPr/>
            </p:nvSpPr>
            <p:spPr>
              <a:xfrm>
                <a:off x="11351790" y="601230"/>
                <a:ext cx="216024" cy="216024"/>
              </a:xfrm>
              <a:prstGeom prst="ellipse">
                <a:avLst/>
              </a:prstGeom>
              <a:solidFill>
                <a:srgbClr val="B3DF63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prstClr val="white"/>
                  </a:solidFill>
                  <a:latin typeface="Calibri"/>
                  <a:ea typeface="微软雅黑"/>
                </a:endParaRPr>
              </a:p>
            </p:txBody>
          </p:sp>
          <p:sp>
            <p:nvSpPr>
              <p:cNvPr id="58" name="椭圆 57">
                <a:extLst>
                  <a:ext uri="{FF2B5EF4-FFF2-40B4-BE49-F238E27FC236}">
                    <a16:creationId xmlns:a16="http://schemas.microsoft.com/office/drawing/2014/main" id="{0BEE7D95-9E9C-4C6D-91AA-6429F74B9F98}"/>
                  </a:ext>
                </a:extLst>
              </p:cNvPr>
              <p:cNvSpPr/>
              <p:nvPr/>
            </p:nvSpPr>
            <p:spPr>
              <a:xfrm>
                <a:off x="11207774" y="442662"/>
                <a:ext cx="504056" cy="504056"/>
              </a:xfrm>
              <a:prstGeom prst="ellipse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Calibri"/>
                  <a:ea typeface="微软雅黑"/>
                </a:endParaRPr>
              </a:p>
            </p:txBody>
          </p:sp>
        </p:grpSp>
        <p:cxnSp>
          <p:nvCxnSpPr>
            <p:cNvPr id="20" name="直接连接符 19">
              <a:extLst>
                <a:ext uri="{FF2B5EF4-FFF2-40B4-BE49-F238E27FC236}">
                  <a16:creationId xmlns:a16="http://schemas.microsoft.com/office/drawing/2014/main" id="{C4FBB3C1-88AA-4E76-B54C-31018E3BFAA0}"/>
                </a:ext>
              </a:extLst>
            </p:cNvPr>
            <p:cNvCxnSpPr>
              <a:cxnSpLocks/>
            </p:cNvCxnSpPr>
            <p:nvPr/>
          </p:nvCxnSpPr>
          <p:spPr>
            <a:xfrm>
              <a:off x="775303" y="707504"/>
              <a:ext cx="1833288" cy="0"/>
            </a:xfrm>
            <a:prstGeom prst="line">
              <a:avLst/>
            </a:prstGeom>
            <a:ln>
              <a:solidFill>
                <a:srgbClr val="B3DF6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矩形 11">
            <a:extLst>
              <a:ext uri="{FF2B5EF4-FFF2-40B4-BE49-F238E27FC236}">
                <a16:creationId xmlns:a16="http://schemas.microsoft.com/office/drawing/2014/main" id="{53F0AC16-9226-4FBC-89AE-60114D7AB391}"/>
              </a:ext>
            </a:extLst>
          </p:cNvPr>
          <p:cNvSpPr/>
          <p:nvPr/>
        </p:nvSpPr>
        <p:spPr>
          <a:xfrm>
            <a:off x="1142746" y="1231238"/>
            <a:ext cx="669779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dirty="0"/>
              <a:t>try</a:t>
            </a:r>
            <a:r>
              <a:rPr lang="zh-CN" altLang="zh-CN" sz="2800" dirty="0"/>
              <a:t>子句</a:t>
            </a:r>
            <a:r>
              <a:rPr lang="zh-CN" altLang="en-US" sz="2800" dirty="0"/>
              <a:t>专门用</a:t>
            </a:r>
            <a:r>
              <a:rPr lang="zh-CN" altLang="zh-CN" sz="2800" dirty="0"/>
              <a:t>来进行异常的捕捉与处理</a:t>
            </a:r>
            <a:r>
              <a:rPr lang="zh-CN" altLang="en-US" sz="2800" dirty="0"/>
              <a:t>：</a:t>
            </a: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F263F7E-D7DD-4835-8A2F-67BF83D9C04C}"/>
              </a:ext>
            </a:extLst>
          </p:cNvPr>
          <p:cNvSpPr/>
          <p:nvPr/>
        </p:nvSpPr>
        <p:spPr>
          <a:xfrm>
            <a:off x="1275907" y="2040038"/>
            <a:ext cx="6096000" cy="3357329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rgbClr val="FF9900"/>
                </a:solidFill>
              </a:rPr>
              <a:t>try</a:t>
            </a:r>
            <a:r>
              <a:rPr lang="en-US" altLang="zh-CN" sz="2400" dirty="0"/>
              <a:t>:</a:t>
            </a:r>
          </a:p>
          <a:p>
            <a:pPr>
              <a:lnSpc>
                <a:spcPct val="150000"/>
              </a:lnSpc>
            </a:pPr>
            <a:r>
              <a:rPr lang="en-US" altLang="zh-CN" sz="2400" dirty="0"/>
              <a:t>	</a:t>
            </a:r>
            <a:r>
              <a:rPr lang="zh-CN" altLang="en-US" sz="2400" dirty="0"/>
              <a:t>语句</a:t>
            </a:r>
          </a:p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rgbClr val="FF9900"/>
                </a:solidFill>
              </a:rPr>
              <a:t>except</a:t>
            </a:r>
            <a:r>
              <a:rPr lang="en-US" altLang="zh-CN" sz="2400" dirty="0"/>
              <a:t> </a:t>
            </a:r>
            <a:r>
              <a:rPr lang="zh-CN" altLang="en-US" sz="2400" dirty="0"/>
              <a:t>异常名称</a:t>
            </a:r>
            <a:r>
              <a:rPr lang="en-US" altLang="zh-CN" sz="2400" dirty="0"/>
              <a:t>:</a:t>
            </a:r>
          </a:p>
          <a:p>
            <a:pPr>
              <a:lnSpc>
                <a:spcPct val="150000"/>
              </a:lnSpc>
            </a:pPr>
            <a:r>
              <a:rPr lang="en-US" altLang="zh-CN" sz="2400" dirty="0"/>
              <a:t>	</a:t>
            </a:r>
            <a:r>
              <a:rPr lang="zh-CN" altLang="en-US" sz="2400" dirty="0"/>
              <a:t>捕获异常时处理</a:t>
            </a:r>
          </a:p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rgbClr val="FF9900"/>
                </a:solidFill>
              </a:rPr>
              <a:t>else</a:t>
            </a:r>
            <a:r>
              <a:rPr lang="en-US" altLang="zh-CN" sz="2400" dirty="0"/>
              <a:t>:</a:t>
            </a:r>
          </a:p>
          <a:p>
            <a:pPr>
              <a:lnSpc>
                <a:spcPct val="150000"/>
              </a:lnSpc>
            </a:pPr>
            <a:r>
              <a:rPr lang="en-US" altLang="zh-CN" sz="2400" dirty="0"/>
              <a:t>	</a:t>
            </a:r>
            <a:r>
              <a:rPr lang="zh-CN" altLang="en-US" sz="2400" dirty="0"/>
              <a:t>未发生异常时处理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C4C28D1-3682-42A3-993F-8CC3438D5A0B}"/>
              </a:ext>
            </a:extLst>
          </p:cNvPr>
          <p:cNvSpPr/>
          <p:nvPr/>
        </p:nvSpPr>
        <p:spPr>
          <a:xfrm>
            <a:off x="5677787" y="2600319"/>
            <a:ext cx="6096000" cy="279704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 indent="266700"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2400" kern="100" dirty="0">
                <a:latin typeface="+mn-ea"/>
                <a:cs typeface="Times New Roman" panose="02020603050405020304" pitchFamily="18" charset="0"/>
              </a:rPr>
              <a:t>程序执行时</a:t>
            </a:r>
            <a:endParaRPr lang="en-US" altLang="zh-CN" sz="2400" kern="100" dirty="0">
              <a:latin typeface="+mn-ea"/>
              <a:cs typeface="Times New Roman" panose="02020603050405020304" pitchFamily="18" charset="0"/>
            </a:endParaRPr>
          </a:p>
          <a:p>
            <a:pPr marL="800100" lvl="1" indent="-342900" algn="just">
              <a:lnSpc>
                <a:spcPct val="150000"/>
              </a:lnSpc>
              <a:buFont typeface="微软雅黑" panose="020B0503020204020204" pitchFamily="34" charset="-122"/>
              <a:buChar char="–"/>
            </a:pPr>
            <a:r>
              <a:rPr lang="zh-CN" altLang="zh-CN" sz="2400" kern="100" dirty="0">
                <a:latin typeface="+mn-ea"/>
                <a:cs typeface="Times New Roman" panose="02020603050405020304" pitchFamily="18" charset="0"/>
              </a:rPr>
              <a:t>如果</a:t>
            </a:r>
            <a:r>
              <a:rPr lang="en-US" altLang="zh-CN" sz="2400" kern="100" dirty="0">
                <a:latin typeface="+mn-ea"/>
                <a:cs typeface="Times New Roman" panose="02020603050405020304" pitchFamily="18" charset="0"/>
              </a:rPr>
              <a:t>try</a:t>
            </a:r>
            <a:r>
              <a:rPr lang="zh-CN" altLang="zh-CN" sz="2400" kern="100" dirty="0">
                <a:latin typeface="+mn-ea"/>
                <a:cs typeface="Times New Roman" panose="02020603050405020304" pitchFamily="18" charset="0"/>
              </a:rPr>
              <a:t>子句中</a:t>
            </a:r>
            <a:r>
              <a:rPr lang="zh-CN" altLang="zh-CN" sz="2400" kern="100" dirty="0">
                <a:solidFill>
                  <a:srgbClr val="FFC000"/>
                </a:solidFill>
                <a:latin typeface="+mn-ea"/>
                <a:cs typeface="Times New Roman" panose="02020603050405020304" pitchFamily="18" charset="0"/>
              </a:rPr>
              <a:t>发生了指定的异常</a:t>
            </a:r>
            <a:r>
              <a:rPr lang="en-US" altLang="zh-CN" sz="2400" kern="100" dirty="0">
                <a:latin typeface="+mn-ea"/>
                <a:cs typeface="Times New Roman" panose="02020603050405020304" pitchFamily="18" charset="0"/>
              </a:rPr>
              <a:t>,</a:t>
            </a:r>
            <a:r>
              <a:rPr lang="zh-CN" altLang="zh-CN" sz="2400" kern="100" dirty="0">
                <a:latin typeface="+mn-ea"/>
                <a:cs typeface="Times New Roman" panose="02020603050405020304" pitchFamily="18" charset="0"/>
              </a:rPr>
              <a:t>则</a:t>
            </a:r>
            <a:r>
              <a:rPr lang="zh-CN" altLang="zh-CN" sz="2400" kern="100" dirty="0">
                <a:solidFill>
                  <a:srgbClr val="FFC000"/>
                </a:solidFill>
                <a:latin typeface="+mn-ea"/>
                <a:cs typeface="Times New Roman" panose="02020603050405020304" pitchFamily="18" charset="0"/>
              </a:rPr>
              <a:t>执行</a:t>
            </a:r>
            <a:r>
              <a:rPr lang="en-US" altLang="zh-CN" sz="2400" kern="100" dirty="0">
                <a:solidFill>
                  <a:srgbClr val="FFC000"/>
                </a:solidFill>
                <a:latin typeface="+mn-ea"/>
                <a:cs typeface="Times New Roman" panose="02020603050405020304" pitchFamily="18" charset="0"/>
              </a:rPr>
              <a:t>except</a:t>
            </a:r>
            <a:r>
              <a:rPr lang="zh-CN" altLang="zh-CN" sz="2400" kern="100" dirty="0">
                <a:solidFill>
                  <a:srgbClr val="FFC000"/>
                </a:solidFill>
                <a:latin typeface="+mn-ea"/>
                <a:cs typeface="Times New Roman" panose="02020603050405020304" pitchFamily="18" charset="0"/>
              </a:rPr>
              <a:t>子句</a:t>
            </a:r>
            <a:r>
              <a:rPr lang="zh-CN" altLang="zh-CN" sz="2400" kern="100" dirty="0">
                <a:latin typeface="+mn-ea"/>
                <a:cs typeface="Times New Roman" panose="02020603050405020304" pitchFamily="18" charset="0"/>
              </a:rPr>
              <a:t>部分进行异常的处理；</a:t>
            </a:r>
            <a:endParaRPr lang="en-US" altLang="zh-CN" sz="2400" kern="100" dirty="0">
              <a:latin typeface="+mn-ea"/>
              <a:cs typeface="Times New Roman" panose="02020603050405020304" pitchFamily="18" charset="0"/>
            </a:endParaRPr>
          </a:p>
          <a:p>
            <a:pPr marL="800100" lvl="1" indent="-342900" algn="just">
              <a:lnSpc>
                <a:spcPct val="150000"/>
              </a:lnSpc>
              <a:buFont typeface="微软雅黑" panose="020B0503020204020204" pitchFamily="34" charset="-122"/>
              <a:buChar char="–"/>
            </a:pPr>
            <a:r>
              <a:rPr lang="zh-CN" altLang="zh-CN" sz="2400" kern="100" dirty="0">
                <a:latin typeface="+mn-ea"/>
                <a:cs typeface="Times New Roman" panose="02020603050405020304" pitchFamily="18" charset="0"/>
              </a:rPr>
              <a:t>如果</a:t>
            </a:r>
            <a:r>
              <a:rPr lang="en-US" altLang="zh-CN" sz="2400" kern="100" dirty="0">
                <a:latin typeface="+mn-ea"/>
                <a:cs typeface="Times New Roman" panose="02020603050405020304" pitchFamily="18" charset="0"/>
              </a:rPr>
              <a:t>try</a:t>
            </a:r>
            <a:r>
              <a:rPr lang="zh-CN" altLang="zh-CN" sz="2400" kern="100" dirty="0">
                <a:latin typeface="+mn-ea"/>
                <a:cs typeface="Times New Roman" panose="02020603050405020304" pitchFamily="18" charset="0"/>
              </a:rPr>
              <a:t>子句执行</a:t>
            </a:r>
            <a:r>
              <a:rPr lang="zh-CN" altLang="zh-CN" sz="2400" kern="100" dirty="0">
                <a:solidFill>
                  <a:srgbClr val="6BE137"/>
                </a:solidFill>
                <a:latin typeface="+mn-ea"/>
                <a:cs typeface="Times New Roman" panose="02020603050405020304" pitchFamily="18" charset="0"/>
              </a:rPr>
              <a:t>未发生异常</a:t>
            </a:r>
            <a:r>
              <a:rPr lang="zh-CN" altLang="zh-CN" sz="2400" kern="100" dirty="0">
                <a:latin typeface="+mn-ea"/>
                <a:cs typeface="Times New Roman" panose="02020603050405020304" pitchFamily="18" charset="0"/>
              </a:rPr>
              <a:t>则</a:t>
            </a:r>
            <a:r>
              <a:rPr lang="zh-CN" altLang="zh-CN" sz="2400" kern="100" dirty="0">
                <a:solidFill>
                  <a:srgbClr val="6BE137"/>
                </a:solidFill>
                <a:latin typeface="+mn-ea"/>
                <a:cs typeface="Times New Roman" panose="02020603050405020304" pitchFamily="18" charset="0"/>
              </a:rPr>
              <a:t>执行</a:t>
            </a:r>
            <a:r>
              <a:rPr lang="en-US" altLang="zh-CN" sz="2400" kern="100" dirty="0">
                <a:solidFill>
                  <a:srgbClr val="6BE137"/>
                </a:solidFill>
                <a:latin typeface="+mn-ea"/>
                <a:cs typeface="Times New Roman" panose="02020603050405020304" pitchFamily="18" charset="0"/>
              </a:rPr>
              <a:t>else</a:t>
            </a:r>
            <a:r>
              <a:rPr lang="zh-CN" altLang="zh-CN" sz="2400" kern="100" dirty="0">
                <a:solidFill>
                  <a:srgbClr val="6BE137"/>
                </a:solidFill>
                <a:latin typeface="+mn-ea"/>
                <a:cs typeface="Times New Roman" panose="02020603050405020304" pitchFamily="18" charset="0"/>
              </a:rPr>
              <a:t>子句</a:t>
            </a:r>
            <a:r>
              <a:rPr lang="zh-CN" altLang="zh-CN" sz="2400" kern="100" dirty="0">
                <a:latin typeface="+mn-ea"/>
                <a:cs typeface="Times New Roman" panose="02020603050405020304" pitchFamily="18" charset="0"/>
              </a:rPr>
              <a:t>部分。</a:t>
            </a:r>
          </a:p>
        </p:txBody>
      </p:sp>
    </p:spTree>
    <p:extLst>
      <p:ext uri="{BB962C8B-B14F-4D97-AF65-F5344CB8AC3E}">
        <p14:creationId xmlns:p14="http://schemas.microsoft.com/office/powerpoint/2010/main" val="31039479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组合 31">
            <a:extLst>
              <a:ext uri="{FF2B5EF4-FFF2-40B4-BE49-F238E27FC236}">
                <a16:creationId xmlns:a16="http://schemas.microsoft.com/office/drawing/2014/main" id="{032EF26F-0D58-4A0E-97C1-668713F80B14}"/>
              </a:ext>
            </a:extLst>
          </p:cNvPr>
          <p:cNvGrpSpPr/>
          <p:nvPr/>
        </p:nvGrpSpPr>
        <p:grpSpPr>
          <a:xfrm>
            <a:off x="170320" y="203448"/>
            <a:ext cx="6511833" cy="504056"/>
            <a:chOff x="169526" y="203448"/>
            <a:chExt cx="6511833" cy="504056"/>
          </a:xfrm>
        </p:grpSpPr>
        <p:sp>
          <p:nvSpPr>
            <p:cNvPr id="4" name="TextBox 3"/>
            <p:cNvSpPr txBox="1"/>
            <p:nvPr/>
          </p:nvSpPr>
          <p:spPr>
            <a:xfrm>
              <a:off x="781172" y="245839"/>
              <a:ext cx="590018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spc="300" dirty="0">
                  <a:solidFill>
                    <a:srgbClr val="1E6787"/>
                  </a:solidFill>
                  <a:latin typeface="微软雅黑" pitchFamily="34" charset="-122"/>
                  <a:ea typeface="微软雅黑" pitchFamily="34" charset="-122"/>
                </a:rPr>
                <a:t>异常处理</a:t>
              </a:r>
              <a:endParaRPr lang="zh-CN" altLang="en-US" sz="2000" b="1" spc="300" dirty="0">
                <a:solidFill>
                  <a:srgbClr val="1E6787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grpSp>
          <p:nvGrpSpPr>
            <p:cNvPr id="56" name="组合 55">
              <a:extLst>
                <a:ext uri="{FF2B5EF4-FFF2-40B4-BE49-F238E27FC236}">
                  <a16:creationId xmlns:a16="http://schemas.microsoft.com/office/drawing/2014/main" id="{B3ECA4EB-10D1-4B65-B604-4032302CDAF4}"/>
                </a:ext>
              </a:extLst>
            </p:cNvPr>
            <p:cNvGrpSpPr/>
            <p:nvPr/>
          </p:nvGrpSpPr>
          <p:grpSpPr>
            <a:xfrm>
              <a:off x="169526" y="203448"/>
              <a:ext cx="504056" cy="504056"/>
              <a:chOff x="11207774" y="442662"/>
              <a:chExt cx="504056" cy="504056"/>
            </a:xfr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grpSpPr>
          <p:sp>
            <p:nvSpPr>
              <p:cNvPr id="57" name="椭圆 56">
                <a:extLst>
                  <a:ext uri="{FF2B5EF4-FFF2-40B4-BE49-F238E27FC236}">
                    <a16:creationId xmlns:a16="http://schemas.microsoft.com/office/drawing/2014/main" id="{FF372EA1-AB4F-47B1-B450-59AB8827ECD5}"/>
                  </a:ext>
                </a:extLst>
              </p:cNvPr>
              <p:cNvSpPr/>
              <p:nvPr/>
            </p:nvSpPr>
            <p:spPr>
              <a:xfrm>
                <a:off x="11351790" y="601230"/>
                <a:ext cx="216024" cy="216024"/>
              </a:xfrm>
              <a:prstGeom prst="ellipse">
                <a:avLst/>
              </a:prstGeom>
              <a:solidFill>
                <a:srgbClr val="B3DF63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prstClr val="white"/>
                  </a:solidFill>
                  <a:latin typeface="Calibri"/>
                  <a:ea typeface="微软雅黑"/>
                </a:endParaRPr>
              </a:p>
            </p:txBody>
          </p:sp>
          <p:sp>
            <p:nvSpPr>
              <p:cNvPr id="58" name="椭圆 57">
                <a:extLst>
                  <a:ext uri="{FF2B5EF4-FFF2-40B4-BE49-F238E27FC236}">
                    <a16:creationId xmlns:a16="http://schemas.microsoft.com/office/drawing/2014/main" id="{0BEE7D95-9E9C-4C6D-91AA-6429F74B9F98}"/>
                  </a:ext>
                </a:extLst>
              </p:cNvPr>
              <p:cNvSpPr/>
              <p:nvPr/>
            </p:nvSpPr>
            <p:spPr>
              <a:xfrm>
                <a:off x="11207774" y="442662"/>
                <a:ext cx="504056" cy="504056"/>
              </a:xfrm>
              <a:prstGeom prst="ellipse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Calibri"/>
                  <a:ea typeface="微软雅黑"/>
                </a:endParaRPr>
              </a:p>
            </p:txBody>
          </p:sp>
        </p:grpSp>
        <p:cxnSp>
          <p:nvCxnSpPr>
            <p:cNvPr id="20" name="直接连接符 19">
              <a:extLst>
                <a:ext uri="{FF2B5EF4-FFF2-40B4-BE49-F238E27FC236}">
                  <a16:creationId xmlns:a16="http://schemas.microsoft.com/office/drawing/2014/main" id="{C4FBB3C1-88AA-4E76-B54C-31018E3BFAA0}"/>
                </a:ext>
              </a:extLst>
            </p:cNvPr>
            <p:cNvCxnSpPr>
              <a:cxnSpLocks/>
            </p:cNvCxnSpPr>
            <p:nvPr/>
          </p:nvCxnSpPr>
          <p:spPr>
            <a:xfrm>
              <a:off x="775303" y="707504"/>
              <a:ext cx="1833288" cy="0"/>
            </a:xfrm>
            <a:prstGeom prst="line">
              <a:avLst/>
            </a:prstGeom>
            <a:ln>
              <a:solidFill>
                <a:srgbClr val="B3DF6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矩形 11">
            <a:extLst>
              <a:ext uri="{FF2B5EF4-FFF2-40B4-BE49-F238E27FC236}">
                <a16:creationId xmlns:a16="http://schemas.microsoft.com/office/drawing/2014/main" id="{53F0AC16-9226-4FBC-89AE-60114D7AB391}"/>
              </a:ext>
            </a:extLst>
          </p:cNvPr>
          <p:cNvSpPr/>
          <p:nvPr/>
        </p:nvSpPr>
        <p:spPr>
          <a:xfrm>
            <a:off x="674376" y="1011497"/>
            <a:ext cx="11082750" cy="169533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400" dirty="0"/>
              <a:t>【例</a:t>
            </a:r>
            <a:r>
              <a:rPr lang="en-US" altLang="zh-CN" sz="2400" dirty="0"/>
              <a:t>7-1</a:t>
            </a:r>
            <a:r>
              <a:rPr lang="zh-CN" altLang="zh-CN" sz="2400" dirty="0"/>
              <a:t>】从键盘输入</a:t>
            </a:r>
            <a:r>
              <a:rPr lang="en-US" altLang="zh-CN" sz="2400" dirty="0"/>
              <a:t>a</a:t>
            </a:r>
            <a:r>
              <a:rPr lang="zh-CN" altLang="zh-CN" sz="2400" dirty="0"/>
              <a:t>和</a:t>
            </a:r>
            <a:r>
              <a:rPr lang="en-US" altLang="zh-CN" sz="2400" dirty="0"/>
              <a:t>b</a:t>
            </a:r>
            <a:r>
              <a:rPr lang="zh-CN" altLang="zh-CN" sz="2400" dirty="0"/>
              <a:t>，求</a:t>
            </a:r>
            <a:r>
              <a:rPr lang="en-US" altLang="zh-CN" sz="2400" dirty="0"/>
              <a:t>a</a:t>
            </a:r>
            <a:r>
              <a:rPr lang="zh-CN" altLang="zh-CN" sz="2400" dirty="0"/>
              <a:t>除以</a:t>
            </a:r>
            <a:r>
              <a:rPr lang="en-US" altLang="zh-CN" sz="2400" dirty="0"/>
              <a:t>b</a:t>
            </a:r>
            <a:r>
              <a:rPr lang="zh-CN" altLang="zh-CN" sz="2400" dirty="0"/>
              <a:t>的结果并输出。</a:t>
            </a:r>
          </a:p>
          <a:p>
            <a:pPr>
              <a:lnSpc>
                <a:spcPct val="150000"/>
              </a:lnSpc>
            </a:pPr>
            <a:r>
              <a:rPr lang="zh-CN" altLang="zh-CN" sz="2400" dirty="0"/>
              <a:t>【分析】从键盘输入除数，就有可能会输入</a:t>
            </a:r>
            <a:r>
              <a:rPr lang="en-US" altLang="zh-CN" sz="2400" dirty="0"/>
              <a:t>0</a:t>
            </a:r>
            <a:r>
              <a:rPr lang="zh-CN" altLang="zh-CN" sz="2400" dirty="0"/>
              <a:t>，而除数为</a:t>
            </a:r>
            <a:r>
              <a:rPr lang="en-US" altLang="zh-CN" sz="2400" dirty="0"/>
              <a:t>0</a:t>
            </a:r>
            <a:r>
              <a:rPr lang="zh-CN" altLang="zh-CN" sz="2400" dirty="0"/>
              <a:t>是个很严重的错误，应该进行</a:t>
            </a:r>
            <a:r>
              <a:rPr lang="en-US" altLang="zh-CN" sz="2400" dirty="0" err="1"/>
              <a:t>ZeroDivisionError</a:t>
            </a:r>
            <a:r>
              <a:rPr lang="zh-CN" altLang="zh-CN" sz="2400" dirty="0"/>
              <a:t>异常的捕获和处理。</a:t>
            </a: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661BAE73-2C96-46FA-BD87-AF14846FE1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0134327"/>
              </p:ext>
            </p:extLst>
          </p:nvPr>
        </p:nvGraphicFramePr>
        <p:xfrm>
          <a:off x="664900" y="2705908"/>
          <a:ext cx="6879868" cy="3823926"/>
        </p:xfrm>
        <a:graphic>
          <a:graphicData uri="http://schemas.openxmlformats.org/drawingml/2006/table">
            <a:tbl>
              <a:tblPr firstRow="1" firstCol="1" bandRow="1">
                <a:tableStyleId>{2D5ABB26-0587-4C30-8999-92F81FD0307C}</a:tableStyleId>
              </a:tblPr>
              <a:tblGrid>
                <a:gridCol w="370251">
                  <a:extLst>
                    <a:ext uri="{9D8B030D-6E8A-4147-A177-3AD203B41FA5}">
                      <a16:colId xmlns:a16="http://schemas.microsoft.com/office/drawing/2014/main" val="2517914886"/>
                    </a:ext>
                  </a:extLst>
                </a:gridCol>
                <a:gridCol w="6509617">
                  <a:extLst>
                    <a:ext uri="{9D8B030D-6E8A-4147-A177-3AD203B41FA5}">
                      <a16:colId xmlns:a16="http://schemas.microsoft.com/office/drawing/2014/main" val="3868985122"/>
                    </a:ext>
                  </a:extLst>
                </a:gridCol>
              </a:tblGrid>
              <a:tr h="698734">
                <a:tc gridSpan="2"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</a:rPr>
                        <a:t>#</a:t>
                      </a:r>
                      <a:r>
                        <a:rPr lang="zh-CN" sz="2000" kern="100" dirty="0">
                          <a:effectLst/>
                        </a:rPr>
                        <a:t>从键盘输入</a:t>
                      </a:r>
                      <a:r>
                        <a:rPr lang="en-US" sz="2000" kern="100" dirty="0">
                          <a:effectLst/>
                        </a:rPr>
                        <a:t>a</a:t>
                      </a:r>
                      <a:r>
                        <a:rPr lang="zh-CN" sz="2000" kern="100" dirty="0">
                          <a:effectLst/>
                        </a:rPr>
                        <a:t>和</a:t>
                      </a:r>
                      <a:r>
                        <a:rPr lang="en-US" sz="2000" kern="100" dirty="0">
                          <a:effectLst/>
                        </a:rPr>
                        <a:t>b</a:t>
                      </a:r>
                      <a:r>
                        <a:rPr lang="zh-CN" sz="2000" kern="100" dirty="0">
                          <a:effectLst/>
                        </a:rPr>
                        <a:t>，求</a:t>
                      </a:r>
                      <a:r>
                        <a:rPr lang="en-US" sz="2000" kern="100" dirty="0">
                          <a:effectLst/>
                        </a:rPr>
                        <a:t>a</a:t>
                      </a:r>
                      <a:r>
                        <a:rPr lang="zh-CN" sz="2000" kern="100" dirty="0">
                          <a:effectLst/>
                        </a:rPr>
                        <a:t>除以</a:t>
                      </a:r>
                      <a:r>
                        <a:rPr lang="en-US" sz="2000" kern="100" dirty="0">
                          <a:effectLst/>
                        </a:rPr>
                        <a:t>b</a:t>
                      </a:r>
                      <a:r>
                        <a:rPr lang="zh-CN" sz="2000" kern="100" dirty="0">
                          <a:effectLst/>
                        </a:rPr>
                        <a:t>的结果并输出。</a:t>
                      </a:r>
                      <a:r>
                        <a:rPr lang="en-US" sz="2000" kern="100" dirty="0">
                          <a:effectLst/>
                        </a:rPr>
                        <a:t>  7-1.py</a:t>
                      </a:r>
                      <a:endParaRPr lang="zh-CN" sz="20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740424"/>
                  </a:ext>
                </a:extLst>
              </a:tr>
              <a:tr h="390649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400" kern="100" dirty="0">
                          <a:effectLst/>
                        </a:rPr>
                        <a:t>1</a:t>
                      </a:r>
                      <a:endParaRPr lang="zh-CN" sz="24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400" kern="100" dirty="0">
                          <a:effectLst/>
                        </a:rPr>
                        <a:t>try:</a:t>
                      </a:r>
                      <a:endParaRPr lang="zh-CN" sz="24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434486385"/>
                  </a:ext>
                </a:extLst>
              </a:tr>
              <a:tr h="390649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400" kern="100" dirty="0">
                          <a:effectLst/>
                        </a:rPr>
                        <a:t>2</a:t>
                      </a:r>
                      <a:endParaRPr lang="zh-CN" sz="24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400" kern="100" dirty="0">
                          <a:effectLst/>
                        </a:rPr>
                        <a:t>    a=int(input("a="))</a:t>
                      </a:r>
                      <a:endParaRPr lang="zh-CN" sz="24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105995287"/>
                  </a:ext>
                </a:extLst>
              </a:tr>
              <a:tr h="390649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400" kern="100" dirty="0">
                          <a:effectLst/>
                        </a:rPr>
                        <a:t>3</a:t>
                      </a:r>
                      <a:endParaRPr lang="zh-CN" sz="24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400" kern="100" dirty="0">
                          <a:effectLst/>
                        </a:rPr>
                        <a:t>    b=int(input("b="))</a:t>
                      </a:r>
                      <a:endParaRPr lang="zh-CN" sz="24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375214775"/>
                  </a:ext>
                </a:extLst>
              </a:tr>
              <a:tr h="390649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400" kern="100" dirty="0">
                          <a:effectLst/>
                        </a:rPr>
                        <a:t>4</a:t>
                      </a:r>
                      <a:endParaRPr lang="zh-CN" sz="24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400" kern="100" dirty="0">
                          <a:effectLst/>
                        </a:rPr>
                        <a:t>    c=a/b</a:t>
                      </a:r>
                      <a:endParaRPr lang="zh-CN" sz="24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359356448"/>
                  </a:ext>
                </a:extLst>
              </a:tr>
              <a:tr h="390649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400" kern="100" dirty="0">
                          <a:effectLst/>
                        </a:rPr>
                        <a:t>5</a:t>
                      </a:r>
                      <a:endParaRPr lang="zh-CN" sz="24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400" kern="100" dirty="0">
                          <a:effectLst/>
                        </a:rPr>
                        <a:t>except </a:t>
                      </a:r>
                      <a:r>
                        <a:rPr lang="en-US" sz="2400" kern="100" dirty="0" err="1">
                          <a:effectLst/>
                        </a:rPr>
                        <a:t>ZeroDivisionError</a:t>
                      </a:r>
                      <a:r>
                        <a:rPr lang="en-US" sz="2400" kern="100" dirty="0">
                          <a:effectLst/>
                        </a:rPr>
                        <a:t>:</a:t>
                      </a:r>
                      <a:endParaRPr lang="zh-CN" sz="24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76208141"/>
                  </a:ext>
                </a:extLst>
              </a:tr>
              <a:tr h="390649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400" kern="100" dirty="0">
                          <a:effectLst/>
                        </a:rPr>
                        <a:t>6</a:t>
                      </a:r>
                      <a:endParaRPr lang="zh-CN" sz="24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400" kern="100" dirty="0">
                          <a:effectLst/>
                        </a:rPr>
                        <a:t>    print("</a:t>
                      </a:r>
                      <a:r>
                        <a:rPr lang="zh-CN" sz="2400" kern="100" dirty="0">
                          <a:effectLst/>
                        </a:rPr>
                        <a:t>除数不能为</a:t>
                      </a:r>
                      <a:r>
                        <a:rPr lang="en-US" sz="2400" kern="100" dirty="0">
                          <a:effectLst/>
                        </a:rPr>
                        <a:t>0</a:t>
                      </a:r>
                      <a:r>
                        <a:rPr lang="zh-CN" sz="2400" kern="100" dirty="0">
                          <a:effectLst/>
                        </a:rPr>
                        <a:t>！</a:t>
                      </a:r>
                      <a:r>
                        <a:rPr lang="en-US" sz="2400" kern="100" dirty="0">
                          <a:effectLst/>
                        </a:rPr>
                        <a:t>")</a:t>
                      </a:r>
                      <a:endParaRPr lang="zh-CN" sz="24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75935835"/>
                  </a:ext>
                </a:extLst>
              </a:tr>
              <a:tr h="390649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400" kern="100" dirty="0">
                          <a:effectLst/>
                        </a:rPr>
                        <a:t>7</a:t>
                      </a:r>
                      <a:endParaRPr lang="zh-CN" sz="24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400" kern="100" dirty="0">
                          <a:effectLst/>
                        </a:rPr>
                        <a:t>else:</a:t>
                      </a:r>
                      <a:endParaRPr lang="zh-CN" sz="24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407728211"/>
                  </a:ext>
                </a:extLst>
              </a:tr>
              <a:tr h="390649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400" kern="100" dirty="0">
                          <a:effectLst/>
                        </a:rPr>
                        <a:t>8</a:t>
                      </a:r>
                      <a:endParaRPr lang="zh-CN" sz="24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400" kern="100" dirty="0">
                          <a:effectLst/>
                        </a:rPr>
                        <a:t>    print("c=",c)</a:t>
                      </a:r>
                      <a:endParaRPr lang="zh-CN" sz="24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458350132"/>
                  </a:ext>
                </a:extLst>
              </a:tr>
            </a:tbl>
          </a:graphicData>
        </a:graphic>
      </p:graphicFrame>
      <p:pic>
        <p:nvPicPr>
          <p:cNvPr id="16" name="图片 15">
            <a:extLst>
              <a:ext uri="{FF2B5EF4-FFF2-40B4-BE49-F238E27FC236}">
                <a16:creationId xmlns:a16="http://schemas.microsoft.com/office/drawing/2014/main" id="{C008E74F-7F2B-4D8F-9CA4-ADE961B22E54}"/>
              </a:ext>
            </a:extLst>
          </p:cNvPr>
          <p:cNvPicPr/>
          <p:nvPr/>
        </p:nvPicPr>
        <p:blipFill rotWithShape="1">
          <a:blip r:embed="rId3"/>
          <a:srcRect t="1" r="50000" b="-13499"/>
          <a:stretch/>
        </p:blipFill>
        <p:spPr>
          <a:xfrm>
            <a:off x="8036441" y="3172710"/>
            <a:ext cx="3212805" cy="1044871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A0688912-DC17-44E4-9A77-84B03B7798A7}"/>
              </a:ext>
            </a:extLst>
          </p:cNvPr>
          <p:cNvPicPr/>
          <p:nvPr/>
        </p:nvPicPr>
        <p:blipFill rotWithShape="1">
          <a:blip r:embed="rId4"/>
          <a:srcRect r="56294" b="-1064"/>
          <a:stretch/>
        </p:blipFill>
        <p:spPr>
          <a:xfrm>
            <a:off x="8087167" y="4968104"/>
            <a:ext cx="3162079" cy="1044871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1674B5E2-701F-4FD6-8AD0-D23205CC1CBF}"/>
              </a:ext>
            </a:extLst>
          </p:cNvPr>
          <p:cNvSpPr/>
          <p:nvPr/>
        </p:nvSpPr>
        <p:spPr>
          <a:xfrm>
            <a:off x="1247553" y="3813544"/>
            <a:ext cx="2799907" cy="1154560"/>
          </a:xfrm>
          <a:prstGeom prst="rect">
            <a:avLst/>
          </a:prstGeom>
          <a:noFill/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19133C61-0355-4F87-814F-EE5928E95491}"/>
              </a:ext>
            </a:extLst>
          </p:cNvPr>
          <p:cNvGrpSpPr/>
          <p:nvPr/>
        </p:nvGrpSpPr>
        <p:grpSpPr>
          <a:xfrm>
            <a:off x="4047457" y="4563189"/>
            <a:ext cx="1474382" cy="1141228"/>
            <a:chOff x="4047457" y="4563189"/>
            <a:chExt cx="1474382" cy="1141228"/>
          </a:xfrm>
        </p:grpSpPr>
        <p:grpSp>
          <p:nvGrpSpPr>
            <p:cNvPr id="21" name="组合 20">
              <a:extLst>
                <a:ext uri="{FF2B5EF4-FFF2-40B4-BE49-F238E27FC236}">
                  <a16:creationId xmlns:a16="http://schemas.microsoft.com/office/drawing/2014/main" id="{8A2479D7-E9AD-4B22-938C-CD0F3A181965}"/>
                </a:ext>
              </a:extLst>
            </p:cNvPr>
            <p:cNvGrpSpPr/>
            <p:nvPr/>
          </p:nvGrpSpPr>
          <p:grpSpPr>
            <a:xfrm>
              <a:off x="4047457" y="4563189"/>
              <a:ext cx="1474382" cy="1141228"/>
              <a:chOff x="4047460" y="4387702"/>
              <a:chExt cx="581247" cy="1141228"/>
            </a:xfrm>
          </p:grpSpPr>
          <p:cxnSp>
            <p:nvCxnSpPr>
              <p:cNvPr id="8" name="直接连接符 7">
                <a:extLst>
                  <a:ext uri="{FF2B5EF4-FFF2-40B4-BE49-F238E27FC236}">
                    <a16:creationId xmlns:a16="http://schemas.microsoft.com/office/drawing/2014/main" id="{1D38012B-5ED1-4057-A99F-C34268CDFE13}"/>
                  </a:ext>
                </a:extLst>
              </p:cNvPr>
              <p:cNvCxnSpPr>
                <a:cxnSpLocks/>
                <a:stCxn id="6" idx="3"/>
              </p:cNvCxnSpPr>
              <p:nvPr/>
            </p:nvCxnSpPr>
            <p:spPr>
              <a:xfrm>
                <a:off x="4047460" y="4390824"/>
                <a:ext cx="581247" cy="0"/>
              </a:xfrm>
              <a:prstGeom prst="line">
                <a:avLst/>
              </a:prstGeom>
              <a:ln w="28575">
                <a:solidFill>
                  <a:srgbClr val="FF9900"/>
                </a:solidFill>
              </a:ln>
            </p:spPr>
            <p:style>
              <a:lnRef idx="1">
                <a:schemeClr val="accent6"/>
              </a:lnRef>
              <a:fillRef idx="0">
                <a:schemeClr val="accent6"/>
              </a:fillRef>
              <a:effectRef idx="0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1" name="直接连接符 10">
                <a:extLst>
                  <a:ext uri="{FF2B5EF4-FFF2-40B4-BE49-F238E27FC236}">
                    <a16:creationId xmlns:a16="http://schemas.microsoft.com/office/drawing/2014/main" id="{F9E3F05E-4892-4463-95B1-F4ECF2756E6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621619" y="4387702"/>
                <a:ext cx="0" cy="1141228"/>
              </a:xfrm>
              <a:prstGeom prst="line">
                <a:avLst/>
              </a:prstGeom>
              <a:ln w="28575">
                <a:solidFill>
                  <a:srgbClr val="FF9900"/>
                </a:solidFill>
              </a:ln>
            </p:spPr>
            <p:style>
              <a:lnRef idx="1">
                <a:schemeClr val="accent6"/>
              </a:lnRef>
              <a:fillRef idx="0">
                <a:schemeClr val="accent6"/>
              </a:fillRef>
              <a:effectRef idx="0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9" name="直接箭头连接符 18">
                <a:extLst>
                  <a:ext uri="{FF2B5EF4-FFF2-40B4-BE49-F238E27FC236}">
                    <a16:creationId xmlns:a16="http://schemas.microsoft.com/office/drawing/2014/main" id="{03FC828F-E336-4FE0-9036-7CF4B434F6BD}"/>
                  </a:ext>
                </a:extLst>
              </p:cNvPr>
              <p:cNvCxnSpPr/>
              <p:nvPr/>
            </p:nvCxnSpPr>
            <p:spPr>
              <a:xfrm flipH="1">
                <a:off x="4366437" y="5528930"/>
                <a:ext cx="262270" cy="0"/>
              </a:xfrm>
              <a:prstGeom prst="straightConnector1">
                <a:avLst/>
              </a:prstGeom>
              <a:ln w="28575">
                <a:solidFill>
                  <a:srgbClr val="FF9900"/>
                </a:solidFill>
                <a:tailEnd type="triangle"/>
              </a:ln>
            </p:spPr>
            <p:style>
              <a:lnRef idx="1">
                <a:schemeClr val="accent6"/>
              </a:lnRef>
              <a:fillRef idx="0">
                <a:schemeClr val="accent6"/>
              </a:fillRef>
              <a:effectRef idx="0">
                <a:schemeClr val="accent6"/>
              </a:effectRef>
              <a:fontRef idx="minor">
                <a:schemeClr val="tx1"/>
              </a:fontRef>
            </p:style>
          </p:cxnSp>
        </p:grpSp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B721DF1B-17BE-4836-9401-DA92CB90D151}"/>
                </a:ext>
              </a:extLst>
            </p:cNvPr>
            <p:cNvSpPr/>
            <p:nvPr/>
          </p:nvSpPr>
          <p:spPr>
            <a:xfrm>
              <a:off x="4078060" y="4576731"/>
              <a:ext cx="1233376" cy="41028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000" dirty="0">
                  <a:solidFill>
                    <a:srgbClr val="FFC000"/>
                  </a:solidFill>
                </a:rPr>
                <a:t>除数</a:t>
              </a:r>
              <a:r>
                <a:rPr lang="en-US" altLang="zh-CN" sz="2000" dirty="0">
                  <a:solidFill>
                    <a:srgbClr val="FFC000"/>
                  </a:solidFill>
                </a:rPr>
                <a:t>b</a:t>
              </a:r>
              <a:r>
                <a:rPr lang="zh-CN" altLang="en-US" sz="2000" dirty="0">
                  <a:solidFill>
                    <a:srgbClr val="FFC000"/>
                  </a:solidFill>
                </a:rPr>
                <a:t>为</a:t>
              </a:r>
              <a:r>
                <a:rPr lang="en-US" altLang="zh-CN" sz="2000" dirty="0">
                  <a:solidFill>
                    <a:srgbClr val="FFC000"/>
                  </a:solidFill>
                </a:rPr>
                <a:t>0</a:t>
              </a:r>
              <a:endParaRPr lang="zh-CN" altLang="en-US" sz="2000" dirty="0">
                <a:solidFill>
                  <a:srgbClr val="FFC000"/>
                </a:solidFill>
              </a:endParaRPr>
            </a:p>
          </p:txBody>
        </p:sp>
      </p:grp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03E2EFC1-87DC-4889-97F3-D4834F105CEF}"/>
              </a:ext>
            </a:extLst>
          </p:cNvPr>
          <p:cNvGrpSpPr/>
          <p:nvPr/>
        </p:nvGrpSpPr>
        <p:grpSpPr>
          <a:xfrm>
            <a:off x="3237486" y="3569850"/>
            <a:ext cx="3076349" cy="2866384"/>
            <a:chOff x="3237486" y="3569850"/>
            <a:chExt cx="3076349" cy="2866384"/>
          </a:xfrm>
        </p:grpSpPr>
        <p:grpSp>
          <p:nvGrpSpPr>
            <p:cNvPr id="28" name="组合 27">
              <a:extLst>
                <a:ext uri="{FF2B5EF4-FFF2-40B4-BE49-F238E27FC236}">
                  <a16:creationId xmlns:a16="http://schemas.microsoft.com/office/drawing/2014/main" id="{BE4B9BF8-3F80-47AD-A630-284FD816DE85}"/>
                </a:ext>
              </a:extLst>
            </p:cNvPr>
            <p:cNvGrpSpPr/>
            <p:nvPr/>
          </p:nvGrpSpPr>
          <p:grpSpPr>
            <a:xfrm>
              <a:off x="3237486" y="4002605"/>
              <a:ext cx="3076349" cy="2433629"/>
              <a:chOff x="3837920" y="4387702"/>
              <a:chExt cx="790787" cy="1141228"/>
            </a:xfrm>
          </p:grpSpPr>
          <p:cxnSp>
            <p:nvCxnSpPr>
              <p:cNvPr id="29" name="直接连接符 28">
                <a:extLst>
                  <a:ext uri="{FF2B5EF4-FFF2-40B4-BE49-F238E27FC236}">
                    <a16:creationId xmlns:a16="http://schemas.microsoft.com/office/drawing/2014/main" id="{C649B45E-CAD4-4DFE-9B07-6549BEFE7EE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47460" y="4390824"/>
                <a:ext cx="581247" cy="0"/>
              </a:xfrm>
              <a:prstGeom prst="line">
                <a:avLst/>
              </a:prstGeom>
              <a:ln w="28575">
                <a:solidFill>
                  <a:srgbClr val="00B050"/>
                </a:solidFill>
              </a:ln>
            </p:spPr>
            <p:style>
              <a:lnRef idx="1">
                <a:schemeClr val="accent6"/>
              </a:lnRef>
              <a:fillRef idx="0">
                <a:schemeClr val="accent6"/>
              </a:fillRef>
              <a:effectRef idx="0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30" name="直接连接符 29">
                <a:extLst>
                  <a:ext uri="{FF2B5EF4-FFF2-40B4-BE49-F238E27FC236}">
                    <a16:creationId xmlns:a16="http://schemas.microsoft.com/office/drawing/2014/main" id="{373B80E9-9438-45B7-8003-935E1090E9E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621619" y="4387702"/>
                <a:ext cx="0" cy="1141228"/>
              </a:xfrm>
              <a:prstGeom prst="line">
                <a:avLst/>
              </a:prstGeom>
              <a:ln w="28575">
                <a:solidFill>
                  <a:srgbClr val="00B050"/>
                </a:solidFill>
              </a:ln>
            </p:spPr>
            <p:style>
              <a:lnRef idx="1">
                <a:schemeClr val="accent6"/>
              </a:lnRef>
              <a:fillRef idx="0">
                <a:schemeClr val="accent6"/>
              </a:fillRef>
              <a:effectRef idx="0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31" name="直接箭头连接符 30">
                <a:extLst>
                  <a:ext uri="{FF2B5EF4-FFF2-40B4-BE49-F238E27FC236}">
                    <a16:creationId xmlns:a16="http://schemas.microsoft.com/office/drawing/2014/main" id="{4D3DFC5D-7768-47FA-9D33-CA659A5F1E3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837920" y="5528930"/>
                <a:ext cx="790787" cy="0"/>
              </a:xfrm>
              <a:prstGeom prst="straightConnector1">
                <a:avLst/>
              </a:prstGeom>
              <a:ln w="28575">
                <a:solidFill>
                  <a:srgbClr val="00B050"/>
                </a:solidFill>
                <a:tailEnd type="triangle"/>
              </a:ln>
            </p:spPr>
            <p:style>
              <a:lnRef idx="1">
                <a:schemeClr val="accent6"/>
              </a:lnRef>
              <a:fillRef idx="0">
                <a:schemeClr val="accent6"/>
              </a:fillRef>
              <a:effectRef idx="0">
                <a:schemeClr val="accent6"/>
              </a:effectRef>
              <a:fontRef idx="minor">
                <a:schemeClr val="tx1"/>
              </a:fontRef>
            </p:style>
          </p:cxnSp>
        </p:grpSp>
        <p:sp>
          <p:nvSpPr>
            <p:cNvPr id="33" name="矩形 32">
              <a:extLst>
                <a:ext uri="{FF2B5EF4-FFF2-40B4-BE49-F238E27FC236}">
                  <a16:creationId xmlns:a16="http://schemas.microsoft.com/office/drawing/2014/main" id="{B7F73AE9-DDEC-4949-8DD6-23DCA3605296}"/>
                </a:ext>
              </a:extLst>
            </p:cNvPr>
            <p:cNvSpPr/>
            <p:nvPr/>
          </p:nvSpPr>
          <p:spPr>
            <a:xfrm>
              <a:off x="4343641" y="3569850"/>
              <a:ext cx="1816154" cy="41028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000" dirty="0">
                  <a:solidFill>
                    <a:srgbClr val="00B050"/>
                  </a:solidFill>
                </a:rPr>
                <a:t>除数</a:t>
              </a:r>
              <a:r>
                <a:rPr lang="en-US" altLang="zh-CN" sz="2000" dirty="0">
                  <a:solidFill>
                    <a:srgbClr val="00B050"/>
                  </a:solidFill>
                </a:rPr>
                <a:t>b</a:t>
              </a:r>
              <a:r>
                <a:rPr lang="zh-CN" altLang="en-US" sz="2000" dirty="0">
                  <a:solidFill>
                    <a:srgbClr val="00B050"/>
                  </a:solidFill>
                </a:rPr>
                <a:t>不为为</a:t>
              </a:r>
              <a:r>
                <a:rPr lang="en-US" altLang="zh-CN" sz="2000" dirty="0">
                  <a:solidFill>
                    <a:srgbClr val="00B050"/>
                  </a:solidFill>
                </a:rPr>
                <a:t>0</a:t>
              </a:r>
              <a:endParaRPr lang="zh-CN" altLang="en-US" sz="2000" dirty="0">
                <a:solidFill>
                  <a:srgbClr val="00B05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795035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组合 31">
            <a:extLst>
              <a:ext uri="{FF2B5EF4-FFF2-40B4-BE49-F238E27FC236}">
                <a16:creationId xmlns:a16="http://schemas.microsoft.com/office/drawing/2014/main" id="{032EF26F-0D58-4A0E-97C1-668713F80B14}"/>
              </a:ext>
            </a:extLst>
          </p:cNvPr>
          <p:cNvGrpSpPr/>
          <p:nvPr/>
        </p:nvGrpSpPr>
        <p:grpSpPr>
          <a:xfrm>
            <a:off x="170320" y="203448"/>
            <a:ext cx="6511833" cy="504056"/>
            <a:chOff x="169526" y="203448"/>
            <a:chExt cx="6511833" cy="504056"/>
          </a:xfrm>
        </p:grpSpPr>
        <p:sp>
          <p:nvSpPr>
            <p:cNvPr id="4" name="TextBox 3"/>
            <p:cNvSpPr txBox="1"/>
            <p:nvPr/>
          </p:nvSpPr>
          <p:spPr>
            <a:xfrm>
              <a:off x="781172" y="245839"/>
              <a:ext cx="590018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spc="300" dirty="0">
                  <a:solidFill>
                    <a:srgbClr val="1E6787"/>
                  </a:solidFill>
                  <a:latin typeface="微软雅黑" pitchFamily="34" charset="-122"/>
                  <a:ea typeface="微软雅黑" pitchFamily="34" charset="-122"/>
                </a:rPr>
                <a:t>异常处理</a:t>
              </a:r>
              <a:endParaRPr lang="zh-CN" altLang="en-US" sz="2000" b="1" spc="300" dirty="0">
                <a:solidFill>
                  <a:srgbClr val="1E6787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grpSp>
          <p:nvGrpSpPr>
            <p:cNvPr id="56" name="组合 55">
              <a:extLst>
                <a:ext uri="{FF2B5EF4-FFF2-40B4-BE49-F238E27FC236}">
                  <a16:creationId xmlns:a16="http://schemas.microsoft.com/office/drawing/2014/main" id="{B3ECA4EB-10D1-4B65-B604-4032302CDAF4}"/>
                </a:ext>
              </a:extLst>
            </p:cNvPr>
            <p:cNvGrpSpPr/>
            <p:nvPr/>
          </p:nvGrpSpPr>
          <p:grpSpPr>
            <a:xfrm>
              <a:off x="169526" y="203448"/>
              <a:ext cx="504056" cy="504056"/>
              <a:chOff x="11207774" y="442662"/>
              <a:chExt cx="504056" cy="504056"/>
            </a:xfr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grpSpPr>
          <p:sp>
            <p:nvSpPr>
              <p:cNvPr id="57" name="椭圆 56">
                <a:extLst>
                  <a:ext uri="{FF2B5EF4-FFF2-40B4-BE49-F238E27FC236}">
                    <a16:creationId xmlns:a16="http://schemas.microsoft.com/office/drawing/2014/main" id="{FF372EA1-AB4F-47B1-B450-59AB8827ECD5}"/>
                  </a:ext>
                </a:extLst>
              </p:cNvPr>
              <p:cNvSpPr/>
              <p:nvPr/>
            </p:nvSpPr>
            <p:spPr>
              <a:xfrm>
                <a:off x="11351790" y="601230"/>
                <a:ext cx="216024" cy="216024"/>
              </a:xfrm>
              <a:prstGeom prst="ellipse">
                <a:avLst/>
              </a:prstGeom>
              <a:solidFill>
                <a:srgbClr val="B3DF63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prstClr val="white"/>
                  </a:solidFill>
                  <a:latin typeface="Calibri"/>
                  <a:ea typeface="微软雅黑"/>
                </a:endParaRPr>
              </a:p>
            </p:txBody>
          </p:sp>
          <p:sp>
            <p:nvSpPr>
              <p:cNvPr id="58" name="椭圆 57">
                <a:extLst>
                  <a:ext uri="{FF2B5EF4-FFF2-40B4-BE49-F238E27FC236}">
                    <a16:creationId xmlns:a16="http://schemas.microsoft.com/office/drawing/2014/main" id="{0BEE7D95-9E9C-4C6D-91AA-6429F74B9F98}"/>
                  </a:ext>
                </a:extLst>
              </p:cNvPr>
              <p:cNvSpPr/>
              <p:nvPr/>
            </p:nvSpPr>
            <p:spPr>
              <a:xfrm>
                <a:off x="11207774" y="442662"/>
                <a:ext cx="504056" cy="504056"/>
              </a:xfrm>
              <a:prstGeom prst="ellipse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Calibri"/>
                  <a:ea typeface="微软雅黑"/>
                </a:endParaRPr>
              </a:p>
            </p:txBody>
          </p:sp>
        </p:grpSp>
        <p:cxnSp>
          <p:nvCxnSpPr>
            <p:cNvPr id="20" name="直接连接符 19">
              <a:extLst>
                <a:ext uri="{FF2B5EF4-FFF2-40B4-BE49-F238E27FC236}">
                  <a16:creationId xmlns:a16="http://schemas.microsoft.com/office/drawing/2014/main" id="{C4FBB3C1-88AA-4E76-B54C-31018E3BFAA0}"/>
                </a:ext>
              </a:extLst>
            </p:cNvPr>
            <p:cNvCxnSpPr>
              <a:cxnSpLocks/>
            </p:cNvCxnSpPr>
            <p:nvPr/>
          </p:nvCxnSpPr>
          <p:spPr>
            <a:xfrm>
              <a:off x="775303" y="707504"/>
              <a:ext cx="1833288" cy="0"/>
            </a:xfrm>
            <a:prstGeom prst="line">
              <a:avLst/>
            </a:prstGeom>
            <a:ln>
              <a:solidFill>
                <a:srgbClr val="B3DF6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矩形 11">
            <a:extLst>
              <a:ext uri="{FF2B5EF4-FFF2-40B4-BE49-F238E27FC236}">
                <a16:creationId xmlns:a16="http://schemas.microsoft.com/office/drawing/2014/main" id="{53F0AC16-9226-4FBC-89AE-60114D7AB391}"/>
              </a:ext>
            </a:extLst>
          </p:cNvPr>
          <p:cNvSpPr/>
          <p:nvPr/>
        </p:nvSpPr>
        <p:spPr>
          <a:xfrm>
            <a:off x="674376" y="1856741"/>
            <a:ext cx="11082750" cy="22493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400" dirty="0"/>
              <a:t>【例</a:t>
            </a:r>
            <a:r>
              <a:rPr lang="en-US" altLang="zh-CN" sz="2400" dirty="0"/>
              <a:t>7-2</a:t>
            </a:r>
            <a:r>
              <a:rPr lang="zh-CN" altLang="zh-CN" sz="2400" dirty="0"/>
              <a:t>】读取并输出</a:t>
            </a:r>
            <a:r>
              <a:rPr lang="en-US" altLang="zh-CN" sz="2400" dirty="0"/>
              <a:t>F:\documents\python</a:t>
            </a:r>
            <a:r>
              <a:rPr lang="zh-CN" altLang="zh-CN" sz="2400" dirty="0"/>
              <a:t>下</a:t>
            </a:r>
            <a:r>
              <a:rPr lang="en-US" altLang="zh-CN" sz="2400" dirty="0"/>
              <a:t>data2.txt</a:t>
            </a:r>
            <a:r>
              <a:rPr lang="zh-CN" altLang="zh-CN" sz="2400" dirty="0"/>
              <a:t>文件内容，如果文件不存在则提醒用户先创建文件。</a:t>
            </a:r>
          </a:p>
          <a:p>
            <a:pPr>
              <a:lnSpc>
                <a:spcPct val="150000"/>
              </a:lnSpc>
            </a:pPr>
            <a:r>
              <a:rPr lang="zh-CN" altLang="zh-CN" sz="2400" dirty="0"/>
              <a:t>【分析】题目要求读出 文件内容，需要用读模式打开，但是如果文件不存在系统会报错，所以需要进行</a:t>
            </a:r>
            <a:r>
              <a:rPr lang="en-US" altLang="zh-CN" sz="2400" dirty="0" err="1"/>
              <a:t>IOError</a:t>
            </a:r>
            <a:r>
              <a:rPr lang="zh-CN" altLang="zh-CN" sz="2400" dirty="0"/>
              <a:t>异常的捕获和处理。</a:t>
            </a:r>
          </a:p>
        </p:txBody>
      </p:sp>
    </p:spTree>
    <p:extLst>
      <p:ext uri="{BB962C8B-B14F-4D97-AF65-F5344CB8AC3E}">
        <p14:creationId xmlns:p14="http://schemas.microsoft.com/office/powerpoint/2010/main" val="1195835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组合 31">
            <a:extLst>
              <a:ext uri="{FF2B5EF4-FFF2-40B4-BE49-F238E27FC236}">
                <a16:creationId xmlns:a16="http://schemas.microsoft.com/office/drawing/2014/main" id="{032EF26F-0D58-4A0E-97C1-668713F80B14}"/>
              </a:ext>
            </a:extLst>
          </p:cNvPr>
          <p:cNvGrpSpPr/>
          <p:nvPr/>
        </p:nvGrpSpPr>
        <p:grpSpPr>
          <a:xfrm>
            <a:off x="170320" y="203448"/>
            <a:ext cx="6511833" cy="504056"/>
            <a:chOff x="169526" y="203448"/>
            <a:chExt cx="6511833" cy="504056"/>
          </a:xfrm>
        </p:grpSpPr>
        <p:sp>
          <p:nvSpPr>
            <p:cNvPr id="4" name="TextBox 3"/>
            <p:cNvSpPr txBox="1"/>
            <p:nvPr/>
          </p:nvSpPr>
          <p:spPr>
            <a:xfrm>
              <a:off x="781172" y="245839"/>
              <a:ext cx="590018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spc="300" dirty="0">
                  <a:solidFill>
                    <a:srgbClr val="1E6787"/>
                  </a:solidFill>
                  <a:latin typeface="微软雅黑" pitchFamily="34" charset="-122"/>
                  <a:ea typeface="微软雅黑" pitchFamily="34" charset="-122"/>
                </a:rPr>
                <a:t>异常处理</a:t>
              </a:r>
              <a:endParaRPr lang="zh-CN" altLang="en-US" sz="2000" b="1" spc="300" dirty="0">
                <a:solidFill>
                  <a:srgbClr val="1E6787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grpSp>
          <p:nvGrpSpPr>
            <p:cNvPr id="56" name="组合 55">
              <a:extLst>
                <a:ext uri="{FF2B5EF4-FFF2-40B4-BE49-F238E27FC236}">
                  <a16:creationId xmlns:a16="http://schemas.microsoft.com/office/drawing/2014/main" id="{B3ECA4EB-10D1-4B65-B604-4032302CDAF4}"/>
                </a:ext>
              </a:extLst>
            </p:cNvPr>
            <p:cNvGrpSpPr/>
            <p:nvPr/>
          </p:nvGrpSpPr>
          <p:grpSpPr>
            <a:xfrm>
              <a:off x="169526" y="203448"/>
              <a:ext cx="504056" cy="504056"/>
              <a:chOff x="11207774" y="442662"/>
              <a:chExt cx="504056" cy="504056"/>
            </a:xfr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grpSpPr>
          <p:sp>
            <p:nvSpPr>
              <p:cNvPr id="57" name="椭圆 56">
                <a:extLst>
                  <a:ext uri="{FF2B5EF4-FFF2-40B4-BE49-F238E27FC236}">
                    <a16:creationId xmlns:a16="http://schemas.microsoft.com/office/drawing/2014/main" id="{FF372EA1-AB4F-47B1-B450-59AB8827ECD5}"/>
                  </a:ext>
                </a:extLst>
              </p:cNvPr>
              <p:cNvSpPr/>
              <p:nvPr/>
            </p:nvSpPr>
            <p:spPr>
              <a:xfrm>
                <a:off x="11351790" y="601230"/>
                <a:ext cx="216024" cy="216024"/>
              </a:xfrm>
              <a:prstGeom prst="ellipse">
                <a:avLst/>
              </a:prstGeom>
              <a:solidFill>
                <a:srgbClr val="B3DF63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prstClr val="white"/>
                  </a:solidFill>
                  <a:latin typeface="Calibri"/>
                  <a:ea typeface="微软雅黑"/>
                </a:endParaRPr>
              </a:p>
            </p:txBody>
          </p:sp>
          <p:sp>
            <p:nvSpPr>
              <p:cNvPr id="58" name="椭圆 57">
                <a:extLst>
                  <a:ext uri="{FF2B5EF4-FFF2-40B4-BE49-F238E27FC236}">
                    <a16:creationId xmlns:a16="http://schemas.microsoft.com/office/drawing/2014/main" id="{0BEE7D95-9E9C-4C6D-91AA-6429F74B9F98}"/>
                  </a:ext>
                </a:extLst>
              </p:cNvPr>
              <p:cNvSpPr/>
              <p:nvPr/>
            </p:nvSpPr>
            <p:spPr>
              <a:xfrm>
                <a:off x="11207774" y="442662"/>
                <a:ext cx="504056" cy="504056"/>
              </a:xfrm>
              <a:prstGeom prst="ellipse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Calibri"/>
                  <a:ea typeface="微软雅黑"/>
                </a:endParaRPr>
              </a:p>
            </p:txBody>
          </p:sp>
        </p:grpSp>
        <p:cxnSp>
          <p:nvCxnSpPr>
            <p:cNvPr id="20" name="直接连接符 19">
              <a:extLst>
                <a:ext uri="{FF2B5EF4-FFF2-40B4-BE49-F238E27FC236}">
                  <a16:creationId xmlns:a16="http://schemas.microsoft.com/office/drawing/2014/main" id="{C4FBB3C1-88AA-4E76-B54C-31018E3BFAA0}"/>
                </a:ext>
              </a:extLst>
            </p:cNvPr>
            <p:cNvCxnSpPr>
              <a:cxnSpLocks/>
            </p:cNvCxnSpPr>
            <p:nvPr/>
          </p:nvCxnSpPr>
          <p:spPr>
            <a:xfrm>
              <a:off x="775303" y="707504"/>
              <a:ext cx="1833288" cy="0"/>
            </a:xfrm>
            <a:prstGeom prst="line">
              <a:avLst/>
            </a:prstGeom>
            <a:ln>
              <a:solidFill>
                <a:srgbClr val="B3DF6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48D82534-B4BB-4D51-83BF-FB764B2FB1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3964141"/>
              </p:ext>
            </p:extLst>
          </p:nvPr>
        </p:nvGraphicFramePr>
        <p:xfrm>
          <a:off x="776096" y="1169169"/>
          <a:ext cx="7311737" cy="5330858"/>
        </p:xfrm>
        <a:graphic>
          <a:graphicData uri="http://schemas.openxmlformats.org/drawingml/2006/table">
            <a:tbl>
              <a:tblPr firstRow="1" firstCol="1" bandRow="1">
                <a:tableStyleId>{2D5ABB26-0587-4C30-8999-92F81FD0307C}</a:tableStyleId>
              </a:tblPr>
              <a:tblGrid>
                <a:gridCol w="559669">
                  <a:extLst>
                    <a:ext uri="{9D8B030D-6E8A-4147-A177-3AD203B41FA5}">
                      <a16:colId xmlns:a16="http://schemas.microsoft.com/office/drawing/2014/main" val="3801845816"/>
                    </a:ext>
                  </a:extLst>
                </a:gridCol>
                <a:gridCol w="6752068">
                  <a:extLst>
                    <a:ext uri="{9D8B030D-6E8A-4147-A177-3AD203B41FA5}">
                      <a16:colId xmlns:a16="http://schemas.microsoft.com/office/drawing/2014/main" val="2443911512"/>
                    </a:ext>
                  </a:extLst>
                </a:gridCol>
              </a:tblGrid>
              <a:tr h="410066">
                <a:tc gridSpan="2"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</a:rPr>
                        <a:t>#</a:t>
                      </a:r>
                      <a:r>
                        <a:rPr lang="zh-CN" sz="2000" kern="100">
                          <a:effectLst/>
                        </a:rPr>
                        <a:t>读取并输出</a:t>
                      </a:r>
                      <a:r>
                        <a:rPr lang="en-US" sz="2000" kern="100">
                          <a:effectLst/>
                        </a:rPr>
                        <a:t>F:\documents\python</a:t>
                      </a:r>
                      <a:r>
                        <a:rPr lang="zh-CN" sz="2000" kern="100">
                          <a:effectLst/>
                        </a:rPr>
                        <a:t>下</a:t>
                      </a:r>
                      <a:r>
                        <a:rPr lang="en-US" sz="2000" kern="100">
                          <a:effectLst/>
                        </a:rPr>
                        <a:t>data2.txt</a:t>
                      </a:r>
                      <a:r>
                        <a:rPr lang="zh-CN" sz="2000" kern="100">
                          <a:effectLst/>
                        </a:rPr>
                        <a:t>文件内容</a:t>
                      </a:r>
                      <a:r>
                        <a:rPr lang="en-US" sz="2000" kern="100">
                          <a:effectLst/>
                        </a:rPr>
                        <a:t>;</a:t>
                      </a:r>
                      <a:endParaRPr lang="zh-CN" sz="2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4498319"/>
                  </a:ext>
                </a:extLst>
              </a:tr>
              <a:tr h="410066">
                <a:tc gridSpan="2"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</a:rPr>
                        <a:t>#</a:t>
                      </a:r>
                      <a:r>
                        <a:rPr lang="zh-CN" sz="2000" kern="100">
                          <a:effectLst/>
                        </a:rPr>
                        <a:t>如果文件不存在则提醒用户先创建文件。</a:t>
                      </a:r>
                      <a:r>
                        <a:rPr lang="en-US" sz="2000" kern="100">
                          <a:effectLst/>
                        </a:rPr>
                        <a:t>   7-2.py</a:t>
                      </a:r>
                      <a:endParaRPr lang="zh-CN" sz="2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5873283"/>
                  </a:ext>
                </a:extLst>
              </a:tr>
              <a:tr h="410066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</a:rPr>
                        <a:t>1</a:t>
                      </a:r>
                      <a:endParaRPr lang="zh-CN" sz="20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400" kern="100" dirty="0">
                          <a:effectLst/>
                        </a:rPr>
                        <a:t>import </a:t>
                      </a:r>
                      <a:r>
                        <a:rPr lang="en-US" sz="2400" kern="100" dirty="0" err="1">
                          <a:effectLst/>
                        </a:rPr>
                        <a:t>os</a:t>
                      </a:r>
                      <a:endParaRPr lang="zh-CN" sz="24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20533224"/>
                  </a:ext>
                </a:extLst>
              </a:tr>
              <a:tr h="410066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</a:rPr>
                        <a:t>2</a:t>
                      </a:r>
                      <a:endParaRPr lang="zh-CN" sz="20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400" kern="100" dirty="0" err="1">
                          <a:effectLst/>
                        </a:rPr>
                        <a:t>os.chdir</a:t>
                      </a:r>
                      <a:r>
                        <a:rPr lang="en-US" sz="2400" kern="100" dirty="0">
                          <a:effectLst/>
                        </a:rPr>
                        <a:t>(</a:t>
                      </a:r>
                      <a:r>
                        <a:rPr lang="en-US" sz="2400" kern="100" dirty="0" err="1">
                          <a:effectLst/>
                        </a:rPr>
                        <a:t>r'F</a:t>
                      </a:r>
                      <a:r>
                        <a:rPr lang="en-US" sz="2400" kern="100" dirty="0">
                          <a:effectLst/>
                        </a:rPr>
                        <a:t>:\documents\python')</a:t>
                      </a:r>
                      <a:endParaRPr lang="zh-CN" sz="24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218067052"/>
                  </a:ext>
                </a:extLst>
              </a:tr>
              <a:tr h="410066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</a:rPr>
                        <a:t>3</a:t>
                      </a:r>
                      <a:endParaRPr lang="zh-CN" sz="20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400" kern="100" dirty="0">
                          <a:effectLst/>
                        </a:rPr>
                        <a:t> </a:t>
                      </a:r>
                      <a:endParaRPr lang="zh-CN" sz="24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729509012"/>
                  </a:ext>
                </a:extLst>
              </a:tr>
              <a:tr h="410066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</a:rPr>
                        <a:t>4</a:t>
                      </a:r>
                      <a:endParaRPr lang="zh-CN" sz="20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400" kern="100" dirty="0">
                          <a:effectLst/>
                        </a:rPr>
                        <a:t>try:</a:t>
                      </a:r>
                      <a:endParaRPr lang="zh-CN" sz="24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152965261"/>
                  </a:ext>
                </a:extLst>
              </a:tr>
              <a:tr h="410066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</a:rPr>
                        <a:t>5</a:t>
                      </a:r>
                      <a:endParaRPr lang="zh-CN" sz="20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400" kern="100" dirty="0">
                          <a:effectLst/>
                        </a:rPr>
                        <a:t>    file=open("data2.txt",'r')</a:t>
                      </a:r>
                      <a:endParaRPr lang="zh-CN" sz="24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439749540"/>
                  </a:ext>
                </a:extLst>
              </a:tr>
              <a:tr h="410066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</a:rPr>
                        <a:t>6</a:t>
                      </a:r>
                      <a:endParaRPr lang="zh-CN" sz="20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400" kern="100" dirty="0">
                          <a:effectLst/>
                        </a:rPr>
                        <a:t>except </a:t>
                      </a:r>
                      <a:r>
                        <a:rPr lang="en-US" sz="2400" kern="100" dirty="0" err="1">
                          <a:effectLst/>
                        </a:rPr>
                        <a:t>IOError</a:t>
                      </a:r>
                      <a:r>
                        <a:rPr lang="en-US" sz="2400" kern="100" dirty="0">
                          <a:effectLst/>
                        </a:rPr>
                        <a:t>:</a:t>
                      </a:r>
                      <a:endParaRPr lang="zh-CN" sz="24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43697082"/>
                  </a:ext>
                </a:extLst>
              </a:tr>
              <a:tr h="410066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</a:rPr>
                        <a:t>7</a:t>
                      </a:r>
                      <a:endParaRPr lang="zh-CN" sz="20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400" kern="100" dirty="0">
                          <a:effectLst/>
                        </a:rPr>
                        <a:t>    print("data2.txt</a:t>
                      </a:r>
                      <a:r>
                        <a:rPr lang="zh-CN" sz="2400" kern="100" dirty="0">
                          <a:effectLst/>
                        </a:rPr>
                        <a:t>文件不存在</a:t>
                      </a:r>
                      <a:r>
                        <a:rPr lang="en-US" sz="2400" kern="100" dirty="0">
                          <a:effectLst/>
                        </a:rPr>
                        <a:t>,</a:t>
                      </a:r>
                      <a:r>
                        <a:rPr lang="zh-CN" sz="2400" kern="100" dirty="0">
                          <a:effectLst/>
                        </a:rPr>
                        <a:t>请先创建</a:t>
                      </a:r>
                      <a:r>
                        <a:rPr lang="en-US" sz="2400" kern="100" dirty="0">
                          <a:effectLst/>
                        </a:rPr>
                        <a:t>!")</a:t>
                      </a:r>
                      <a:endParaRPr lang="zh-CN" sz="24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689127472"/>
                  </a:ext>
                </a:extLst>
              </a:tr>
              <a:tr h="410066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</a:rPr>
                        <a:t>8</a:t>
                      </a:r>
                      <a:endParaRPr lang="zh-CN" sz="20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400" kern="100" dirty="0">
                          <a:effectLst/>
                        </a:rPr>
                        <a:t>else:</a:t>
                      </a:r>
                      <a:endParaRPr lang="zh-CN" sz="24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472070168"/>
                  </a:ext>
                </a:extLst>
              </a:tr>
              <a:tr h="410066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</a:rPr>
                        <a:t>9</a:t>
                      </a:r>
                      <a:endParaRPr lang="zh-CN" sz="20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400" kern="100" dirty="0">
                          <a:effectLst/>
                        </a:rPr>
                        <a:t>    text=</a:t>
                      </a:r>
                      <a:r>
                        <a:rPr lang="en-US" sz="2400" kern="100" dirty="0" err="1">
                          <a:effectLst/>
                        </a:rPr>
                        <a:t>file.read</a:t>
                      </a:r>
                      <a:r>
                        <a:rPr lang="en-US" sz="2400" kern="100" dirty="0">
                          <a:effectLst/>
                        </a:rPr>
                        <a:t>()</a:t>
                      </a:r>
                      <a:endParaRPr lang="zh-CN" sz="24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946178205"/>
                  </a:ext>
                </a:extLst>
              </a:tr>
              <a:tr h="410066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</a:rPr>
                        <a:t>10</a:t>
                      </a:r>
                      <a:endParaRPr lang="zh-CN" sz="20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400" kern="100" dirty="0">
                          <a:effectLst/>
                        </a:rPr>
                        <a:t>    print("data2.txt</a:t>
                      </a:r>
                      <a:r>
                        <a:rPr lang="zh-CN" sz="2400" kern="100" dirty="0">
                          <a:effectLst/>
                        </a:rPr>
                        <a:t>内容</a:t>
                      </a:r>
                      <a:r>
                        <a:rPr lang="en-US" sz="2400" kern="100" dirty="0">
                          <a:effectLst/>
                        </a:rPr>
                        <a:t>:\</a:t>
                      </a:r>
                      <a:r>
                        <a:rPr lang="en-US" sz="2400" kern="100" dirty="0" err="1">
                          <a:effectLst/>
                        </a:rPr>
                        <a:t>n",text</a:t>
                      </a:r>
                      <a:r>
                        <a:rPr lang="en-US" sz="2400" kern="100" dirty="0">
                          <a:effectLst/>
                        </a:rPr>
                        <a:t>)</a:t>
                      </a:r>
                      <a:endParaRPr lang="zh-CN" sz="24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9345235"/>
                  </a:ext>
                </a:extLst>
              </a:tr>
              <a:tr h="410066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</a:rPr>
                        <a:t>11</a:t>
                      </a:r>
                      <a:endParaRPr lang="zh-CN" sz="20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400" kern="100" dirty="0">
                          <a:effectLst/>
                        </a:rPr>
                        <a:t>    </a:t>
                      </a:r>
                      <a:r>
                        <a:rPr lang="en-US" sz="2400" kern="100" dirty="0" err="1">
                          <a:effectLst/>
                        </a:rPr>
                        <a:t>file.close</a:t>
                      </a:r>
                      <a:r>
                        <a:rPr lang="en-US" sz="2400" kern="100" dirty="0">
                          <a:effectLst/>
                        </a:rPr>
                        <a:t>()</a:t>
                      </a:r>
                      <a:endParaRPr lang="zh-CN" sz="24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856577269"/>
                  </a:ext>
                </a:extLst>
              </a:tr>
            </a:tbl>
          </a:graphicData>
        </a:graphic>
      </p:graphicFrame>
      <p:sp>
        <p:nvSpPr>
          <p:cNvPr id="3" name="矩形 2">
            <a:extLst>
              <a:ext uri="{FF2B5EF4-FFF2-40B4-BE49-F238E27FC236}">
                <a16:creationId xmlns:a16="http://schemas.microsoft.com/office/drawing/2014/main" id="{A4AB0E1E-8D3E-41DE-A0A4-52289A0FB108}"/>
              </a:ext>
            </a:extLst>
          </p:cNvPr>
          <p:cNvSpPr/>
          <p:nvPr/>
        </p:nvSpPr>
        <p:spPr>
          <a:xfrm>
            <a:off x="2977116" y="1991833"/>
            <a:ext cx="3650512" cy="5387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solidFill>
                  <a:srgbClr val="FF0000"/>
                </a:solidFill>
              </a:rPr>
              <a:t>设置当前路径为文件所在目录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86DB745-62CC-4363-9E27-3DC3BAF72C63}"/>
              </a:ext>
            </a:extLst>
          </p:cNvPr>
          <p:cNvSpPr/>
          <p:nvPr/>
        </p:nvSpPr>
        <p:spPr>
          <a:xfrm>
            <a:off x="2332033" y="4951228"/>
            <a:ext cx="4199861" cy="5387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solidFill>
                  <a:srgbClr val="00B050"/>
                </a:solidFill>
              </a:rPr>
              <a:t>文件存在时，执行正常的文件操作</a:t>
            </a: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BE1FBE19-1696-4E42-BF39-A2BDF097008B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7510794" y="2427308"/>
            <a:ext cx="3724276" cy="503496"/>
          </a:xfrm>
          <a:prstGeom prst="rect">
            <a:avLst/>
          </a:prstGeom>
        </p:spPr>
      </p:pic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3618F39F-D96F-4145-8942-D24105AB0AE8}"/>
              </a:ext>
            </a:extLst>
          </p:cNvPr>
          <p:cNvCxnSpPr/>
          <p:nvPr/>
        </p:nvCxnSpPr>
        <p:spPr>
          <a:xfrm flipV="1">
            <a:off x="5365898" y="2984205"/>
            <a:ext cx="1949302" cy="1495646"/>
          </a:xfrm>
          <a:prstGeom prst="straightConnector1">
            <a:avLst/>
          </a:prstGeom>
          <a:ln w="28575">
            <a:solidFill>
              <a:srgbClr val="FF99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图片 14">
            <a:extLst>
              <a:ext uri="{FF2B5EF4-FFF2-40B4-BE49-F238E27FC236}">
                <a16:creationId xmlns:a16="http://schemas.microsoft.com/office/drawing/2014/main" id="{EEF69908-3430-41E0-A15E-7C1A9C63F175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7510794" y="4692439"/>
            <a:ext cx="4447290" cy="867334"/>
          </a:xfrm>
          <a:prstGeom prst="rect">
            <a:avLst/>
          </a:prstGeom>
        </p:spPr>
      </p:pic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63DE4BF5-8A3B-4D4C-B8B5-43AE30B7959E}"/>
              </a:ext>
            </a:extLst>
          </p:cNvPr>
          <p:cNvCxnSpPr/>
          <p:nvPr/>
        </p:nvCxnSpPr>
        <p:spPr>
          <a:xfrm flipV="1">
            <a:off x="5557284" y="5220586"/>
            <a:ext cx="1757916" cy="712381"/>
          </a:xfrm>
          <a:prstGeom prst="straightConnector1">
            <a:avLst/>
          </a:prstGeom>
          <a:ln w="190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60536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组合 31">
            <a:extLst>
              <a:ext uri="{FF2B5EF4-FFF2-40B4-BE49-F238E27FC236}">
                <a16:creationId xmlns:a16="http://schemas.microsoft.com/office/drawing/2014/main" id="{032EF26F-0D58-4A0E-97C1-668713F80B14}"/>
              </a:ext>
            </a:extLst>
          </p:cNvPr>
          <p:cNvGrpSpPr/>
          <p:nvPr/>
        </p:nvGrpSpPr>
        <p:grpSpPr>
          <a:xfrm>
            <a:off x="170320" y="203448"/>
            <a:ext cx="6511833" cy="504056"/>
            <a:chOff x="169526" y="203448"/>
            <a:chExt cx="6511833" cy="504056"/>
          </a:xfrm>
        </p:grpSpPr>
        <p:sp>
          <p:nvSpPr>
            <p:cNvPr id="4" name="TextBox 3"/>
            <p:cNvSpPr txBox="1"/>
            <p:nvPr/>
          </p:nvSpPr>
          <p:spPr>
            <a:xfrm>
              <a:off x="781172" y="245839"/>
              <a:ext cx="590018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spc="300" dirty="0">
                  <a:solidFill>
                    <a:srgbClr val="1E6787"/>
                  </a:solidFill>
                  <a:latin typeface="微软雅黑" pitchFamily="34" charset="-122"/>
                  <a:ea typeface="微软雅黑" pitchFamily="34" charset="-122"/>
                </a:rPr>
                <a:t>异常处理</a:t>
              </a:r>
              <a:endParaRPr lang="zh-CN" altLang="en-US" sz="2000" b="1" spc="300" dirty="0">
                <a:solidFill>
                  <a:srgbClr val="1E6787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grpSp>
          <p:nvGrpSpPr>
            <p:cNvPr id="56" name="组合 55">
              <a:extLst>
                <a:ext uri="{FF2B5EF4-FFF2-40B4-BE49-F238E27FC236}">
                  <a16:creationId xmlns:a16="http://schemas.microsoft.com/office/drawing/2014/main" id="{B3ECA4EB-10D1-4B65-B604-4032302CDAF4}"/>
                </a:ext>
              </a:extLst>
            </p:cNvPr>
            <p:cNvGrpSpPr/>
            <p:nvPr/>
          </p:nvGrpSpPr>
          <p:grpSpPr>
            <a:xfrm>
              <a:off x="169526" y="203448"/>
              <a:ext cx="504056" cy="504056"/>
              <a:chOff x="11207774" y="442662"/>
              <a:chExt cx="504056" cy="504056"/>
            </a:xfr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grpSpPr>
          <p:sp>
            <p:nvSpPr>
              <p:cNvPr id="57" name="椭圆 56">
                <a:extLst>
                  <a:ext uri="{FF2B5EF4-FFF2-40B4-BE49-F238E27FC236}">
                    <a16:creationId xmlns:a16="http://schemas.microsoft.com/office/drawing/2014/main" id="{FF372EA1-AB4F-47B1-B450-59AB8827ECD5}"/>
                  </a:ext>
                </a:extLst>
              </p:cNvPr>
              <p:cNvSpPr/>
              <p:nvPr/>
            </p:nvSpPr>
            <p:spPr>
              <a:xfrm>
                <a:off x="11351790" y="601230"/>
                <a:ext cx="216024" cy="216024"/>
              </a:xfrm>
              <a:prstGeom prst="ellipse">
                <a:avLst/>
              </a:prstGeom>
              <a:solidFill>
                <a:srgbClr val="B3DF63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prstClr val="white"/>
                  </a:solidFill>
                  <a:latin typeface="Calibri"/>
                  <a:ea typeface="微软雅黑"/>
                </a:endParaRPr>
              </a:p>
            </p:txBody>
          </p:sp>
          <p:sp>
            <p:nvSpPr>
              <p:cNvPr id="58" name="椭圆 57">
                <a:extLst>
                  <a:ext uri="{FF2B5EF4-FFF2-40B4-BE49-F238E27FC236}">
                    <a16:creationId xmlns:a16="http://schemas.microsoft.com/office/drawing/2014/main" id="{0BEE7D95-9E9C-4C6D-91AA-6429F74B9F98}"/>
                  </a:ext>
                </a:extLst>
              </p:cNvPr>
              <p:cNvSpPr/>
              <p:nvPr/>
            </p:nvSpPr>
            <p:spPr>
              <a:xfrm>
                <a:off x="11207774" y="442662"/>
                <a:ext cx="504056" cy="504056"/>
              </a:xfrm>
              <a:prstGeom prst="ellipse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Calibri"/>
                  <a:ea typeface="微软雅黑"/>
                </a:endParaRPr>
              </a:p>
            </p:txBody>
          </p:sp>
        </p:grpSp>
        <p:cxnSp>
          <p:nvCxnSpPr>
            <p:cNvPr id="20" name="直接连接符 19">
              <a:extLst>
                <a:ext uri="{FF2B5EF4-FFF2-40B4-BE49-F238E27FC236}">
                  <a16:creationId xmlns:a16="http://schemas.microsoft.com/office/drawing/2014/main" id="{C4FBB3C1-88AA-4E76-B54C-31018E3BFAA0}"/>
                </a:ext>
              </a:extLst>
            </p:cNvPr>
            <p:cNvCxnSpPr>
              <a:cxnSpLocks/>
            </p:cNvCxnSpPr>
            <p:nvPr/>
          </p:nvCxnSpPr>
          <p:spPr>
            <a:xfrm>
              <a:off x="775303" y="707504"/>
              <a:ext cx="1833288" cy="0"/>
            </a:xfrm>
            <a:prstGeom prst="line">
              <a:avLst/>
            </a:prstGeom>
            <a:ln>
              <a:solidFill>
                <a:srgbClr val="B3DF6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矩形 11">
            <a:extLst>
              <a:ext uri="{FF2B5EF4-FFF2-40B4-BE49-F238E27FC236}">
                <a16:creationId xmlns:a16="http://schemas.microsoft.com/office/drawing/2014/main" id="{53F0AC16-9226-4FBC-89AE-60114D7AB391}"/>
              </a:ext>
            </a:extLst>
          </p:cNvPr>
          <p:cNvSpPr/>
          <p:nvPr/>
        </p:nvSpPr>
        <p:spPr>
          <a:xfrm>
            <a:off x="530360" y="1807122"/>
            <a:ext cx="11082750" cy="2803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400" dirty="0"/>
              <a:t>【例</a:t>
            </a:r>
            <a:r>
              <a:rPr lang="en-US" altLang="zh-CN" sz="2400" dirty="0"/>
              <a:t>7-3</a:t>
            </a:r>
            <a:r>
              <a:rPr lang="zh-CN" altLang="zh-CN" sz="2400" dirty="0"/>
              <a:t>】《哈姆雷特》是莎士比亚的一部经典悲剧作品。已知该</a:t>
            </a:r>
            <a:r>
              <a:rPr lang="zh-CN" altLang="zh-CN" sz="2400" dirty="0">
                <a:solidFill>
                  <a:schemeClr val="accent6"/>
                </a:solidFill>
              </a:rPr>
              <a:t>作品对应的</a:t>
            </a:r>
            <a:r>
              <a:rPr lang="en-US" altLang="zh-CN" sz="2400" dirty="0">
                <a:solidFill>
                  <a:schemeClr val="accent6"/>
                </a:solidFill>
              </a:rPr>
              <a:t>hamlet.txt</a:t>
            </a:r>
            <a:r>
              <a:rPr lang="zh-CN" altLang="zh-CN" sz="2400" dirty="0">
                <a:solidFill>
                  <a:schemeClr val="accent6"/>
                </a:solidFill>
              </a:rPr>
              <a:t>文件</a:t>
            </a:r>
            <a:r>
              <a:rPr lang="zh-CN" altLang="zh-CN" sz="2400" dirty="0"/>
              <a:t>保存在</a:t>
            </a:r>
            <a:r>
              <a:rPr lang="en-US" altLang="zh-CN" sz="2400" dirty="0"/>
              <a:t>F:\documents\python</a:t>
            </a:r>
            <a:r>
              <a:rPr lang="zh-CN" altLang="zh-CN" sz="2400" dirty="0"/>
              <a:t>目录下，请编写程序统计</a:t>
            </a:r>
            <a:r>
              <a:rPr lang="en-US" altLang="zh-CN" sz="2400" dirty="0"/>
              <a:t>hamlet</a:t>
            </a:r>
            <a:r>
              <a:rPr lang="zh-CN" altLang="zh-CN" sz="2400" dirty="0"/>
              <a:t>中出现频率最高的前</a:t>
            </a:r>
            <a:r>
              <a:rPr lang="en-US" altLang="zh-CN" sz="2400" dirty="0"/>
              <a:t>10</a:t>
            </a:r>
            <a:r>
              <a:rPr lang="zh-CN" altLang="zh-CN" sz="2400" dirty="0"/>
              <a:t>个单词，并将</a:t>
            </a:r>
            <a:r>
              <a:rPr lang="zh-CN" altLang="zh-CN" sz="2400" dirty="0">
                <a:solidFill>
                  <a:schemeClr val="accent6"/>
                </a:solidFill>
              </a:rPr>
              <a:t>结果用文件名“</a:t>
            </a:r>
            <a:r>
              <a:rPr lang="en-US" altLang="zh-CN" sz="2400" dirty="0">
                <a:solidFill>
                  <a:schemeClr val="accent6"/>
                </a:solidFill>
              </a:rPr>
              <a:t>hamlet_</a:t>
            </a:r>
            <a:r>
              <a:rPr lang="zh-CN" altLang="zh-CN" sz="2400" dirty="0">
                <a:solidFill>
                  <a:schemeClr val="accent6"/>
                </a:solidFill>
              </a:rPr>
              <a:t>词频</a:t>
            </a:r>
            <a:r>
              <a:rPr lang="en-US" altLang="zh-CN" sz="2400" dirty="0">
                <a:solidFill>
                  <a:schemeClr val="accent6"/>
                </a:solidFill>
              </a:rPr>
              <a:t>.txt</a:t>
            </a:r>
            <a:r>
              <a:rPr lang="zh-CN" altLang="zh-CN" sz="2400" dirty="0">
                <a:solidFill>
                  <a:schemeClr val="accent6"/>
                </a:solidFill>
              </a:rPr>
              <a:t>”保存</a:t>
            </a:r>
            <a:r>
              <a:rPr lang="zh-CN" altLang="zh-CN" sz="2400" dirty="0"/>
              <a:t>在同目录下。</a:t>
            </a:r>
          </a:p>
          <a:p>
            <a:pPr>
              <a:lnSpc>
                <a:spcPct val="150000"/>
              </a:lnSpc>
            </a:pPr>
            <a:r>
              <a:rPr lang="zh-CN" altLang="zh-CN" sz="2400" dirty="0"/>
              <a:t>【分析】本题除了要求从指定文件获取文本外，其余都和例</a:t>
            </a:r>
            <a:r>
              <a:rPr lang="en-US" altLang="zh-CN" sz="2400" dirty="0"/>
              <a:t>6-19</a:t>
            </a:r>
            <a:r>
              <a:rPr lang="zh-CN" altLang="zh-CN" sz="2400" dirty="0"/>
              <a:t>中的要求一致。因此我们可以参考例</a:t>
            </a:r>
            <a:r>
              <a:rPr lang="en-US" altLang="zh-CN" sz="2400" dirty="0"/>
              <a:t>6-19</a:t>
            </a:r>
            <a:r>
              <a:rPr lang="zh-CN" altLang="zh-CN" sz="2400" dirty="0"/>
              <a:t>的代码，并增加文件的读写操作。</a:t>
            </a:r>
          </a:p>
        </p:txBody>
      </p:sp>
    </p:spTree>
    <p:extLst>
      <p:ext uri="{BB962C8B-B14F-4D97-AF65-F5344CB8AC3E}">
        <p14:creationId xmlns:p14="http://schemas.microsoft.com/office/powerpoint/2010/main" val="5502111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组合 31">
            <a:extLst>
              <a:ext uri="{FF2B5EF4-FFF2-40B4-BE49-F238E27FC236}">
                <a16:creationId xmlns:a16="http://schemas.microsoft.com/office/drawing/2014/main" id="{032EF26F-0D58-4A0E-97C1-668713F80B14}"/>
              </a:ext>
            </a:extLst>
          </p:cNvPr>
          <p:cNvGrpSpPr/>
          <p:nvPr/>
        </p:nvGrpSpPr>
        <p:grpSpPr>
          <a:xfrm>
            <a:off x="170320" y="203448"/>
            <a:ext cx="6511833" cy="504056"/>
            <a:chOff x="169526" y="203448"/>
            <a:chExt cx="6511833" cy="504056"/>
          </a:xfrm>
        </p:grpSpPr>
        <p:sp>
          <p:nvSpPr>
            <p:cNvPr id="4" name="TextBox 3"/>
            <p:cNvSpPr txBox="1"/>
            <p:nvPr/>
          </p:nvSpPr>
          <p:spPr>
            <a:xfrm>
              <a:off x="781172" y="245839"/>
              <a:ext cx="590018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spc="300" dirty="0">
                  <a:solidFill>
                    <a:srgbClr val="1E6787"/>
                  </a:solidFill>
                  <a:latin typeface="微软雅黑" pitchFamily="34" charset="-122"/>
                  <a:ea typeface="微软雅黑" pitchFamily="34" charset="-122"/>
                </a:rPr>
                <a:t>异常处理</a:t>
              </a:r>
              <a:endParaRPr lang="zh-CN" altLang="en-US" sz="2000" b="1" spc="300" dirty="0">
                <a:solidFill>
                  <a:srgbClr val="1E6787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grpSp>
          <p:nvGrpSpPr>
            <p:cNvPr id="56" name="组合 55">
              <a:extLst>
                <a:ext uri="{FF2B5EF4-FFF2-40B4-BE49-F238E27FC236}">
                  <a16:creationId xmlns:a16="http://schemas.microsoft.com/office/drawing/2014/main" id="{B3ECA4EB-10D1-4B65-B604-4032302CDAF4}"/>
                </a:ext>
              </a:extLst>
            </p:cNvPr>
            <p:cNvGrpSpPr/>
            <p:nvPr/>
          </p:nvGrpSpPr>
          <p:grpSpPr>
            <a:xfrm>
              <a:off x="169526" y="203448"/>
              <a:ext cx="504056" cy="504056"/>
              <a:chOff x="11207774" y="442662"/>
              <a:chExt cx="504056" cy="504056"/>
            </a:xfr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grpSpPr>
          <p:sp>
            <p:nvSpPr>
              <p:cNvPr id="57" name="椭圆 56">
                <a:extLst>
                  <a:ext uri="{FF2B5EF4-FFF2-40B4-BE49-F238E27FC236}">
                    <a16:creationId xmlns:a16="http://schemas.microsoft.com/office/drawing/2014/main" id="{FF372EA1-AB4F-47B1-B450-59AB8827ECD5}"/>
                  </a:ext>
                </a:extLst>
              </p:cNvPr>
              <p:cNvSpPr/>
              <p:nvPr/>
            </p:nvSpPr>
            <p:spPr>
              <a:xfrm>
                <a:off x="11351790" y="601230"/>
                <a:ext cx="216024" cy="216024"/>
              </a:xfrm>
              <a:prstGeom prst="ellipse">
                <a:avLst/>
              </a:prstGeom>
              <a:solidFill>
                <a:srgbClr val="B3DF63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prstClr val="white"/>
                  </a:solidFill>
                  <a:latin typeface="Calibri"/>
                  <a:ea typeface="微软雅黑"/>
                </a:endParaRPr>
              </a:p>
            </p:txBody>
          </p:sp>
          <p:sp>
            <p:nvSpPr>
              <p:cNvPr id="58" name="椭圆 57">
                <a:extLst>
                  <a:ext uri="{FF2B5EF4-FFF2-40B4-BE49-F238E27FC236}">
                    <a16:creationId xmlns:a16="http://schemas.microsoft.com/office/drawing/2014/main" id="{0BEE7D95-9E9C-4C6D-91AA-6429F74B9F98}"/>
                  </a:ext>
                </a:extLst>
              </p:cNvPr>
              <p:cNvSpPr/>
              <p:nvPr/>
            </p:nvSpPr>
            <p:spPr>
              <a:xfrm>
                <a:off x="11207774" y="442662"/>
                <a:ext cx="504056" cy="504056"/>
              </a:xfrm>
              <a:prstGeom prst="ellipse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Calibri"/>
                  <a:ea typeface="微软雅黑"/>
                </a:endParaRPr>
              </a:p>
            </p:txBody>
          </p:sp>
        </p:grpSp>
        <p:cxnSp>
          <p:nvCxnSpPr>
            <p:cNvPr id="20" name="直接连接符 19">
              <a:extLst>
                <a:ext uri="{FF2B5EF4-FFF2-40B4-BE49-F238E27FC236}">
                  <a16:creationId xmlns:a16="http://schemas.microsoft.com/office/drawing/2014/main" id="{C4FBB3C1-88AA-4E76-B54C-31018E3BFAA0}"/>
                </a:ext>
              </a:extLst>
            </p:cNvPr>
            <p:cNvCxnSpPr>
              <a:cxnSpLocks/>
            </p:cNvCxnSpPr>
            <p:nvPr/>
          </p:nvCxnSpPr>
          <p:spPr>
            <a:xfrm>
              <a:off x="775303" y="707504"/>
              <a:ext cx="1833288" cy="0"/>
            </a:xfrm>
            <a:prstGeom prst="line">
              <a:avLst/>
            </a:prstGeom>
            <a:ln>
              <a:solidFill>
                <a:srgbClr val="B3DF6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8BD8790E-1808-411E-8806-F2B91DCB34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8148908"/>
              </p:ext>
            </p:extLst>
          </p:nvPr>
        </p:nvGraphicFramePr>
        <p:xfrm>
          <a:off x="3596313" y="448827"/>
          <a:ext cx="8099501" cy="6219140"/>
        </p:xfrm>
        <a:graphic>
          <a:graphicData uri="http://schemas.openxmlformats.org/drawingml/2006/table">
            <a:tbl>
              <a:tblPr firstRow="1" firstCol="1" bandRow="1">
                <a:tableStyleId>{2D5ABB26-0587-4C30-8999-92F81FD0307C}</a:tableStyleId>
              </a:tblPr>
              <a:tblGrid>
                <a:gridCol w="379321">
                  <a:extLst>
                    <a:ext uri="{9D8B030D-6E8A-4147-A177-3AD203B41FA5}">
                      <a16:colId xmlns:a16="http://schemas.microsoft.com/office/drawing/2014/main" val="2217707282"/>
                    </a:ext>
                  </a:extLst>
                </a:gridCol>
                <a:gridCol w="7720180">
                  <a:extLst>
                    <a:ext uri="{9D8B030D-6E8A-4147-A177-3AD203B41FA5}">
                      <a16:colId xmlns:a16="http://schemas.microsoft.com/office/drawing/2014/main" val="2205887750"/>
                    </a:ext>
                  </a:extLst>
                </a:gridCol>
              </a:tblGrid>
              <a:tr h="158556">
                <a:tc gridSpan="2"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</a:rPr>
                        <a:t>#</a:t>
                      </a:r>
                      <a:r>
                        <a:rPr lang="zh-CN" sz="2000" kern="100">
                          <a:effectLst/>
                        </a:rPr>
                        <a:t>分析《哈姆雷特》中前</a:t>
                      </a:r>
                      <a:r>
                        <a:rPr lang="en-US" sz="2000" kern="100">
                          <a:effectLst/>
                        </a:rPr>
                        <a:t>10</a:t>
                      </a:r>
                      <a:r>
                        <a:rPr lang="zh-CN" sz="2000" kern="100">
                          <a:effectLst/>
                        </a:rPr>
                        <a:t>位的高频词 </a:t>
                      </a:r>
                      <a:r>
                        <a:rPr lang="en-US" sz="2000" kern="100">
                          <a:effectLst/>
                        </a:rPr>
                        <a:t>             7-3.py</a:t>
                      </a:r>
                      <a:endParaRPr lang="zh-CN" sz="2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8255" marR="28255" marT="0" marB="0" anchor="b"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1401469"/>
                  </a:ext>
                </a:extLst>
              </a:tr>
              <a:tr h="158556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</a:rPr>
                        <a:t>1</a:t>
                      </a:r>
                      <a:endParaRPr lang="zh-CN" sz="20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8255" marR="28255" marT="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</a:rPr>
                        <a:t>#</a:t>
                      </a:r>
                      <a:r>
                        <a:rPr lang="zh-CN" sz="2000" kern="100">
                          <a:effectLst/>
                        </a:rPr>
                        <a:t>编写函数对待分析文本进行预处理</a:t>
                      </a:r>
                      <a:endParaRPr lang="zh-CN" sz="2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8255" marR="28255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302895959"/>
                  </a:ext>
                </a:extLst>
              </a:tr>
              <a:tr h="158556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</a:rPr>
                        <a:t>2</a:t>
                      </a:r>
                      <a:endParaRPr lang="zh-CN" sz="20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8255" marR="28255" marT="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</a:rPr>
                        <a:t>def getText(text):</a:t>
                      </a:r>
                      <a:endParaRPr lang="zh-CN" sz="2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8255" marR="28255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920268358"/>
                  </a:ext>
                </a:extLst>
              </a:tr>
              <a:tr h="158556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</a:rPr>
                        <a:t>3</a:t>
                      </a:r>
                      <a:endParaRPr lang="zh-CN" sz="20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8255" marR="28255" marT="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</a:rPr>
                        <a:t>    text = text.lower()                 </a:t>
                      </a:r>
                      <a:endParaRPr lang="zh-CN" sz="2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8255" marR="28255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06360634"/>
                  </a:ext>
                </a:extLst>
              </a:tr>
              <a:tr h="158556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</a:rPr>
                        <a:t>4</a:t>
                      </a:r>
                      <a:endParaRPr lang="zh-CN" sz="2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8255" marR="28255" marT="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</a:rPr>
                        <a:t>    for ch in ",.;?-:\'":</a:t>
                      </a:r>
                      <a:endParaRPr lang="zh-CN" sz="2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8255" marR="28255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965733700"/>
                  </a:ext>
                </a:extLst>
              </a:tr>
              <a:tr h="158556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</a:rPr>
                        <a:t>5</a:t>
                      </a:r>
                      <a:endParaRPr lang="zh-CN" sz="20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8255" marR="28255" marT="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</a:rPr>
                        <a:t>        text = text.replace(ch, " ")   </a:t>
                      </a:r>
                      <a:endParaRPr lang="zh-CN" sz="2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8255" marR="28255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742076154"/>
                  </a:ext>
                </a:extLst>
              </a:tr>
              <a:tr h="158556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</a:rPr>
                        <a:t>6</a:t>
                      </a:r>
                      <a:endParaRPr lang="zh-CN" sz="20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8255" marR="28255" marT="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</a:rPr>
                        <a:t>    return text</a:t>
                      </a:r>
                      <a:endParaRPr lang="zh-CN" sz="2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8255" marR="28255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014692892"/>
                  </a:ext>
                </a:extLst>
              </a:tr>
              <a:tr h="158556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</a:rPr>
                        <a:t>7</a:t>
                      </a:r>
                      <a:endParaRPr lang="zh-CN" sz="2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8255" marR="28255" marT="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</a:rPr>
                        <a:t> </a:t>
                      </a:r>
                      <a:endParaRPr lang="zh-CN" sz="2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8255" marR="28255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833039526"/>
                  </a:ext>
                </a:extLst>
              </a:tr>
              <a:tr h="158556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</a:rPr>
                        <a:t>8</a:t>
                      </a:r>
                      <a:endParaRPr lang="zh-CN" sz="20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8255" marR="28255" marT="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</a:rPr>
                        <a:t>#</a:t>
                      </a:r>
                      <a:r>
                        <a:rPr lang="zh-CN" sz="2000" kern="100" dirty="0">
                          <a:effectLst/>
                        </a:rPr>
                        <a:t>编写函数</a:t>
                      </a:r>
                      <a:r>
                        <a:rPr lang="zh-CN" sz="2000" kern="0" dirty="0">
                          <a:effectLst/>
                        </a:rPr>
                        <a:t>统计单词出现频率</a:t>
                      </a:r>
                      <a:endParaRPr lang="zh-CN" sz="20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8255" marR="28255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27614989"/>
                  </a:ext>
                </a:extLst>
              </a:tr>
              <a:tr h="158556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</a:rPr>
                        <a:t>9</a:t>
                      </a:r>
                      <a:endParaRPr lang="zh-CN" sz="20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8255" marR="28255" marT="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</a:rPr>
                        <a:t># text</a:t>
                      </a:r>
                      <a:r>
                        <a:rPr lang="zh-CN" sz="2000" kern="100">
                          <a:effectLst/>
                        </a:rPr>
                        <a:t>为待统计文本，</a:t>
                      </a:r>
                      <a:r>
                        <a:rPr lang="en-US" sz="2000" kern="100">
                          <a:effectLst/>
                        </a:rPr>
                        <a:t>topn</a:t>
                      </a:r>
                      <a:r>
                        <a:rPr lang="zh-CN" sz="2000" kern="100">
                          <a:effectLst/>
                        </a:rPr>
                        <a:t>表示取频率最高的单词个数</a:t>
                      </a:r>
                      <a:endParaRPr lang="zh-CN" sz="2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8255" marR="28255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495028955"/>
                  </a:ext>
                </a:extLst>
              </a:tr>
              <a:tr h="317114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</a:rPr>
                        <a:t>10</a:t>
                      </a:r>
                      <a:endParaRPr lang="zh-CN" sz="20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8255" marR="28255" marT="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kern="0">
                          <a:effectLst/>
                        </a:rPr>
                        <a:t>def wordFreq(text,topn):</a:t>
                      </a:r>
                      <a:endParaRPr lang="zh-CN" sz="2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8255" marR="28255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473665921"/>
                  </a:ext>
                </a:extLst>
              </a:tr>
              <a:tr h="317114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</a:rPr>
                        <a:t>11</a:t>
                      </a:r>
                      <a:endParaRPr lang="zh-CN" sz="20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8255" marR="28255" marT="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</a:rPr>
                        <a:t>    words  = text.split()    # </a:t>
                      </a:r>
                      <a:r>
                        <a:rPr lang="zh-CN" sz="2000" kern="100">
                          <a:effectLst/>
                        </a:rPr>
                        <a:t>将文本分词</a:t>
                      </a:r>
                      <a:endParaRPr lang="zh-CN" sz="2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8255" marR="28255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168439421"/>
                  </a:ext>
                </a:extLst>
              </a:tr>
              <a:tr h="317114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</a:rPr>
                        <a:t>12</a:t>
                      </a:r>
                      <a:endParaRPr lang="zh-CN" sz="20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8255" marR="28255" marT="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</a:rPr>
                        <a:t>    counts = {}</a:t>
                      </a:r>
                      <a:endParaRPr lang="zh-CN" sz="2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8255" marR="28255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602359902"/>
                  </a:ext>
                </a:extLst>
              </a:tr>
              <a:tr h="317114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</a:rPr>
                        <a:t>13</a:t>
                      </a:r>
                      <a:endParaRPr lang="zh-CN" sz="20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8255" marR="28255" marT="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</a:rPr>
                        <a:t>    for word in words:</a:t>
                      </a:r>
                      <a:endParaRPr lang="zh-CN" sz="2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8255" marR="28255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996506955"/>
                  </a:ext>
                </a:extLst>
              </a:tr>
              <a:tr h="317114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</a:rPr>
                        <a:t>14</a:t>
                      </a:r>
                      <a:endParaRPr lang="zh-CN" sz="20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8255" marR="28255" marT="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</a:rPr>
                        <a:t>        counts[word] = counts.get(word,0) + 1</a:t>
                      </a:r>
                      <a:endParaRPr lang="zh-CN" sz="2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8255" marR="28255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4033204286"/>
                  </a:ext>
                </a:extLst>
              </a:tr>
              <a:tr h="317114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</a:rPr>
                        <a:t>15</a:t>
                      </a:r>
                      <a:endParaRPr lang="zh-CN" sz="20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8255" marR="28255" marT="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indent="273050" algn="just"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</a:rPr>
                        <a:t>excludes={'the','and','to','of','a','be','it','is','not','but'}</a:t>
                      </a:r>
                      <a:endParaRPr lang="zh-CN" sz="2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8255" marR="28255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812408677"/>
                  </a:ext>
                </a:extLst>
              </a:tr>
              <a:tr h="317114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</a:rPr>
                        <a:t>16</a:t>
                      </a:r>
                      <a:endParaRPr lang="zh-CN" sz="20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8255" marR="28255" marT="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</a:rPr>
                        <a:t>    for word in excludes:</a:t>
                      </a:r>
                      <a:endParaRPr lang="zh-CN" sz="2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8255" marR="28255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739038602"/>
                  </a:ext>
                </a:extLst>
              </a:tr>
              <a:tr h="317114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</a:rPr>
                        <a:t>17</a:t>
                      </a:r>
                      <a:endParaRPr lang="zh-CN" sz="20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8255" marR="28255" marT="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</a:rPr>
                        <a:t>        del(counts[word])    </a:t>
                      </a:r>
                      <a:endParaRPr lang="zh-CN" sz="2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8255" marR="28255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127491842"/>
                  </a:ext>
                </a:extLst>
              </a:tr>
              <a:tr h="317114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</a:rPr>
                        <a:t>18</a:t>
                      </a:r>
                      <a:endParaRPr lang="zh-CN" sz="20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8255" marR="28255" marT="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</a:rPr>
                        <a:t>    items = list(counts.items())  </a:t>
                      </a:r>
                      <a:endParaRPr lang="zh-CN" sz="2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8255" marR="28255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458896822"/>
                  </a:ext>
                </a:extLst>
              </a:tr>
              <a:tr h="317114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</a:rPr>
                        <a:t>19</a:t>
                      </a:r>
                      <a:endParaRPr lang="zh-CN" sz="20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8255" marR="28255" marT="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</a:rPr>
                        <a:t>    return items[:</a:t>
                      </a:r>
                      <a:r>
                        <a:rPr lang="en-US" sz="2000" kern="100" dirty="0" err="1">
                          <a:effectLst/>
                        </a:rPr>
                        <a:t>topn</a:t>
                      </a:r>
                      <a:r>
                        <a:rPr lang="en-US" sz="2000" kern="100" dirty="0">
                          <a:effectLst/>
                        </a:rPr>
                        <a:t>]</a:t>
                      </a:r>
                      <a:endParaRPr lang="zh-CN" sz="20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8255" marR="28255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685248024"/>
                  </a:ext>
                </a:extLst>
              </a:tr>
            </a:tbl>
          </a:graphicData>
        </a:graphic>
      </p:graphicFrame>
      <p:sp>
        <p:nvSpPr>
          <p:cNvPr id="3" name="矩形 2">
            <a:extLst>
              <a:ext uri="{FF2B5EF4-FFF2-40B4-BE49-F238E27FC236}">
                <a16:creationId xmlns:a16="http://schemas.microsoft.com/office/drawing/2014/main" id="{313ED0AB-BBC3-4D9B-9C09-758D3D0CEA18}"/>
              </a:ext>
            </a:extLst>
          </p:cNvPr>
          <p:cNvSpPr/>
          <p:nvPr/>
        </p:nvSpPr>
        <p:spPr>
          <a:xfrm>
            <a:off x="433996" y="2927975"/>
            <a:ext cx="2668853" cy="11350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400" dirty="0">
                <a:latin typeface="+mn-ea"/>
                <a:cs typeface="Times New Roman" panose="02020603050405020304" pitchFamily="18" charset="0"/>
              </a:rPr>
              <a:t>例</a:t>
            </a:r>
            <a:r>
              <a:rPr lang="en-US" altLang="zh-CN" sz="2400" dirty="0">
                <a:latin typeface="+mn-ea"/>
                <a:cs typeface="Times New Roman" panose="02020603050405020304" pitchFamily="18" charset="0"/>
              </a:rPr>
              <a:t>6-19</a:t>
            </a:r>
            <a:r>
              <a:rPr lang="zh-CN" altLang="en-US" sz="2400" dirty="0">
                <a:latin typeface="+mn-ea"/>
                <a:cs typeface="Times New Roman" panose="02020603050405020304" pitchFamily="18" charset="0"/>
              </a:rPr>
              <a:t>中用于词频分析的核心代码</a:t>
            </a:r>
            <a:endParaRPr lang="zh-CN" altLang="en-US" sz="24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4670963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组合 31">
            <a:extLst>
              <a:ext uri="{FF2B5EF4-FFF2-40B4-BE49-F238E27FC236}">
                <a16:creationId xmlns:a16="http://schemas.microsoft.com/office/drawing/2014/main" id="{032EF26F-0D58-4A0E-97C1-668713F80B14}"/>
              </a:ext>
            </a:extLst>
          </p:cNvPr>
          <p:cNvGrpSpPr/>
          <p:nvPr/>
        </p:nvGrpSpPr>
        <p:grpSpPr>
          <a:xfrm>
            <a:off x="170320" y="203448"/>
            <a:ext cx="6511833" cy="504056"/>
            <a:chOff x="169526" y="203448"/>
            <a:chExt cx="6511833" cy="504056"/>
          </a:xfrm>
        </p:grpSpPr>
        <p:sp>
          <p:nvSpPr>
            <p:cNvPr id="4" name="TextBox 3"/>
            <p:cNvSpPr txBox="1"/>
            <p:nvPr/>
          </p:nvSpPr>
          <p:spPr>
            <a:xfrm>
              <a:off x="781172" y="245839"/>
              <a:ext cx="590018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spc="300" dirty="0">
                  <a:solidFill>
                    <a:srgbClr val="1E6787"/>
                  </a:solidFill>
                  <a:latin typeface="微软雅黑" pitchFamily="34" charset="-122"/>
                  <a:ea typeface="微软雅黑" pitchFamily="34" charset="-122"/>
                </a:rPr>
                <a:t>异常处理</a:t>
              </a:r>
              <a:endParaRPr lang="zh-CN" altLang="en-US" sz="2000" b="1" spc="300" dirty="0">
                <a:solidFill>
                  <a:srgbClr val="1E6787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grpSp>
          <p:nvGrpSpPr>
            <p:cNvPr id="56" name="组合 55">
              <a:extLst>
                <a:ext uri="{FF2B5EF4-FFF2-40B4-BE49-F238E27FC236}">
                  <a16:creationId xmlns:a16="http://schemas.microsoft.com/office/drawing/2014/main" id="{B3ECA4EB-10D1-4B65-B604-4032302CDAF4}"/>
                </a:ext>
              </a:extLst>
            </p:cNvPr>
            <p:cNvGrpSpPr/>
            <p:nvPr/>
          </p:nvGrpSpPr>
          <p:grpSpPr>
            <a:xfrm>
              <a:off x="169526" y="203448"/>
              <a:ext cx="504056" cy="504056"/>
              <a:chOff x="11207774" y="442662"/>
              <a:chExt cx="504056" cy="504056"/>
            </a:xfr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grpSpPr>
          <p:sp>
            <p:nvSpPr>
              <p:cNvPr id="57" name="椭圆 56">
                <a:extLst>
                  <a:ext uri="{FF2B5EF4-FFF2-40B4-BE49-F238E27FC236}">
                    <a16:creationId xmlns:a16="http://schemas.microsoft.com/office/drawing/2014/main" id="{FF372EA1-AB4F-47B1-B450-59AB8827ECD5}"/>
                  </a:ext>
                </a:extLst>
              </p:cNvPr>
              <p:cNvSpPr/>
              <p:nvPr/>
            </p:nvSpPr>
            <p:spPr>
              <a:xfrm>
                <a:off x="11351790" y="601230"/>
                <a:ext cx="216024" cy="216024"/>
              </a:xfrm>
              <a:prstGeom prst="ellipse">
                <a:avLst/>
              </a:prstGeom>
              <a:solidFill>
                <a:srgbClr val="B3DF63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prstClr val="white"/>
                  </a:solidFill>
                  <a:latin typeface="Calibri"/>
                  <a:ea typeface="微软雅黑"/>
                </a:endParaRPr>
              </a:p>
            </p:txBody>
          </p:sp>
          <p:sp>
            <p:nvSpPr>
              <p:cNvPr id="58" name="椭圆 57">
                <a:extLst>
                  <a:ext uri="{FF2B5EF4-FFF2-40B4-BE49-F238E27FC236}">
                    <a16:creationId xmlns:a16="http://schemas.microsoft.com/office/drawing/2014/main" id="{0BEE7D95-9E9C-4C6D-91AA-6429F74B9F98}"/>
                  </a:ext>
                </a:extLst>
              </p:cNvPr>
              <p:cNvSpPr/>
              <p:nvPr/>
            </p:nvSpPr>
            <p:spPr>
              <a:xfrm>
                <a:off x="11207774" y="442662"/>
                <a:ext cx="504056" cy="504056"/>
              </a:xfrm>
              <a:prstGeom prst="ellipse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Calibri"/>
                  <a:ea typeface="微软雅黑"/>
                </a:endParaRPr>
              </a:p>
            </p:txBody>
          </p:sp>
        </p:grpSp>
        <p:cxnSp>
          <p:nvCxnSpPr>
            <p:cNvPr id="20" name="直接连接符 19">
              <a:extLst>
                <a:ext uri="{FF2B5EF4-FFF2-40B4-BE49-F238E27FC236}">
                  <a16:creationId xmlns:a16="http://schemas.microsoft.com/office/drawing/2014/main" id="{C4FBB3C1-88AA-4E76-B54C-31018E3BFAA0}"/>
                </a:ext>
              </a:extLst>
            </p:cNvPr>
            <p:cNvCxnSpPr>
              <a:cxnSpLocks/>
            </p:cNvCxnSpPr>
            <p:nvPr/>
          </p:nvCxnSpPr>
          <p:spPr>
            <a:xfrm>
              <a:off x="775303" y="707504"/>
              <a:ext cx="1833288" cy="0"/>
            </a:xfrm>
            <a:prstGeom prst="line">
              <a:avLst/>
            </a:prstGeom>
            <a:ln>
              <a:solidFill>
                <a:srgbClr val="B3DF6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4FEE8B3F-2833-43A8-99A3-51594F03F1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7405651"/>
              </p:ext>
            </p:extLst>
          </p:nvPr>
        </p:nvGraphicFramePr>
        <p:xfrm>
          <a:off x="530360" y="866072"/>
          <a:ext cx="11361680" cy="5746085"/>
        </p:xfrm>
        <a:graphic>
          <a:graphicData uri="http://schemas.openxmlformats.org/drawingml/2006/table">
            <a:tbl>
              <a:tblPr firstRow="1" firstCol="1" bandRow="1">
                <a:tableStyleId>{2D5ABB26-0587-4C30-8999-92F81FD0307C}</a:tableStyleId>
              </a:tblPr>
              <a:tblGrid>
                <a:gridCol w="11361680">
                  <a:extLst>
                    <a:ext uri="{9D8B030D-6E8A-4147-A177-3AD203B41FA5}">
                      <a16:colId xmlns:a16="http://schemas.microsoft.com/office/drawing/2014/main" val="2176028084"/>
                    </a:ext>
                  </a:extLst>
                </a:gridCol>
              </a:tblGrid>
              <a:tr h="338005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</a:rPr>
                        <a:t>#</a:t>
                      </a:r>
                      <a:r>
                        <a:rPr lang="zh-CN" sz="2000" kern="100">
                          <a:effectLst/>
                        </a:rPr>
                        <a:t>编写主程序，调用函数</a:t>
                      </a:r>
                      <a:endParaRPr lang="zh-CN" sz="2000" kern="10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61821326"/>
                  </a:ext>
                </a:extLst>
              </a:tr>
              <a:tr h="338005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</a:rPr>
                        <a:t>try:</a:t>
                      </a:r>
                      <a:endParaRPr lang="zh-CN" sz="2000" kern="10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175716233"/>
                  </a:ext>
                </a:extLst>
              </a:tr>
              <a:tr h="338005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</a:rPr>
                        <a:t>    with open(r"F:\documents\python\hamlet.txt",'r') as file:</a:t>
                      </a:r>
                      <a:endParaRPr lang="zh-CN" sz="2000" kern="10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68434872"/>
                  </a:ext>
                </a:extLst>
              </a:tr>
              <a:tr h="338005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</a:rPr>
                        <a:t>        text = file.read()</a:t>
                      </a:r>
                      <a:endParaRPr lang="zh-CN" sz="2000" kern="10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661605902"/>
                  </a:ext>
                </a:extLst>
              </a:tr>
              <a:tr h="338005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</a:rPr>
                        <a:t>        text = getText(text)</a:t>
                      </a:r>
                      <a:endParaRPr lang="zh-CN" sz="2000" kern="10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326189339"/>
                  </a:ext>
                </a:extLst>
              </a:tr>
              <a:tr h="338005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</a:rPr>
                        <a:t>        freqs = wordFreq(text,10)</a:t>
                      </a:r>
                      <a:endParaRPr lang="zh-CN" sz="2000" kern="10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72951433"/>
                  </a:ext>
                </a:extLst>
              </a:tr>
              <a:tr h="338005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</a:rPr>
                        <a:t>except IOError:</a:t>
                      </a:r>
                      <a:endParaRPr lang="zh-CN" sz="2000" kern="10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39118886"/>
                  </a:ext>
                </a:extLst>
              </a:tr>
              <a:tr h="338005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</a:rPr>
                        <a:t>    print("</a:t>
                      </a:r>
                      <a:r>
                        <a:rPr lang="zh-CN" sz="2000" kern="100" dirty="0">
                          <a:effectLst/>
                        </a:rPr>
                        <a:t>文件不存在</a:t>
                      </a:r>
                      <a:r>
                        <a:rPr lang="en-US" sz="2000" kern="100" dirty="0">
                          <a:effectLst/>
                        </a:rPr>
                        <a:t>,</a:t>
                      </a:r>
                      <a:r>
                        <a:rPr lang="zh-CN" sz="2000" kern="100" dirty="0">
                          <a:effectLst/>
                        </a:rPr>
                        <a:t>请确认</a:t>
                      </a:r>
                      <a:r>
                        <a:rPr lang="en-US" sz="2000" kern="100" dirty="0">
                          <a:effectLst/>
                        </a:rPr>
                        <a:t>!\n")</a:t>
                      </a:r>
                      <a:endParaRPr lang="zh-CN" sz="2000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95261636"/>
                  </a:ext>
                </a:extLst>
              </a:tr>
              <a:tr h="338005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</a:rPr>
                        <a:t>else:</a:t>
                      </a:r>
                      <a:endParaRPr lang="zh-CN" sz="2000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803053467"/>
                  </a:ext>
                </a:extLst>
              </a:tr>
              <a:tr h="338005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</a:rPr>
                        <a:t>    try:</a:t>
                      </a:r>
                      <a:endParaRPr lang="zh-CN" sz="2000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04667657"/>
                  </a:ext>
                </a:extLst>
              </a:tr>
              <a:tr h="338005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</a:rPr>
                        <a:t>        with open(r"F:\documents\python\hamlet_</a:t>
                      </a:r>
                      <a:r>
                        <a:rPr lang="zh-CN" sz="2000" kern="100">
                          <a:effectLst/>
                        </a:rPr>
                        <a:t>词频</a:t>
                      </a:r>
                      <a:r>
                        <a:rPr lang="en-US" sz="2000" kern="100">
                          <a:effectLst/>
                        </a:rPr>
                        <a:t>.txt",'w')as fileFreq:</a:t>
                      </a:r>
                      <a:endParaRPr lang="zh-CN" sz="2000" kern="10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643353426"/>
                  </a:ext>
                </a:extLst>
              </a:tr>
              <a:tr h="338005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</a:rPr>
                        <a:t>                items =[ word + '\t' + str(</a:t>
                      </a:r>
                      <a:r>
                        <a:rPr lang="en-US" sz="2000" kern="100" dirty="0" err="1">
                          <a:effectLst/>
                        </a:rPr>
                        <a:t>freq</a:t>
                      </a:r>
                      <a:r>
                        <a:rPr lang="en-US" sz="2000" kern="100" dirty="0">
                          <a:effectLst/>
                        </a:rPr>
                        <a:t>) + '\n' for </a:t>
                      </a:r>
                      <a:r>
                        <a:rPr lang="en-US" sz="2000" kern="100" dirty="0" err="1">
                          <a:effectLst/>
                        </a:rPr>
                        <a:t>word,freq</a:t>
                      </a:r>
                      <a:r>
                        <a:rPr lang="en-US" sz="2000" kern="100" dirty="0">
                          <a:effectLst/>
                        </a:rPr>
                        <a:t> in </a:t>
                      </a:r>
                      <a:r>
                        <a:rPr lang="en-US" sz="2000" kern="100" dirty="0" err="1">
                          <a:effectLst/>
                        </a:rPr>
                        <a:t>freqs</a:t>
                      </a:r>
                      <a:r>
                        <a:rPr lang="en-US" sz="2000" kern="100" dirty="0">
                          <a:effectLst/>
                        </a:rPr>
                        <a:t>]</a:t>
                      </a:r>
                      <a:endParaRPr lang="zh-CN" sz="2000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763763997"/>
                  </a:ext>
                </a:extLst>
              </a:tr>
              <a:tr h="338005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</a:rPr>
                        <a:t>                fileFreq.writelines(items)</a:t>
                      </a:r>
                      <a:endParaRPr lang="zh-CN" sz="2000" kern="10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59397093"/>
                  </a:ext>
                </a:extLst>
              </a:tr>
              <a:tr h="338005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</a:rPr>
                        <a:t>    except IOError:</a:t>
                      </a:r>
                      <a:endParaRPr lang="zh-CN" sz="2000" kern="10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52438487"/>
                  </a:ext>
                </a:extLst>
              </a:tr>
              <a:tr h="338005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</a:rPr>
                        <a:t>        print("</a:t>
                      </a:r>
                      <a:r>
                        <a:rPr lang="zh-CN" sz="2000" kern="100" dirty="0">
                          <a:effectLst/>
                        </a:rPr>
                        <a:t>写入文件出错</a:t>
                      </a:r>
                      <a:r>
                        <a:rPr lang="en-US" sz="2000" kern="100" dirty="0">
                          <a:effectLst/>
                        </a:rPr>
                        <a:t>")</a:t>
                      </a:r>
                      <a:endParaRPr lang="zh-CN" sz="2000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39936792"/>
                  </a:ext>
                </a:extLst>
              </a:tr>
              <a:tr h="338005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</a:rPr>
                        <a:t>        for </a:t>
                      </a:r>
                      <a:r>
                        <a:rPr lang="en-US" sz="2000" kern="100" dirty="0" err="1">
                          <a:effectLst/>
                        </a:rPr>
                        <a:t>word,freq</a:t>
                      </a:r>
                      <a:r>
                        <a:rPr lang="en-US" sz="2000" kern="100" dirty="0">
                          <a:effectLst/>
                        </a:rPr>
                        <a:t> in </a:t>
                      </a:r>
                      <a:r>
                        <a:rPr lang="en-US" sz="2000" kern="100" dirty="0" err="1">
                          <a:effectLst/>
                        </a:rPr>
                        <a:t>freqs</a:t>
                      </a:r>
                      <a:r>
                        <a:rPr lang="en-US" sz="2000" kern="100" dirty="0">
                          <a:effectLst/>
                        </a:rPr>
                        <a:t>:</a:t>
                      </a:r>
                      <a:endParaRPr lang="zh-CN" sz="2000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556890398"/>
                  </a:ext>
                </a:extLst>
              </a:tr>
              <a:tr h="338005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</a:rPr>
                        <a:t>            print("{:&lt;10}{:&gt;}".format(word, </a:t>
                      </a:r>
                      <a:r>
                        <a:rPr lang="en-US" sz="2000" kern="100" dirty="0" err="1">
                          <a:effectLst/>
                        </a:rPr>
                        <a:t>freq</a:t>
                      </a:r>
                      <a:r>
                        <a:rPr lang="en-US" sz="2000" kern="100" dirty="0">
                          <a:effectLst/>
                        </a:rPr>
                        <a:t>))</a:t>
                      </a:r>
                      <a:endParaRPr lang="zh-CN" sz="2000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447123000"/>
                  </a:ext>
                </a:extLst>
              </a:tr>
            </a:tbl>
          </a:graphicData>
        </a:graphic>
      </p:graphicFrame>
      <p:sp>
        <p:nvSpPr>
          <p:cNvPr id="7" name="矩形 6">
            <a:extLst>
              <a:ext uri="{FF2B5EF4-FFF2-40B4-BE49-F238E27FC236}">
                <a16:creationId xmlns:a16="http://schemas.microsoft.com/office/drawing/2014/main" id="{A9155D5F-61F0-4B92-9BE6-D3A6B68A110A}"/>
              </a:ext>
            </a:extLst>
          </p:cNvPr>
          <p:cNvSpPr/>
          <p:nvPr/>
        </p:nvSpPr>
        <p:spPr>
          <a:xfrm>
            <a:off x="418214" y="1169581"/>
            <a:ext cx="7301023" cy="1779182"/>
          </a:xfrm>
          <a:prstGeom prst="rect">
            <a:avLst/>
          </a:prstGeom>
          <a:noFill/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E3F3947-57ED-4E90-9646-F09AE6261C15}"/>
              </a:ext>
            </a:extLst>
          </p:cNvPr>
          <p:cNvSpPr/>
          <p:nvPr/>
        </p:nvSpPr>
        <p:spPr>
          <a:xfrm>
            <a:off x="8150503" y="1666158"/>
            <a:ext cx="3310270" cy="78602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solidFill>
                  <a:srgbClr val="FF0000"/>
                </a:solidFill>
              </a:rPr>
              <a:t>针对读文件操作的异常处理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86DF629-1B07-4511-A196-83050AEE4938}"/>
              </a:ext>
            </a:extLst>
          </p:cNvPr>
          <p:cNvSpPr/>
          <p:nvPr/>
        </p:nvSpPr>
        <p:spPr>
          <a:xfrm>
            <a:off x="776097" y="3909238"/>
            <a:ext cx="7374406" cy="1315744"/>
          </a:xfrm>
          <a:prstGeom prst="rect">
            <a:avLst/>
          </a:prstGeom>
          <a:noFill/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01632B77-9DDE-4683-8907-AABADDA44AF0}"/>
              </a:ext>
            </a:extLst>
          </p:cNvPr>
          <p:cNvSpPr/>
          <p:nvPr/>
        </p:nvSpPr>
        <p:spPr>
          <a:xfrm>
            <a:off x="8366136" y="4135222"/>
            <a:ext cx="3310270" cy="78602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solidFill>
                  <a:srgbClr val="FF0000"/>
                </a:solidFill>
              </a:rPr>
              <a:t>针对写文件操作的异常处理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50D74B1E-D52E-4B89-B8CB-E1842C3E5F23}"/>
              </a:ext>
            </a:extLst>
          </p:cNvPr>
          <p:cNvSpPr/>
          <p:nvPr/>
        </p:nvSpPr>
        <p:spPr>
          <a:xfrm>
            <a:off x="5110675" y="5801077"/>
            <a:ext cx="4199861" cy="5387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solidFill>
                  <a:srgbClr val="FF9900"/>
                </a:solidFill>
              </a:rPr>
              <a:t>写文件出错时，直接屏显结果</a:t>
            </a:r>
          </a:p>
        </p:txBody>
      </p:sp>
    </p:spTree>
    <p:extLst>
      <p:ext uri="{BB962C8B-B14F-4D97-AF65-F5344CB8AC3E}">
        <p14:creationId xmlns:p14="http://schemas.microsoft.com/office/powerpoint/2010/main" val="2848852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theme/theme1.xml><?xml version="1.0" encoding="utf-8"?>
<a:theme xmlns:a="http://schemas.openxmlformats.org/drawingml/2006/main" name="1_Office 主题​​">
  <a:themeElements>
    <a:clrScheme name="自定义 222">
      <a:dk1>
        <a:sysClr val="windowText" lastClr="000000"/>
      </a:dk1>
      <a:lt1>
        <a:sysClr val="window" lastClr="FFFFFF"/>
      </a:lt1>
      <a:dk2>
        <a:srgbClr val="435258"/>
      </a:dk2>
      <a:lt2>
        <a:srgbClr val="EEECE1"/>
      </a:lt2>
      <a:accent1>
        <a:srgbClr val="2A8FBD"/>
      </a:accent1>
      <a:accent2>
        <a:srgbClr val="00B0F0"/>
      </a:accent2>
      <a:accent3>
        <a:srgbClr val="435258"/>
      </a:accent3>
      <a:accent4>
        <a:srgbClr val="1E6787"/>
      </a:accent4>
      <a:accent5>
        <a:srgbClr val="2A8FBD"/>
      </a:accent5>
      <a:accent6>
        <a:srgbClr val="E44860"/>
      </a:accent6>
      <a:hlink>
        <a:srgbClr val="E44860"/>
      </a:hlink>
      <a:folHlink>
        <a:srgbClr val="435258"/>
      </a:folHlink>
    </a:clrScheme>
    <a:fontScheme name="自定义 1">
      <a:majorFont>
        <a:latin typeface="Calibri"/>
        <a:ea typeface="微软雅黑"/>
        <a:cs typeface=""/>
      </a:majorFont>
      <a:minorFont>
        <a:latin typeface="Calibri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3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7909</TotalTime>
  <Words>3456</Words>
  <Application>Microsoft Office PowerPoint</Application>
  <PresentationFormat>宽屏</PresentationFormat>
  <Paragraphs>581</Paragraphs>
  <Slides>44</Slides>
  <Notes>40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44</vt:i4>
      </vt:variant>
    </vt:vector>
  </HeadingPairs>
  <TitlesOfParts>
    <vt:vector size="54" baseType="lpstr">
      <vt:lpstr>Impact MT Std</vt:lpstr>
      <vt:lpstr>等线</vt:lpstr>
      <vt:lpstr>宋体</vt:lpstr>
      <vt:lpstr>微软雅黑</vt:lpstr>
      <vt:lpstr>造字工房尚黑（非商用）细体</vt:lpstr>
      <vt:lpstr>Arial</vt:lpstr>
      <vt:lpstr>Calibri</vt:lpstr>
      <vt:lpstr>Gill Sans Ultra Bold</vt:lpstr>
      <vt:lpstr>Times New Roman</vt:lpstr>
      <vt:lpstr>1_Office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ZhaoLu</dc:creator>
  <cp:lastModifiedBy>lu.zhao@163.com</cp:lastModifiedBy>
  <cp:revision>180</cp:revision>
  <dcterms:created xsi:type="dcterms:W3CDTF">2019-01-13T07:44:05Z</dcterms:created>
  <dcterms:modified xsi:type="dcterms:W3CDTF">2019-05-05T01:38:34Z</dcterms:modified>
</cp:coreProperties>
</file>