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sldIdLst>
    <p:sldId id="342" r:id="rId2"/>
    <p:sldId id="373" r:id="rId3"/>
    <p:sldId id="374" r:id="rId4"/>
    <p:sldId id="375" r:id="rId5"/>
    <p:sldId id="260" r:id="rId6"/>
    <p:sldId id="343" r:id="rId7"/>
    <p:sldId id="318" r:id="rId8"/>
    <p:sldId id="344" r:id="rId9"/>
    <p:sldId id="345" r:id="rId10"/>
    <p:sldId id="376" r:id="rId11"/>
    <p:sldId id="377" r:id="rId12"/>
    <p:sldId id="346" r:id="rId13"/>
    <p:sldId id="378" r:id="rId14"/>
    <p:sldId id="379" r:id="rId15"/>
    <p:sldId id="319" r:id="rId16"/>
    <p:sldId id="380" r:id="rId17"/>
    <p:sldId id="381" r:id="rId18"/>
    <p:sldId id="348" r:id="rId19"/>
    <p:sldId id="349" r:id="rId20"/>
    <p:sldId id="350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5" r:id="rId33"/>
    <p:sldId id="393" r:id="rId34"/>
    <p:sldId id="394" r:id="rId35"/>
    <p:sldId id="396" r:id="rId36"/>
    <p:sldId id="397" r:id="rId37"/>
    <p:sldId id="398" r:id="rId38"/>
    <p:sldId id="400" r:id="rId39"/>
    <p:sldId id="401" r:id="rId40"/>
    <p:sldId id="399" r:id="rId41"/>
    <p:sldId id="402" r:id="rId42"/>
    <p:sldId id="403" r:id="rId43"/>
    <p:sldId id="404" r:id="rId44"/>
    <p:sldId id="406" r:id="rId45"/>
    <p:sldId id="405" r:id="rId46"/>
    <p:sldId id="410" r:id="rId47"/>
    <p:sldId id="407" r:id="rId48"/>
    <p:sldId id="408" r:id="rId49"/>
    <p:sldId id="411" r:id="rId50"/>
    <p:sldId id="409" r:id="rId51"/>
    <p:sldId id="412" r:id="rId52"/>
    <p:sldId id="413" r:id="rId53"/>
    <p:sldId id="414" r:id="rId54"/>
    <p:sldId id="415" r:id="rId55"/>
    <p:sldId id="416" r:id="rId56"/>
    <p:sldId id="417" r:id="rId57"/>
    <p:sldId id="418" r:id="rId58"/>
    <p:sldId id="419" r:id="rId59"/>
    <p:sldId id="420" r:id="rId60"/>
    <p:sldId id="421" r:id="rId61"/>
    <p:sldId id="422" r:id="rId62"/>
    <p:sldId id="423" r:id="rId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EFA003"/>
    <a:srgbClr val="007033"/>
    <a:srgbClr val="0000FF"/>
    <a:srgbClr val="000099"/>
    <a:srgbClr val="C4CEDA"/>
    <a:srgbClr val="F1F2F3"/>
    <a:srgbClr val="D38E03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3560" autoAdjust="0"/>
  </p:normalViewPr>
  <p:slideViewPr>
    <p:cSldViewPr snapToGrid="0">
      <p:cViewPr varScale="1">
        <p:scale>
          <a:sx n="103" d="100"/>
          <a:sy n="103" d="100"/>
        </p:scale>
        <p:origin x="-67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DDD4D1-7BED-43AB-9C5C-C2B71E710B9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4D28FC9-58AD-41D8-8803-C377402BA0EC}">
      <dgm:prSet phldrT="[文本]"/>
      <dgm:spPr/>
      <dgm:t>
        <a:bodyPr/>
        <a:lstStyle/>
        <a:p>
          <a:r>
            <a:rPr lang="zh-CN" altLang="en-US" dirty="0" smtClean="0"/>
            <a:t>主程序</a:t>
          </a:r>
          <a:endParaRPr lang="zh-CN" altLang="en-US" dirty="0"/>
        </a:p>
      </dgm:t>
    </dgm:pt>
    <dgm:pt modelId="{185927A4-230E-44C0-A621-C285777C7210}" type="parTrans" cxnId="{7D245516-0BD1-4247-A74D-3C8E799BCF88}">
      <dgm:prSet/>
      <dgm:spPr/>
      <dgm:t>
        <a:bodyPr/>
        <a:lstStyle/>
        <a:p>
          <a:endParaRPr lang="zh-CN" altLang="en-US"/>
        </a:p>
      </dgm:t>
    </dgm:pt>
    <dgm:pt modelId="{D4F33C33-1528-4616-BB99-04F9927A8D8D}" type="sibTrans" cxnId="{7D245516-0BD1-4247-A74D-3C8E799BCF88}">
      <dgm:prSet/>
      <dgm:spPr/>
      <dgm:t>
        <a:bodyPr/>
        <a:lstStyle/>
        <a:p>
          <a:endParaRPr lang="zh-CN" altLang="en-US"/>
        </a:p>
      </dgm:t>
    </dgm:pt>
    <dgm:pt modelId="{116B48C8-1954-4029-BC2C-1540CDCF322A}">
      <dgm:prSet phldrT="[文本]"/>
      <dgm:spPr/>
      <dgm:t>
        <a:bodyPr/>
        <a:lstStyle/>
        <a:p>
          <a:r>
            <a:rPr lang="en-US" altLang="zh-CN" dirty="0" smtClean="0"/>
            <a:t>1.</a:t>
          </a:r>
          <a:r>
            <a:rPr lang="zh-CN" altLang="en-US" dirty="0" smtClean="0"/>
            <a:t>抓取网页源码</a:t>
          </a:r>
          <a:endParaRPr lang="zh-CN" altLang="en-US" dirty="0"/>
        </a:p>
      </dgm:t>
    </dgm:pt>
    <dgm:pt modelId="{2ECE645A-C83F-49E2-89AE-6380B885AA3E}" type="parTrans" cxnId="{CEA7910B-4D54-4C35-990A-3D2DE5453335}">
      <dgm:prSet/>
      <dgm:spPr/>
      <dgm:t>
        <a:bodyPr/>
        <a:lstStyle/>
        <a:p>
          <a:endParaRPr lang="zh-CN" altLang="en-US"/>
        </a:p>
      </dgm:t>
    </dgm:pt>
    <dgm:pt modelId="{3D27F307-61D3-4C46-A891-1CF2C7B02C0B}" type="sibTrans" cxnId="{CEA7910B-4D54-4C35-990A-3D2DE5453335}">
      <dgm:prSet/>
      <dgm:spPr/>
      <dgm:t>
        <a:bodyPr/>
        <a:lstStyle/>
        <a:p>
          <a:endParaRPr lang="zh-CN" altLang="en-US"/>
        </a:p>
      </dgm:t>
    </dgm:pt>
    <dgm:pt modelId="{9363E862-0624-4DAA-A017-AE8B35DEDC9A}">
      <dgm:prSet phldrT="[文本]"/>
      <dgm:spPr/>
      <dgm:t>
        <a:bodyPr/>
        <a:lstStyle/>
        <a:p>
          <a:r>
            <a:rPr lang="en-US" altLang="zh-CN" dirty="0" smtClean="0"/>
            <a:t>2.</a:t>
          </a:r>
          <a:r>
            <a:rPr lang="zh-CN" altLang="en-US" dirty="0" smtClean="0"/>
            <a:t>解析源码抽取评论</a:t>
          </a:r>
          <a:endParaRPr lang="zh-CN" altLang="en-US" dirty="0"/>
        </a:p>
      </dgm:t>
    </dgm:pt>
    <dgm:pt modelId="{8187EF2C-2020-4DD8-B1F2-48C2D09EFFEB}" type="parTrans" cxnId="{07852443-E0F5-4B9E-BFBF-F3799777C982}">
      <dgm:prSet/>
      <dgm:spPr/>
      <dgm:t>
        <a:bodyPr/>
        <a:lstStyle/>
        <a:p>
          <a:endParaRPr lang="zh-CN" altLang="en-US"/>
        </a:p>
      </dgm:t>
    </dgm:pt>
    <dgm:pt modelId="{22F258E9-211D-4B5F-B05C-1821746DDCEC}" type="sibTrans" cxnId="{07852443-E0F5-4B9E-BFBF-F3799777C982}">
      <dgm:prSet/>
      <dgm:spPr/>
      <dgm:t>
        <a:bodyPr/>
        <a:lstStyle/>
        <a:p>
          <a:endParaRPr lang="zh-CN" altLang="en-US"/>
        </a:p>
      </dgm:t>
    </dgm:pt>
    <dgm:pt modelId="{A487D451-EB40-4928-81F0-0E8DD38803B4}">
      <dgm:prSet phldrT="[文本]"/>
      <dgm:spPr/>
      <dgm:t>
        <a:bodyPr/>
        <a:lstStyle/>
        <a:p>
          <a:r>
            <a:rPr lang="en-US" altLang="zh-CN" dirty="0" smtClean="0"/>
            <a:t>3.</a:t>
          </a:r>
          <a:r>
            <a:rPr lang="zh-CN" altLang="en-US" dirty="0" smtClean="0"/>
            <a:t>生成词云图片</a:t>
          </a:r>
          <a:endParaRPr lang="zh-CN" altLang="en-US" dirty="0"/>
        </a:p>
      </dgm:t>
    </dgm:pt>
    <dgm:pt modelId="{110A9D1A-E9F8-4856-8D9F-79C97FFB3B6C}" type="parTrans" cxnId="{9C6E21F5-5CEE-4D1C-9CDD-772AE7F3E4A4}">
      <dgm:prSet/>
      <dgm:spPr/>
      <dgm:t>
        <a:bodyPr/>
        <a:lstStyle/>
        <a:p>
          <a:endParaRPr lang="zh-CN" altLang="en-US"/>
        </a:p>
      </dgm:t>
    </dgm:pt>
    <dgm:pt modelId="{99B99329-03AB-437B-9F6A-CD92D3EA273F}" type="sibTrans" cxnId="{9C6E21F5-5CEE-4D1C-9CDD-772AE7F3E4A4}">
      <dgm:prSet/>
      <dgm:spPr/>
      <dgm:t>
        <a:bodyPr/>
        <a:lstStyle/>
        <a:p>
          <a:endParaRPr lang="zh-CN" altLang="en-US"/>
        </a:p>
      </dgm:t>
    </dgm:pt>
    <dgm:pt modelId="{832BCB13-8230-45F9-A015-239699680DE5}" type="pres">
      <dgm:prSet presAssocID="{5DDDD4D1-7BED-43AB-9C5C-C2B71E710B9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E963DCEC-C273-4157-84C9-25CE8CA4F8E3}" type="pres">
      <dgm:prSet presAssocID="{74D28FC9-58AD-41D8-8803-C377402BA0EC}" presName="hierRoot1" presStyleCnt="0">
        <dgm:presLayoutVars>
          <dgm:hierBranch val="init"/>
        </dgm:presLayoutVars>
      </dgm:prSet>
      <dgm:spPr/>
    </dgm:pt>
    <dgm:pt modelId="{ECF959D0-B018-4BC6-9049-5083590EEAD8}" type="pres">
      <dgm:prSet presAssocID="{74D28FC9-58AD-41D8-8803-C377402BA0EC}" presName="rootComposite1" presStyleCnt="0"/>
      <dgm:spPr/>
    </dgm:pt>
    <dgm:pt modelId="{2D2E6C2B-9D4E-4529-8D95-ECEB60C8884D}" type="pres">
      <dgm:prSet presAssocID="{74D28FC9-58AD-41D8-8803-C377402BA0EC}" presName="rootText1" presStyleLbl="node0" presStyleIdx="0" presStyleCnt="1" custScaleX="16573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F5094E7-6869-406F-BBA1-5A617C2370C7}" type="pres">
      <dgm:prSet presAssocID="{74D28FC9-58AD-41D8-8803-C377402BA0EC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7C9112F2-0210-4C83-909C-1D9B9C08F382}" type="pres">
      <dgm:prSet presAssocID="{74D28FC9-58AD-41D8-8803-C377402BA0EC}" presName="hierChild2" presStyleCnt="0"/>
      <dgm:spPr/>
    </dgm:pt>
    <dgm:pt modelId="{0B9AC55E-7DF5-4023-B705-F389BE12505E}" type="pres">
      <dgm:prSet presAssocID="{2ECE645A-C83F-49E2-89AE-6380B885AA3E}" presName="Name37" presStyleLbl="parChTrans1D2" presStyleIdx="0" presStyleCnt="3"/>
      <dgm:spPr/>
      <dgm:t>
        <a:bodyPr/>
        <a:lstStyle/>
        <a:p>
          <a:endParaRPr lang="zh-CN" altLang="en-US"/>
        </a:p>
      </dgm:t>
    </dgm:pt>
    <dgm:pt modelId="{D745F91F-3674-4D3C-B7C1-CE6CB8D28BE8}" type="pres">
      <dgm:prSet presAssocID="{116B48C8-1954-4029-BC2C-1540CDCF322A}" presName="hierRoot2" presStyleCnt="0">
        <dgm:presLayoutVars>
          <dgm:hierBranch val="init"/>
        </dgm:presLayoutVars>
      </dgm:prSet>
      <dgm:spPr/>
    </dgm:pt>
    <dgm:pt modelId="{D77804D8-321D-487B-9969-A1B596D6AE9F}" type="pres">
      <dgm:prSet presAssocID="{116B48C8-1954-4029-BC2C-1540CDCF322A}" presName="rootComposite" presStyleCnt="0"/>
      <dgm:spPr/>
    </dgm:pt>
    <dgm:pt modelId="{744E8BFF-1DB0-4D61-BB41-5EBF3EDCFAD9}" type="pres">
      <dgm:prSet presAssocID="{116B48C8-1954-4029-BC2C-1540CDCF322A}" presName="rootText" presStyleLbl="node2" presStyleIdx="0" presStyleCnt="3" custScaleX="17703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2AD7376-D213-454C-9964-A3E7E8D2D710}" type="pres">
      <dgm:prSet presAssocID="{116B48C8-1954-4029-BC2C-1540CDCF322A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AFA19BD6-5C5F-433D-8B3B-D753D454E99E}" type="pres">
      <dgm:prSet presAssocID="{116B48C8-1954-4029-BC2C-1540CDCF322A}" presName="hierChild4" presStyleCnt="0"/>
      <dgm:spPr/>
    </dgm:pt>
    <dgm:pt modelId="{4CC697AF-327C-409D-A015-24D5BC623FB6}" type="pres">
      <dgm:prSet presAssocID="{116B48C8-1954-4029-BC2C-1540CDCF322A}" presName="hierChild5" presStyleCnt="0"/>
      <dgm:spPr/>
    </dgm:pt>
    <dgm:pt modelId="{529042BE-F9F1-4AC6-BA3C-2E9A987EB6B3}" type="pres">
      <dgm:prSet presAssocID="{8187EF2C-2020-4DD8-B1F2-48C2D09EFFEB}" presName="Name37" presStyleLbl="parChTrans1D2" presStyleIdx="1" presStyleCnt="3"/>
      <dgm:spPr/>
      <dgm:t>
        <a:bodyPr/>
        <a:lstStyle/>
        <a:p>
          <a:endParaRPr lang="zh-CN" altLang="en-US"/>
        </a:p>
      </dgm:t>
    </dgm:pt>
    <dgm:pt modelId="{E7F51542-FFF4-4726-996D-069EA421F95F}" type="pres">
      <dgm:prSet presAssocID="{9363E862-0624-4DAA-A017-AE8B35DEDC9A}" presName="hierRoot2" presStyleCnt="0">
        <dgm:presLayoutVars>
          <dgm:hierBranch val="init"/>
        </dgm:presLayoutVars>
      </dgm:prSet>
      <dgm:spPr/>
    </dgm:pt>
    <dgm:pt modelId="{A04E2E98-FB47-4DDC-B805-4CA199D9B6C6}" type="pres">
      <dgm:prSet presAssocID="{9363E862-0624-4DAA-A017-AE8B35DEDC9A}" presName="rootComposite" presStyleCnt="0"/>
      <dgm:spPr/>
    </dgm:pt>
    <dgm:pt modelId="{FD088873-F32B-48D2-9974-A0BCB2B2C9A2}" type="pres">
      <dgm:prSet presAssocID="{9363E862-0624-4DAA-A017-AE8B35DEDC9A}" presName="rootText" presStyleLbl="node2" presStyleIdx="1" presStyleCnt="3" custScaleX="17703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89BE4B4-869A-46F0-84CA-328C41229BBF}" type="pres">
      <dgm:prSet presAssocID="{9363E862-0624-4DAA-A017-AE8B35DEDC9A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C4D7B780-B858-41E8-B387-1F100D6DB6A7}" type="pres">
      <dgm:prSet presAssocID="{9363E862-0624-4DAA-A017-AE8B35DEDC9A}" presName="hierChild4" presStyleCnt="0"/>
      <dgm:spPr/>
    </dgm:pt>
    <dgm:pt modelId="{9034A174-3284-4A09-9DA0-DDC23E17D487}" type="pres">
      <dgm:prSet presAssocID="{9363E862-0624-4DAA-A017-AE8B35DEDC9A}" presName="hierChild5" presStyleCnt="0"/>
      <dgm:spPr/>
    </dgm:pt>
    <dgm:pt modelId="{2010576E-64F6-4916-9F89-3752F12DC625}" type="pres">
      <dgm:prSet presAssocID="{110A9D1A-E9F8-4856-8D9F-79C97FFB3B6C}" presName="Name37" presStyleLbl="parChTrans1D2" presStyleIdx="2" presStyleCnt="3"/>
      <dgm:spPr/>
      <dgm:t>
        <a:bodyPr/>
        <a:lstStyle/>
        <a:p>
          <a:endParaRPr lang="zh-CN" altLang="en-US"/>
        </a:p>
      </dgm:t>
    </dgm:pt>
    <dgm:pt modelId="{97A84B52-06FE-4612-90DE-848C66E3EBBB}" type="pres">
      <dgm:prSet presAssocID="{A487D451-EB40-4928-81F0-0E8DD38803B4}" presName="hierRoot2" presStyleCnt="0">
        <dgm:presLayoutVars>
          <dgm:hierBranch val="init"/>
        </dgm:presLayoutVars>
      </dgm:prSet>
      <dgm:spPr/>
    </dgm:pt>
    <dgm:pt modelId="{F83410FF-8D00-47EC-923C-67079609FD5D}" type="pres">
      <dgm:prSet presAssocID="{A487D451-EB40-4928-81F0-0E8DD38803B4}" presName="rootComposite" presStyleCnt="0"/>
      <dgm:spPr/>
    </dgm:pt>
    <dgm:pt modelId="{20A58BF3-C33F-4419-AC1F-22930E5877A5}" type="pres">
      <dgm:prSet presAssocID="{A487D451-EB40-4928-81F0-0E8DD38803B4}" presName="rootText" presStyleLbl="node2" presStyleIdx="2" presStyleCnt="3" custScaleX="17703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58B20AF-799F-403A-B3C9-9A4AE9DA8DB6}" type="pres">
      <dgm:prSet presAssocID="{A487D451-EB40-4928-81F0-0E8DD38803B4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B4A07FFB-E9D8-47A3-85F7-CD733BE96E17}" type="pres">
      <dgm:prSet presAssocID="{A487D451-EB40-4928-81F0-0E8DD38803B4}" presName="hierChild4" presStyleCnt="0"/>
      <dgm:spPr/>
    </dgm:pt>
    <dgm:pt modelId="{2F894087-67CC-4970-AF08-A0A0F0DD2130}" type="pres">
      <dgm:prSet presAssocID="{A487D451-EB40-4928-81F0-0E8DD38803B4}" presName="hierChild5" presStyleCnt="0"/>
      <dgm:spPr/>
    </dgm:pt>
    <dgm:pt modelId="{99D2B7D8-1ABC-4C1A-A3DE-BB3FBF55F060}" type="pres">
      <dgm:prSet presAssocID="{74D28FC9-58AD-41D8-8803-C377402BA0EC}" presName="hierChild3" presStyleCnt="0"/>
      <dgm:spPr/>
    </dgm:pt>
  </dgm:ptLst>
  <dgm:cxnLst>
    <dgm:cxn modelId="{1DB7041B-01A1-413B-8F73-C3D04F000208}" type="presOf" srcId="{74D28FC9-58AD-41D8-8803-C377402BA0EC}" destId="{2D2E6C2B-9D4E-4529-8D95-ECEB60C8884D}" srcOrd="0" destOrd="0" presId="urn:microsoft.com/office/officeart/2005/8/layout/orgChart1"/>
    <dgm:cxn modelId="{BACB495F-6FD3-4593-B9F0-9625C99F955D}" type="presOf" srcId="{9363E862-0624-4DAA-A017-AE8B35DEDC9A}" destId="{FD088873-F32B-48D2-9974-A0BCB2B2C9A2}" srcOrd="0" destOrd="0" presId="urn:microsoft.com/office/officeart/2005/8/layout/orgChart1"/>
    <dgm:cxn modelId="{22B4EAC9-5168-460D-A774-B5CAC6FB184E}" type="presOf" srcId="{5DDDD4D1-7BED-43AB-9C5C-C2B71E710B92}" destId="{832BCB13-8230-45F9-A015-239699680DE5}" srcOrd="0" destOrd="0" presId="urn:microsoft.com/office/officeart/2005/8/layout/orgChart1"/>
    <dgm:cxn modelId="{30528DB2-C156-41E7-83CB-9668ECCA2DDD}" type="presOf" srcId="{110A9D1A-E9F8-4856-8D9F-79C97FFB3B6C}" destId="{2010576E-64F6-4916-9F89-3752F12DC625}" srcOrd="0" destOrd="0" presId="urn:microsoft.com/office/officeart/2005/8/layout/orgChart1"/>
    <dgm:cxn modelId="{9C6E21F5-5CEE-4D1C-9CDD-772AE7F3E4A4}" srcId="{74D28FC9-58AD-41D8-8803-C377402BA0EC}" destId="{A487D451-EB40-4928-81F0-0E8DD38803B4}" srcOrd="2" destOrd="0" parTransId="{110A9D1A-E9F8-4856-8D9F-79C97FFB3B6C}" sibTransId="{99B99329-03AB-437B-9F6A-CD92D3EA273F}"/>
    <dgm:cxn modelId="{A4F5578B-B3B9-44E8-998F-DC9690D09F76}" type="presOf" srcId="{116B48C8-1954-4029-BC2C-1540CDCF322A}" destId="{02AD7376-D213-454C-9964-A3E7E8D2D710}" srcOrd="1" destOrd="0" presId="urn:microsoft.com/office/officeart/2005/8/layout/orgChart1"/>
    <dgm:cxn modelId="{E7872571-1118-481C-83C1-AFD8749B1BF7}" type="presOf" srcId="{9363E862-0624-4DAA-A017-AE8B35DEDC9A}" destId="{C89BE4B4-869A-46F0-84CA-328C41229BBF}" srcOrd="1" destOrd="0" presId="urn:microsoft.com/office/officeart/2005/8/layout/orgChart1"/>
    <dgm:cxn modelId="{9D0AAF81-F977-41AC-AFE7-D4F1768E7578}" type="presOf" srcId="{A487D451-EB40-4928-81F0-0E8DD38803B4}" destId="{20A58BF3-C33F-4419-AC1F-22930E5877A5}" srcOrd="0" destOrd="0" presId="urn:microsoft.com/office/officeart/2005/8/layout/orgChart1"/>
    <dgm:cxn modelId="{9D1F52A1-8146-47B1-843F-B233A40AF185}" type="presOf" srcId="{74D28FC9-58AD-41D8-8803-C377402BA0EC}" destId="{DF5094E7-6869-406F-BBA1-5A617C2370C7}" srcOrd="1" destOrd="0" presId="urn:microsoft.com/office/officeart/2005/8/layout/orgChart1"/>
    <dgm:cxn modelId="{7D245516-0BD1-4247-A74D-3C8E799BCF88}" srcId="{5DDDD4D1-7BED-43AB-9C5C-C2B71E710B92}" destId="{74D28FC9-58AD-41D8-8803-C377402BA0EC}" srcOrd="0" destOrd="0" parTransId="{185927A4-230E-44C0-A621-C285777C7210}" sibTransId="{D4F33C33-1528-4616-BB99-04F9927A8D8D}"/>
    <dgm:cxn modelId="{C1B1234B-9A1D-4E55-A415-32AC357400C4}" type="presOf" srcId="{8187EF2C-2020-4DD8-B1F2-48C2D09EFFEB}" destId="{529042BE-F9F1-4AC6-BA3C-2E9A987EB6B3}" srcOrd="0" destOrd="0" presId="urn:microsoft.com/office/officeart/2005/8/layout/orgChart1"/>
    <dgm:cxn modelId="{17F07B66-B506-4B8A-A8F2-A75435C6B130}" type="presOf" srcId="{2ECE645A-C83F-49E2-89AE-6380B885AA3E}" destId="{0B9AC55E-7DF5-4023-B705-F389BE12505E}" srcOrd="0" destOrd="0" presId="urn:microsoft.com/office/officeart/2005/8/layout/orgChart1"/>
    <dgm:cxn modelId="{CEA7910B-4D54-4C35-990A-3D2DE5453335}" srcId="{74D28FC9-58AD-41D8-8803-C377402BA0EC}" destId="{116B48C8-1954-4029-BC2C-1540CDCF322A}" srcOrd="0" destOrd="0" parTransId="{2ECE645A-C83F-49E2-89AE-6380B885AA3E}" sibTransId="{3D27F307-61D3-4C46-A891-1CF2C7B02C0B}"/>
    <dgm:cxn modelId="{63FFC6F4-F750-4EFB-A186-20E986541684}" type="presOf" srcId="{116B48C8-1954-4029-BC2C-1540CDCF322A}" destId="{744E8BFF-1DB0-4D61-BB41-5EBF3EDCFAD9}" srcOrd="0" destOrd="0" presId="urn:microsoft.com/office/officeart/2005/8/layout/orgChart1"/>
    <dgm:cxn modelId="{B5E0A693-B61E-4998-B57C-64DE02F60A63}" type="presOf" srcId="{A487D451-EB40-4928-81F0-0E8DD38803B4}" destId="{E58B20AF-799F-403A-B3C9-9A4AE9DA8DB6}" srcOrd="1" destOrd="0" presId="urn:microsoft.com/office/officeart/2005/8/layout/orgChart1"/>
    <dgm:cxn modelId="{07852443-E0F5-4B9E-BFBF-F3799777C982}" srcId="{74D28FC9-58AD-41D8-8803-C377402BA0EC}" destId="{9363E862-0624-4DAA-A017-AE8B35DEDC9A}" srcOrd="1" destOrd="0" parTransId="{8187EF2C-2020-4DD8-B1F2-48C2D09EFFEB}" sibTransId="{22F258E9-211D-4B5F-B05C-1821746DDCEC}"/>
    <dgm:cxn modelId="{216C9684-D494-4FC1-AE07-B18DE4AEAEE2}" type="presParOf" srcId="{832BCB13-8230-45F9-A015-239699680DE5}" destId="{E963DCEC-C273-4157-84C9-25CE8CA4F8E3}" srcOrd="0" destOrd="0" presId="urn:microsoft.com/office/officeart/2005/8/layout/orgChart1"/>
    <dgm:cxn modelId="{BDD0D385-6F92-4BDD-A4AB-29FC7F724A5F}" type="presParOf" srcId="{E963DCEC-C273-4157-84C9-25CE8CA4F8E3}" destId="{ECF959D0-B018-4BC6-9049-5083590EEAD8}" srcOrd="0" destOrd="0" presId="urn:microsoft.com/office/officeart/2005/8/layout/orgChart1"/>
    <dgm:cxn modelId="{7217F16B-EC1A-4568-9BCB-D470BF340529}" type="presParOf" srcId="{ECF959D0-B018-4BC6-9049-5083590EEAD8}" destId="{2D2E6C2B-9D4E-4529-8D95-ECEB60C8884D}" srcOrd="0" destOrd="0" presId="urn:microsoft.com/office/officeart/2005/8/layout/orgChart1"/>
    <dgm:cxn modelId="{CF91B7FD-75B3-4C9E-B62A-AD8CC2272681}" type="presParOf" srcId="{ECF959D0-B018-4BC6-9049-5083590EEAD8}" destId="{DF5094E7-6869-406F-BBA1-5A617C2370C7}" srcOrd="1" destOrd="0" presId="urn:microsoft.com/office/officeart/2005/8/layout/orgChart1"/>
    <dgm:cxn modelId="{26094F4A-4DB7-4A68-A557-B5CF8EEF8C12}" type="presParOf" srcId="{E963DCEC-C273-4157-84C9-25CE8CA4F8E3}" destId="{7C9112F2-0210-4C83-909C-1D9B9C08F382}" srcOrd="1" destOrd="0" presId="urn:microsoft.com/office/officeart/2005/8/layout/orgChart1"/>
    <dgm:cxn modelId="{A950FA6D-07D1-428E-A7BB-DD89718B599F}" type="presParOf" srcId="{7C9112F2-0210-4C83-909C-1D9B9C08F382}" destId="{0B9AC55E-7DF5-4023-B705-F389BE12505E}" srcOrd="0" destOrd="0" presId="urn:microsoft.com/office/officeart/2005/8/layout/orgChart1"/>
    <dgm:cxn modelId="{FFCD06BB-D281-4D4B-B51B-742F6800BB5F}" type="presParOf" srcId="{7C9112F2-0210-4C83-909C-1D9B9C08F382}" destId="{D745F91F-3674-4D3C-B7C1-CE6CB8D28BE8}" srcOrd="1" destOrd="0" presId="urn:microsoft.com/office/officeart/2005/8/layout/orgChart1"/>
    <dgm:cxn modelId="{0320587D-DCEC-4C97-B648-66E23DA7544D}" type="presParOf" srcId="{D745F91F-3674-4D3C-B7C1-CE6CB8D28BE8}" destId="{D77804D8-321D-487B-9969-A1B596D6AE9F}" srcOrd="0" destOrd="0" presId="urn:microsoft.com/office/officeart/2005/8/layout/orgChart1"/>
    <dgm:cxn modelId="{880FC7B7-5B35-4707-BE39-C92CCA7F0516}" type="presParOf" srcId="{D77804D8-321D-487B-9969-A1B596D6AE9F}" destId="{744E8BFF-1DB0-4D61-BB41-5EBF3EDCFAD9}" srcOrd="0" destOrd="0" presId="urn:microsoft.com/office/officeart/2005/8/layout/orgChart1"/>
    <dgm:cxn modelId="{AEEF353D-C8E3-45A2-9C26-5E70C40A4578}" type="presParOf" srcId="{D77804D8-321D-487B-9969-A1B596D6AE9F}" destId="{02AD7376-D213-454C-9964-A3E7E8D2D710}" srcOrd="1" destOrd="0" presId="urn:microsoft.com/office/officeart/2005/8/layout/orgChart1"/>
    <dgm:cxn modelId="{BFFB7ACA-AFC1-48E8-9389-DA6C77E8F03A}" type="presParOf" srcId="{D745F91F-3674-4D3C-B7C1-CE6CB8D28BE8}" destId="{AFA19BD6-5C5F-433D-8B3B-D753D454E99E}" srcOrd="1" destOrd="0" presId="urn:microsoft.com/office/officeart/2005/8/layout/orgChart1"/>
    <dgm:cxn modelId="{52D661D8-8F94-45A7-9690-80079427475F}" type="presParOf" srcId="{D745F91F-3674-4D3C-B7C1-CE6CB8D28BE8}" destId="{4CC697AF-327C-409D-A015-24D5BC623FB6}" srcOrd="2" destOrd="0" presId="urn:microsoft.com/office/officeart/2005/8/layout/orgChart1"/>
    <dgm:cxn modelId="{3B29F5DD-9F19-4FB8-8AEA-1A4B9750B4E7}" type="presParOf" srcId="{7C9112F2-0210-4C83-909C-1D9B9C08F382}" destId="{529042BE-F9F1-4AC6-BA3C-2E9A987EB6B3}" srcOrd="2" destOrd="0" presId="urn:microsoft.com/office/officeart/2005/8/layout/orgChart1"/>
    <dgm:cxn modelId="{9C754151-07AE-4519-9506-373959529611}" type="presParOf" srcId="{7C9112F2-0210-4C83-909C-1D9B9C08F382}" destId="{E7F51542-FFF4-4726-996D-069EA421F95F}" srcOrd="3" destOrd="0" presId="urn:microsoft.com/office/officeart/2005/8/layout/orgChart1"/>
    <dgm:cxn modelId="{8618763E-781F-46BB-8829-1584834578E2}" type="presParOf" srcId="{E7F51542-FFF4-4726-996D-069EA421F95F}" destId="{A04E2E98-FB47-4DDC-B805-4CA199D9B6C6}" srcOrd="0" destOrd="0" presId="urn:microsoft.com/office/officeart/2005/8/layout/orgChart1"/>
    <dgm:cxn modelId="{C6D6E158-A8E4-4878-BB6F-392136C35793}" type="presParOf" srcId="{A04E2E98-FB47-4DDC-B805-4CA199D9B6C6}" destId="{FD088873-F32B-48D2-9974-A0BCB2B2C9A2}" srcOrd="0" destOrd="0" presId="urn:microsoft.com/office/officeart/2005/8/layout/orgChart1"/>
    <dgm:cxn modelId="{4714024F-F6D5-40D3-BEC0-81C4020FA307}" type="presParOf" srcId="{A04E2E98-FB47-4DDC-B805-4CA199D9B6C6}" destId="{C89BE4B4-869A-46F0-84CA-328C41229BBF}" srcOrd="1" destOrd="0" presId="urn:microsoft.com/office/officeart/2005/8/layout/orgChart1"/>
    <dgm:cxn modelId="{2E36211A-26DF-47B6-98AC-98EEBC091E54}" type="presParOf" srcId="{E7F51542-FFF4-4726-996D-069EA421F95F}" destId="{C4D7B780-B858-41E8-B387-1F100D6DB6A7}" srcOrd="1" destOrd="0" presId="urn:microsoft.com/office/officeart/2005/8/layout/orgChart1"/>
    <dgm:cxn modelId="{4F12A58A-C523-4A4F-9351-4469DA1BB7AD}" type="presParOf" srcId="{E7F51542-FFF4-4726-996D-069EA421F95F}" destId="{9034A174-3284-4A09-9DA0-DDC23E17D487}" srcOrd="2" destOrd="0" presId="urn:microsoft.com/office/officeart/2005/8/layout/orgChart1"/>
    <dgm:cxn modelId="{1AE17C5D-841C-41B7-8425-5A44B16FE3E8}" type="presParOf" srcId="{7C9112F2-0210-4C83-909C-1D9B9C08F382}" destId="{2010576E-64F6-4916-9F89-3752F12DC625}" srcOrd="4" destOrd="0" presId="urn:microsoft.com/office/officeart/2005/8/layout/orgChart1"/>
    <dgm:cxn modelId="{059FBF6F-F4E5-4617-B86F-FD4FA3090AB7}" type="presParOf" srcId="{7C9112F2-0210-4C83-909C-1D9B9C08F382}" destId="{97A84B52-06FE-4612-90DE-848C66E3EBBB}" srcOrd="5" destOrd="0" presId="urn:microsoft.com/office/officeart/2005/8/layout/orgChart1"/>
    <dgm:cxn modelId="{78E02C60-0D86-4A1C-86B3-F11BFA64A2CE}" type="presParOf" srcId="{97A84B52-06FE-4612-90DE-848C66E3EBBB}" destId="{F83410FF-8D00-47EC-923C-67079609FD5D}" srcOrd="0" destOrd="0" presId="urn:microsoft.com/office/officeart/2005/8/layout/orgChart1"/>
    <dgm:cxn modelId="{9B19A64A-26CD-49FE-BE7A-3BB3DB248EBF}" type="presParOf" srcId="{F83410FF-8D00-47EC-923C-67079609FD5D}" destId="{20A58BF3-C33F-4419-AC1F-22930E5877A5}" srcOrd="0" destOrd="0" presId="urn:microsoft.com/office/officeart/2005/8/layout/orgChart1"/>
    <dgm:cxn modelId="{6C10A64F-AFBA-4EC4-9B8E-7EF5D2100F9F}" type="presParOf" srcId="{F83410FF-8D00-47EC-923C-67079609FD5D}" destId="{E58B20AF-799F-403A-B3C9-9A4AE9DA8DB6}" srcOrd="1" destOrd="0" presId="urn:microsoft.com/office/officeart/2005/8/layout/orgChart1"/>
    <dgm:cxn modelId="{846D0AEC-5254-4838-AE31-2F73E9A1CE8A}" type="presParOf" srcId="{97A84B52-06FE-4612-90DE-848C66E3EBBB}" destId="{B4A07FFB-E9D8-47A3-85F7-CD733BE96E17}" srcOrd="1" destOrd="0" presId="urn:microsoft.com/office/officeart/2005/8/layout/orgChart1"/>
    <dgm:cxn modelId="{C93209FF-5D6F-44BF-942C-ACC34703B39E}" type="presParOf" srcId="{97A84B52-06FE-4612-90DE-848C66E3EBBB}" destId="{2F894087-67CC-4970-AF08-A0A0F0DD2130}" srcOrd="2" destOrd="0" presId="urn:microsoft.com/office/officeart/2005/8/layout/orgChart1"/>
    <dgm:cxn modelId="{5E8FF8EC-01B5-4B76-8D76-5C2D01BBB81F}" type="presParOf" srcId="{E963DCEC-C273-4157-84C9-25CE8CA4F8E3}" destId="{99D2B7D8-1ABC-4C1A-A3DE-BB3FBF55F06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41353-A0F4-4DD2-AF90-B2B2D232929F}" type="datetimeFigureOut">
              <a:rPr lang="zh-CN" altLang="en-US" smtClean="0"/>
              <a:t>2019/05/11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74753-AFF2-43A3-98C7-386D01E49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9763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89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阿法狗李世石人机大战</a:t>
            </a:r>
            <a:r>
              <a:rPr lang="en-US" altLang="zh-CN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用于人脸识别的平均脸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602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阿法狗李世石人机大战</a:t>
            </a:r>
            <a:r>
              <a:rPr lang="en-US" altLang="zh-CN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用于人脸识别的平均脸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602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阿法狗李世石人机大战</a:t>
            </a:r>
            <a:r>
              <a:rPr lang="en-US" altLang="zh-CN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用于人脸识别的平均脸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602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冯氏计算机经典五大部件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095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冯氏计算机经典五大部件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095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083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863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67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9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17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75100" y="1016710"/>
            <a:ext cx="41623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25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instructional strategies</a:t>
            </a:r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58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接连接符 1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instructional strategies</a:t>
            </a:r>
          </a:p>
        </p:txBody>
      </p:sp>
    </p:spTree>
    <p:extLst>
      <p:ext uri="{BB962C8B-B14F-4D97-AF65-F5344CB8AC3E}">
        <p14:creationId xmlns:p14="http://schemas.microsoft.com/office/powerpoint/2010/main" val="188328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直接连接符 13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08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0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56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75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8" y="-14371"/>
            <a:ext cx="229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>
              <a:solidFill>
                <a:srgbClr val="333333"/>
              </a:solidFill>
              <a:latin typeface="Gill Sans Ultra Bold" pitchFamily="34" charset="0"/>
            </a:endParaRPr>
          </a:p>
        </p:txBody>
      </p:sp>
      <p:grpSp>
        <p:nvGrpSpPr>
          <p:cNvPr id="59" name="组合 58"/>
          <p:cNvGrpSpPr/>
          <p:nvPr userDrawn="1"/>
        </p:nvGrpSpPr>
        <p:grpSpPr>
          <a:xfrm>
            <a:off x="4419649" y="-715238"/>
            <a:ext cx="1742672" cy="1397180"/>
            <a:chOff x="3314736" y="-715238"/>
            <a:chExt cx="1307004" cy="1397180"/>
          </a:xfrm>
        </p:grpSpPr>
        <p:grpSp>
          <p:nvGrpSpPr>
            <p:cNvPr id="34" name="组合 33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35" name="TextBox 34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6" name="TextBox 35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8210957" y="-708071"/>
            <a:ext cx="1714191" cy="1393350"/>
            <a:chOff x="6158217" y="-708071"/>
            <a:chExt cx="1285643" cy="1393350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43" name="圆角矩形 42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1" name="TextBox 40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2" name="TextBox 41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  <p:grpSp>
        <p:nvGrpSpPr>
          <p:cNvPr id="62" name="组合 61"/>
          <p:cNvGrpSpPr/>
          <p:nvPr userDrawn="1"/>
        </p:nvGrpSpPr>
        <p:grpSpPr>
          <a:xfrm>
            <a:off x="10128745" y="-700407"/>
            <a:ext cx="1705296" cy="1393103"/>
            <a:chOff x="7596559" y="-700407"/>
            <a:chExt cx="1278972" cy="1393103"/>
          </a:xfrm>
        </p:grpSpPr>
        <p:grpSp>
          <p:nvGrpSpPr>
            <p:cNvPr id="46" name="组合 45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7" name="TextBox 46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8" name="TextBox 47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  <p:grpSp>
        <p:nvGrpSpPr>
          <p:cNvPr id="60" name="组合 59"/>
          <p:cNvGrpSpPr/>
          <p:nvPr userDrawn="1"/>
        </p:nvGrpSpPr>
        <p:grpSpPr>
          <a:xfrm>
            <a:off x="6301954" y="-711878"/>
            <a:ext cx="1714296" cy="1394349"/>
            <a:chOff x="4726465" y="-711878"/>
            <a:chExt cx="1285722" cy="1394349"/>
          </a:xfrm>
        </p:grpSpPr>
        <p:grpSp>
          <p:nvGrpSpPr>
            <p:cNvPr id="52" name="组合 51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3" name="TextBox 52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4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31693"/>
            <a:ext cx="12192001" cy="68705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xmlns="" id="{3AF7CF07-C3D1-48FA-AC1F-1CC74323FA7E}"/>
              </a:ext>
            </a:extLst>
          </p:cNvPr>
          <p:cNvCxnSpPr>
            <a:cxnSpLocks/>
          </p:cNvCxnSpPr>
          <p:nvPr/>
        </p:nvCxnSpPr>
        <p:spPr>
          <a:xfrm>
            <a:off x="2149057" y="3429000"/>
            <a:ext cx="7342288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284">
            <a:extLst>
              <a:ext uri="{FF2B5EF4-FFF2-40B4-BE49-F238E27FC236}">
                <a16:creationId xmlns:a16="http://schemas.microsoft.com/office/drawing/2014/main" xmlns="" id="{F0A56CFD-663E-4AFB-BF60-D093C87FDC59}"/>
              </a:ext>
            </a:extLst>
          </p:cNvPr>
          <p:cNvSpPr>
            <a:spLocks noEditPoints="1"/>
          </p:cNvSpPr>
          <p:nvPr/>
        </p:nvSpPr>
        <p:spPr bwMode="auto">
          <a:xfrm>
            <a:off x="8933349" y="4285049"/>
            <a:ext cx="1914405" cy="1419137"/>
          </a:xfrm>
          <a:custGeom>
            <a:avLst/>
            <a:gdLst>
              <a:gd name="T0" fmla="*/ 1 w 85"/>
              <a:gd name="T1" fmla="*/ 0 h 63"/>
              <a:gd name="T2" fmla="*/ 0 w 85"/>
              <a:gd name="T3" fmla="*/ 62 h 63"/>
              <a:gd name="T4" fmla="*/ 16 w 85"/>
              <a:gd name="T5" fmla="*/ 63 h 63"/>
              <a:gd name="T6" fmla="*/ 18 w 85"/>
              <a:gd name="T7" fmla="*/ 1 h 63"/>
              <a:gd name="T8" fmla="*/ 2 w 85"/>
              <a:gd name="T9" fmla="*/ 5 h 63"/>
              <a:gd name="T10" fmla="*/ 14 w 85"/>
              <a:gd name="T11" fmla="*/ 4 h 63"/>
              <a:gd name="T12" fmla="*/ 16 w 85"/>
              <a:gd name="T13" fmla="*/ 28 h 63"/>
              <a:gd name="T14" fmla="*/ 3 w 85"/>
              <a:gd name="T15" fmla="*/ 29 h 63"/>
              <a:gd name="T16" fmla="*/ 2 w 85"/>
              <a:gd name="T17" fmla="*/ 5 h 63"/>
              <a:gd name="T18" fmla="*/ 2 w 85"/>
              <a:gd name="T19" fmla="*/ 56 h 63"/>
              <a:gd name="T20" fmla="*/ 2 w 85"/>
              <a:gd name="T21" fmla="*/ 55 h 63"/>
              <a:gd name="T22" fmla="*/ 16 w 85"/>
              <a:gd name="T23" fmla="*/ 56 h 63"/>
              <a:gd name="T24" fmla="*/ 16 w 85"/>
              <a:gd name="T25" fmla="*/ 52 h 63"/>
              <a:gd name="T26" fmla="*/ 2 w 85"/>
              <a:gd name="T27" fmla="*/ 52 h 63"/>
              <a:gd name="T28" fmla="*/ 16 w 85"/>
              <a:gd name="T29" fmla="*/ 51 h 63"/>
              <a:gd name="T30" fmla="*/ 16 w 85"/>
              <a:gd name="T31" fmla="*/ 52 h 63"/>
              <a:gd name="T32" fmla="*/ 21 w 85"/>
              <a:gd name="T33" fmla="*/ 0 h 63"/>
              <a:gd name="T34" fmla="*/ 19 w 85"/>
              <a:gd name="T35" fmla="*/ 62 h 63"/>
              <a:gd name="T36" fmla="*/ 36 w 85"/>
              <a:gd name="T37" fmla="*/ 63 h 63"/>
              <a:gd name="T38" fmla="*/ 38 w 85"/>
              <a:gd name="T39" fmla="*/ 1 h 63"/>
              <a:gd name="T40" fmla="*/ 22 w 85"/>
              <a:gd name="T41" fmla="*/ 5 h 63"/>
              <a:gd name="T42" fmla="*/ 34 w 85"/>
              <a:gd name="T43" fmla="*/ 4 h 63"/>
              <a:gd name="T44" fmla="*/ 35 w 85"/>
              <a:gd name="T45" fmla="*/ 28 h 63"/>
              <a:gd name="T46" fmla="*/ 23 w 85"/>
              <a:gd name="T47" fmla="*/ 29 h 63"/>
              <a:gd name="T48" fmla="*/ 22 w 85"/>
              <a:gd name="T49" fmla="*/ 5 h 63"/>
              <a:gd name="T50" fmla="*/ 22 w 85"/>
              <a:gd name="T51" fmla="*/ 56 h 63"/>
              <a:gd name="T52" fmla="*/ 22 w 85"/>
              <a:gd name="T53" fmla="*/ 55 h 63"/>
              <a:gd name="T54" fmla="*/ 36 w 85"/>
              <a:gd name="T55" fmla="*/ 56 h 63"/>
              <a:gd name="T56" fmla="*/ 35 w 85"/>
              <a:gd name="T57" fmla="*/ 52 h 63"/>
              <a:gd name="T58" fmla="*/ 21 w 85"/>
              <a:gd name="T59" fmla="*/ 52 h 63"/>
              <a:gd name="T60" fmla="*/ 35 w 85"/>
              <a:gd name="T61" fmla="*/ 51 h 63"/>
              <a:gd name="T62" fmla="*/ 35 w 85"/>
              <a:gd name="T63" fmla="*/ 52 h 63"/>
              <a:gd name="T64" fmla="*/ 53 w 85"/>
              <a:gd name="T65" fmla="*/ 1 h 63"/>
              <a:gd name="T66" fmla="*/ 38 w 85"/>
              <a:gd name="T67" fmla="*/ 9 h 63"/>
              <a:gd name="T68" fmla="*/ 69 w 85"/>
              <a:gd name="T69" fmla="*/ 62 h 63"/>
              <a:gd name="T70" fmla="*/ 84 w 85"/>
              <a:gd name="T71" fmla="*/ 55 h 63"/>
              <a:gd name="T72" fmla="*/ 64 w 85"/>
              <a:gd name="T73" fmla="*/ 27 h 63"/>
              <a:gd name="T74" fmla="*/ 53 w 85"/>
              <a:gd name="T75" fmla="*/ 32 h 63"/>
              <a:gd name="T76" fmla="*/ 42 w 85"/>
              <a:gd name="T77" fmla="*/ 11 h 63"/>
              <a:gd name="T78" fmla="*/ 53 w 85"/>
              <a:gd name="T79" fmla="*/ 6 h 63"/>
              <a:gd name="T80" fmla="*/ 64 w 85"/>
              <a:gd name="T81" fmla="*/ 27 h 63"/>
              <a:gd name="T82" fmla="*/ 66 w 85"/>
              <a:gd name="T83" fmla="*/ 52 h 63"/>
              <a:gd name="T84" fmla="*/ 78 w 85"/>
              <a:gd name="T85" fmla="*/ 46 h 63"/>
              <a:gd name="T86" fmla="*/ 66 w 85"/>
              <a:gd name="T87" fmla="*/ 53 h 63"/>
              <a:gd name="T88" fmla="*/ 80 w 85"/>
              <a:gd name="T89" fmla="*/ 49 h 63"/>
              <a:gd name="T90" fmla="*/ 68 w 85"/>
              <a:gd name="T91" fmla="*/ 56 h 63"/>
              <a:gd name="T92" fmla="*/ 79 w 85"/>
              <a:gd name="T93" fmla="*/ 49 h 63"/>
              <a:gd name="T94" fmla="*/ 80 w 85"/>
              <a:gd name="T95" fmla="*/ 4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5" h="63">
                <a:moveTo>
                  <a:pt x="16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1" y="63"/>
                  <a:pt x="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7" y="63"/>
                  <a:pt x="18" y="62"/>
                  <a:pt x="18" y="62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7" y="0"/>
                  <a:pt x="16" y="0"/>
                </a:cubicBezTo>
                <a:close/>
                <a:moveTo>
                  <a:pt x="2" y="5"/>
                </a:moveTo>
                <a:cubicBezTo>
                  <a:pt x="2" y="4"/>
                  <a:pt x="3" y="4"/>
                  <a:pt x="3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4"/>
                  <a:pt x="16" y="5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5" y="29"/>
                  <a:pt x="1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2" y="28"/>
                  <a:pt x="2" y="28"/>
                </a:cubicBezTo>
                <a:lnTo>
                  <a:pt x="2" y="5"/>
                </a:lnTo>
                <a:close/>
                <a:moveTo>
                  <a:pt x="16" y="56"/>
                </a:moveTo>
                <a:cubicBezTo>
                  <a:pt x="2" y="56"/>
                  <a:pt x="2" y="56"/>
                  <a:pt x="2" y="56"/>
                </a:cubicBezTo>
                <a:cubicBezTo>
                  <a:pt x="2" y="56"/>
                  <a:pt x="2" y="56"/>
                  <a:pt x="2" y="56"/>
                </a:cubicBezTo>
                <a:cubicBezTo>
                  <a:pt x="2" y="55"/>
                  <a:pt x="2" y="55"/>
                  <a:pt x="2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6" y="55"/>
                  <a:pt x="16" y="55"/>
                  <a:pt x="16" y="56"/>
                </a:cubicBezTo>
                <a:cubicBezTo>
                  <a:pt x="16" y="56"/>
                  <a:pt x="16" y="56"/>
                  <a:pt x="16" y="56"/>
                </a:cubicBezTo>
                <a:close/>
                <a:moveTo>
                  <a:pt x="16" y="52"/>
                </a:move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1"/>
                  <a:pt x="2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51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lose/>
                <a:moveTo>
                  <a:pt x="36" y="0"/>
                </a:move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19" y="1"/>
                  <a:pt x="19" y="1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20" y="63"/>
                  <a:pt x="2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7" y="63"/>
                  <a:pt x="38" y="62"/>
                  <a:pt x="38" y="62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1"/>
                  <a:pt x="37" y="0"/>
                  <a:pt x="36" y="0"/>
                </a:cubicBezTo>
                <a:close/>
                <a:moveTo>
                  <a:pt x="22" y="5"/>
                </a:moveTo>
                <a:cubicBezTo>
                  <a:pt x="22" y="4"/>
                  <a:pt x="22" y="4"/>
                  <a:pt x="23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5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8"/>
                  <a:pt x="35" y="29"/>
                  <a:pt x="34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29"/>
                  <a:pt x="22" y="28"/>
                  <a:pt x="22" y="28"/>
                </a:cubicBezTo>
                <a:lnTo>
                  <a:pt x="22" y="5"/>
                </a:lnTo>
                <a:close/>
                <a:moveTo>
                  <a:pt x="35" y="56"/>
                </a:moveTo>
                <a:cubicBezTo>
                  <a:pt x="22" y="56"/>
                  <a:pt x="22" y="56"/>
                  <a:pt x="22" y="56"/>
                </a:cubicBezTo>
                <a:cubicBezTo>
                  <a:pt x="22" y="56"/>
                  <a:pt x="21" y="56"/>
                  <a:pt x="21" y="56"/>
                </a:cubicBezTo>
                <a:cubicBezTo>
                  <a:pt x="21" y="55"/>
                  <a:pt x="22" y="55"/>
                  <a:pt x="22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5"/>
                  <a:pt x="36" y="55"/>
                  <a:pt x="36" y="56"/>
                </a:cubicBezTo>
                <a:cubicBezTo>
                  <a:pt x="36" y="56"/>
                  <a:pt x="35" y="56"/>
                  <a:pt x="35" y="56"/>
                </a:cubicBezTo>
                <a:close/>
                <a:moveTo>
                  <a:pt x="35" y="52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1" y="52"/>
                  <a:pt x="21" y="52"/>
                </a:cubicBezTo>
                <a:cubicBezTo>
                  <a:pt x="21" y="52"/>
                  <a:pt x="22" y="51"/>
                  <a:pt x="22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6" y="52"/>
                  <a:pt x="36" y="52"/>
                </a:cubicBezTo>
                <a:cubicBezTo>
                  <a:pt x="36" y="52"/>
                  <a:pt x="35" y="52"/>
                  <a:pt x="35" y="52"/>
                </a:cubicBezTo>
                <a:close/>
                <a:moveTo>
                  <a:pt x="85" y="53"/>
                </a:move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1"/>
                  <a:pt x="51" y="1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8" y="11"/>
                </a:cubicBezTo>
                <a:cubicBezTo>
                  <a:pt x="69" y="62"/>
                  <a:pt x="69" y="62"/>
                  <a:pt x="69" y="62"/>
                </a:cubicBezTo>
                <a:cubicBezTo>
                  <a:pt x="70" y="63"/>
                  <a:pt x="70" y="63"/>
                  <a:pt x="71" y="62"/>
                </a:cubicBezTo>
                <a:cubicBezTo>
                  <a:pt x="84" y="55"/>
                  <a:pt x="84" y="55"/>
                  <a:pt x="84" y="55"/>
                </a:cubicBezTo>
                <a:cubicBezTo>
                  <a:pt x="85" y="54"/>
                  <a:pt x="85" y="53"/>
                  <a:pt x="85" y="53"/>
                </a:cubicBezTo>
                <a:close/>
                <a:moveTo>
                  <a:pt x="64" y="27"/>
                </a:moveTo>
                <a:cubicBezTo>
                  <a:pt x="55" y="32"/>
                  <a:pt x="55" y="32"/>
                  <a:pt x="55" y="32"/>
                </a:cubicBezTo>
                <a:cubicBezTo>
                  <a:pt x="54" y="33"/>
                  <a:pt x="54" y="33"/>
                  <a:pt x="53" y="32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41" y="11"/>
                  <a:pt x="42" y="11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5"/>
                  <a:pt x="53" y="5"/>
                  <a:pt x="53" y="6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26"/>
                  <a:pt x="65" y="26"/>
                  <a:pt x="64" y="27"/>
                </a:cubicBezTo>
                <a:close/>
                <a:moveTo>
                  <a:pt x="66" y="53"/>
                </a:moveTo>
                <a:cubicBezTo>
                  <a:pt x="66" y="53"/>
                  <a:pt x="66" y="53"/>
                  <a:pt x="66" y="52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8" y="45"/>
                  <a:pt x="78" y="46"/>
                </a:cubicBezTo>
                <a:cubicBezTo>
                  <a:pt x="78" y="46"/>
                  <a:pt x="78" y="46"/>
                  <a:pt x="78" y="46"/>
                </a:cubicBezTo>
                <a:cubicBezTo>
                  <a:pt x="66" y="53"/>
                  <a:pt x="66" y="53"/>
                  <a:pt x="66" y="53"/>
                </a:cubicBezTo>
                <a:cubicBezTo>
                  <a:pt x="66" y="53"/>
                  <a:pt x="66" y="53"/>
                  <a:pt x="66" y="53"/>
                </a:cubicBezTo>
                <a:close/>
                <a:moveTo>
                  <a:pt x="80" y="49"/>
                </a:move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79" y="49"/>
                  <a:pt x="79" y="49"/>
                  <a:pt x="79" y="49"/>
                </a:cubicBezTo>
                <a:cubicBezTo>
                  <a:pt x="80" y="48"/>
                  <a:pt x="80" y="49"/>
                  <a:pt x="80" y="49"/>
                </a:cubicBezTo>
                <a:cubicBezTo>
                  <a:pt x="80" y="49"/>
                  <a:pt x="80" y="49"/>
                  <a:pt x="80" y="49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xmlns="" id="{3D44ABC1-E21D-46A6-AF90-9746A111A621}"/>
              </a:ext>
            </a:extLst>
          </p:cNvPr>
          <p:cNvGrpSpPr/>
          <p:nvPr/>
        </p:nvGrpSpPr>
        <p:grpSpPr>
          <a:xfrm>
            <a:off x="-17094" y="-399144"/>
            <a:ext cx="863598" cy="7656288"/>
            <a:chOff x="-11273" y="-594773"/>
            <a:chExt cx="719786" cy="7462505"/>
          </a:xfrm>
        </p:grpSpPr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xmlns="" id="{9D978FFE-21AB-4973-AC5C-6DDD0B0417D6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xmlns="" id="{5920837E-20BF-4C1A-AB52-C42C213E6CEF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xmlns="" id="{2E2B046E-4F44-45B0-81C6-0C98BE11AEBD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xmlns="" id="{54F5B9E1-B9C4-4E6A-BAC8-B698C4D76C19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xmlns="" id="{A05BE209-FBDF-4191-8712-F6215DE4CD3A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:a16="http://schemas.microsoft.com/office/drawing/2014/main" xmlns="" id="{7315F6CE-D3BC-4B15-B5E6-653ED8A8DBA5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xmlns="" id="{8A69D79C-1A42-4021-82FC-6331F9AA87D6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xmlns="" id="{ABB0925A-C905-4AEB-A7B9-2A4A52B649B8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xmlns="" id="{8AAF126E-DD1E-4E03-AA7D-C0E9D162295B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:a16="http://schemas.microsoft.com/office/drawing/2014/main" xmlns="" id="{9CD66783-D6B8-4855-929A-848959D1A623}"/>
              </a:ext>
            </a:extLst>
          </p:cNvPr>
          <p:cNvSpPr txBox="1"/>
          <p:nvPr/>
        </p:nvSpPr>
        <p:spPr>
          <a:xfrm>
            <a:off x="2232291" y="2428075"/>
            <a:ext cx="68050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Python 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网络爬虫技术</a:t>
            </a:r>
            <a:endParaRPr lang="en-US" altLang="zh-CN" sz="5400" smtClean="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5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338848" cy="504056"/>
            <a:chOff x="169526" y="203448"/>
            <a:chExt cx="3338848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72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什么是网络爬虫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107474" y="884255"/>
            <a:ext cx="949353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200" smtClean="0">
                <a:latin typeface="+mn-ea"/>
              </a:rPr>
              <a:t>网络爬虫又称为网页蜘蛛，它是一种程序，可以按照既定规则，自动的</a:t>
            </a:r>
            <a:r>
              <a:rPr lang="zh-CN" altLang="en-US" sz="2200">
                <a:latin typeface="+mn-ea"/>
              </a:rPr>
              <a:t>抓取</a:t>
            </a:r>
            <a:r>
              <a:rPr lang="zh-CN" altLang="en-US" sz="2200" smtClean="0">
                <a:latin typeface="+mn-ea"/>
              </a:rPr>
              <a:t>网络数据或执行网络请求。</a:t>
            </a:r>
            <a:endParaRPr lang="en-US" altLang="zh-CN" sz="220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200" smtClean="0">
                <a:latin typeface="+mn-ea"/>
              </a:rPr>
              <a:t>互联网上存放了海量的数据，网站上一个一个的网页</a:t>
            </a:r>
            <a:r>
              <a:rPr lang="zh-CN" altLang="en-US" sz="2200">
                <a:latin typeface="+mn-ea"/>
              </a:rPr>
              <a:t>好比</a:t>
            </a:r>
            <a:r>
              <a:rPr lang="zh-CN" altLang="en-US" sz="2200" smtClean="0">
                <a:latin typeface="+mn-ea"/>
              </a:rPr>
              <a:t>蜘蛛网，爬虫程序可以抓取网页上的数据，然后利用网页之间的关联关系，从一个网页跳转去另一个网页，继续执行抓取任务。</a:t>
            </a:r>
            <a:endParaRPr lang="en-US" altLang="zh-CN" sz="220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200" smtClean="0">
                <a:latin typeface="+mn-ea"/>
              </a:rPr>
              <a:t>网络爬虫程序还可以模拟正常用户的行为，执行特定的网络请求，例如：用户登录，网站内容查询，新建商品订单等等。</a:t>
            </a:r>
            <a:endParaRPr lang="en-US" altLang="zh-CN" sz="220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200" smtClean="0">
                <a:latin typeface="+mn-ea"/>
              </a:rPr>
              <a:t>网络爬虫只是一种技术，无所谓善恶，取决于使用者的目的。例如，搜索引擎采用爬虫技术给人们带来了便利，而各类抢票软件则给广大正常用户造成了不便。</a:t>
            </a:r>
            <a:endParaRPr lang="zh-CN" altLang="en-US" sz="2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557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19" y="203448"/>
            <a:ext cx="4080133" cy="504056"/>
            <a:chOff x="169526" y="203448"/>
            <a:chExt cx="3338848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72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爬虫技术应用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177813" y="1366575"/>
            <a:ext cx="93327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smtClean="0">
                <a:latin typeface="+mn-ea"/>
              </a:rPr>
              <a:t>搜索引擎，</a:t>
            </a:r>
            <a:r>
              <a:rPr lang="en-US" altLang="zh-CN" sz="2400" smtClean="0">
                <a:latin typeface="+mn-ea"/>
              </a:rPr>
              <a:t>  </a:t>
            </a:r>
            <a:r>
              <a:rPr lang="zh-CN" altLang="en-US" sz="2400" smtClean="0">
                <a:latin typeface="+mn-ea"/>
              </a:rPr>
              <a:t>百度、谷歌</a:t>
            </a:r>
            <a:endParaRPr lang="en-US" altLang="zh-CN" sz="2400" smtClean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smtClean="0">
                <a:latin typeface="+mn-ea"/>
              </a:rPr>
              <a:t>刷票软件，  </a:t>
            </a:r>
            <a:r>
              <a:rPr lang="en-US" altLang="zh-CN" sz="2400" smtClean="0">
                <a:latin typeface="+mn-ea"/>
              </a:rPr>
              <a:t>12306</a:t>
            </a:r>
            <a:r>
              <a:rPr lang="zh-CN" altLang="en-US" sz="2400" smtClean="0">
                <a:latin typeface="+mn-ea"/>
              </a:rPr>
              <a:t>、亚航</a:t>
            </a:r>
            <a:endParaRPr lang="en-US" altLang="zh-CN" sz="2400" smtClean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smtClean="0">
                <a:latin typeface="+mn-ea"/>
              </a:rPr>
              <a:t>社交平台，  微博僵尸粉</a:t>
            </a:r>
            <a:endParaRPr lang="en-US" altLang="zh-CN" sz="2400" smtClean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 smtClean="0">
                <a:latin typeface="+mn-ea"/>
              </a:rPr>
              <a:t>电商类，     不同电商平台之间或某平台历史价格比较</a:t>
            </a:r>
            <a:endParaRPr lang="en-US" altLang="zh-CN" sz="240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57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19" y="203448"/>
            <a:ext cx="4080133" cy="504056"/>
            <a:chOff x="169526" y="203448"/>
            <a:chExt cx="3338848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72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爬虫技术应用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910590" y="871937"/>
            <a:ext cx="94935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smtClean="0">
                <a:latin typeface="+mn-ea"/>
              </a:rPr>
              <a:t>刷票</a:t>
            </a:r>
            <a:r>
              <a:rPr lang="zh-CN" altLang="en-US" sz="2200">
                <a:latin typeface="+mn-ea"/>
              </a:rPr>
              <a:t>类</a:t>
            </a:r>
            <a:r>
              <a:rPr lang="zh-CN" altLang="en-US" sz="2200" smtClean="0">
                <a:latin typeface="+mn-ea"/>
              </a:rPr>
              <a:t>软件的现状</a:t>
            </a:r>
            <a:endParaRPr lang="en-US" altLang="zh-CN" sz="2200" smtClean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302" y="1424892"/>
            <a:ext cx="10225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smtClean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zh-CN" altLang="en-US" sz="2000" b="1" smtClean="0">
                <a:solidFill>
                  <a:schemeClr val="accent2">
                    <a:lumMod val="75000"/>
                  </a:schemeClr>
                </a:solidFill>
              </a:rPr>
              <a:t>铁路</a:t>
            </a:r>
            <a:endParaRPr lang="en-US" altLang="zh-CN" sz="2000" b="1" smtClean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 altLang="zh-CN" sz="2000" smtClean="0"/>
              <a:t>12306</a:t>
            </a:r>
            <a:r>
              <a:rPr lang="zh-CN" altLang="en-US" sz="2000" smtClean="0"/>
              <a:t>公开数据称：</a:t>
            </a:r>
            <a:r>
              <a:rPr lang="en-US" altLang="zh-CN" sz="2000" smtClean="0"/>
              <a:t> “ </a:t>
            </a:r>
            <a:r>
              <a:rPr lang="zh-CN" altLang="en-US" sz="2000" smtClean="0"/>
              <a:t>春节前最高峰</a:t>
            </a:r>
            <a:r>
              <a:rPr lang="zh-CN" altLang="en-US" sz="2000"/>
              <a:t>时</a:t>
            </a:r>
            <a:r>
              <a:rPr lang="en-US" altLang="zh-CN" sz="2000"/>
              <a:t>1</a:t>
            </a:r>
            <a:r>
              <a:rPr lang="zh-CN" altLang="en-US" sz="2000"/>
              <a:t>天内页面浏览量达</a:t>
            </a:r>
            <a:r>
              <a:rPr lang="en-US" altLang="zh-CN" sz="2000"/>
              <a:t>813.4</a:t>
            </a:r>
            <a:r>
              <a:rPr lang="zh-CN" altLang="en-US" sz="2000"/>
              <a:t>亿次，</a:t>
            </a:r>
            <a:r>
              <a:rPr lang="en-US" altLang="zh-CN" sz="2000"/>
              <a:t>1</a:t>
            </a:r>
            <a:r>
              <a:rPr lang="zh-CN" altLang="en-US" sz="2000"/>
              <a:t>小时最高点击量</a:t>
            </a:r>
            <a:r>
              <a:rPr lang="en-US" altLang="zh-CN" sz="2000"/>
              <a:t>59.3</a:t>
            </a:r>
            <a:r>
              <a:rPr lang="zh-CN" altLang="en-US" sz="2000"/>
              <a:t>亿次，平均每秒</a:t>
            </a:r>
            <a:r>
              <a:rPr lang="en-US" altLang="zh-CN" sz="2000"/>
              <a:t>164.8</a:t>
            </a:r>
            <a:r>
              <a:rPr lang="zh-CN" altLang="en-US" sz="2000"/>
              <a:t>万</a:t>
            </a:r>
            <a:r>
              <a:rPr lang="zh-CN" altLang="en-US" sz="2000" smtClean="0"/>
              <a:t>次</a:t>
            </a:r>
            <a:r>
              <a:rPr lang="en-US" altLang="zh-CN" sz="2000" smtClean="0"/>
              <a:t>  ”</a:t>
            </a:r>
            <a:r>
              <a:rPr lang="zh-CN" altLang="en-US" sz="2000"/>
              <a:t>。在每秒</a:t>
            </a:r>
            <a:r>
              <a:rPr lang="en-US" altLang="zh-CN" sz="2000"/>
              <a:t>164.8</a:t>
            </a:r>
            <a:r>
              <a:rPr lang="zh-CN" altLang="en-US" sz="2000"/>
              <a:t>万次点击背后，不仅是全国人民急切的回家之心，还有无数刷票软件带来的天量点击</a:t>
            </a:r>
            <a:r>
              <a:rPr lang="zh-CN" altLang="en-US" sz="2000" smtClean="0"/>
              <a:t>。</a:t>
            </a:r>
            <a:endParaRPr lang="en-US" altLang="zh-CN" sz="2000" smtClean="0"/>
          </a:p>
        </p:txBody>
      </p:sp>
      <p:sp>
        <p:nvSpPr>
          <p:cNvPr id="6" name="TextBox 5"/>
          <p:cNvSpPr txBox="1"/>
          <p:nvPr/>
        </p:nvSpPr>
        <p:spPr>
          <a:xfrm>
            <a:off x="478301" y="2763510"/>
            <a:ext cx="6143563" cy="328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b="1" smtClean="0">
                <a:solidFill>
                  <a:schemeClr val="accent2">
                    <a:lumMod val="75000"/>
                  </a:schemeClr>
                </a:solidFill>
              </a:rPr>
              <a:t>    航空</a:t>
            </a:r>
            <a:endParaRPr lang="en-US" altLang="zh-CN" sz="2000" b="1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ts val="2500"/>
              </a:lnSpc>
            </a:pPr>
            <a:r>
              <a:rPr lang="zh-CN" altLang="en-US" smtClean="0"/>
              <a:t>最悲情的航空公司：亚航（马来西亚）</a:t>
            </a:r>
            <a:endParaRPr lang="en-US" altLang="zh-CN" smtClean="0"/>
          </a:p>
          <a:p>
            <a:pPr lvl="1">
              <a:lnSpc>
                <a:spcPts val="2500"/>
              </a:lnSpc>
            </a:pPr>
            <a:r>
              <a:rPr lang="zh-CN" altLang="en-US"/>
              <a:t>亚航的初衷只是随机放出一些便宜的票来吸引游客</a:t>
            </a:r>
            <a:r>
              <a:rPr lang="zh-CN" altLang="en-US" smtClean="0"/>
              <a:t>，黄牛党们则利用爬虫软件，</a:t>
            </a:r>
            <a:r>
              <a:rPr lang="zh-CN" altLang="en-US"/>
              <a:t>不断刷新亚航的票务接口，一旦出现便宜的</a:t>
            </a:r>
            <a:r>
              <a:rPr lang="zh-CN" altLang="en-US" smtClean="0"/>
              <a:t>票立刻拍下。</a:t>
            </a:r>
            <a:endParaRPr lang="en-US" altLang="zh-CN" smtClean="0"/>
          </a:p>
          <a:p>
            <a:pPr lvl="1">
              <a:lnSpc>
                <a:spcPts val="2500"/>
              </a:lnSpc>
            </a:pPr>
            <a:r>
              <a:rPr lang="zh-CN" altLang="en-US" smtClean="0"/>
              <a:t>亚航规定，机票拍下半小时内不付款</a:t>
            </a:r>
            <a:r>
              <a:rPr lang="zh-CN" altLang="en-US"/>
              <a:t>，</a:t>
            </a:r>
            <a:r>
              <a:rPr lang="zh-CN" altLang="en-US" smtClean="0"/>
              <a:t>票自动</a:t>
            </a:r>
            <a:r>
              <a:rPr lang="zh-CN" altLang="en-US"/>
              <a:t>回到票</a:t>
            </a:r>
            <a:r>
              <a:rPr lang="zh-CN" altLang="en-US" smtClean="0"/>
              <a:t>池。而爬虫</a:t>
            </a:r>
            <a:r>
              <a:rPr lang="zh-CN" altLang="en-US"/>
              <a:t>脚本</a:t>
            </a:r>
            <a:r>
              <a:rPr lang="zh-CN" altLang="en-US" smtClean="0"/>
              <a:t>里设定了精确</a:t>
            </a:r>
            <a:r>
              <a:rPr lang="zh-CN" altLang="en-US"/>
              <a:t>的时间，</a:t>
            </a:r>
            <a:r>
              <a:rPr lang="zh-CN" altLang="en-US" smtClean="0"/>
              <a:t>到半小时后，爬虫会立刻再把机票拍</a:t>
            </a:r>
            <a:r>
              <a:rPr lang="zh-CN" altLang="en-US"/>
              <a:t>下来，如此循环</a:t>
            </a:r>
            <a:r>
              <a:rPr lang="zh-CN" altLang="en-US" smtClean="0"/>
              <a:t>。</a:t>
            </a:r>
            <a:r>
              <a:rPr lang="zh-CN" altLang="en-US"/>
              <a:t>直至</a:t>
            </a:r>
            <a:r>
              <a:rPr lang="zh-CN" altLang="en-US" smtClean="0"/>
              <a:t>有人向黄牛党预定这张机票，</a:t>
            </a:r>
            <a:r>
              <a:rPr lang="zh-CN" altLang="en-US"/>
              <a:t>黄牛党</a:t>
            </a:r>
            <a:r>
              <a:rPr lang="zh-CN" altLang="en-US" smtClean="0"/>
              <a:t>就利用程序在</a:t>
            </a:r>
            <a:r>
              <a:rPr lang="zh-CN" altLang="en-US"/>
              <a:t>亚航系统里</a:t>
            </a:r>
            <a:r>
              <a:rPr lang="zh-CN" altLang="en-US" smtClean="0"/>
              <a:t>放弃该票</a:t>
            </a:r>
            <a:r>
              <a:rPr lang="zh-CN" altLang="en-US"/>
              <a:t>，然后</a:t>
            </a:r>
            <a:r>
              <a:rPr lang="en-US" altLang="zh-CN" smtClean="0"/>
              <a:t>0.001</a:t>
            </a:r>
            <a:r>
              <a:rPr lang="zh-CN" altLang="en-US"/>
              <a:t>秒之后</a:t>
            </a:r>
            <a:r>
              <a:rPr lang="zh-CN" altLang="en-US" smtClean="0"/>
              <a:t>，用客户的</a:t>
            </a:r>
            <a:r>
              <a:rPr lang="zh-CN" altLang="en-US"/>
              <a:t>名字预定了这张票</a:t>
            </a:r>
            <a:r>
              <a:rPr lang="zh-CN" altLang="en-US" smtClean="0"/>
              <a:t>。</a:t>
            </a:r>
            <a:endParaRPr lang="zh-CN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028" y="2627751"/>
            <a:ext cx="5219608" cy="3590517"/>
          </a:xfrm>
          <a:prstGeom prst="rect">
            <a:avLst/>
          </a:prstGeom>
          <a:noFill/>
          <a:ln w="508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19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椭圆 7">
            <a:extLst>
              <a:ext uri="{FF2B5EF4-FFF2-40B4-BE49-F238E27FC236}">
                <a16:creationId xmlns:a16="http://schemas.microsoft.com/office/drawing/2014/main" xmlns="" id="{3A8C2EE4-2B9A-42DB-AD7B-7A8932BB106A}"/>
              </a:ext>
            </a:extLst>
          </p:cNvPr>
          <p:cNvSpPr/>
          <p:nvPr/>
        </p:nvSpPr>
        <p:spPr>
          <a:xfrm rot="5400000">
            <a:off x="2087856" y="3245736"/>
            <a:ext cx="3917626" cy="1075002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2354994" cy="504056"/>
            <a:chOff x="169526" y="203448"/>
            <a:chExt cx="2354994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1743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本 章 提 要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椭圆 7">
            <a:extLst>
              <a:ext uri="{FF2B5EF4-FFF2-40B4-BE49-F238E27FC236}">
                <a16:creationId xmlns:a16="http://schemas.microsoft.com/office/drawing/2014/main" xmlns="" id="{3C7760C4-4887-47A5-8107-41BE4B705798}"/>
              </a:ext>
            </a:extLst>
          </p:cNvPr>
          <p:cNvSpPr/>
          <p:nvPr/>
        </p:nvSpPr>
        <p:spPr>
          <a:xfrm rot="5400000" flipV="1">
            <a:off x="6560390" y="3157532"/>
            <a:ext cx="3917624" cy="1148198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xmlns="" id="{6976B71A-242C-4AF1-B19D-79D1C50C26F9}"/>
              </a:ext>
            </a:extLst>
          </p:cNvPr>
          <p:cNvCxnSpPr>
            <a:cxnSpLocks/>
          </p:cNvCxnSpPr>
          <p:nvPr/>
        </p:nvCxnSpPr>
        <p:spPr>
          <a:xfrm>
            <a:off x="3799219" y="3696928"/>
            <a:ext cx="494961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40">
            <a:extLst>
              <a:ext uri="{FF2B5EF4-FFF2-40B4-BE49-F238E27FC236}">
                <a16:creationId xmlns:a16="http://schemas.microsoft.com/office/drawing/2014/main" xmlns="" id="{F869DB1D-BA19-4502-A7B4-B36F519E1637}"/>
              </a:ext>
            </a:extLst>
          </p:cNvPr>
          <p:cNvSpPr txBox="1"/>
          <p:nvPr/>
        </p:nvSpPr>
        <p:spPr>
          <a:xfrm>
            <a:off x="898158" y="2148349"/>
            <a:ext cx="1943963" cy="417346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网络基础知识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41">
            <a:extLst>
              <a:ext uri="{FF2B5EF4-FFF2-40B4-BE49-F238E27FC236}">
                <a16:creationId xmlns:a16="http://schemas.microsoft.com/office/drawing/2014/main" xmlns="" id="{38503611-A151-4383-BC43-5D22E53A63B2}"/>
              </a:ext>
            </a:extLst>
          </p:cNvPr>
          <p:cNvSpPr txBox="1"/>
          <p:nvPr/>
        </p:nvSpPr>
        <p:spPr>
          <a:xfrm>
            <a:off x="898158" y="4218664"/>
            <a:ext cx="1988146" cy="777445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2.Requests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42">
            <a:extLst>
              <a:ext uri="{FF2B5EF4-FFF2-40B4-BE49-F238E27FC236}">
                <a16:creationId xmlns:a16="http://schemas.microsoft.com/office/drawing/2014/main" xmlns="" id="{A2FEA3FD-41CA-4442-8F40-F5E012005257}"/>
              </a:ext>
            </a:extLst>
          </p:cNvPr>
          <p:cNvSpPr txBox="1"/>
          <p:nvPr/>
        </p:nvSpPr>
        <p:spPr>
          <a:xfrm>
            <a:off x="9468330" y="4218664"/>
            <a:ext cx="2083235" cy="777445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综合实例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豆瓣书评的爬取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43">
            <a:extLst>
              <a:ext uri="{FF2B5EF4-FFF2-40B4-BE49-F238E27FC236}">
                <a16:creationId xmlns:a16="http://schemas.microsoft.com/office/drawing/2014/main" xmlns="" id="{C119E0E4-E4B1-453F-86AD-10A64C128094}"/>
              </a:ext>
            </a:extLst>
          </p:cNvPr>
          <p:cNvSpPr txBox="1"/>
          <p:nvPr/>
        </p:nvSpPr>
        <p:spPr>
          <a:xfrm>
            <a:off x="9439947" y="1920811"/>
            <a:ext cx="2140000" cy="777445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3.BeautifulSoup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库的使用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xmlns="" id="{6215802A-6EDC-4541-A486-8F58F9CBFAE8}"/>
              </a:ext>
            </a:extLst>
          </p:cNvPr>
          <p:cNvGrpSpPr/>
          <p:nvPr/>
        </p:nvGrpSpPr>
        <p:grpSpPr>
          <a:xfrm>
            <a:off x="5317554" y="2650555"/>
            <a:ext cx="1912944" cy="1912942"/>
            <a:chOff x="2690253" y="1702153"/>
            <a:chExt cx="4123259" cy="41232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xmlns="" id="{FA34BCC7-2EA8-43D4-9B32-E46D07E5EEE4}"/>
                </a:ext>
              </a:extLst>
            </p:cNvPr>
            <p:cNvGrpSpPr/>
            <p:nvPr/>
          </p:nvGrpSpPr>
          <p:grpSpPr>
            <a:xfrm>
              <a:off x="2690253" y="1702153"/>
              <a:ext cx="4123259" cy="4123256"/>
              <a:chOff x="2690253" y="1702153"/>
              <a:chExt cx="4123259" cy="4123256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xmlns="" id="{142BCF96-0059-4A7D-BF41-A28F1DFBBB39}"/>
                  </a:ext>
                </a:extLst>
              </p:cNvPr>
              <p:cNvSpPr/>
              <p:nvPr/>
            </p:nvSpPr>
            <p:spPr>
              <a:xfrm>
                <a:off x="2690253" y="1702153"/>
                <a:ext cx="4123259" cy="412325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xmlns="" id="{5E7E5D62-7BF7-49F1-B86A-D60E934BA3E1}"/>
                  </a:ext>
                </a:extLst>
              </p:cNvPr>
              <p:cNvSpPr/>
              <p:nvPr/>
            </p:nvSpPr>
            <p:spPr>
              <a:xfrm>
                <a:off x="2936823" y="1948721"/>
                <a:ext cx="3630119" cy="3630119"/>
              </a:xfrm>
              <a:prstGeom prst="ellipse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7" name="文本框 91">
              <a:extLst>
                <a:ext uri="{FF2B5EF4-FFF2-40B4-BE49-F238E27FC236}">
                  <a16:creationId xmlns:a16="http://schemas.microsoft.com/office/drawing/2014/main" xmlns="" id="{42FBEE05-2DB2-4082-BF2A-3E7EA5E121B7}"/>
                </a:ext>
              </a:extLst>
            </p:cNvPr>
            <p:cNvSpPr txBox="1"/>
            <p:nvPr/>
          </p:nvSpPr>
          <p:spPr>
            <a:xfrm>
              <a:off x="3786397" y="2727750"/>
              <a:ext cx="1945966" cy="2056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本章</a:t>
              </a:r>
              <a:endParaRPr lang="en-US" altLang="zh-CN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提要</a:t>
              </a:r>
              <a:endParaRPr lang="en-US" altLang="zh-CN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xmlns="" id="{661A192E-E421-4112-882F-5682C87F73CB}"/>
              </a:ext>
            </a:extLst>
          </p:cNvPr>
          <p:cNvGrpSpPr/>
          <p:nvPr/>
        </p:nvGrpSpPr>
        <p:grpSpPr>
          <a:xfrm>
            <a:off x="3047902" y="2036744"/>
            <a:ext cx="1075004" cy="1075004"/>
            <a:chOff x="3724322" y="1908536"/>
            <a:chExt cx="1329153" cy="1329153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xmlns="" id="{6FE42C3E-1386-4CBD-967B-077E22415C23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xmlns="" id="{487DB677-506C-4636-95E5-952F8B43EB1E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xmlns="" id="{CEDE32A8-4D89-4249-AD42-F25BA10942DD}"/>
              </a:ext>
            </a:extLst>
          </p:cNvPr>
          <p:cNvGrpSpPr/>
          <p:nvPr/>
        </p:nvGrpSpPr>
        <p:grpSpPr>
          <a:xfrm>
            <a:off x="3104669" y="4171535"/>
            <a:ext cx="1075004" cy="1075004"/>
            <a:chOff x="3724322" y="1908536"/>
            <a:chExt cx="1329153" cy="1329153"/>
          </a:xfrm>
        </p:grpSpPr>
        <p:sp>
          <p:nvSpPr>
            <p:cNvPr id="88" name="椭圆 87">
              <a:extLst>
                <a:ext uri="{FF2B5EF4-FFF2-40B4-BE49-F238E27FC236}">
                  <a16:creationId xmlns:a16="http://schemas.microsoft.com/office/drawing/2014/main" xmlns="" id="{9D4791D8-DE6A-4A95-A9FA-6C3168D0AC7B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xmlns="" id="{519FBF7B-0931-42FF-888B-E761129BC34F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xmlns="" id="{35FD89B6-5181-4F6A-A928-875CB9000AA6}"/>
              </a:ext>
            </a:extLst>
          </p:cNvPr>
          <p:cNvGrpSpPr/>
          <p:nvPr/>
        </p:nvGrpSpPr>
        <p:grpSpPr>
          <a:xfrm>
            <a:off x="8393326" y="4116265"/>
            <a:ext cx="1075004" cy="1075004"/>
            <a:chOff x="3724322" y="1908536"/>
            <a:chExt cx="1329153" cy="1329153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xmlns="" id="{92B14FA6-06C5-4841-A835-2E7C3D5D3B4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xmlns="" id="{9D2A4DB5-C452-4DAF-9F6B-B08CA8C50CA4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xmlns="" id="{A6BDEFAF-0EC8-4F6B-A627-8B584F4F4C33}"/>
              </a:ext>
            </a:extLst>
          </p:cNvPr>
          <p:cNvGrpSpPr/>
          <p:nvPr/>
        </p:nvGrpSpPr>
        <p:grpSpPr>
          <a:xfrm>
            <a:off x="8393326" y="2051366"/>
            <a:ext cx="1075004" cy="1075004"/>
            <a:chOff x="3724322" y="1908536"/>
            <a:chExt cx="1329153" cy="1329153"/>
          </a:xfrm>
        </p:grpSpPr>
        <p:sp>
          <p:nvSpPr>
            <p:cNvPr id="98" name="椭圆 97">
              <a:extLst>
                <a:ext uri="{FF2B5EF4-FFF2-40B4-BE49-F238E27FC236}">
                  <a16:creationId xmlns:a16="http://schemas.microsoft.com/office/drawing/2014/main" xmlns="" id="{C09D814B-D105-406C-BA26-E1FBA153853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xmlns="" id="{B26D371A-687A-4755-9DE7-17D904BA3BEA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72C7749E-8273-4941-B492-D30403CF175A}"/>
              </a:ext>
            </a:extLst>
          </p:cNvPr>
          <p:cNvSpPr/>
          <p:nvPr/>
        </p:nvSpPr>
        <p:spPr>
          <a:xfrm>
            <a:off x="3982208" y="3274959"/>
            <a:ext cx="1229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mtClean="0">
                <a:solidFill>
                  <a:srgbClr val="2A8FBD">
                    <a:lumMod val="75000"/>
                  </a:srgb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rPr>
              <a:t>网页爬取</a:t>
            </a:r>
            <a:endParaRPr lang="en-US" altLang="zh-CN" b="1">
              <a:solidFill>
                <a:srgbClr val="2A8FBD">
                  <a:lumMod val="75000"/>
                </a:srgb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微软雅黑"/>
              <a:ea typeface="微软雅黑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A8B8E8A0-6BB6-406D-B3C8-0A6A03104885}"/>
              </a:ext>
            </a:extLst>
          </p:cNvPr>
          <p:cNvSpPr/>
          <p:nvPr/>
        </p:nvSpPr>
        <p:spPr>
          <a:xfrm>
            <a:off x="7277833" y="3804217"/>
            <a:ext cx="12696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smtClean="0">
                <a:solidFill>
                  <a:srgbClr val="1E6787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rPr>
              <a:t>数据解析</a:t>
            </a:r>
            <a:endParaRPr lang="zh-CN" altLang="en-US" b="1">
              <a:solidFill>
                <a:srgbClr val="1E6787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微软雅黑"/>
              <a:ea typeface="微软雅黑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A189FCAB-68BA-40F7-9EFB-BFB95E60AC66}"/>
              </a:ext>
            </a:extLst>
          </p:cNvPr>
          <p:cNvGrpSpPr/>
          <p:nvPr/>
        </p:nvGrpSpPr>
        <p:grpSpPr>
          <a:xfrm>
            <a:off x="3286488" y="2373761"/>
            <a:ext cx="504825" cy="430213"/>
            <a:chOff x="3898900" y="152401"/>
            <a:chExt cx="504825" cy="4302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3" name="Freeform 92">
              <a:extLst>
                <a:ext uri="{FF2B5EF4-FFF2-40B4-BE49-F238E27FC236}">
                  <a16:creationId xmlns:a16="http://schemas.microsoft.com/office/drawing/2014/main" xmlns="" id="{81214D62-709E-4C10-A2AD-41123A6E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825" y="481013"/>
              <a:ext cx="179388" cy="61913"/>
            </a:xfrm>
            <a:custGeom>
              <a:avLst/>
              <a:gdLst>
                <a:gd name="T0" fmla="*/ 3 w 113"/>
                <a:gd name="T1" fmla="*/ 0 h 39"/>
                <a:gd name="T2" fmla="*/ 0 w 113"/>
                <a:gd name="T3" fmla="*/ 39 h 39"/>
                <a:gd name="T4" fmla="*/ 113 w 113"/>
                <a:gd name="T5" fmla="*/ 39 h 39"/>
                <a:gd name="T6" fmla="*/ 111 w 113"/>
                <a:gd name="T7" fmla="*/ 0 h 39"/>
                <a:gd name="T8" fmla="*/ 3 w 11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39">
                  <a:moveTo>
                    <a:pt x="3" y="0"/>
                  </a:moveTo>
                  <a:lnTo>
                    <a:pt x="0" y="39"/>
                  </a:lnTo>
                  <a:lnTo>
                    <a:pt x="113" y="39"/>
                  </a:lnTo>
                  <a:lnTo>
                    <a:pt x="11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93">
              <a:extLst>
                <a:ext uri="{FF2B5EF4-FFF2-40B4-BE49-F238E27FC236}">
                  <a16:creationId xmlns:a16="http://schemas.microsoft.com/office/drawing/2014/main" xmlns="" id="{9EABBAE3-6690-47C2-B58E-B08101D3B7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8900" y="152401"/>
              <a:ext cx="504825" cy="312738"/>
            </a:xfrm>
            <a:custGeom>
              <a:avLst/>
              <a:gdLst>
                <a:gd name="T0" fmla="*/ 213 w 318"/>
                <a:gd name="T1" fmla="*/ 197 h 197"/>
                <a:gd name="T2" fmla="*/ 318 w 318"/>
                <a:gd name="T3" fmla="*/ 197 h 197"/>
                <a:gd name="T4" fmla="*/ 318 w 318"/>
                <a:gd name="T5" fmla="*/ 0 h 197"/>
                <a:gd name="T6" fmla="*/ 0 w 318"/>
                <a:gd name="T7" fmla="*/ 0 h 197"/>
                <a:gd name="T8" fmla="*/ 0 w 318"/>
                <a:gd name="T9" fmla="*/ 197 h 197"/>
                <a:gd name="T10" fmla="*/ 105 w 318"/>
                <a:gd name="T11" fmla="*/ 197 h 197"/>
                <a:gd name="T12" fmla="*/ 213 w 318"/>
                <a:gd name="T13" fmla="*/ 197 h 197"/>
                <a:gd name="T14" fmla="*/ 28 w 318"/>
                <a:gd name="T15" fmla="*/ 174 h 197"/>
                <a:gd name="T16" fmla="*/ 28 w 318"/>
                <a:gd name="T17" fmla="*/ 25 h 197"/>
                <a:gd name="T18" fmla="*/ 288 w 318"/>
                <a:gd name="T19" fmla="*/ 25 h 197"/>
                <a:gd name="T20" fmla="*/ 288 w 318"/>
                <a:gd name="T21" fmla="*/ 174 h 197"/>
                <a:gd name="T22" fmla="*/ 212 w 318"/>
                <a:gd name="T23" fmla="*/ 174 h 197"/>
                <a:gd name="T24" fmla="*/ 106 w 318"/>
                <a:gd name="T25" fmla="*/ 174 h 197"/>
                <a:gd name="T26" fmla="*/ 28 w 318"/>
                <a:gd name="T27" fmla="*/ 17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8" h="197">
                  <a:moveTo>
                    <a:pt x="213" y="197"/>
                  </a:moveTo>
                  <a:lnTo>
                    <a:pt x="318" y="197"/>
                  </a:lnTo>
                  <a:lnTo>
                    <a:pt x="318" y="0"/>
                  </a:lnTo>
                  <a:lnTo>
                    <a:pt x="0" y="0"/>
                  </a:lnTo>
                  <a:lnTo>
                    <a:pt x="0" y="197"/>
                  </a:lnTo>
                  <a:lnTo>
                    <a:pt x="105" y="197"/>
                  </a:lnTo>
                  <a:lnTo>
                    <a:pt x="213" y="197"/>
                  </a:lnTo>
                  <a:close/>
                  <a:moveTo>
                    <a:pt x="28" y="174"/>
                  </a:moveTo>
                  <a:lnTo>
                    <a:pt x="28" y="25"/>
                  </a:lnTo>
                  <a:lnTo>
                    <a:pt x="288" y="25"/>
                  </a:lnTo>
                  <a:lnTo>
                    <a:pt x="288" y="174"/>
                  </a:lnTo>
                  <a:lnTo>
                    <a:pt x="212" y="174"/>
                  </a:lnTo>
                  <a:lnTo>
                    <a:pt x="106" y="174"/>
                  </a:lnTo>
                  <a:lnTo>
                    <a:pt x="28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94">
              <a:extLst>
                <a:ext uri="{FF2B5EF4-FFF2-40B4-BE49-F238E27FC236}">
                  <a16:creationId xmlns:a16="http://schemas.microsoft.com/office/drawing/2014/main" xmlns="" id="{21C427F7-DB37-4571-B957-AA639A9BC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488" y="558801"/>
              <a:ext cx="247650" cy="23813"/>
            </a:xfrm>
            <a:custGeom>
              <a:avLst/>
              <a:gdLst>
                <a:gd name="T0" fmla="*/ 0 w 156"/>
                <a:gd name="T1" fmla="*/ 0 h 15"/>
                <a:gd name="T2" fmla="*/ 0 w 156"/>
                <a:gd name="T3" fmla="*/ 15 h 15"/>
                <a:gd name="T4" fmla="*/ 156 w 156"/>
                <a:gd name="T5" fmla="*/ 15 h 15"/>
                <a:gd name="T6" fmla="*/ 156 w 156"/>
                <a:gd name="T7" fmla="*/ 0 h 15"/>
                <a:gd name="T8" fmla="*/ 134 w 156"/>
                <a:gd name="T9" fmla="*/ 0 h 15"/>
                <a:gd name="T10" fmla="*/ 21 w 156"/>
                <a:gd name="T11" fmla="*/ 0 h 15"/>
                <a:gd name="T12" fmla="*/ 0 w 156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5">
                  <a:moveTo>
                    <a:pt x="0" y="0"/>
                  </a:moveTo>
                  <a:lnTo>
                    <a:pt x="0" y="15"/>
                  </a:lnTo>
                  <a:lnTo>
                    <a:pt x="156" y="15"/>
                  </a:lnTo>
                  <a:lnTo>
                    <a:pt x="156" y="0"/>
                  </a:lnTo>
                  <a:lnTo>
                    <a:pt x="134" y="0"/>
                  </a:ln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:a16="http://schemas.microsoft.com/office/drawing/2014/main" xmlns="" id="{02332D00-66BD-47AA-9128-70307C6C8BC7}"/>
              </a:ext>
            </a:extLst>
          </p:cNvPr>
          <p:cNvSpPr>
            <a:spLocks noEditPoints="1"/>
          </p:cNvSpPr>
          <p:nvPr/>
        </p:nvSpPr>
        <p:spPr bwMode="auto">
          <a:xfrm>
            <a:off x="3415158" y="4444852"/>
            <a:ext cx="454025" cy="549275"/>
          </a:xfrm>
          <a:custGeom>
            <a:avLst/>
            <a:gdLst>
              <a:gd name="T0" fmla="*/ 0 w 195"/>
              <a:gd name="T1" fmla="*/ 235 h 235"/>
              <a:gd name="T2" fmla="*/ 48 w 195"/>
              <a:gd name="T3" fmla="*/ 183 h 235"/>
              <a:gd name="T4" fmla="*/ 195 w 195"/>
              <a:gd name="T5" fmla="*/ 183 h 235"/>
              <a:gd name="T6" fmla="*/ 195 w 195"/>
              <a:gd name="T7" fmla="*/ 0 h 235"/>
              <a:gd name="T8" fmla="*/ 0 w 195"/>
              <a:gd name="T9" fmla="*/ 0 h 235"/>
              <a:gd name="T10" fmla="*/ 0 w 195"/>
              <a:gd name="T11" fmla="*/ 235 h 235"/>
              <a:gd name="T12" fmla="*/ 150 w 195"/>
              <a:gd name="T13" fmla="*/ 77 h 235"/>
              <a:gd name="T14" fmla="*/ 167 w 195"/>
              <a:gd name="T15" fmla="*/ 93 h 235"/>
              <a:gd name="T16" fmla="*/ 150 w 195"/>
              <a:gd name="T17" fmla="*/ 110 h 235"/>
              <a:gd name="T18" fmla="*/ 134 w 195"/>
              <a:gd name="T19" fmla="*/ 93 h 235"/>
              <a:gd name="T20" fmla="*/ 150 w 195"/>
              <a:gd name="T21" fmla="*/ 77 h 235"/>
              <a:gd name="T22" fmla="*/ 97 w 195"/>
              <a:gd name="T23" fmla="*/ 77 h 235"/>
              <a:gd name="T24" fmla="*/ 114 w 195"/>
              <a:gd name="T25" fmla="*/ 93 h 235"/>
              <a:gd name="T26" fmla="*/ 97 w 195"/>
              <a:gd name="T27" fmla="*/ 110 h 235"/>
              <a:gd name="T28" fmla="*/ 81 w 195"/>
              <a:gd name="T29" fmla="*/ 93 h 235"/>
              <a:gd name="T30" fmla="*/ 97 w 195"/>
              <a:gd name="T31" fmla="*/ 77 h 235"/>
              <a:gd name="T32" fmla="*/ 45 w 195"/>
              <a:gd name="T33" fmla="*/ 77 h 235"/>
              <a:gd name="T34" fmla="*/ 61 w 195"/>
              <a:gd name="T35" fmla="*/ 93 h 235"/>
              <a:gd name="T36" fmla="*/ 45 w 195"/>
              <a:gd name="T37" fmla="*/ 110 h 235"/>
              <a:gd name="T38" fmla="*/ 28 w 195"/>
              <a:gd name="T39" fmla="*/ 93 h 235"/>
              <a:gd name="T40" fmla="*/ 45 w 195"/>
              <a:gd name="T41" fmla="*/ 7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5" h="235">
                <a:moveTo>
                  <a:pt x="0" y="235"/>
                </a:moveTo>
                <a:cubicBezTo>
                  <a:pt x="48" y="183"/>
                  <a:pt x="48" y="183"/>
                  <a:pt x="48" y="183"/>
                </a:cubicBezTo>
                <a:cubicBezTo>
                  <a:pt x="195" y="183"/>
                  <a:pt x="195" y="183"/>
                  <a:pt x="195" y="183"/>
                </a:cubicBezTo>
                <a:cubicBezTo>
                  <a:pt x="195" y="0"/>
                  <a:pt x="195" y="0"/>
                  <a:pt x="195" y="0"/>
                </a:cubicBezTo>
                <a:cubicBezTo>
                  <a:pt x="0" y="0"/>
                  <a:pt x="0" y="0"/>
                  <a:pt x="0" y="0"/>
                </a:cubicBezTo>
                <a:lnTo>
                  <a:pt x="0" y="235"/>
                </a:lnTo>
                <a:close/>
                <a:moveTo>
                  <a:pt x="150" y="77"/>
                </a:moveTo>
                <a:cubicBezTo>
                  <a:pt x="159" y="77"/>
                  <a:pt x="167" y="84"/>
                  <a:pt x="167" y="93"/>
                </a:cubicBezTo>
                <a:cubicBezTo>
                  <a:pt x="167" y="102"/>
                  <a:pt x="159" y="110"/>
                  <a:pt x="150" y="110"/>
                </a:cubicBezTo>
                <a:cubicBezTo>
                  <a:pt x="141" y="110"/>
                  <a:pt x="134" y="102"/>
                  <a:pt x="134" y="93"/>
                </a:cubicBezTo>
                <a:cubicBezTo>
                  <a:pt x="134" y="84"/>
                  <a:pt x="141" y="77"/>
                  <a:pt x="150" y="77"/>
                </a:cubicBezTo>
                <a:close/>
                <a:moveTo>
                  <a:pt x="97" y="77"/>
                </a:moveTo>
                <a:cubicBezTo>
                  <a:pt x="107" y="77"/>
                  <a:pt x="114" y="84"/>
                  <a:pt x="114" y="93"/>
                </a:cubicBezTo>
                <a:cubicBezTo>
                  <a:pt x="114" y="102"/>
                  <a:pt x="107" y="110"/>
                  <a:pt x="97" y="110"/>
                </a:cubicBezTo>
                <a:cubicBezTo>
                  <a:pt x="88" y="110"/>
                  <a:pt x="81" y="102"/>
                  <a:pt x="81" y="93"/>
                </a:cubicBezTo>
                <a:cubicBezTo>
                  <a:pt x="81" y="84"/>
                  <a:pt x="88" y="77"/>
                  <a:pt x="97" y="77"/>
                </a:cubicBezTo>
                <a:close/>
                <a:moveTo>
                  <a:pt x="45" y="77"/>
                </a:moveTo>
                <a:cubicBezTo>
                  <a:pt x="54" y="77"/>
                  <a:pt x="61" y="84"/>
                  <a:pt x="61" y="93"/>
                </a:cubicBezTo>
                <a:cubicBezTo>
                  <a:pt x="61" y="102"/>
                  <a:pt x="54" y="110"/>
                  <a:pt x="45" y="110"/>
                </a:cubicBezTo>
                <a:cubicBezTo>
                  <a:pt x="36" y="110"/>
                  <a:pt x="28" y="102"/>
                  <a:pt x="28" y="93"/>
                </a:cubicBezTo>
                <a:cubicBezTo>
                  <a:pt x="28" y="84"/>
                  <a:pt x="36" y="77"/>
                  <a:pt x="45" y="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89566DB8-5D23-4823-869D-1EFF0D9E9582}"/>
              </a:ext>
            </a:extLst>
          </p:cNvPr>
          <p:cNvGrpSpPr/>
          <p:nvPr/>
        </p:nvGrpSpPr>
        <p:grpSpPr>
          <a:xfrm>
            <a:off x="8692953" y="4366971"/>
            <a:ext cx="485776" cy="523876"/>
            <a:chOff x="3908425" y="1887538"/>
            <a:chExt cx="485776" cy="52387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xmlns="" id="{7169A6C1-22C4-490D-8C31-2E85ABEAB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8425" y="1887538"/>
              <a:ext cx="236538" cy="523875"/>
            </a:xfrm>
            <a:custGeom>
              <a:avLst/>
              <a:gdLst>
                <a:gd name="T0" fmla="*/ 2 w 101"/>
                <a:gd name="T1" fmla="*/ 219 h 225"/>
                <a:gd name="T2" fmla="*/ 50 w 101"/>
                <a:gd name="T3" fmla="*/ 195 h 225"/>
                <a:gd name="T4" fmla="*/ 99 w 101"/>
                <a:gd name="T5" fmla="*/ 219 h 225"/>
                <a:gd name="T6" fmla="*/ 100 w 101"/>
                <a:gd name="T7" fmla="*/ 219 h 225"/>
                <a:gd name="T8" fmla="*/ 100 w 101"/>
                <a:gd name="T9" fmla="*/ 59 h 225"/>
                <a:gd name="T10" fmla="*/ 98 w 101"/>
                <a:gd name="T11" fmla="*/ 35 h 225"/>
                <a:gd name="T12" fmla="*/ 84 w 101"/>
                <a:gd name="T13" fmla="*/ 19 h 225"/>
                <a:gd name="T14" fmla="*/ 84 w 101"/>
                <a:gd name="T15" fmla="*/ 6 h 225"/>
                <a:gd name="T16" fmla="*/ 84 w 101"/>
                <a:gd name="T17" fmla="*/ 0 h 225"/>
                <a:gd name="T18" fmla="*/ 79 w 101"/>
                <a:gd name="T19" fmla="*/ 0 h 225"/>
                <a:gd name="T20" fmla="*/ 22 w 101"/>
                <a:gd name="T21" fmla="*/ 0 h 225"/>
                <a:gd name="T22" fmla="*/ 16 w 101"/>
                <a:gd name="T23" fmla="*/ 0 h 225"/>
                <a:gd name="T24" fmla="*/ 16 w 101"/>
                <a:gd name="T25" fmla="*/ 6 h 225"/>
                <a:gd name="T26" fmla="*/ 16 w 101"/>
                <a:gd name="T27" fmla="*/ 19 h 225"/>
                <a:gd name="T28" fmla="*/ 2 w 101"/>
                <a:gd name="T29" fmla="*/ 35 h 225"/>
                <a:gd name="T30" fmla="*/ 0 w 101"/>
                <a:gd name="T31" fmla="*/ 59 h 225"/>
                <a:gd name="T32" fmla="*/ 0 w 101"/>
                <a:gd name="T33" fmla="*/ 219 h 225"/>
                <a:gd name="T34" fmla="*/ 2 w 101"/>
                <a:gd name="T35" fmla="*/ 219 h 225"/>
                <a:gd name="T36" fmla="*/ 22 w 101"/>
                <a:gd name="T37" fmla="*/ 17 h 225"/>
                <a:gd name="T38" fmla="*/ 22 w 101"/>
                <a:gd name="T39" fmla="*/ 6 h 225"/>
                <a:gd name="T40" fmla="*/ 79 w 101"/>
                <a:gd name="T41" fmla="*/ 6 h 225"/>
                <a:gd name="T42" fmla="*/ 79 w 101"/>
                <a:gd name="T43" fmla="*/ 17 h 225"/>
                <a:gd name="T44" fmla="*/ 79 w 101"/>
                <a:gd name="T45" fmla="*/ 95 h 225"/>
                <a:gd name="T46" fmla="*/ 51 w 101"/>
                <a:gd name="T47" fmla="*/ 65 h 225"/>
                <a:gd name="T48" fmla="*/ 22 w 101"/>
                <a:gd name="T49" fmla="*/ 95 h 225"/>
                <a:gd name="T50" fmla="*/ 22 w 101"/>
                <a:gd name="T51" fmla="*/ 17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1" h="225">
                  <a:moveTo>
                    <a:pt x="2" y="219"/>
                  </a:moveTo>
                  <a:cubicBezTo>
                    <a:pt x="7" y="200"/>
                    <a:pt x="27" y="195"/>
                    <a:pt x="50" y="195"/>
                  </a:cubicBezTo>
                  <a:cubicBezTo>
                    <a:pt x="74" y="195"/>
                    <a:pt x="93" y="200"/>
                    <a:pt x="99" y="219"/>
                  </a:cubicBezTo>
                  <a:cubicBezTo>
                    <a:pt x="101" y="225"/>
                    <a:pt x="100" y="225"/>
                    <a:pt x="100" y="219"/>
                  </a:cubicBezTo>
                  <a:cubicBezTo>
                    <a:pt x="100" y="186"/>
                    <a:pt x="100" y="92"/>
                    <a:pt x="100" y="59"/>
                  </a:cubicBezTo>
                  <a:cubicBezTo>
                    <a:pt x="100" y="52"/>
                    <a:pt x="100" y="42"/>
                    <a:pt x="98" y="35"/>
                  </a:cubicBezTo>
                  <a:cubicBezTo>
                    <a:pt x="96" y="28"/>
                    <a:pt x="91" y="23"/>
                    <a:pt x="84" y="19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9" y="23"/>
                    <a:pt x="5" y="28"/>
                    <a:pt x="2" y="35"/>
                  </a:cubicBezTo>
                  <a:cubicBezTo>
                    <a:pt x="0" y="42"/>
                    <a:pt x="0" y="52"/>
                    <a:pt x="0" y="59"/>
                  </a:cubicBezTo>
                  <a:cubicBezTo>
                    <a:pt x="0" y="92"/>
                    <a:pt x="0" y="186"/>
                    <a:pt x="0" y="219"/>
                  </a:cubicBezTo>
                  <a:cubicBezTo>
                    <a:pt x="0" y="225"/>
                    <a:pt x="0" y="225"/>
                    <a:pt x="2" y="219"/>
                  </a:cubicBezTo>
                  <a:close/>
                  <a:moveTo>
                    <a:pt x="22" y="17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xmlns="" id="{F97953CE-BCC2-4BFD-BC0A-8ADE46335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1917701"/>
              <a:ext cx="236538" cy="493713"/>
            </a:xfrm>
            <a:custGeom>
              <a:avLst/>
              <a:gdLst>
                <a:gd name="T0" fmla="*/ 2 w 101"/>
                <a:gd name="T1" fmla="*/ 206 h 212"/>
                <a:gd name="T2" fmla="*/ 50 w 101"/>
                <a:gd name="T3" fmla="*/ 182 h 212"/>
                <a:gd name="T4" fmla="*/ 99 w 101"/>
                <a:gd name="T5" fmla="*/ 206 h 212"/>
                <a:gd name="T6" fmla="*/ 100 w 101"/>
                <a:gd name="T7" fmla="*/ 206 h 212"/>
                <a:gd name="T8" fmla="*/ 100 w 101"/>
                <a:gd name="T9" fmla="*/ 46 h 212"/>
                <a:gd name="T10" fmla="*/ 98 w 101"/>
                <a:gd name="T11" fmla="*/ 23 h 212"/>
                <a:gd name="T12" fmla="*/ 50 w 101"/>
                <a:gd name="T13" fmla="*/ 0 h 212"/>
                <a:gd name="T14" fmla="*/ 2 w 101"/>
                <a:gd name="T15" fmla="*/ 22 h 212"/>
                <a:gd name="T16" fmla="*/ 0 w 101"/>
                <a:gd name="T17" fmla="*/ 46 h 212"/>
                <a:gd name="T18" fmla="*/ 0 w 101"/>
                <a:gd name="T19" fmla="*/ 206 h 212"/>
                <a:gd name="T20" fmla="*/ 2 w 101"/>
                <a:gd name="T21" fmla="*/ 20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212">
                  <a:moveTo>
                    <a:pt x="2" y="206"/>
                  </a:moveTo>
                  <a:cubicBezTo>
                    <a:pt x="7" y="187"/>
                    <a:pt x="27" y="182"/>
                    <a:pt x="50" y="182"/>
                  </a:cubicBezTo>
                  <a:cubicBezTo>
                    <a:pt x="74" y="182"/>
                    <a:pt x="93" y="187"/>
                    <a:pt x="99" y="206"/>
                  </a:cubicBezTo>
                  <a:cubicBezTo>
                    <a:pt x="101" y="212"/>
                    <a:pt x="100" y="212"/>
                    <a:pt x="100" y="206"/>
                  </a:cubicBezTo>
                  <a:cubicBezTo>
                    <a:pt x="100" y="173"/>
                    <a:pt x="100" y="79"/>
                    <a:pt x="100" y="46"/>
                  </a:cubicBezTo>
                  <a:cubicBezTo>
                    <a:pt x="100" y="39"/>
                    <a:pt x="101" y="29"/>
                    <a:pt x="98" y="23"/>
                  </a:cubicBezTo>
                  <a:cubicBezTo>
                    <a:pt x="92" y="5"/>
                    <a:pt x="73" y="0"/>
                    <a:pt x="50" y="0"/>
                  </a:cubicBezTo>
                  <a:cubicBezTo>
                    <a:pt x="27" y="0"/>
                    <a:pt x="8" y="5"/>
                    <a:pt x="2" y="22"/>
                  </a:cubicBezTo>
                  <a:cubicBezTo>
                    <a:pt x="0" y="29"/>
                    <a:pt x="0" y="39"/>
                    <a:pt x="0" y="46"/>
                  </a:cubicBezTo>
                  <a:cubicBezTo>
                    <a:pt x="0" y="79"/>
                    <a:pt x="0" y="173"/>
                    <a:pt x="0" y="206"/>
                  </a:cubicBezTo>
                  <a:cubicBezTo>
                    <a:pt x="0" y="212"/>
                    <a:pt x="0" y="212"/>
                    <a:pt x="2" y="2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0" name="Freeform 30">
            <a:extLst>
              <a:ext uri="{FF2B5EF4-FFF2-40B4-BE49-F238E27FC236}">
                <a16:creationId xmlns:a16="http://schemas.microsoft.com/office/drawing/2014/main" xmlns="" id="{495061B8-7976-4AFA-A014-4176F5233C41}"/>
              </a:ext>
            </a:extLst>
          </p:cNvPr>
          <p:cNvSpPr>
            <a:spLocks noEditPoints="1"/>
          </p:cNvSpPr>
          <p:nvPr/>
        </p:nvSpPr>
        <p:spPr bwMode="auto">
          <a:xfrm>
            <a:off x="8692953" y="2284289"/>
            <a:ext cx="509509" cy="556063"/>
          </a:xfrm>
          <a:custGeom>
            <a:avLst/>
            <a:gdLst>
              <a:gd name="T0" fmla="*/ 0 w 512"/>
              <a:gd name="T1" fmla="*/ 437 h 517"/>
              <a:gd name="T2" fmla="*/ 75 w 512"/>
              <a:gd name="T3" fmla="*/ 512 h 517"/>
              <a:gd name="T4" fmla="*/ 128 w 512"/>
              <a:gd name="T5" fmla="*/ 491 h 517"/>
              <a:gd name="T6" fmla="*/ 264 w 512"/>
              <a:gd name="T7" fmla="*/ 354 h 517"/>
              <a:gd name="T8" fmla="*/ 301 w 512"/>
              <a:gd name="T9" fmla="*/ 391 h 517"/>
              <a:gd name="T10" fmla="*/ 315 w 512"/>
              <a:gd name="T11" fmla="*/ 443 h 517"/>
              <a:gd name="T12" fmla="*/ 367 w 512"/>
              <a:gd name="T13" fmla="*/ 496 h 517"/>
              <a:gd name="T14" fmla="*/ 443 w 512"/>
              <a:gd name="T15" fmla="*/ 497 h 517"/>
              <a:gd name="T16" fmla="*/ 443 w 512"/>
              <a:gd name="T17" fmla="*/ 421 h 517"/>
              <a:gd name="T18" fmla="*/ 390 w 512"/>
              <a:gd name="T19" fmla="*/ 368 h 517"/>
              <a:gd name="T20" fmla="*/ 338 w 512"/>
              <a:gd name="T21" fmla="*/ 354 h 517"/>
              <a:gd name="T22" fmla="*/ 301 w 512"/>
              <a:gd name="T23" fmla="*/ 318 h 517"/>
              <a:gd name="T24" fmla="*/ 325 w 512"/>
              <a:gd name="T25" fmla="*/ 294 h 517"/>
              <a:gd name="T26" fmla="*/ 468 w 512"/>
              <a:gd name="T27" fmla="*/ 255 h 517"/>
              <a:gd name="T28" fmla="*/ 512 w 512"/>
              <a:gd name="T29" fmla="*/ 161 h 517"/>
              <a:gd name="T30" fmla="*/ 512 w 512"/>
              <a:gd name="T31" fmla="*/ 160 h 517"/>
              <a:gd name="T32" fmla="*/ 491 w 512"/>
              <a:gd name="T33" fmla="*/ 139 h 517"/>
              <a:gd name="T34" fmla="*/ 475 w 512"/>
              <a:gd name="T35" fmla="*/ 145 h 517"/>
              <a:gd name="T36" fmla="*/ 469 w 512"/>
              <a:gd name="T37" fmla="*/ 151 h 517"/>
              <a:gd name="T38" fmla="*/ 448 w 512"/>
              <a:gd name="T39" fmla="*/ 172 h 517"/>
              <a:gd name="T40" fmla="*/ 394 w 512"/>
              <a:gd name="T41" fmla="*/ 193 h 517"/>
              <a:gd name="T42" fmla="*/ 341 w 512"/>
              <a:gd name="T43" fmla="*/ 171 h 517"/>
              <a:gd name="T44" fmla="*/ 319 w 512"/>
              <a:gd name="T45" fmla="*/ 118 h 517"/>
              <a:gd name="T46" fmla="*/ 340 w 512"/>
              <a:gd name="T47" fmla="*/ 64 h 517"/>
              <a:gd name="T48" fmla="*/ 361 w 512"/>
              <a:gd name="T49" fmla="*/ 43 h 517"/>
              <a:gd name="T50" fmla="*/ 367 w 512"/>
              <a:gd name="T51" fmla="*/ 37 h 517"/>
              <a:gd name="T52" fmla="*/ 373 w 512"/>
              <a:gd name="T53" fmla="*/ 21 h 517"/>
              <a:gd name="T54" fmla="*/ 352 w 512"/>
              <a:gd name="T55" fmla="*/ 0 h 517"/>
              <a:gd name="T56" fmla="*/ 351 w 512"/>
              <a:gd name="T57" fmla="*/ 0 h 517"/>
              <a:gd name="T58" fmla="*/ 257 w 512"/>
              <a:gd name="T59" fmla="*/ 44 h 517"/>
              <a:gd name="T60" fmla="*/ 218 w 512"/>
              <a:gd name="T61" fmla="*/ 187 h 517"/>
              <a:gd name="T62" fmla="*/ 194 w 512"/>
              <a:gd name="T63" fmla="*/ 211 h 517"/>
              <a:gd name="T64" fmla="*/ 96 w 512"/>
              <a:gd name="T65" fmla="*/ 112 h 517"/>
              <a:gd name="T66" fmla="*/ 96 w 512"/>
              <a:gd name="T67" fmla="*/ 85 h 517"/>
              <a:gd name="T68" fmla="*/ 32 w 512"/>
              <a:gd name="T69" fmla="*/ 53 h 517"/>
              <a:gd name="T70" fmla="*/ 0 w 512"/>
              <a:gd name="T71" fmla="*/ 85 h 517"/>
              <a:gd name="T72" fmla="*/ 32 w 512"/>
              <a:gd name="T73" fmla="*/ 149 h 517"/>
              <a:gd name="T74" fmla="*/ 59 w 512"/>
              <a:gd name="T75" fmla="*/ 149 h 517"/>
              <a:gd name="T76" fmla="*/ 157 w 512"/>
              <a:gd name="T77" fmla="*/ 248 h 517"/>
              <a:gd name="T78" fmla="*/ 21 w 512"/>
              <a:gd name="T79" fmla="*/ 384 h 517"/>
              <a:gd name="T80" fmla="*/ 0 w 512"/>
              <a:gd name="T81" fmla="*/ 437 h 517"/>
              <a:gd name="T82" fmla="*/ 53 w 512"/>
              <a:gd name="T83" fmla="*/ 432 h 517"/>
              <a:gd name="T84" fmla="*/ 80 w 512"/>
              <a:gd name="T85" fmla="*/ 405 h 517"/>
              <a:gd name="T86" fmla="*/ 107 w 512"/>
              <a:gd name="T87" fmla="*/ 432 h 517"/>
              <a:gd name="T88" fmla="*/ 80 w 512"/>
              <a:gd name="T89" fmla="*/ 459 h 517"/>
              <a:gd name="T90" fmla="*/ 53 w 512"/>
              <a:gd name="T91" fmla="*/ 432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12" h="517">
                <a:moveTo>
                  <a:pt x="0" y="437"/>
                </a:moveTo>
                <a:cubicBezTo>
                  <a:pt x="0" y="479"/>
                  <a:pt x="33" y="512"/>
                  <a:pt x="75" y="512"/>
                </a:cubicBezTo>
                <a:cubicBezTo>
                  <a:pt x="95" y="512"/>
                  <a:pt x="114" y="504"/>
                  <a:pt x="128" y="491"/>
                </a:cubicBezTo>
                <a:cubicBezTo>
                  <a:pt x="264" y="354"/>
                  <a:pt x="264" y="354"/>
                  <a:pt x="264" y="354"/>
                </a:cubicBezTo>
                <a:cubicBezTo>
                  <a:pt x="301" y="391"/>
                  <a:pt x="301" y="391"/>
                  <a:pt x="301" y="391"/>
                </a:cubicBezTo>
                <a:cubicBezTo>
                  <a:pt x="296" y="409"/>
                  <a:pt x="300" y="429"/>
                  <a:pt x="315" y="443"/>
                </a:cubicBezTo>
                <a:cubicBezTo>
                  <a:pt x="367" y="496"/>
                  <a:pt x="367" y="496"/>
                  <a:pt x="367" y="496"/>
                </a:cubicBezTo>
                <a:cubicBezTo>
                  <a:pt x="389" y="517"/>
                  <a:pt x="422" y="517"/>
                  <a:pt x="443" y="497"/>
                </a:cubicBezTo>
                <a:cubicBezTo>
                  <a:pt x="464" y="476"/>
                  <a:pt x="464" y="442"/>
                  <a:pt x="443" y="421"/>
                </a:cubicBezTo>
                <a:cubicBezTo>
                  <a:pt x="390" y="368"/>
                  <a:pt x="390" y="368"/>
                  <a:pt x="390" y="368"/>
                </a:cubicBezTo>
                <a:cubicBezTo>
                  <a:pt x="376" y="354"/>
                  <a:pt x="356" y="349"/>
                  <a:pt x="338" y="354"/>
                </a:cubicBezTo>
                <a:cubicBezTo>
                  <a:pt x="301" y="318"/>
                  <a:pt x="301" y="318"/>
                  <a:pt x="301" y="318"/>
                </a:cubicBezTo>
                <a:cubicBezTo>
                  <a:pt x="325" y="294"/>
                  <a:pt x="325" y="294"/>
                  <a:pt x="325" y="294"/>
                </a:cubicBezTo>
                <a:cubicBezTo>
                  <a:pt x="375" y="307"/>
                  <a:pt x="430" y="294"/>
                  <a:pt x="468" y="255"/>
                </a:cubicBezTo>
                <a:cubicBezTo>
                  <a:pt x="495" y="229"/>
                  <a:pt x="510" y="196"/>
                  <a:pt x="512" y="161"/>
                </a:cubicBezTo>
                <a:cubicBezTo>
                  <a:pt x="512" y="160"/>
                  <a:pt x="512" y="160"/>
                  <a:pt x="512" y="160"/>
                </a:cubicBezTo>
                <a:cubicBezTo>
                  <a:pt x="512" y="148"/>
                  <a:pt x="502" y="139"/>
                  <a:pt x="491" y="139"/>
                </a:cubicBezTo>
                <a:cubicBezTo>
                  <a:pt x="485" y="139"/>
                  <a:pt x="479" y="141"/>
                  <a:pt x="475" y="145"/>
                </a:cubicBezTo>
                <a:cubicBezTo>
                  <a:pt x="469" y="151"/>
                  <a:pt x="469" y="151"/>
                  <a:pt x="469" y="151"/>
                </a:cubicBezTo>
                <a:cubicBezTo>
                  <a:pt x="448" y="172"/>
                  <a:pt x="448" y="172"/>
                  <a:pt x="448" y="172"/>
                </a:cubicBezTo>
                <a:cubicBezTo>
                  <a:pt x="434" y="185"/>
                  <a:pt x="415" y="193"/>
                  <a:pt x="394" y="193"/>
                </a:cubicBezTo>
                <a:cubicBezTo>
                  <a:pt x="373" y="193"/>
                  <a:pt x="355" y="184"/>
                  <a:pt x="341" y="171"/>
                </a:cubicBezTo>
                <a:cubicBezTo>
                  <a:pt x="328" y="157"/>
                  <a:pt x="319" y="139"/>
                  <a:pt x="319" y="118"/>
                </a:cubicBezTo>
                <a:cubicBezTo>
                  <a:pt x="319" y="97"/>
                  <a:pt x="327" y="78"/>
                  <a:pt x="340" y="64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67" y="37"/>
                  <a:pt x="367" y="37"/>
                  <a:pt x="367" y="37"/>
                </a:cubicBezTo>
                <a:cubicBezTo>
                  <a:pt x="371" y="33"/>
                  <a:pt x="373" y="27"/>
                  <a:pt x="373" y="21"/>
                </a:cubicBezTo>
                <a:cubicBezTo>
                  <a:pt x="373" y="10"/>
                  <a:pt x="364" y="0"/>
                  <a:pt x="352" y="0"/>
                </a:cubicBezTo>
                <a:cubicBezTo>
                  <a:pt x="351" y="0"/>
                  <a:pt x="351" y="0"/>
                  <a:pt x="351" y="0"/>
                </a:cubicBezTo>
                <a:cubicBezTo>
                  <a:pt x="316" y="2"/>
                  <a:pt x="283" y="17"/>
                  <a:pt x="257" y="44"/>
                </a:cubicBezTo>
                <a:cubicBezTo>
                  <a:pt x="218" y="82"/>
                  <a:pt x="205" y="138"/>
                  <a:pt x="218" y="187"/>
                </a:cubicBezTo>
                <a:cubicBezTo>
                  <a:pt x="194" y="211"/>
                  <a:pt x="194" y="211"/>
                  <a:pt x="194" y="211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96" y="85"/>
                  <a:pt x="96" y="85"/>
                  <a:pt x="96" y="85"/>
                </a:cubicBezTo>
                <a:cubicBezTo>
                  <a:pt x="32" y="53"/>
                  <a:pt x="32" y="53"/>
                  <a:pt x="32" y="53"/>
                </a:cubicBezTo>
                <a:cubicBezTo>
                  <a:pt x="0" y="85"/>
                  <a:pt x="0" y="85"/>
                  <a:pt x="0" y="85"/>
                </a:cubicBezTo>
                <a:cubicBezTo>
                  <a:pt x="32" y="149"/>
                  <a:pt x="32" y="149"/>
                  <a:pt x="32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157" y="248"/>
                  <a:pt x="157" y="248"/>
                  <a:pt x="157" y="248"/>
                </a:cubicBezTo>
                <a:cubicBezTo>
                  <a:pt x="21" y="384"/>
                  <a:pt x="21" y="384"/>
                  <a:pt x="21" y="384"/>
                </a:cubicBezTo>
                <a:cubicBezTo>
                  <a:pt x="8" y="398"/>
                  <a:pt x="0" y="417"/>
                  <a:pt x="0" y="437"/>
                </a:cubicBezTo>
                <a:close/>
                <a:moveTo>
                  <a:pt x="53" y="432"/>
                </a:moveTo>
                <a:cubicBezTo>
                  <a:pt x="53" y="417"/>
                  <a:pt x="65" y="405"/>
                  <a:pt x="80" y="405"/>
                </a:cubicBezTo>
                <a:cubicBezTo>
                  <a:pt x="95" y="405"/>
                  <a:pt x="107" y="417"/>
                  <a:pt x="107" y="432"/>
                </a:cubicBezTo>
                <a:cubicBezTo>
                  <a:pt x="107" y="447"/>
                  <a:pt x="95" y="459"/>
                  <a:pt x="80" y="459"/>
                </a:cubicBezTo>
                <a:cubicBezTo>
                  <a:pt x="65" y="459"/>
                  <a:pt x="53" y="447"/>
                  <a:pt x="53" y="4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9" grpId="0" animBg="1"/>
      <p:bldP spid="61" grpId="0"/>
      <p:bldP spid="62" grpId="0"/>
      <p:bldP spid="73" grpId="0"/>
      <p:bldP spid="74" grpId="0"/>
      <p:bldP spid="26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xmlns="" id="{9852CEF3-AF68-464A-8EBB-F8859FB71535}"/>
              </a:ext>
            </a:extLst>
          </p:cNvPr>
          <p:cNvSpPr txBox="1"/>
          <p:nvPr/>
        </p:nvSpPr>
        <p:spPr>
          <a:xfrm>
            <a:off x="2832370" y="2721873"/>
            <a:ext cx="5714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网络基础知识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xmlns="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xmlns="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xmlns="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xmlns="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xmlns="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xmlns="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xmlns="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xmlns="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xmlns="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xmlns="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xmlns="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xmlns="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xmlns="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xmlns="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xmlns="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xmlns="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xmlns="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xmlns="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xmlns="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xmlns="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xmlns="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xmlns="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xmlns="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xmlns="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xmlns="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xmlns="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xmlns="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xmlns="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xmlns="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xmlns="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xmlns="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xmlns="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xmlns="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xmlns="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xmlns="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xmlns="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xmlns="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xmlns="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xmlns="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xmlns="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xmlns="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xmlns="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xmlns="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xmlns="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xmlns="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xmlns="" id="{F45F1328-8259-42E9-BE98-A45AFDCB6EAE}"/>
                </a:ext>
              </a:extLst>
            </p:cNvPr>
            <p:cNvSpPr txBox="1"/>
            <p:nvPr/>
          </p:nvSpPr>
          <p:spPr>
            <a:xfrm>
              <a:off x="2848919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11.1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xmlns="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xmlns="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xmlns="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xmlns="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xmlns="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xmlns="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xmlns="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xmlns="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xmlns="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xmlns="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2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网站访问流程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/>
          <p:nvPr/>
        </p:nvPicPr>
        <p:blipFill>
          <a:blip r:embed="rId3"/>
          <a:stretch>
            <a:fillRect/>
          </a:stretch>
        </p:blipFill>
        <p:spPr>
          <a:xfrm>
            <a:off x="1095270" y="1376624"/>
            <a:ext cx="9706708" cy="15775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95270" y="3356149"/>
            <a:ext cx="82173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smtClean="0"/>
              <a:t>用户通过浏览器发起</a:t>
            </a:r>
            <a:r>
              <a:rPr lang="en-US" altLang="zh-CN" sz="2000" smtClean="0"/>
              <a:t>Web</a:t>
            </a:r>
            <a:r>
              <a:rPr lang="zh-CN" altLang="en-US" sz="2000" smtClean="0"/>
              <a:t>请求，又称为 （</a:t>
            </a:r>
            <a:r>
              <a:rPr lang="en-US" altLang="zh-CN" sz="2000">
                <a:solidFill>
                  <a:srgbClr val="0000FF"/>
                </a:solidFill>
              </a:rPr>
              <a:t>Request</a:t>
            </a:r>
            <a:r>
              <a:rPr lang="zh-CN" altLang="en-US" sz="2000" smtClean="0"/>
              <a:t>）。</a:t>
            </a:r>
            <a:endParaRPr lang="en-US" altLang="zh-CN" sz="200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smtClean="0"/>
              <a:t>网络设备解析网址，寻找到</a:t>
            </a:r>
            <a:r>
              <a:rPr lang="en-US" altLang="zh-CN" sz="2000" smtClean="0"/>
              <a:t>Web</a:t>
            </a:r>
            <a:r>
              <a:rPr lang="zh-CN" altLang="en-US" sz="2000" smtClean="0"/>
              <a:t>服务器。</a:t>
            </a:r>
            <a:endParaRPr lang="en-US" altLang="zh-CN" sz="200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smtClean="0"/>
              <a:t>服务器根据用户的请求内容，返回相关数据及文件，该过程称为响应（</a:t>
            </a:r>
            <a:r>
              <a:rPr lang="en-US" altLang="zh-CN" sz="2000">
                <a:solidFill>
                  <a:srgbClr val="0000FF"/>
                </a:solidFill>
              </a:rPr>
              <a:t>Response</a:t>
            </a:r>
            <a:r>
              <a:rPr lang="zh-CN" altLang="en-US" sz="2000" smtClean="0"/>
              <a:t>）。</a:t>
            </a:r>
            <a:endParaRPr lang="en-US" altLang="zh-CN" sz="200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smtClean="0"/>
              <a:t>用户浏览器将所有接收数据整合，以指定方式展现给用户。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5199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网站访问流程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/>
          <p:nvPr/>
        </p:nvPicPr>
        <p:blipFill>
          <a:blip r:embed="rId3"/>
          <a:stretch>
            <a:fillRect/>
          </a:stretch>
        </p:blipFill>
        <p:spPr>
          <a:xfrm>
            <a:off x="1095270" y="1376624"/>
            <a:ext cx="9706708" cy="157759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366575" y="4350937"/>
            <a:ext cx="2421653" cy="9947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mtClean="0"/>
              <a:t>手机</a:t>
            </a:r>
            <a:r>
              <a:rPr lang="en-US" altLang="zh-CN" smtClean="0"/>
              <a:t>APP</a:t>
            </a:r>
          </a:p>
          <a:p>
            <a:pPr algn="ctr">
              <a:lnSpc>
                <a:spcPct val="150000"/>
              </a:lnSpc>
            </a:pPr>
            <a:r>
              <a:rPr lang="zh-CN" altLang="en-US" smtClean="0"/>
              <a:t>点两份黄焖鸡</a:t>
            </a:r>
            <a:endParaRPr lang="zh-CN" altLang="en-US"/>
          </a:p>
        </p:txBody>
      </p:sp>
      <p:cxnSp>
        <p:nvCxnSpPr>
          <p:cNvPr id="5" name="直接连接符 4"/>
          <p:cNvCxnSpPr>
            <a:stCxn id="2" idx="1"/>
            <a:endCxn id="2" idx="3"/>
          </p:cNvCxnSpPr>
          <p:nvPr/>
        </p:nvCxnSpPr>
        <p:spPr>
          <a:xfrm>
            <a:off x="1366575" y="4848331"/>
            <a:ext cx="242165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云形 9"/>
          <p:cNvSpPr/>
          <p:nvPr/>
        </p:nvSpPr>
        <p:spPr>
          <a:xfrm>
            <a:off x="4803112" y="4275574"/>
            <a:ext cx="2622620" cy="1185705"/>
          </a:xfrm>
          <a:prstGeom prst="clou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外</a:t>
            </a:r>
            <a:r>
              <a:rPr lang="zh-CN" altLang="en-US" smtClean="0"/>
              <a:t>卖平台</a:t>
            </a:r>
            <a:endParaRPr lang="en-US" altLang="zh-CN" smtClean="0"/>
          </a:p>
          <a:p>
            <a:pPr algn="ctr"/>
            <a:r>
              <a:rPr lang="en-US" altLang="zh-CN" smtClean="0"/>
              <a:t>&amp; </a:t>
            </a:r>
            <a:r>
              <a:rPr lang="zh-CN" altLang="en-US" smtClean="0"/>
              <a:t>送餐小哥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8531051" y="4280599"/>
            <a:ext cx="2130251" cy="99478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mtClean="0"/>
              <a:t>黄焖鸡餐馆</a:t>
            </a:r>
            <a:endParaRPr lang="en-US" altLang="zh-CN" smtClean="0"/>
          </a:p>
          <a:p>
            <a:pPr algn="ctr">
              <a:lnSpc>
                <a:spcPct val="150000"/>
              </a:lnSpc>
            </a:pPr>
            <a:r>
              <a:rPr lang="zh-CN" altLang="en-US"/>
              <a:t>配</a:t>
            </a:r>
            <a:r>
              <a:rPr lang="zh-CN" altLang="en-US" smtClean="0"/>
              <a:t>菜、备餐</a:t>
            </a:r>
            <a:endParaRPr lang="zh-CN" altLang="en-US"/>
          </a:p>
        </p:txBody>
      </p:sp>
      <p:cxnSp>
        <p:nvCxnSpPr>
          <p:cNvPr id="13" name="直接连接符 12"/>
          <p:cNvCxnSpPr>
            <a:stCxn id="11" idx="1"/>
            <a:endCxn id="11" idx="3"/>
          </p:cNvCxnSpPr>
          <p:nvPr/>
        </p:nvCxnSpPr>
        <p:spPr>
          <a:xfrm>
            <a:off x="8531051" y="4777993"/>
            <a:ext cx="213025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816111" y="4612194"/>
            <a:ext cx="120027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7385539" y="4563625"/>
            <a:ext cx="113546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3799648" y="5104563"/>
            <a:ext cx="103224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7375491" y="5035899"/>
            <a:ext cx="113546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079631" y="4275573"/>
            <a:ext cx="653143" cy="288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smtClean="0"/>
              <a:t>点餐</a:t>
            </a:r>
            <a:endParaRPr lang="zh-CN" altLang="en-US" sz="1400"/>
          </a:p>
        </p:txBody>
      </p:sp>
      <p:sp>
        <p:nvSpPr>
          <p:cNvPr id="43" name="矩形 42"/>
          <p:cNvSpPr/>
          <p:nvPr/>
        </p:nvSpPr>
        <p:spPr>
          <a:xfrm>
            <a:off x="7698712" y="5081117"/>
            <a:ext cx="653143" cy="288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送</a:t>
            </a:r>
            <a:r>
              <a:rPr lang="zh-CN" altLang="en-US" sz="1400" smtClean="0"/>
              <a:t>餐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84690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URL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200589" y="1276140"/>
            <a:ext cx="6662058" cy="147732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chemeClr val="accent5"/>
                </a:solidFill>
                <a:latin typeface="+mj-ea"/>
                <a:ea typeface="+mj-ea"/>
              </a:rPr>
              <a:t>浏览器中所输入的网站或</a:t>
            </a:r>
            <a:r>
              <a:rPr lang="zh-CN" altLang="zh-CN" sz="2000" smtClean="0">
                <a:solidFill>
                  <a:schemeClr val="accent5"/>
                </a:solidFill>
                <a:latin typeface="+mj-ea"/>
                <a:ea typeface="+mj-ea"/>
              </a:rPr>
              <a:t>网</a:t>
            </a:r>
            <a:r>
              <a:rPr lang="zh-CN" altLang="en-US" sz="2000" smtClean="0">
                <a:solidFill>
                  <a:schemeClr val="accent5"/>
                </a:solidFill>
                <a:latin typeface="+mj-ea"/>
                <a:ea typeface="+mj-ea"/>
              </a:rPr>
              <a:t>页</a:t>
            </a:r>
            <a:r>
              <a:rPr lang="zh-CN" altLang="zh-CN" sz="2000" smtClean="0">
                <a:solidFill>
                  <a:schemeClr val="accent5"/>
                </a:solidFill>
                <a:latin typeface="+mj-ea"/>
                <a:ea typeface="+mj-ea"/>
              </a:rPr>
              <a:t>地址</a:t>
            </a:r>
            <a:r>
              <a:rPr lang="zh-CN" altLang="en-US" sz="2000" smtClean="0">
                <a:solidFill>
                  <a:schemeClr val="accent5"/>
                </a:solidFill>
                <a:latin typeface="+mj-ea"/>
                <a:ea typeface="+mj-ea"/>
              </a:rPr>
              <a:t>的真正含义</a:t>
            </a:r>
            <a:endParaRPr lang="en-US" altLang="zh-CN" sz="2000" smtClean="0">
              <a:solidFill>
                <a:schemeClr val="accent5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smtClean="0">
                <a:latin typeface="+mj-ea"/>
                <a:ea typeface="+mj-ea"/>
              </a:rPr>
              <a:t>标准称谓：</a:t>
            </a:r>
            <a:r>
              <a:rPr lang="zh-CN" altLang="zh-CN" sz="2000" smtClean="0">
                <a:latin typeface="+mj-ea"/>
                <a:ea typeface="+mj-ea"/>
              </a:rPr>
              <a:t>统一</a:t>
            </a:r>
            <a:r>
              <a:rPr lang="zh-CN" altLang="zh-CN" sz="2000">
                <a:latin typeface="+mj-ea"/>
                <a:ea typeface="+mj-ea"/>
              </a:rPr>
              <a:t>资源定位</a:t>
            </a:r>
            <a:r>
              <a:rPr lang="zh-CN" altLang="zh-CN" sz="2000" smtClean="0">
                <a:latin typeface="+mj-ea"/>
                <a:ea typeface="+mj-ea"/>
              </a:rPr>
              <a:t>符</a:t>
            </a:r>
            <a:r>
              <a:rPr lang="zh-CN" altLang="en-US" sz="2000" smtClean="0">
                <a:latin typeface="+mj-ea"/>
                <a:ea typeface="+mj-ea"/>
              </a:rPr>
              <a:t>，</a:t>
            </a:r>
            <a:endParaRPr lang="en-US" altLang="zh-CN" sz="200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smtClean="0">
                <a:latin typeface="+mj-ea"/>
                <a:ea typeface="+mj-ea"/>
              </a:rPr>
              <a:t>也可称为：</a:t>
            </a:r>
            <a:r>
              <a:rPr lang="en-US" altLang="zh-CN" sz="2000" smtClean="0">
                <a:latin typeface="+mj-ea"/>
                <a:ea typeface="+mj-ea"/>
              </a:rPr>
              <a:t>URL</a:t>
            </a:r>
            <a:r>
              <a:rPr lang="zh-CN" altLang="en-US" sz="2000" smtClean="0">
                <a:latin typeface="+mj-ea"/>
                <a:ea typeface="+mj-ea"/>
              </a:rPr>
              <a:t>（</a:t>
            </a:r>
            <a:r>
              <a:rPr lang="en-US" altLang="zh-CN" sz="2000" smtClean="0">
                <a:latin typeface="+mj-ea"/>
                <a:ea typeface="+mj-ea"/>
              </a:rPr>
              <a:t>Uniform </a:t>
            </a:r>
            <a:r>
              <a:rPr lang="en-US" altLang="zh-CN" sz="2000">
                <a:latin typeface="+mj-ea"/>
                <a:ea typeface="+mj-ea"/>
              </a:rPr>
              <a:t>Resource </a:t>
            </a:r>
            <a:r>
              <a:rPr lang="en-US" altLang="zh-CN" sz="2000" smtClean="0">
                <a:latin typeface="+mj-ea"/>
                <a:ea typeface="+mj-ea"/>
              </a:rPr>
              <a:t>Locator</a:t>
            </a:r>
            <a:r>
              <a:rPr lang="zh-CN" altLang="en-US" sz="2000" smtClean="0">
                <a:latin typeface="+mj-ea"/>
                <a:ea typeface="+mj-ea"/>
              </a:rPr>
              <a:t>）</a:t>
            </a:r>
            <a:endParaRPr lang="en-US" altLang="zh-CN" sz="2000" smtClean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00589" y="3436538"/>
            <a:ext cx="6662058" cy="1938992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chemeClr val="accent5"/>
                </a:solidFill>
              </a:rPr>
              <a:t>URL</a:t>
            </a:r>
            <a:r>
              <a:rPr lang="zh-CN" altLang="en-US" sz="2000" smtClean="0">
                <a:solidFill>
                  <a:schemeClr val="accent5"/>
                </a:solidFill>
              </a:rPr>
              <a:t>通常包含以下几部分信息</a:t>
            </a:r>
            <a:endParaRPr lang="en-US" altLang="zh-CN" sz="2000" smtClean="0">
              <a:solidFill>
                <a:schemeClr val="accent5"/>
              </a:solidFill>
            </a:endParaRPr>
          </a:p>
          <a:p>
            <a:endParaRPr lang="en-US" altLang="zh-CN" sz="2000" u="sng"/>
          </a:p>
          <a:p>
            <a:r>
              <a:rPr lang="zh-CN" altLang="zh-CN" sz="2000" u="sng" smtClean="0"/>
              <a:t>网络协议</a:t>
            </a:r>
            <a:r>
              <a:rPr lang="en-US" altLang="zh-CN" sz="2000"/>
              <a:t>://</a:t>
            </a:r>
            <a:r>
              <a:rPr lang="zh-CN" altLang="zh-CN" sz="2000" u="sng"/>
              <a:t>服务器主机</a:t>
            </a:r>
            <a:r>
              <a:rPr lang="en-US" altLang="zh-CN" sz="2000" u="sng"/>
              <a:t>:</a:t>
            </a:r>
            <a:r>
              <a:rPr lang="zh-CN" altLang="zh-CN" sz="2000" u="sng"/>
              <a:t>端口</a:t>
            </a:r>
            <a:r>
              <a:rPr lang="en-US" altLang="zh-CN" sz="2000"/>
              <a:t>/</a:t>
            </a:r>
            <a:r>
              <a:rPr lang="zh-CN" altLang="zh-CN" sz="2000" u="sng"/>
              <a:t>文件路径</a:t>
            </a:r>
            <a:r>
              <a:rPr lang="en-US" altLang="zh-CN" sz="2000"/>
              <a:t>?</a:t>
            </a:r>
            <a:r>
              <a:rPr lang="zh-CN" altLang="zh-CN" sz="2000" u="sng"/>
              <a:t>发送数据</a:t>
            </a:r>
            <a:endParaRPr lang="zh-CN" altLang="zh-CN" sz="2000"/>
          </a:p>
          <a:p>
            <a:r>
              <a:rPr lang="en-US" altLang="zh-CN" sz="2000" smtClean="0">
                <a:sym typeface="Wingdings"/>
              </a:rPr>
              <a:t> </a:t>
            </a:r>
            <a:r>
              <a:rPr lang="en-US" altLang="zh-CN" sz="2000" smtClean="0"/>
              <a:t>                       </a:t>
            </a:r>
            <a:r>
              <a:rPr lang="en-US" altLang="zh-CN" sz="2000" smtClean="0">
                <a:sym typeface="Wingdings"/>
              </a:rPr>
              <a:t></a:t>
            </a:r>
            <a:r>
              <a:rPr lang="en-US" altLang="zh-CN" sz="2000" smtClean="0"/>
              <a:t>                               </a:t>
            </a:r>
            <a:r>
              <a:rPr lang="en-US" altLang="zh-CN" sz="2000" smtClean="0">
                <a:sym typeface="Wingdings"/>
              </a:rPr>
              <a:t></a:t>
            </a:r>
            <a:r>
              <a:rPr lang="en-US" altLang="zh-CN" sz="2000" smtClean="0"/>
              <a:t>            </a:t>
            </a:r>
            <a:r>
              <a:rPr lang="en-US" altLang="zh-CN" sz="2000">
                <a:sym typeface="Wingdings"/>
              </a:rPr>
              <a:t></a:t>
            </a:r>
            <a:endParaRPr lang="zh-CN" altLang="zh-CN" sz="2000"/>
          </a:p>
          <a:p>
            <a:r>
              <a:rPr lang="en-US" altLang="zh-CN" sz="2000" u="sng"/>
              <a:t>http</a:t>
            </a:r>
            <a:r>
              <a:rPr lang="en-US" altLang="zh-CN" sz="2000"/>
              <a:t>://</a:t>
            </a:r>
            <a:r>
              <a:rPr lang="en-US" altLang="zh-CN" sz="2000" u="sng"/>
              <a:t>lib.njtech.edu.cn</a:t>
            </a:r>
            <a:r>
              <a:rPr lang="en-US" altLang="zh-CN" sz="2000"/>
              <a:t>/</a:t>
            </a:r>
            <a:r>
              <a:rPr lang="en-US" altLang="zh-CN" sz="2000" u="sng"/>
              <a:t>list.php</a:t>
            </a:r>
            <a:r>
              <a:rPr lang="en-US" altLang="zh-CN" sz="2000"/>
              <a:t>?</a:t>
            </a:r>
            <a:r>
              <a:rPr lang="en-US" altLang="zh-CN" sz="2000" u="sng"/>
              <a:t>fid=9</a:t>
            </a:r>
            <a:endParaRPr lang="zh-CN" altLang="zh-CN" sz="2000"/>
          </a:p>
          <a:p>
            <a:r>
              <a:rPr lang="en-US" altLang="zh-CN" sz="2000" smtClean="0">
                <a:sym typeface="Wingdings"/>
              </a:rPr>
              <a:t> </a:t>
            </a:r>
            <a:r>
              <a:rPr lang="en-US" altLang="zh-CN" sz="2000" smtClean="0"/>
              <a:t>                       </a:t>
            </a:r>
            <a:r>
              <a:rPr lang="en-US" altLang="zh-CN" sz="2000">
                <a:sym typeface="Wingdings"/>
              </a:rPr>
              <a:t></a:t>
            </a:r>
            <a:r>
              <a:rPr lang="en-US" altLang="zh-CN" sz="2000"/>
              <a:t>                </a:t>
            </a:r>
            <a:r>
              <a:rPr lang="en-US" altLang="zh-CN" sz="2000">
                <a:sym typeface="Wingdings"/>
              </a:rPr>
              <a:t></a:t>
            </a:r>
            <a:r>
              <a:rPr lang="en-US" altLang="zh-CN" sz="2000"/>
              <a:t>        </a:t>
            </a:r>
            <a:r>
              <a:rPr lang="en-US" altLang="zh-CN" sz="2000" smtClean="0"/>
              <a:t> </a:t>
            </a:r>
            <a:r>
              <a:rPr lang="en-US" altLang="zh-CN" sz="2000" smtClean="0">
                <a:sym typeface="Wingdings"/>
              </a:rPr>
              <a:t></a:t>
            </a:r>
            <a:endParaRPr lang="en-US" altLang="zh-CN" sz="2000" smtClean="0"/>
          </a:p>
        </p:txBody>
      </p:sp>
    </p:spTree>
    <p:extLst>
      <p:ext uri="{BB962C8B-B14F-4D97-AF65-F5344CB8AC3E}">
        <p14:creationId xmlns:p14="http://schemas.microsoft.com/office/powerpoint/2010/main" val="281907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URL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200589" y="3406171"/>
            <a:ext cx="7214716" cy="2862322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smtClean="0">
                <a:sym typeface="Wingdings"/>
              </a:rPr>
              <a:t>利用</a:t>
            </a:r>
            <a:r>
              <a:rPr lang="zh-CN" altLang="en-US" sz="2000">
                <a:sym typeface="Wingdings"/>
              </a:rPr>
              <a:t>浏览器</a:t>
            </a:r>
            <a:r>
              <a:rPr lang="zh-CN" altLang="en-US" sz="2000" smtClean="0">
                <a:sym typeface="Wingdings"/>
              </a:rPr>
              <a:t>查看网页时，最常用的是 </a:t>
            </a:r>
            <a:r>
              <a:rPr lang="en-US" altLang="zh-CN" sz="2000" smtClean="0">
                <a:sym typeface="Wingdings"/>
              </a:rPr>
              <a:t>http </a:t>
            </a:r>
            <a:r>
              <a:rPr lang="zh-CN" altLang="en-US" sz="2000" smtClean="0">
                <a:sym typeface="Wingdings"/>
              </a:rPr>
              <a:t>协议（超文本传输协议）。</a:t>
            </a:r>
            <a:endParaRPr lang="en-US" altLang="zh-CN" sz="2000" smtClean="0">
              <a:sym typeface="Wingdings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smtClean="0">
                <a:latin typeface="+mj-ea"/>
                <a:ea typeface="+mj-ea"/>
              </a:rPr>
              <a:t>服务器地址通常是一个经过注册的域名或者 </a:t>
            </a:r>
            <a:r>
              <a:rPr lang="en-US" altLang="zh-CN" sz="2000" smtClean="0">
                <a:latin typeface="+mj-ea"/>
                <a:ea typeface="+mj-ea"/>
              </a:rPr>
              <a:t>IP </a:t>
            </a:r>
            <a:r>
              <a:rPr lang="zh-CN" altLang="en-US" sz="2000" smtClean="0">
                <a:latin typeface="+mj-ea"/>
                <a:ea typeface="+mj-ea"/>
              </a:rPr>
              <a:t>地址。</a:t>
            </a:r>
            <a:endParaRPr lang="en-US" altLang="zh-CN" sz="2000" smtClean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smtClean="0">
                <a:sym typeface="Wingdings"/>
              </a:rPr>
              <a:t>用户访问的网页文档在服务器主机的存储路径。</a:t>
            </a:r>
            <a:endParaRPr lang="en-US" altLang="zh-CN" sz="2000" smtClean="0">
              <a:sym typeface="Wingdings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smtClean="0">
                <a:sym typeface="Wingdings"/>
              </a:rPr>
              <a:t>用户提交到服务器的数据，例如查询关键字、翻页的页码等等。</a:t>
            </a:r>
            <a:endParaRPr lang="en-US" altLang="zh-CN" sz="2000" smtClean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00589" y="854111"/>
            <a:ext cx="7214716" cy="1938992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chemeClr val="accent5"/>
                </a:solidFill>
              </a:rPr>
              <a:t>URL</a:t>
            </a:r>
            <a:r>
              <a:rPr lang="zh-CN" altLang="en-US" sz="2000" smtClean="0">
                <a:solidFill>
                  <a:schemeClr val="accent5"/>
                </a:solidFill>
              </a:rPr>
              <a:t>通常包含以下几部分信息</a:t>
            </a:r>
            <a:endParaRPr lang="en-US" altLang="zh-CN" sz="2000" smtClean="0">
              <a:solidFill>
                <a:schemeClr val="accent5"/>
              </a:solidFill>
            </a:endParaRPr>
          </a:p>
          <a:p>
            <a:endParaRPr lang="en-US" altLang="zh-CN" sz="2000" u="sng"/>
          </a:p>
          <a:p>
            <a:r>
              <a:rPr lang="zh-CN" altLang="zh-CN" sz="2000" u="sng" smtClean="0"/>
              <a:t>网络协议</a:t>
            </a:r>
            <a:r>
              <a:rPr lang="en-US" altLang="zh-CN" sz="2000"/>
              <a:t>://</a:t>
            </a:r>
            <a:r>
              <a:rPr lang="zh-CN" altLang="zh-CN" sz="2000" u="sng"/>
              <a:t>服务器主机</a:t>
            </a:r>
            <a:r>
              <a:rPr lang="en-US" altLang="zh-CN" sz="2000" u="sng"/>
              <a:t>:</a:t>
            </a:r>
            <a:r>
              <a:rPr lang="zh-CN" altLang="zh-CN" sz="2000" u="sng"/>
              <a:t>端口</a:t>
            </a:r>
            <a:r>
              <a:rPr lang="en-US" altLang="zh-CN" sz="2000"/>
              <a:t>/</a:t>
            </a:r>
            <a:r>
              <a:rPr lang="zh-CN" altLang="zh-CN" sz="2000" u="sng"/>
              <a:t>文件路径</a:t>
            </a:r>
            <a:r>
              <a:rPr lang="en-US" altLang="zh-CN" sz="2000"/>
              <a:t>?</a:t>
            </a:r>
            <a:r>
              <a:rPr lang="zh-CN" altLang="zh-CN" sz="2000" u="sng"/>
              <a:t>发送数据</a:t>
            </a:r>
            <a:endParaRPr lang="zh-CN" altLang="zh-CN" sz="2000"/>
          </a:p>
          <a:p>
            <a:r>
              <a:rPr lang="en-US" altLang="zh-CN" sz="2000" smtClean="0">
                <a:sym typeface="Wingdings"/>
              </a:rPr>
              <a:t> </a:t>
            </a:r>
            <a:r>
              <a:rPr lang="en-US" altLang="zh-CN" sz="2000" smtClean="0"/>
              <a:t>                       </a:t>
            </a:r>
            <a:r>
              <a:rPr lang="en-US" altLang="zh-CN" sz="2000" smtClean="0">
                <a:sym typeface="Wingdings"/>
              </a:rPr>
              <a:t></a:t>
            </a:r>
            <a:r>
              <a:rPr lang="en-US" altLang="zh-CN" sz="2000" smtClean="0"/>
              <a:t>                               </a:t>
            </a:r>
            <a:r>
              <a:rPr lang="en-US" altLang="zh-CN" sz="2000" smtClean="0">
                <a:sym typeface="Wingdings"/>
              </a:rPr>
              <a:t></a:t>
            </a:r>
            <a:r>
              <a:rPr lang="en-US" altLang="zh-CN" sz="2000" smtClean="0"/>
              <a:t>            </a:t>
            </a:r>
            <a:r>
              <a:rPr lang="en-US" altLang="zh-CN" sz="2000">
                <a:sym typeface="Wingdings"/>
              </a:rPr>
              <a:t></a:t>
            </a:r>
            <a:endParaRPr lang="zh-CN" altLang="zh-CN" sz="2000"/>
          </a:p>
          <a:p>
            <a:r>
              <a:rPr lang="en-US" altLang="zh-CN" sz="2000" u="sng"/>
              <a:t>http</a:t>
            </a:r>
            <a:r>
              <a:rPr lang="en-US" altLang="zh-CN" sz="2000"/>
              <a:t>://</a:t>
            </a:r>
            <a:r>
              <a:rPr lang="en-US" altLang="zh-CN" sz="2000" u="sng"/>
              <a:t>lib.njtech.edu.cn</a:t>
            </a:r>
            <a:r>
              <a:rPr lang="en-US" altLang="zh-CN" sz="2000"/>
              <a:t>/</a:t>
            </a:r>
            <a:r>
              <a:rPr lang="en-US" altLang="zh-CN" sz="2000" u="sng"/>
              <a:t>list.php</a:t>
            </a:r>
            <a:r>
              <a:rPr lang="en-US" altLang="zh-CN" sz="2000"/>
              <a:t>?</a:t>
            </a:r>
            <a:r>
              <a:rPr lang="en-US" altLang="zh-CN" sz="2000" u="sng"/>
              <a:t>fid=9</a:t>
            </a:r>
            <a:endParaRPr lang="zh-CN" altLang="zh-CN" sz="2000"/>
          </a:p>
          <a:p>
            <a:r>
              <a:rPr lang="en-US" altLang="zh-CN" sz="2000" smtClean="0">
                <a:sym typeface="Wingdings"/>
              </a:rPr>
              <a:t> </a:t>
            </a:r>
            <a:r>
              <a:rPr lang="en-US" altLang="zh-CN" sz="2000" smtClean="0"/>
              <a:t>                       </a:t>
            </a:r>
            <a:r>
              <a:rPr lang="en-US" altLang="zh-CN" sz="2000">
                <a:sym typeface="Wingdings"/>
              </a:rPr>
              <a:t></a:t>
            </a:r>
            <a:r>
              <a:rPr lang="en-US" altLang="zh-CN" sz="2000"/>
              <a:t>                </a:t>
            </a:r>
            <a:r>
              <a:rPr lang="en-US" altLang="zh-CN" sz="2000">
                <a:sym typeface="Wingdings"/>
              </a:rPr>
              <a:t></a:t>
            </a:r>
            <a:r>
              <a:rPr lang="en-US" altLang="zh-CN" sz="2000"/>
              <a:t>        </a:t>
            </a:r>
            <a:r>
              <a:rPr lang="en-US" altLang="zh-CN" sz="2000" smtClean="0"/>
              <a:t> </a:t>
            </a:r>
            <a:r>
              <a:rPr lang="en-US" altLang="zh-CN" sz="2000" smtClean="0">
                <a:sym typeface="Wingdings"/>
              </a:rPr>
              <a:t></a:t>
            </a:r>
            <a:endParaRPr lang="en-US" altLang="zh-CN" sz="2000" smtClean="0"/>
          </a:p>
        </p:txBody>
      </p:sp>
    </p:spTree>
    <p:extLst>
      <p:ext uri="{BB962C8B-B14F-4D97-AF65-F5344CB8AC3E}">
        <p14:creationId xmlns:p14="http://schemas.microsoft.com/office/powerpoint/2010/main" val="130507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HTML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文档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346480" y="1256045"/>
            <a:ext cx="9385160" cy="4154984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chemeClr val="accent5"/>
                </a:solidFill>
              </a:rPr>
              <a:t>           </a:t>
            </a:r>
            <a:r>
              <a:rPr lang="zh-CN" altLang="zh-CN" sz="2400" smtClean="0">
                <a:solidFill>
                  <a:schemeClr val="accent5"/>
                </a:solidFill>
              </a:rPr>
              <a:t>网页</a:t>
            </a:r>
            <a:r>
              <a:rPr lang="en-US" altLang="zh-CN" sz="2400" smtClean="0">
                <a:solidFill>
                  <a:schemeClr val="accent5"/>
                </a:solidFill>
              </a:rPr>
              <a:t> </a:t>
            </a:r>
            <a:r>
              <a:rPr lang="en-US" altLang="zh-CN" sz="2400">
                <a:solidFill>
                  <a:schemeClr val="accent5"/>
                </a:solidFill>
              </a:rPr>
              <a:t>= HTML</a:t>
            </a:r>
            <a:r>
              <a:rPr lang="zh-CN" altLang="zh-CN" sz="2400">
                <a:solidFill>
                  <a:schemeClr val="accent5"/>
                </a:solidFill>
              </a:rPr>
              <a:t>文档，绝大多数展现在用户面前的网页都是由</a:t>
            </a:r>
            <a:r>
              <a:rPr lang="en-US" altLang="zh-CN" sz="2400">
                <a:solidFill>
                  <a:schemeClr val="accent5"/>
                </a:solidFill>
              </a:rPr>
              <a:t>HTML</a:t>
            </a:r>
            <a:r>
              <a:rPr lang="zh-CN" altLang="zh-CN" sz="2400">
                <a:solidFill>
                  <a:schemeClr val="accent5"/>
                </a:solidFill>
              </a:rPr>
              <a:t>脚本所构成的</a:t>
            </a:r>
            <a:r>
              <a:rPr lang="zh-CN" altLang="zh-CN" sz="2400" smtClean="0">
                <a:solidFill>
                  <a:schemeClr val="accent5"/>
                </a:solidFill>
              </a:rPr>
              <a:t>文件</a:t>
            </a:r>
            <a:endParaRPr lang="en-US" altLang="zh-CN" sz="2400" smtClean="0">
              <a:solidFill>
                <a:schemeClr val="accent5"/>
              </a:solidFill>
            </a:endParaRPr>
          </a:p>
          <a:p>
            <a:pPr>
              <a:lnSpc>
                <a:spcPct val="150000"/>
              </a:lnSpc>
            </a:pPr>
            <a:endParaRPr lang="zh-CN" altLang="zh-CN" sz="240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/>
              <a:t>HTML </a:t>
            </a:r>
            <a:r>
              <a:rPr lang="zh-CN" altLang="zh-CN" sz="2000"/>
              <a:t>指的是超文本标记语言</a:t>
            </a:r>
            <a:r>
              <a:rPr lang="en-US" altLang="zh-CN" sz="2000"/>
              <a:t> (Hyper Text Markup Language)</a:t>
            </a:r>
            <a:endParaRPr lang="zh-CN" altLang="zh-CN" sz="200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/>
              <a:t>HTML </a:t>
            </a:r>
            <a:r>
              <a:rPr lang="zh-CN" altLang="zh-CN" sz="2000"/>
              <a:t>不是一种编程语言，而是一种标记语言</a:t>
            </a:r>
            <a:r>
              <a:rPr lang="en-US" altLang="zh-CN" sz="2000"/>
              <a:t> (markup language)</a:t>
            </a:r>
            <a:endParaRPr lang="zh-CN" altLang="zh-CN" sz="200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/>
              <a:t>标记语言是一套标记标签</a:t>
            </a:r>
            <a:r>
              <a:rPr lang="en-US" altLang="zh-CN" sz="2000"/>
              <a:t> (markup tag)</a:t>
            </a:r>
            <a:endParaRPr lang="zh-CN" altLang="zh-CN" sz="200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/>
              <a:t>HTML </a:t>
            </a:r>
            <a:r>
              <a:rPr lang="zh-CN" altLang="zh-CN" sz="2000"/>
              <a:t>使用</a:t>
            </a:r>
            <a:r>
              <a:rPr lang="zh-CN" altLang="zh-CN" sz="2000">
                <a:solidFill>
                  <a:srgbClr val="FF0000"/>
                </a:solidFill>
              </a:rPr>
              <a:t>标记标签</a:t>
            </a:r>
            <a:r>
              <a:rPr lang="zh-CN" altLang="zh-CN" sz="2000"/>
              <a:t>来描述</a:t>
            </a:r>
            <a:r>
              <a:rPr lang="zh-CN" altLang="zh-CN" sz="2000" smtClean="0"/>
              <a:t>网页</a:t>
            </a:r>
            <a:endParaRPr lang="en-US" altLang="zh-CN" sz="2000" smtClean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2400"/>
          </a:p>
        </p:txBody>
      </p:sp>
    </p:spTree>
    <p:extLst>
      <p:ext uri="{BB962C8B-B14F-4D97-AF65-F5344CB8AC3E}">
        <p14:creationId xmlns:p14="http://schemas.microsoft.com/office/powerpoint/2010/main" val="151716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HTML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标签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776097" y="960747"/>
            <a:ext cx="6692201" cy="544764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accent5"/>
                </a:solidFill>
              </a:rPr>
              <a:t> </a:t>
            </a:r>
            <a:r>
              <a:rPr lang="en-US" altLang="zh-CN" sz="2000" smtClean="0">
                <a:solidFill>
                  <a:schemeClr val="accent5"/>
                </a:solidFill>
              </a:rPr>
              <a:t>      </a:t>
            </a:r>
            <a:r>
              <a:rPr lang="zh-CN" altLang="en-US" sz="2000" smtClean="0"/>
              <a:t>标签</a:t>
            </a:r>
            <a:r>
              <a:rPr lang="zh-CN" altLang="en-US" sz="2000"/>
              <a:t>就是脚本</a:t>
            </a:r>
            <a:r>
              <a:rPr lang="zh-CN" altLang="en-US" sz="2000" smtClean="0"/>
              <a:t>中由</a:t>
            </a:r>
            <a:r>
              <a:rPr lang="zh-CN" altLang="en-US" sz="2000"/>
              <a:t>尖括号</a:t>
            </a:r>
            <a:r>
              <a:rPr lang="zh-CN" altLang="en-US" sz="2000" smtClean="0"/>
              <a:t>包围的关键词，例如：</a:t>
            </a:r>
            <a:r>
              <a:rPr lang="en-US" altLang="zh-CN" sz="2000" smtClean="0">
                <a:solidFill>
                  <a:srgbClr val="0000FF"/>
                </a:solidFill>
              </a:rPr>
              <a:t>&lt;</a:t>
            </a:r>
            <a:r>
              <a:rPr lang="en-US" altLang="zh-CN" sz="2000">
                <a:solidFill>
                  <a:srgbClr val="0000FF"/>
                </a:solidFill>
              </a:rPr>
              <a:t>h1&gt;</a:t>
            </a:r>
            <a:r>
              <a:rPr lang="zh-CN" altLang="en-US" sz="2000">
                <a:solidFill>
                  <a:srgbClr val="0000FF"/>
                </a:solidFill>
              </a:rPr>
              <a:t>这里是标题行</a:t>
            </a:r>
            <a:r>
              <a:rPr lang="en-US" altLang="zh-CN" sz="2000">
                <a:solidFill>
                  <a:srgbClr val="0000FF"/>
                </a:solidFill>
              </a:rPr>
              <a:t>&lt;/h1</a:t>
            </a:r>
            <a:r>
              <a:rPr lang="en-US" altLang="zh-CN" sz="2000" smtClean="0">
                <a:solidFill>
                  <a:srgbClr val="0000FF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endParaRPr lang="zh-CN" altLang="zh-CN" sz="240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smtClean="0"/>
              <a:t>标签通常成对</a:t>
            </a:r>
            <a:r>
              <a:rPr lang="zh-CN" altLang="en-US" sz="2000"/>
              <a:t>出现</a:t>
            </a:r>
            <a:r>
              <a:rPr lang="zh-CN" altLang="en-US" sz="2000" smtClean="0"/>
              <a:t>，</a:t>
            </a:r>
            <a:r>
              <a:rPr lang="en-US" altLang="zh-CN" sz="2000" smtClean="0">
                <a:solidFill>
                  <a:srgbClr val="0000FF"/>
                </a:solidFill>
              </a:rPr>
              <a:t>&lt;h1&gt; </a:t>
            </a:r>
            <a:r>
              <a:rPr lang="zh-CN" altLang="en-US" sz="2000" smtClean="0"/>
              <a:t>称为</a:t>
            </a:r>
            <a:r>
              <a:rPr lang="zh-CN" altLang="en-US" sz="2000"/>
              <a:t>开始标签，</a:t>
            </a:r>
            <a:r>
              <a:rPr lang="en-US" altLang="zh-CN" sz="2000">
                <a:solidFill>
                  <a:srgbClr val="0000FF"/>
                </a:solidFill>
              </a:rPr>
              <a:t>&lt;/h1</a:t>
            </a:r>
            <a:r>
              <a:rPr lang="en-US" altLang="zh-CN" sz="2000" smtClean="0">
                <a:solidFill>
                  <a:srgbClr val="0000FF"/>
                </a:solidFill>
              </a:rPr>
              <a:t>&gt; </a:t>
            </a:r>
            <a:r>
              <a:rPr lang="zh-CN" altLang="en-US" sz="2000" smtClean="0"/>
              <a:t>称为</a:t>
            </a:r>
            <a:r>
              <a:rPr lang="zh-CN" altLang="en-US" sz="2000"/>
              <a:t>结束标签</a:t>
            </a:r>
            <a:endParaRPr lang="zh-CN" altLang="zh-CN" sz="200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/>
              <a:t>开始标签到结束标签之间所有的脚本称为一个</a:t>
            </a:r>
            <a:r>
              <a:rPr lang="zh-CN" altLang="en-US" sz="2000" smtClean="0">
                <a:solidFill>
                  <a:srgbClr val="FF0000"/>
                </a:solidFill>
              </a:rPr>
              <a:t>元素</a:t>
            </a:r>
            <a:r>
              <a:rPr lang="zh-CN" altLang="en-US" sz="2000" smtClean="0"/>
              <a:t>，</a:t>
            </a:r>
            <a:r>
              <a:rPr lang="en-US" altLang="zh-CN" sz="2000">
                <a:solidFill>
                  <a:srgbClr val="0000FF"/>
                </a:solidFill>
              </a:rPr>
              <a:t>&lt;h1&gt;</a:t>
            </a:r>
            <a:r>
              <a:rPr lang="zh-CN" altLang="en-US" sz="2000">
                <a:solidFill>
                  <a:srgbClr val="0000FF"/>
                </a:solidFill>
              </a:rPr>
              <a:t>这里是标题行</a:t>
            </a:r>
            <a:r>
              <a:rPr lang="en-US" altLang="zh-CN" sz="2000">
                <a:solidFill>
                  <a:srgbClr val="0000FF"/>
                </a:solidFill>
              </a:rPr>
              <a:t>&lt;/h1&gt;</a:t>
            </a:r>
            <a:endParaRPr lang="en-US" altLang="zh-CN" sz="2000" smtClean="0">
              <a:solidFill>
                <a:srgbClr val="0000FF"/>
              </a:solidFill>
            </a:endParaRPr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smtClean="0"/>
              <a:t>文</a:t>
            </a:r>
            <a:r>
              <a:rPr lang="zh-CN" altLang="en-US" sz="2000"/>
              <a:t>本</a:t>
            </a:r>
            <a:r>
              <a:rPr lang="zh-CN" altLang="en-US" sz="2000" smtClean="0"/>
              <a:t>“</a:t>
            </a:r>
            <a:r>
              <a:rPr lang="zh-CN" altLang="en-US" sz="2000">
                <a:solidFill>
                  <a:srgbClr val="0000FF"/>
                </a:solidFill>
              </a:rPr>
              <a:t>这里是标题行</a:t>
            </a:r>
            <a:r>
              <a:rPr lang="zh-CN" altLang="en-US" sz="2000" smtClean="0"/>
              <a:t>”是</a:t>
            </a:r>
            <a:r>
              <a:rPr lang="zh-CN" altLang="en-US" sz="2000"/>
              <a:t>这个元素的</a:t>
            </a:r>
            <a:r>
              <a:rPr lang="zh-CN" altLang="en-US" sz="2000" smtClean="0">
                <a:solidFill>
                  <a:srgbClr val="FF0000"/>
                </a:solidFill>
              </a:rPr>
              <a:t>内容</a:t>
            </a:r>
            <a:endParaRPr lang="en-US" altLang="zh-CN" sz="2000" smtClean="0">
              <a:solidFill>
                <a:srgbClr val="FF0000"/>
              </a:solidFill>
            </a:endParaRPr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 smtClean="0"/>
              <a:t>HTML</a:t>
            </a:r>
            <a:r>
              <a:rPr lang="zh-CN" altLang="en-US" sz="2000" smtClean="0"/>
              <a:t>文档中不同类型的标签，可以展现不同的样式，例如：文档主体标签 </a:t>
            </a:r>
            <a:r>
              <a:rPr lang="en-US" altLang="zh-CN" sz="2000" smtClean="0"/>
              <a:t>&lt;body&gt;</a:t>
            </a:r>
            <a:r>
              <a:rPr lang="zh-CN" altLang="en-US" sz="2000" smtClean="0"/>
              <a:t>、标题标签 </a:t>
            </a:r>
            <a:r>
              <a:rPr lang="en-US" altLang="zh-CN" sz="2000" smtClean="0"/>
              <a:t>&lt;h1&gt;</a:t>
            </a:r>
            <a:r>
              <a:rPr lang="zh-CN" altLang="en-US" sz="2000" smtClean="0"/>
              <a:t>、段落标签 </a:t>
            </a:r>
            <a:r>
              <a:rPr lang="en-US" altLang="zh-CN" sz="2000" smtClean="0"/>
              <a:t>&lt;p&gt;</a:t>
            </a:r>
            <a:endParaRPr lang="zh-CN" altLang="zh-CN" sz="240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666" y="707504"/>
            <a:ext cx="3604333" cy="23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图片 18"/>
          <p:cNvPicPr/>
          <p:nvPr/>
        </p:nvPicPr>
        <p:blipFill>
          <a:blip r:embed="rId4"/>
          <a:stretch>
            <a:fillRect/>
          </a:stretch>
        </p:blipFill>
        <p:spPr>
          <a:xfrm>
            <a:off x="7827666" y="3433948"/>
            <a:ext cx="3604333" cy="27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3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346602" cy="504056"/>
            <a:chOff x="169526" y="203448"/>
            <a:chExt cx="3346602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27349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常见的标签及属性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687209" y="3629032"/>
            <a:ext cx="5994945" cy="2400657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0070C0"/>
                </a:solidFill>
              </a:rPr>
              <a:t>标签的各种属性描述了标签的不同特征，例如：</a:t>
            </a:r>
            <a:endParaRPr lang="zh-CN" altLang="zh-CN" sz="2000">
              <a:solidFill>
                <a:srgbClr val="0070C0"/>
              </a:solidFill>
            </a:endParaRPr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 smtClean="0"/>
              <a:t>name</a:t>
            </a:r>
            <a:r>
              <a:rPr lang="zh-CN" altLang="en-US" sz="2000" smtClean="0"/>
              <a:t>、</a:t>
            </a:r>
            <a:r>
              <a:rPr lang="en-US" altLang="zh-CN" sz="2000" smtClean="0"/>
              <a:t>id </a:t>
            </a:r>
            <a:r>
              <a:rPr lang="zh-CN" altLang="en-US" sz="2000" smtClean="0"/>
              <a:t>属性对标签进行命名和标识</a:t>
            </a:r>
            <a:endParaRPr lang="en-US" altLang="zh-CN" sz="2000" smtClean="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 err="1" smtClean="0"/>
              <a:t>algin</a:t>
            </a:r>
            <a:r>
              <a:rPr lang="zh-CN" altLang="en-US" sz="2000" smtClean="0"/>
              <a:t>属性：标签内容的对齐方式</a:t>
            </a:r>
            <a:endParaRPr lang="en-US" altLang="zh-CN" sz="2000" smtClean="0"/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/>
              <a:t>c</a:t>
            </a:r>
            <a:r>
              <a:rPr lang="en-US" altLang="zh-CN" sz="2000" smtClean="0"/>
              <a:t>lass</a:t>
            </a:r>
            <a:r>
              <a:rPr lang="zh-CN" altLang="en-US" sz="2000" smtClean="0"/>
              <a:t>属性：标签采用哪种样式类，例如 </a:t>
            </a:r>
            <a:r>
              <a:rPr lang="en-US" altLang="zh-CN" sz="2000" smtClean="0"/>
              <a:t>css1</a:t>
            </a:r>
          </a:p>
          <a:p>
            <a:pPr marL="542925" indent="-542925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000" err="1" smtClean="0"/>
              <a:t>href</a:t>
            </a:r>
            <a:r>
              <a:rPr lang="en-US" altLang="zh-CN" sz="2000" smtClean="0"/>
              <a:t> </a:t>
            </a:r>
            <a:r>
              <a:rPr lang="zh-CN" altLang="en-US" sz="2000" smtClean="0"/>
              <a:t>属性：超链接标签</a:t>
            </a:r>
            <a:r>
              <a:rPr lang="en-US" altLang="zh-CN" sz="2000" smtClean="0"/>
              <a:t>&lt;a&gt;</a:t>
            </a:r>
            <a:r>
              <a:rPr lang="zh-CN" altLang="en-US" sz="2000" smtClean="0"/>
              <a:t>的跳转路径</a:t>
            </a:r>
            <a:endParaRPr lang="zh-CN" altLang="zh-CN" sz="2400"/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6983604" y="3564846"/>
            <a:ext cx="4538419" cy="2926389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4"/>
          <a:stretch>
            <a:fillRect/>
          </a:stretch>
        </p:blipFill>
        <p:spPr>
          <a:xfrm>
            <a:off x="3426488" y="362015"/>
            <a:ext cx="8095535" cy="3034327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774859" y="1298749"/>
            <a:ext cx="1857809" cy="693336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新建了一个名为 </a:t>
            </a:r>
            <a:r>
              <a:rPr lang="en-US" altLang="zh-CN" smtClean="0"/>
              <a:t>css1 </a:t>
            </a:r>
            <a:r>
              <a:rPr lang="zh-CN" altLang="en-US" smtClean="0"/>
              <a:t>的样式类</a:t>
            </a:r>
            <a:endParaRPr lang="zh-CN" altLang="en-US"/>
          </a:p>
        </p:txBody>
      </p:sp>
      <p:cxnSp>
        <p:nvCxnSpPr>
          <p:cNvPr id="5" name="直接箭头连接符 4"/>
          <p:cNvCxnSpPr>
            <a:stCxn id="2" idx="3"/>
            <a:endCxn id="13" idx="1"/>
          </p:cNvCxnSpPr>
          <p:nvPr/>
        </p:nvCxnSpPr>
        <p:spPr>
          <a:xfrm flipV="1">
            <a:off x="2632668" y="1482132"/>
            <a:ext cx="1296236" cy="1632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3928904" y="1195754"/>
            <a:ext cx="6079253" cy="572756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16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4080133" cy="504056"/>
            <a:chOff x="169526" y="203448"/>
            <a:chExt cx="408013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3468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HTML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文档的树形结构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422349" y="894578"/>
            <a:ext cx="4496232" cy="2763022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4"/>
          <a:stretch>
            <a:fillRect/>
          </a:stretch>
        </p:blipFill>
        <p:spPr>
          <a:xfrm>
            <a:off x="5184949" y="578040"/>
            <a:ext cx="6420897" cy="4365749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48" y="3801139"/>
            <a:ext cx="4496233" cy="2539371"/>
          </a:xfrm>
          <a:prstGeom prst="rect">
            <a:avLst/>
          </a:prstGeom>
          <a:noFill/>
        </p:spPr>
      </p:pic>
      <p:cxnSp>
        <p:nvCxnSpPr>
          <p:cNvPr id="6" name="直接箭头连接符 5"/>
          <p:cNvCxnSpPr/>
          <p:nvPr/>
        </p:nvCxnSpPr>
        <p:spPr>
          <a:xfrm>
            <a:off x="3506875" y="5070824"/>
            <a:ext cx="1758462" cy="37538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074418" y="5476353"/>
            <a:ext cx="743578" cy="80575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smtClean="0">
                <a:latin typeface="+mj-ea"/>
                <a:ea typeface="+mj-ea"/>
              </a:rPr>
              <a:t>… </a:t>
            </a:r>
          </a:p>
          <a:p>
            <a:pPr algn="ctr"/>
            <a:r>
              <a:rPr lang="en-US" altLang="zh-CN" sz="2000" b="1" smtClean="0">
                <a:latin typeface="+mj-ea"/>
                <a:ea typeface="+mj-ea"/>
              </a:rPr>
              <a:t>…</a:t>
            </a:r>
            <a:endParaRPr lang="zh-CN" altLang="en-US" sz="2000" b="1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3224" y="5266442"/>
            <a:ext cx="5442284" cy="1015663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0070C0"/>
                </a:solidFill>
              </a:rPr>
              <a:t>HTML</a:t>
            </a:r>
            <a:r>
              <a:rPr lang="zh-CN" altLang="en-US" sz="2000" smtClean="0">
                <a:solidFill>
                  <a:srgbClr val="0070C0"/>
                </a:solidFill>
              </a:rPr>
              <a:t>文档中标签的嵌套体现了包含关系</a:t>
            </a:r>
            <a:endParaRPr lang="en-US" altLang="zh-CN" sz="200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0070C0"/>
                </a:solidFill>
              </a:rPr>
              <a:t>所有标签的嵌套关系可以映射为一个树状结构</a:t>
            </a:r>
            <a:endParaRPr lang="zh-CN" altLang="zh-CN" sz="2000">
              <a:solidFill>
                <a:srgbClr val="0070C0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671727" y="773724"/>
            <a:ext cx="2833634" cy="715243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smtClean="0"/>
              <a:t>标签 </a:t>
            </a:r>
            <a:r>
              <a:rPr lang="en-US" altLang="zh-CN" sz="1600" smtClean="0"/>
              <a:t>&lt;table&gt;</a:t>
            </a:r>
            <a:r>
              <a:rPr lang="zh-CN" altLang="en-US" sz="1600" smtClean="0"/>
              <a:t>、</a:t>
            </a:r>
            <a:r>
              <a:rPr lang="en-US" altLang="zh-CN" sz="1600" smtClean="0"/>
              <a:t>&lt;</a:t>
            </a:r>
            <a:r>
              <a:rPr lang="en-US" altLang="zh-CN" sz="1600" err="1" smtClean="0"/>
              <a:t>tr</a:t>
            </a:r>
            <a:r>
              <a:rPr lang="en-US" altLang="zh-CN" sz="1600" smtClean="0"/>
              <a:t>&gt;</a:t>
            </a:r>
            <a:r>
              <a:rPr lang="zh-CN" altLang="en-US" sz="1600" smtClean="0"/>
              <a:t>、</a:t>
            </a:r>
            <a:r>
              <a:rPr lang="en-US" altLang="zh-CN" sz="1600" smtClean="0"/>
              <a:t>&lt;td&gt;</a:t>
            </a:r>
          </a:p>
          <a:p>
            <a:pPr algn="ctr"/>
            <a:r>
              <a:rPr lang="zh-CN" altLang="en-US" sz="1600" smtClean="0"/>
              <a:t>组合起来可展现表格数据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06125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查看 </a:t>
              </a:r>
              <a:r>
                <a:rPr lang="en-US" altLang="zh-CN" sz="20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HTML </a:t>
              </a:r>
              <a:r>
                <a:rPr lang="zh-CN" altLang="en-US" sz="20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文档源代码</a:t>
              </a:r>
              <a:endParaRPr lang="zh-CN" altLang="en-US" sz="20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图片 29"/>
          <p:cNvPicPr/>
          <p:nvPr/>
        </p:nvPicPr>
        <p:blipFill>
          <a:blip r:embed="rId3"/>
          <a:stretch>
            <a:fillRect/>
          </a:stretch>
        </p:blipFill>
        <p:spPr>
          <a:xfrm>
            <a:off x="314336" y="1705810"/>
            <a:ext cx="8236811" cy="4775375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25" name="图片 24"/>
          <p:cNvPicPr/>
          <p:nvPr/>
        </p:nvPicPr>
        <p:blipFill>
          <a:blip r:embed="rId4"/>
          <a:stretch>
            <a:fillRect/>
          </a:stretch>
        </p:blipFill>
        <p:spPr>
          <a:xfrm>
            <a:off x="5446207" y="362015"/>
            <a:ext cx="6461090" cy="4521483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sp>
        <p:nvSpPr>
          <p:cNvPr id="2" name="椭圆 1"/>
          <p:cNvSpPr/>
          <p:nvPr/>
        </p:nvSpPr>
        <p:spPr>
          <a:xfrm>
            <a:off x="8636559" y="3255666"/>
            <a:ext cx="2336242" cy="482320"/>
          </a:xfrm>
          <a:prstGeom prst="ellipse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8890279" y="5084462"/>
            <a:ext cx="2823587" cy="139672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mtClean="0"/>
              <a:t>以 </a:t>
            </a:r>
            <a:r>
              <a:rPr lang="en-US" altLang="zh-CN" smtClean="0"/>
              <a:t>Chrome </a:t>
            </a:r>
            <a:r>
              <a:rPr lang="zh-CN" altLang="en-US" smtClean="0"/>
              <a:t>浏览器为例，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 smtClean="0"/>
              <a:t>点击鼠标右键，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/>
              <a:t>弹出</a:t>
            </a:r>
            <a:r>
              <a:rPr lang="zh-CN" altLang="en-US" smtClean="0"/>
              <a:t>快捷菜单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54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浏览器的开发者工具</a:t>
              </a:r>
              <a:endParaRPr lang="zh-CN" altLang="en-US" sz="20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48" y="2177142"/>
            <a:ext cx="11182350" cy="4233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圆角矩形 11"/>
          <p:cNvSpPr/>
          <p:nvPr/>
        </p:nvSpPr>
        <p:spPr>
          <a:xfrm>
            <a:off x="4693583" y="362016"/>
            <a:ext cx="5495446" cy="163760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mtClean="0"/>
              <a:t>以 </a:t>
            </a:r>
            <a:r>
              <a:rPr lang="en-US" altLang="zh-CN" smtClean="0"/>
              <a:t>Chrome </a:t>
            </a:r>
            <a:r>
              <a:rPr lang="zh-CN" altLang="en-US" smtClean="0"/>
              <a:t>浏览器为例，选中网页文本，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 smtClean="0"/>
              <a:t>单点击鼠标右键，在弹出快捷菜单中选择“</a:t>
            </a:r>
            <a:r>
              <a:rPr lang="zh-CN" altLang="en-US" smtClean="0">
                <a:solidFill>
                  <a:srgbClr val="0000FF"/>
                </a:solidFill>
              </a:rPr>
              <a:t>检查</a:t>
            </a:r>
            <a:r>
              <a:rPr lang="zh-CN" altLang="en-US" smtClean="0"/>
              <a:t>”，</a:t>
            </a:r>
            <a:endParaRPr lang="en-US" altLang="zh-CN" smtClean="0"/>
          </a:p>
          <a:p>
            <a:pPr>
              <a:lnSpc>
                <a:spcPct val="150000"/>
              </a:lnSpc>
            </a:pPr>
            <a:r>
              <a:rPr lang="zh-CN" altLang="en-US" smtClean="0"/>
              <a:t>或者按下 </a:t>
            </a:r>
            <a:r>
              <a:rPr lang="en-US" altLang="zh-CN" smtClean="0"/>
              <a:t>F12 </a:t>
            </a:r>
            <a:r>
              <a:rPr lang="zh-CN" altLang="en-US" smtClean="0"/>
              <a:t>键，直接调出“</a:t>
            </a:r>
            <a:r>
              <a:rPr lang="zh-CN" altLang="en-US">
                <a:solidFill>
                  <a:srgbClr val="0000FF"/>
                </a:solidFill>
              </a:rPr>
              <a:t>开发者工具</a:t>
            </a:r>
            <a:r>
              <a:rPr lang="zh-CN" altLang="en-US" smtClean="0"/>
              <a:t>”</a:t>
            </a:r>
            <a:r>
              <a:rPr lang="zh-CN" altLang="en-US" smtClean="0">
                <a:solidFill>
                  <a:srgbClr val="0000FF"/>
                </a:solidFill>
              </a:rPr>
              <a:t> </a:t>
            </a:r>
            <a:r>
              <a:rPr lang="zh-CN" altLang="en-US" smtClean="0"/>
              <a:t>窗口。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18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0187" y="2634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xmlns="" id="{9852CEF3-AF68-464A-8EBB-F8859FB71535}"/>
              </a:ext>
            </a:extLst>
          </p:cNvPr>
          <p:cNvSpPr txBox="1"/>
          <p:nvPr/>
        </p:nvSpPr>
        <p:spPr>
          <a:xfrm>
            <a:off x="2505798" y="2721873"/>
            <a:ext cx="6938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Requests</a:t>
            </a:r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库的使用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xmlns="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xmlns="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xmlns="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xmlns="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xmlns="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xmlns="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xmlns="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xmlns="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xmlns="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xmlns="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xmlns="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xmlns="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xmlns="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xmlns="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xmlns="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xmlns="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xmlns="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xmlns="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xmlns="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xmlns="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xmlns="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xmlns="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xmlns="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xmlns="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xmlns="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xmlns="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xmlns="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xmlns="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xmlns="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xmlns="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xmlns="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xmlns="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xmlns="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xmlns="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xmlns="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xmlns="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xmlns="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xmlns="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xmlns="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xmlns="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xmlns="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xmlns="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xmlns="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xmlns="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xmlns="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xmlns="" id="{F45F1328-8259-42E9-BE98-A45AFDCB6EAE}"/>
                </a:ext>
              </a:extLst>
            </p:cNvPr>
            <p:cNvSpPr txBox="1"/>
            <p:nvPr/>
          </p:nvSpPr>
          <p:spPr>
            <a:xfrm>
              <a:off x="2808727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11.2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xmlns="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xmlns="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xmlns="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xmlns="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xmlns="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xmlns="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xmlns="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xmlns="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xmlns="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xmlns="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0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Requests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库简介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">
            <a:extLst>
              <a:ext uri="{FF2B5EF4-FFF2-40B4-BE49-F238E27FC236}">
                <a16:creationId xmlns:a16="http://schemas.microsoft.com/office/drawing/2014/main" xmlns="" id="{7DD2C369-3306-49D2-8963-D9354F2E9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514" y="1661144"/>
            <a:ext cx="9531388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1"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正常用户大多通过浏览器来访问网页，由浏览器负责网络请求的发送，以及数据的接收和展示。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lvl="1"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语言则提供了多个成熟的程序库，用来实现网络访问，本节我们学习比较容易使用的</a:t>
            </a:r>
            <a:r>
              <a:rPr lang="en-US" altLang="zh-CN" sz="24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requests</a:t>
            </a:r>
            <a:r>
              <a:rPr lang="zh-CN" altLang="en-US" sz="24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lvl="1"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requests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库不是内置库，使用之前需单独安装：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0" algn="just" eaLnBrk="1" hangingPunct="1">
              <a:lnSpc>
                <a:spcPct val="150000"/>
              </a:lnSpc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4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pip install requests</a:t>
            </a:r>
          </a:p>
          <a:p>
            <a:pPr marL="342900" lvl="1" indent="-34290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 安装之后，使用时需要单独引入：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685800" lvl="2" indent="0" algn="just">
              <a:lnSpc>
                <a:spcPct val="150000"/>
              </a:lnSpc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import requests</a:t>
            </a:r>
          </a:p>
        </p:txBody>
      </p:sp>
    </p:spTree>
    <p:extLst>
      <p:ext uri="{BB962C8B-B14F-4D97-AF65-F5344CB8AC3E}">
        <p14:creationId xmlns:p14="http://schemas.microsoft.com/office/powerpoint/2010/main" val="63217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HTTP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请求方法</a:t>
              </a:r>
              <a:endParaRPr lang="zh-CN" altLang="en-US" sz="20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2">
            <a:extLst>
              <a:ext uri="{FF2B5EF4-FFF2-40B4-BE49-F238E27FC236}">
                <a16:creationId xmlns:a16="http://schemas.microsoft.com/office/drawing/2014/main" xmlns="" id="{206052C8-0F69-43DF-8E9E-107B641DC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97" y="922903"/>
            <a:ext cx="10007132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indent="0" algn="just" eaLnBrk="1" hangingPunct="1">
              <a:lnSpc>
                <a:spcPct val="120000"/>
              </a:lnSpc>
              <a:buClr>
                <a:schemeClr val="accent4">
                  <a:lumMod val="75000"/>
                </a:schemeClr>
              </a:buClr>
            </a:pP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HTTP</a:t>
            </a: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协议中，对用户访问网络资源，定义了多种请求方法，</a:t>
            </a:r>
            <a:endParaRPr lang="en-US" altLang="zh-CN" sz="24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 Unicode MS" pitchFamily="34" charset="-122"/>
            </a:endParaRPr>
          </a:p>
          <a:p>
            <a:pPr marL="0" lvl="1" indent="0" algn="just" eaLnBrk="1" hangingPunct="1">
              <a:lnSpc>
                <a:spcPct val="120000"/>
              </a:lnSpc>
              <a:buClr>
                <a:schemeClr val="accent4">
                  <a:lumMod val="75000"/>
                </a:schemeClr>
              </a:buClr>
            </a:pP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与之对应，</a:t>
            </a: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requests</a:t>
            </a: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库也提供了与各请求方法匹配的请求函数，其中最常用的是</a:t>
            </a: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GET</a:t>
            </a: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、</a:t>
            </a:r>
            <a:r>
              <a:rPr lang="en-US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POST</a:t>
            </a: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方法。</a:t>
            </a:r>
            <a:r>
              <a:rPr lang="zh-CN" alt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 </a:t>
            </a:r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 Unicode MS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517528"/>
              </p:ext>
            </p:extLst>
          </p:nvPr>
        </p:nvGraphicFramePr>
        <p:xfrm>
          <a:off x="674376" y="2471891"/>
          <a:ext cx="10709168" cy="4009294"/>
        </p:xfrm>
        <a:graphic>
          <a:graphicData uri="http://schemas.openxmlformats.org/drawingml/2006/table">
            <a:tbl>
              <a:tblPr/>
              <a:tblGrid>
                <a:gridCol w="621861"/>
                <a:gridCol w="1135464"/>
                <a:gridCol w="2140299"/>
                <a:gridCol w="6811544"/>
              </a:tblGrid>
              <a:tr h="78800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b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marL="23459" marR="23459" marT="23459" marB="23459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2500"/>
                        </a:lnSpc>
                      </a:pPr>
                      <a:r>
                        <a:rPr lang="en-US" altLang="zh-CN" sz="1800" b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HTTP</a:t>
                      </a:r>
                    </a:p>
                    <a:p>
                      <a:pPr algn="ctr" fontAlgn="t">
                        <a:lnSpc>
                          <a:spcPts val="2500"/>
                        </a:lnSpc>
                      </a:pPr>
                      <a:r>
                        <a:rPr lang="zh-CN" altLang="en-US" sz="1800" b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请求方法</a:t>
                      </a:r>
                      <a:endParaRPr lang="zh-CN" altLang="en-US" sz="1800" b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3459" marR="23459" marT="23459" marB="2345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2500"/>
                        </a:lnSpc>
                      </a:pPr>
                      <a:r>
                        <a:rPr lang="en-US" altLang="zh-CN" sz="1800" b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requests</a:t>
                      </a:r>
                    </a:p>
                    <a:p>
                      <a:pPr algn="ctr" fontAlgn="t">
                        <a:lnSpc>
                          <a:spcPts val="2500"/>
                        </a:lnSpc>
                      </a:pPr>
                      <a:r>
                        <a:rPr lang="zh-CN" altLang="en-US" sz="1800" b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请求函数</a:t>
                      </a:r>
                      <a:endParaRPr lang="zh-CN" altLang="en-US" sz="1800" b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3459" marR="23459" marT="23459" marB="2345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b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功 能 描 述</a:t>
                      </a:r>
                      <a:endParaRPr lang="zh-CN" altLang="en-US" sz="1800" b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3459" marR="23459" marT="23459" marB="23459" anchor="ctr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583324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800">
                          <a:effectLst/>
                        </a:rPr>
                        <a:t>1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GET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smtClean="0">
                          <a:effectLst/>
                        </a:rPr>
                        <a:t>get </a:t>
                      </a:r>
                      <a:r>
                        <a:rPr lang="en-US" altLang="zh-CN" sz="1800" smtClean="0">
                          <a:effectLst/>
                        </a:rPr>
                        <a:t>( </a:t>
                      </a:r>
                      <a:r>
                        <a:rPr lang="en-US" altLang="zh-CN" sz="1800" err="1" smtClean="0">
                          <a:effectLst/>
                        </a:rPr>
                        <a:t>url</a:t>
                      </a:r>
                      <a:r>
                        <a:rPr lang="en-US" altLang="zh-CN" sz="1800" baseline="0" smtClean="0">
                          <a:effectLst/>
                        </a:rPr>
                        <a:t> </a:t>
                      </a:r>
                      <a:r>
                        <a:rPr lang="en-US" altLang="zh-CN" sz="1800" smtClean="0">
                          <a:effectLst/>
                        </a:rPr>
                        <a:t>)</a:t>
                      </a:r>
                      <a:endParaRPr lang="en-US" sz="1800">
                        <a:effectLst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请求指定的页面信息，并</a:t>
                      </a:r>
                      <a:r>
                        <a:rPr lang="zh-CN" altLang="en-US" sz="1800" smtClean="0">
                          <a:effectLst/>
                        </a:rPr>
                        <a:t>返回页面主体数据，多用于查看网页。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29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800">
                          <a:effectLst/>
                        </a:rPr>
                        <a:t>2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POST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smtClean="0">
                          <a:effectLst/>
                        </a:rPr>
                        <a:t>post ( </a:t>
                      </a:r>
                      <a:r>
                        <a:rPr lang="en-US" altLang="zh-CN" sz="1800" err="1" smtClean="0">
                          <a:effectLst/>
                        </a:rPr>
                        <a:t>url</a:t>
                      </a:r>
                      <a:r>
                        <a:rPr lang="en-US" altLang="zh-CN" sz="1800" baseline="0" smtClean="0">
                          <a:effectLst/>
                        </a:rPr>
                        <a:t> , data </a:t>
                      </a:r>
                      <a:r>
                        <a:rPr lang="en-US" altLang="zh-CN" sz="1800" smtClean="0">
                          <a:effectLst/>
                        </a:rPr>
                        <a:t>)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2500"/>
                        </a:lnSpc>
                      </a:pPr>
                      <a:r>
                        <a:rPr lang="zh-CN" altLang="en-US" sz="1800">
                          <a:effectLst/>
                        </a:rPr>
                        <a:t>向指定资源提交数据进行处理</a:t>
                      </a:r>
                      <a:r>
                        <a:rPr lang="zh-CN" altLang="en-US" sz="1800" smtClean="0">
                          <a:effectLst/>
                        </a:rPr>
                        <a:t>请求，例如</a:t>
                      </a:r>
                      <a:r>
                        <a:rPr lang="zh-CN" altLang="en-US" sz="1800">
                          <a:effectLst/>
                        </a:rPr>
                        <a:t>提交表单或者上传</a:t>
                      </a:r>
                      <a:r>
                        <a:rPr lang="zh-CN" altLang="en-US" sz="1800" smtClean="0">
                          <a:effectLst/>
                        </a:rPr>
                        <a:t>文件。</a:t>
                      </a:r>
                      <a:endParaRPr lang="en-US" altLang="zh-CN" sz="1800" smtClean="0">
                        <a:effectLst/>
                      </a:endParaRPr>
                    </a:p>
                    <a:p>
                      <a:pPr fontAlgn="t">
                        <a:lnSpc>
                          <a:spcPts val="2500"/>
                        </a:lnSpc>
                      </a:pPr>
                      <a:r>
                        <a:rPr lang="zh-CN" altLang="en-US" sz="1800" smtClean="0">
                          <a:effectLst/>
                        </a:rPr>
                        <a:t>常用于新增数据或修改数据。</a:t>
                      </a:r>
                      <a:endParaRPr lang="zh-CN" altLang="en-US" sz="1800">
                        <a:effectLst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altLang="zh-CN" sz="15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 ( </a:t>
                      </a:r>
                      <a:r>
                        <a:rPr lang="en-US" sz="1500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en-US" sz="15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类似于</a:t>
                      </a:r>
                      <a:r>
                        <a:rPr lang="en-US" altLang="zh-CN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r>
                        <a:rPr lang="zh-CN" alt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请求，只不过返回的响应中没有具体的内容，用于获取报头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 ( </a:t>
                      </a:r>
                      <a:r>
                        <a:rPr lang="en-US" sz="1500" kern="120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data )</a:t>
                      </a:r>
                      <a:endParaRPr lang="en-US" sz="15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从客户端向服务器传送的数据取代指定的文档的内容。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r>
                        <a:rPr lang="en-US" altLang="zh-CN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url )</a:t>
                      </a:r>
                      <a:endParaRPr lang="en-US" sz="15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请求服务器删除指定的页面。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r>
                        <a:rPr lang="en-US" sz="150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url )</a:t>
                      </a:r>
                      <a:endParaRPr lang="en-US" sz="15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5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允许客户端查看服务器的性能。</a:t>
                      </a:r>
                    </a:p>
                  </a:txBody>
                  <a:tcPr marL="39098" marR="39098" marT="54737" marB="54737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57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GET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方式请求网页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16" y="1015320"/>
            <a:ext cx="941416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get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()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函数可以根据给定参数获取网页主体数据，函数原型：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  <a:p>
            <a:pPr lvl="1" algn="just">
              <a:lnSpc>
                <a:spcPct val="150000"/>
              </a:lnSpc>
              <a:buClr>
                <a:srgbClr val="C00000"/>
              </a:buClr>
            </a:pP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response = requests.get(</a:t>
            </a:r>
            <a:r>
              <a:rPr lang="en-US" altLang="zh-CN" sz="2400" smtClean="0">
                <a:solidFill>
                  <a:srgbClr val="0000FF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url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[</a:t>
            </a:r>
            <a:r>
              <a:rPr lang="en-US" altLang="zh-CN" sz="2400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headers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2400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params,...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])</a:t>
            </a:r>
          </a:p>
          <a:p>
            <a:pPr lvl="1" algn="just">
              <a:lnSpc>
                <a:spcPct val="150000"/>
              </a:lnSpc>
              <a:buClr>
                <a:srgbClr val="C00000"/>
              </a:buClr>
            </a:pP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常用参数如下表所示：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675532"/>
              </p:ext>
            </p:extLst>
          </p:nvPr>
        </p:nvGraphicFramePr>
        <p:xfrm>
          <a:off x="776097" y="3038498"/>
          <a:ext cx="10005784" cy="2937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184"/>
                <a:gridCol w="1647930"/>
                <a:gridCol w="6581670"/>
              </a:tblGrid>
              <a:tr h="4953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mtClean="0"/>
                        <a:t>参数名称</a:t>
                      </a:r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mtClean="0"/>
                        <a:t>参数类型</a:t>
                      </a:r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mtClean="0"/>
                        <a:t>参数功能</a:t>
                      </a:r>
                      <a:endParaRPr lang="zh-CN" altLang="en-US" sz="2000"/>
                    </a:p>
                  </a:txBody>
                  <a:tcPr anchor="ctr"/>
                </a:tc>
              </a:tr>
              <a:tr h="61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smtClean="0">
                          <a:solidFill>
                            <a:srgbClr val="000099"/>
                          </a:solidFill>
                        </a:rPr>
                        <a:t>url</a:t>
                      </a:r>
                      <a:endParaRPr lang="zh-CN" altLang="en-US" sz="2400" b="1">
                        <a:solidFill>
                          <a:srgbClr val="000099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/>
                        <a:t>str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smtClean="0"/>
                        <a:t>指明所请求的网页路径</a:t>
                      </a:r>
                      <a:endParaRPr lang="zh-CN" altLang="en-US" sz="2400"/>
                    </a:p>
                  </a:txBody>
                  <a:tcPr anchor="ctr"/>
                </a:tc>
              </a:tr>
              <a:tr h="61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smtClean="0">
                          <a:solidFill>
                            <a:srgbClr val="000099"/>
                          </a:solidFill>
                        </a:rPr>
                        <a:t>headers</a:t>
                      </a:r>
                      <a:endParaRPr lang="zh-CN" altLang="en-US" sz="2400" b="1">
                        <a:solidFill>
                          <a:srgbClr val="000099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/>
                        <a:t>dict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smtClean="0"/>
                        <a:t>GET</a:t>
                      </a:r>
                      <a:r>
                        <a:rPr lang="zh-CN" altLang="en-US" sz="2400" smtClean="0"/>
                        <a:t>请求包含的头部数据</a:t>
                      </a:r>
                      <a:endParaRPr lang="zh-CN" altLang="en-US" sz="2400"/>
                    </a:p>
                  </a:txBody>
                  <a:tcPr anchor="ctr"/>
                </a:tc>
              </a:tr>
              <a:tr h="61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smtClean="0">
                          <a:solidFill>
                            <a:srgbClr val="000099"/>
                          </a:solidFill>
                        </a:rPr>
                        <a:t>params</a:t>
                      </a:r>
                      <a:endParaRPr lang="zh-CN" altLang="en-US" sz="2400" b="1">
                        <a:solidFill>
                          <a:srgbClr val="000099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/>
                        <a:t>dict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smtClean="0"/>
                        <a:t>GET</a:t>
                      </a:r>
                      <a:r>
                        <a:rPr lang="zh-CN" altLang="en-US" sz="2400" smtClean="0"/>
                        <a:t>请求所需提交的参数数据（键值对）</a:t>
                      </a:r>
                      <a:endParaRPr lang="zh-CN" altLang="en-US" sz="2400"/>
                    </a:p>
                  </a:txBody>
                  <a:tcPr anchor="ctr"/>
                </a:tc>
              </a:tr>
              <a:tr h="61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smtClean="0">
                          <a:solidFill>
                            <a:srgbClr val="000099"/>
                          </a:solidFill>
                        </a:rPr>
                        <a:t>timeout</a:t>
                      </a:r>
                      <a:endParaRPr lang="zh-CN" altLang="en-US" sz="2400" b="1">
                        <a:solidFill>
                          <a:srgbClr val="000099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/>
                        <a:t>int</a:t>
                      </a:r>
                      <a:endParaRPr lang="zh-CN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smtClean="0"/>
                        <a:t>超时设定</a:t>
                      </a:r>
                      <a:r>
                        <a:rPr lang="en-US" altLang="zh-CN" sz="2400" smtClean="0"/>
                        <a:t>(</a:t>
                      </a:r>
                      <a:r>
                        <a:rPr lang="zh-CN" altLang="en-US" sz="2400" smtClean="0"/>
                        <a:t>秒</a:t>
                      </a:r>
                      <a:r>
                        <a:rPr lang="en-US" altLang="zh-CN" sz="2400" smtClean="0"/>
                        <a:t>)</a:t>
                      </a:r>
                      <a:r>
                        <a:rPr lang="zh-CN" altLang="en-US" sz="2400" smtClean="0"/>
                        <a:t>，超过指定时间未返回就抛错</a:t>
                      </a:r>
                      <a:endParaRPr lang="zh-CN" altLang="en-US" sz="240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96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GET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方式请求网页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52" y="2514206"/>
            <a:ext cx="10517808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requests</a:t>
            </a:r>
          </a:p>
          <a:p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 </a:t>
            </a:r>
            <a:r>
              <a:rPr lang="en-US" altLang="zh-CN" sz="24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 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requests.get(</a:t>
            </a:r>
            <a:r>
              <a:rPr lang="en-US" altLang="zh-CN" sz="2400" b="1" smtClean="0">
                <a:solidFill>
                  <a:srgbClr val="007033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'http://www.baidu.com'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</a:t>
            </a:r>
          </a:p>
          <a:p>
            <a:endParaRPr lang="en-US" altLang="zh-CN" sz="2400" b="1" smtClean="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smtClean="0">
                <a:solidFill>
                  <a:srgbClr val="C00000"/>
                </a:solidFill>
                <a:latin typeface="+mn-ea"/>
                <a:ea typeface="+mn-ea"/>
                <a:cs typeface="Consolas" panose="020B0609020204030204" pitchFamily="49" charset="0"/>
              </a:rPr>
              <a:t># </a:t>
            </a:r>
            <a:r>
              <a:rPr lang="zh-CN" altLang="en-US" sz="2000" smtClean="0">
                <a:solidFill>
                  <a:srgbClr val="C00000"/>
                </a:solidFill>
                <a:latin typeface="+mn-ea"/>
                <a:ea typeface="+mn-ea"/>
                <a:cs typeface="Consolas" panose="020B0609020204030204" pitchFamily="49" charset="0"/>
              </a:rPr>
              <a:t>字典 </a:t>
            </a:r>
            <a:r>
              <a:rPr lang="en-US" altLang="zh-CN" sz="2000" smtClean="0">
                <a:solidFill>
                  <a:srgbClr val="C00000"/>
                </a:solidFill>
                <a:latin typeface="+mn-ea"/>
                <a:ea typeface="+mn-ea"/>
                <a:cs typeface="Consolas" panose="020B0609020204030204" pitchFamily="49" charset="0"/>
              </a:rPr>
              <a:t>myParam </a:t>
            </a:r>
            <a:r>
              <a:rPr lang="zh-CN" altLang="en-US" sz="2000" smtClean="0">
                <a:solidFill>
                  <a:srgbClr val="C00000"/>
                </a:solidFill>
                <a:latin typeface="+mn-ea"/>
                <a:ea typeface="+mn-ea"/>
                <a:cs typeface="Consolas" panose="020B0609020204030204" pitchFamily="49" charset="0"/>
              </a:rPr>
              <a:t>存储了将要提交到网页的参数，本例中是提交给百度查询的关键字</a:t>
            </a:r>
            <a:endParaRPr lang="en-US" altLang="zh-CN" sz="2400" smtClean="0">
              <a:solidFill>
                <a:srgbClr val="C00000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myParam </a:t>
            </a:r>
            <a:r>
              <a:rPr lang="en-US" altLang="zh-CN" sz="24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 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{</a:t>
            </a:r>
            <a:r>
              <a:rPr lang="en-US" altLang="zh-CN" sz="2400" b="1" smtClean="0">
                <a:solidFill>
                  <a:srgbClr val="007033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'wd'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:</a:t>
            </a:r>
            <a:r>
              <a:rPr lang="en-US" altLang="zh-CN" sz="2400" b="1" smtClean="0">
                <a:solidFill>
                  <a:srgbClr val="007033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'python'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}</a:t>
            </a:r>
            <a:endParaRPr lang="en-US" altLang="zh-CN" sz="2400" b="1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r2 </a:t>
            </a:r>
            <a:r>
              <a:rPr lang="en-US" altLang="zh-CN" sz="24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 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requests.get(</a:t>
            </a:r>
            <a:r>
              <a:rPr lang="en-US" altLang="zh-CN" sz="2400" b="1" smtClean="0">
                <a:solidFill>
                  <a:srgbClr val="007033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'http://www.baidu.com/s'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24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params=myParam</a:t>
            </a:r>
            <a:r>
              <a:rPr lang="en-US" altLang="zh-CN" sz="2400" b="1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</a:t>
            </a:r>
            <a:endParaRPr lang="en-US" altLang="zh-CN" sz="2400" b="1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128" y="1027057"/>
            <a:ext cx="97256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    执行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get()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函数会返回一个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Response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类型的对象，如下例中的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r2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，该对象中包含了服务器的所有响应数据。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88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Response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返回对象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00" y="1026294"/>
            <a:ext cx="972566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Response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对象中包含了服务器的所有响应数据，通过访问该对象的不同属性，可以获取相关数据。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Response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对象的常用属性如下表：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759293"/>
              </p:ext>
            </p:extLst>
          </p:nvPr>
        </p:nvGraphicFramePr>
        <p:xfrm>
          <a:off x="997019" y="2546124"/>
          <a:ext cx="10015973" cy="366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636"/>
                <a:gridCol w="7901337"/>
              </a:tblGrid>
              <a:tr h="5927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属性名称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属性描述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649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mtClean="0">
                          <a:latin typeface="+mn-ea"/>
                          <a:ea typeface="+mn-ea"/>
                        </a:rPr>
                        <a:t>status_code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响应状态码，以整数表示，例如：</a:t>
                      </a:r>
                      <a:r>
                        <a:rPr lang="en-US" altLang="zh-CN" sz="2000" smtClean="0">
                          <a:latin typeface="+mn-ea"/>
                          <a:ea typeface="+mn-ea"/>
                        </a:rPr>
                        <a:t>200</a:t>
                      </a:r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表示请求成功，</a:t>
                      </a:r>
                      <a:r>
                        <a:rPr lang="zh-CN" altLang="en-US" sz="20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2000" baseline="0" smtClean="0">
                          <a:latin typeface="+mn-ea"/>
                          <a:ea typeface="+mn-ea"/>
                        </a:rPr>
                        <a:t>403</a:t>
                      </a:r>
                      <a:r>
                        <a:rPr lang="zh-CN" altLang="en-US" sz="2000" baseline="0" smtClean="0">
                          <a:latin typeface="+mn-ea"/>
                          <a:ea typeface="+mn-ea"/>
                        </a:rPr>
                        <a:t>表示没有访问权限。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5927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mtClean="0">
                          <a:latin typeface="+mn-ea"/>
                          <a:ea typeface="+mn-ea"/>
                        </a:rPr>
                        <a:t>text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服务器响应内容的字符串形式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5927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mtClean="0">
                          <a:latin typeface="+mn-ea"/>
                          <a:ea typeface="+mn-ea"/>
                        </a:rPr>
                        <a:t>content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服务器响应内容的二进制形式</a:t>
                      </a:r>
                    </a:p>
                  </a:txBody>
                  <a:tcPr anchor="ctr"/>
                </a:tc>
              </a:tr>
              <a:tr h="5927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mtClean="0">
                          <a:latin typeface="+mn-ea"/>
                          <a:ea typeface="+mn-ea"/>
                        </a:rPr>
                        <a:t>encoding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服务器响应内容的编码方式，允许更改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5927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smtClean="0">
                          <a:latin typeface="+mn-ea"/>
                          <a:ea typeface="+mn-ea"/>
                        </a:rPr>
                        <a:t>headers</a:t>
                      </a:r>
                      <a:endParaRPr lang="zh-CN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smtClean="0">
                          <a:latin typeface="+mn-ea"/>
                          <a:ea typeface="+mn-ea"/>
                        </a:rPr>
                        <a:t>服务器响应的头部信息，以字典形式存储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7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Response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返回对象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Response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对象的</a:t>
            </a: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text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属性以字符串形式保存了网页文档，不同网站的文档可能采用不同的编码格式，如下图百度首页采用了</a:t>
            </a:r>
            <a:r>
              <a:rPr lang="en-US" altLang="zh-CN" sz="2000" smtClean="0">
                <a:latin typeface="微软雅黑" pitchFamily="34" charset="-122"/>
                <a:ea typeface="微软雅黑" pitchFamily="34" charset="-122"/>
              </a:rPr>
              <a:t>ISO-8859-1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编码方式，所以中文显示异常，如何解决？</a:t>
            </a:r>
            <a:endParaRPr lang="zh-CN" altLang="en-US" sz="28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51" y="2227386"/>
            <a:ext cx="104775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659302" y="5561610"/>
            <a:ext cx="10765673" cy="351995"/>
          </a:xfrm>
          <a:prstGeom prst="round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4206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547193" cy="504056"/>
            <a:chOff x="169526" y="203448"/>
            <a:chExt cx="554719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9355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Response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encoding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属性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我们可以重新设定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Response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对象的编码格式，采用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python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默认支持的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utf-8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编码方式，这样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text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属性中的中文字符就能够正常展示。</a:t>
            </a:r>
            <a:endParaRPr lang="zh-CN" altLang="en-US" sz="24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24" y="3015782"/>
            <a:ext cx="104584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530360" y="4828106"/>
            <a:ext cx="5187153" cy="351995"/>
          </a:xfrm>
          <a:prstGeom prst="round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50911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Response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 content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属性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188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en-US" altLang="zh-CN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Response</a:t>
            </a:r>
            <a:r>
              <a:rPr lang="zh-CN" altLang="en-US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对象的</a:t>
            </a:r>
            <a:r>
              <a:rPr lang="en-US" altLang="zh-CN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text</a:t>
            </a:r>
            <a:r>
              <a:rPr lang="zh-CN" altLang="en-US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content</a:t>
            </a:r>
            <a:r>
              <a:rPr lang="zh-CN" altLang="en-US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属性都存储了服务器的响应内容，两者区别在于：</a:t>
            </a:r>
            <a:endParaRPr lang="en-US" altLang="zh-CN" sz="2000" smtClean="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444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text</a:t>
            </a:r>
            <a:r>
              <a:rPr lang="zh-CN" altLang="en-US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属性以字符串形式存储响应内容，常用于分析处理</a:t>
            </a:r>
            <a:r>
              <a:rPr lang="en-US" altLang="zh-CN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html</a:t>
            </a:r>
            <a:r>
              <a:rPr lang="zh-CN" altLang="en-US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文档，获取文档中数据。</a:t>
            </a:r>
            <a:endParaRPr lang="en-US" altLang="zh-CN" sz="2000" smtClean="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444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content</a:t>
            </a:r>
            <a:r>
              <a:rPr lang="zh-CN" altLang="en-US" sz="20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属性以二进制（字节）形式存储响应内容，常用于存储图片、视频及其他非文本格式的文件。</a:t>
            </a:r>
            <a:endParaRPr lang="zh-CN" altLang="en-US" sz="20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81" y="3147536"/>
            <a:ext cx="8286473" cy="2600121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891" y="4447596"/>
            <a:ext cx="4312575" cy="1927408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70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41979" cy="504056"/>
            <a:chOff x="169526" y="203448"/>
            <a:chExt cx="6541979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59303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Response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 raise_for_status()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方法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在连续爬取多个网页的数据时，如果其中个别网页爬取失败，程序会抛出异常，导致运行终止。如何跳过这种偶发性的错误，继续跳往下一个网页进行爬取，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Response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对象提供了</a:t>
            </a:r>
            <a:r>
              <a:rPr lang="en-US" altLang="zh-CN" sz="2000">
                <a:latin typeface="+mn-ea"/>
                <a:ea typeface="+mn-ea"/>
                <a:cs typeface="Consolas" panose="020B0609020204030204" pitchFamily="49" charset="0"/>
              </a:rPr>
              <a:t>raise_for_status()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方法。以豆瓣网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《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天龙八部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》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的书评为例，我们尝试采集前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10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页的评论。</a:t>
            </a:r>
            <a:endParaRPr lang="zh-CN" altLang="en-US" sz="2000">
              <a:latin typeface="+mn-ea"/>
              <a:ea typeface="+mn-ea"/>
              <a:cs typeface="Consolas" panose="020B0609020204030204" pitchFamily="49" charset="0"/>
            </a:endParaRPr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530360" y="2844493"/>
            <a:ext cx="4956040" cy="292474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647174" y="2753258"/>
            <a:ext cx="5627077" cy="422031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5"/>
          <a:stretch>
            <a:fillRect/>
          </a:stretch>
        </p:blipFill>
        <p:spPr>
          <a:xfrm>
            <a:off x="5657221" y="3327162"/>
            <a:ext cx="6199833" cy="381265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6"/>
          <a:stretch>
            <a:fillRect/>
          </a:stretch>
        </p:blipFill>
        <p:spPr>
          <a:xfrm>
            <a:off x="5647174" y="3870025"/>
            <a:ext cx="6300316" cy="39049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9887578" y="3235581"/>
            <a:ext cx="2059912" cy="1085224"/>
          </a:xfrm>
          <a:prstGeom prst="round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76303" y="2778227"/>
            <a:ext cx="2921233" cy="351995"/>
          </a:xfrm>
          <a:prstGeom prst="round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992" y="4467204"/>
            <a:ext cx="590529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000">
                <a:latin typeface="+mn-ea"/>
                <a:ea typeface="+mn-ea"/>
                <a:cs typeface="Consolas" panose="020B0609020204030204" pitchFamily="49" charset="0"/>
              </a:rPr>
              <a:t>通过浏览器进行翻页，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分析评论页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URL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的变化可以看出：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URL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主体部分不变，最后的参数 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p 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每次加一，因此可以构建一个循环来生成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URL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。</a:t>
            </a:r>
            <a:endParaRPr lang="zh-CN" altLang="en-US" sz="2000">
              <a:latin typeface="+mn-ea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88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41979" cy="504056"/>
            <a:chOff x="169526" y="203448"/>
            <a:chExt cx="6541979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59303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Response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 raise_for_status()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方法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基本思路，通过循环生成前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10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页的</a:t>
            </a:r>
            <a:r>
              <a:rPr lang="en-US" altLang="zh-CN" sz="2000" smtClean="0">
                <a:latin typeface="+mn-ea"/>
                <a:ea typeface="+mn-ea"/>
                <a:cs typeface="Consolas" panose="020B0609020204030204" pitchFamily="49" charset="0"/>
              </a:rPr>
              <a:t>URL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，获取每页评论写入文件，如遇异常则打印显示。</a:t>
            </a:r>
            <a:endParaRPr lang="zh-CN" altLang="en-US" sz="2000">
              <a:latin typeface="+mn-ea"/>
              <a:ea typeface="+mn-ea"/>
              <a:cs typeface="Consolas" panose="020B0609020204030204" pitchFamily="49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79" y="1681536"/>
            <a:ext cx="8202949" cy="4699166"/>
          </a:xfrm>
          <a:prstGeom prst="rect">
            <a:avLst/>
          </a:prstGeom>
          <a:noFill/>
          <a:ln w="25400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8219552" y="2833638"/>
            <a:ext cx="3376246" cy="1627833"/>
          </a:xfrm>
          <a:prstGeom prst="wedgeRoundRectCallout">
            <a:avLst>
              <a:gd name="adj1" fmla="val -147948"/>
              <a:gd name="adj2" fmla="val 7239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800"/>
              </a:lnSpc>
            </a:pPr>
            <a:r>
              <a:rPr lang="zh-CN" altLang="en-US" sz="2000" b="1">
                <a:latin typeface="幼圆" panose="02010509060101010101" pitchFamily="49" charset="-122"/>
                <a:ea typeface="幼圆" panose="02010509060101010101" pitchFamily="49" charset="-122"/>
                <a:cs typeface="Consolas" panose="020B0609020204030204" pitchFamily="49" charset="0"/>
              </a:rPr>
              <a:t>该方法主要用于当请求某个网页出现异常时，允许用户捕捉并记录该异常，转而执行之后的</a:t>
            </a:r>
            <a:r>
              <a:rPr lang="zh-CN" altLang="en-US" sz="2000" b="1" smtClean="0">
                <a:latin typeface="幼圆" panose="02010509060101010101" pitchFamily="49" charset="-122"/>
                <a:ea typeface="幼圆" panose="02010509060101010101" pitchFamily="49" charset="-122"/>
                <a:cs typeface="Consolas" panose="020B0609020204030204" pitchFamily="49" charset="0"/>
              </a:rPr>
              <a:t>任务。</a:t>
            </a:r>
            <a:endParaRPr lang="zh-CN" altLang="en-US" sz="2000" b="1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622297" y="3570162"/>
            <a:ext cx="3223128" cy="290582"/>
          </a:xfrm>
          <a:prstGeom prst="round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622297" y="5952864"/>
            <a:ext cx="7099672" cy="311544"/>
          </a:xfrm>
          <a:prstGeom prst="round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9849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0187" y="2634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xmlns="" id="{9852CEF3-AF68-464A-8EBB-F8859FB71535}"/>
              </a:ext>
            </a:extLst>
          </p:cNvPr>
          <p:cNvSpPr txBox="1"/>
          <p:nvPr/>
        </p:nvSpPr>
        <p:spPr>
          <a:xfrm>
            <a:off x="2090050" y="2721873"/>
            <a:ext cx="7555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BeautifulSoup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库的使用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xmlns="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xmlns="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xmlns="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xmlns="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xmlns="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xmlns="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xmlns="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xmlns="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xmlns="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xmlns="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xmlns="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xmlns="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xmlns="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xmlns="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xmlns="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xmlns="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xmlns="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xmlns="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xmlns="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xmlns="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xmlns="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xmlns="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xmlns="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xmlns="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xmlns="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xmlns="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xmlns="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xmlns="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xmlns="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xmlns="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xmlns="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xmlns="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xmlns="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xmlns="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xmlns="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xmlns="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xmlns="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xmlns="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xmlns="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xmlns="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:a16="http://schemas.microsoft.com/office/drawing/2014/main" xmlns="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:a16="http://schemas.microsoft.com/office/drawing/2014/main" xmlns="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xmlns="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xmlns="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xmlns="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:a16="http://schemas.microsoft.com/office/drawing/2014/main" xmlns="" id="{F45F1328-8259-42E9-BE98-A45AFDCB6EAE}"/>
                </a:ext>
              </a:extLst>
            </p:cNvPr>
            <p:cNvSpPr txBox="1"/>
            <p:nvPr/>
          </p:nvSpPr>
          <p:spPr>
            <a:xfrm>
              <a:off x="2808727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11.2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xmlns="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xmlns="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xmlns="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:a16="http://schemas.microsoft.com/office/drawing/2014/main" xmlns="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xmlns="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xmlns="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xmlns="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xmlns="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xmlns="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xmlns="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38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8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BeautifulSoup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库简介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55338" y="1090247"/>
            <a:ext cx="8811267" cy="51020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sz="2400" smtClean="0">
                <a:latin typeface="+mn-ea"/>
              </a:rPr>
              <a:t>BeautifulSoup</a:t>
            </a:r>
            <a:r>
              <a:rPr lang="zh-CN" altLang="en-US" sz="2400" smtClean="0">
                <a:latin typeface="+mn-ea"/>
              </a:rPr>
              <a:t>（</a:t>
            </a:r>
            <a:r>
              <a:rPr lang="zh-CN" altLang="en-US" sz="2400">
                <a:latin typeface="+mn-ea"/>
              </a:rPr>
              <a:t>美味汤</a:t>
            </a:r>
            <a:r>
              <a:rPr lang="zh-CN" altLang="en-US" sz="2400" smtClean="0">
                <a:latin typeface="+mn-ea"/>
              </a:rPr>
              <a:t>），是一个用</a:t>
            </a:r>
            <a:r>
              <a:rPr lang="en-US" sz="2400" smtClean="0">
                <a:latin typeface="+mn-ea"/>
              </a:rPr>
              <a:t>Python</a:t>
            </a:r>
            <a:r>
              <a:rPr lang="zh-CN" altLang="en-US" sz="2400" smtClean="0">
                <a:latin typeface="+mn-ea"/>
              </a:rPr>
              <a:t>写的优秀的第三方库，主要用来解析和处理 </a:t>
            </a:r>
            <a:r>
              <a:rPr lang="en-US" sz="2400" smtClean="0">
                <a:latin typeface="+mn-ea"/>
              </a:rPr>
              <a:t>HTML/XML </a:t>
            </a:r>
            <a:r>
              <a:rPr lang="zh-CN" altLang="en-US" sz="2400" smtClean="0">
                <a:latin typeface="+mn-ea"/>
              </a:rPr>
              <a:t>格式的数据。</a:t>
            </a:r>
            <a:endParaRPr lang="en-US" altLang="zh-CN" sz="2400" smtClean="0"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+mn-ea"/>
              </a:rPr>
              <a:t>安装方法：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>
                <a:latin typeface="+mn-ea"/>
              </a:rPr>
              <a:t>    </a:t>
            </a:r>
            <a:r>
              <a:rPr lang="zh-CN" altLang="en-US" sz="2400" smtClean="0">
                <a:latin typeface="+mn-ea"/>
              </a:rPr>
              <a:t>       </a:t>
            </a: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pip </a:t>
            </a:r>
            <a:r>
              <a:rPr lang="en-US" altLang="zh-CN" sz="2400">
                <a:solidFill>
                  <a:srgbClr val="0000FF"/>
                </a:solidFill>
                <a:latin typeface="+mn-ea"/>
              </a:rPr>
              <a:t>install </a:t>
            </a: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beautifulsoup4 / bs4</a:t>
            </a:r>
            <a:endParaRPr lang="en-US" altLang="zh-CN" sz="240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smtClean="0">
                <a:latin typeface="+mn-ea"/>
              </a:rPr>
              <a:t>导入方法 </a:t>
            </a:r>
            <a:r>
              <a:rPr lang="en-US" altLang="zh-CN" sz="2400" smtClean="0">
                <a:latin typeface="+mn-ea"/>
              </a:rPr>
              <a:t>:</a:t>
            </a:r>
            <a:endParaRPr lang="zh-CN" altLang="en-US" sz="2400">
              <a:latin typeface="+mn-ea"/>
            </a:endParaRPr>
          </a:p>
          <a:p>
            <a:pPr marL="0" indent="0"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           import bs4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           from </a:t>
            </a:r>
            <a:r>
              <a:rPr lang="en-US" altLang="zh-CN" sz="2400">
                <a:solidFill>
                  <a:srgbClr val="0000FF"/>
                </a:solidFill>
                <a:latin typeface="+mn-ea"/>
              </a:rPr>
              <a:t>bs4 import BeautifulSoup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smtClean="0">
                <a:latin typeface="+mn-ea"/>
              </a:rPr>
              <a:t>官方文档（中英文）：</a:t>
            </a:r>
            <a:endParaRPr lang="zh-CN" altLang="en-US" sz="2400">
              <a:latin typeface="+mn-ea"/>
            </a:endParaRPr>
          </a:p>
          <a:p>
            <a:pPr marL="0" indent="0">
              <a:buNone/>
            </a:pPr>
            <a:r>
              <a:rPr lang="zh-CN" altLang="en-US" sz="2400">
                <a:latin typeface="+mn-ea"/>
              </a:rPr>
              <a:t>    </a:t>
            </a:r>
            <a:r>
              <a:rPr lang="zh-CN" altLang="en-US" sz="2400" smtClean="0">
                <a:latin typeface="+mn-ea"/>
              </a:rPr>
              <a:t>       </a:t>
            </a: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https</a:t>
            </a:r>
            <a:r>
              <a:rPr lang="en-US" altLang="zh-CN" sz="2400">
                <a:solidFill>
                  <a:srgbClr val="0000FF"/>
                </a:solidFill>
                <a:latin typeface="+mn-ea"/>
              </a:rPr>
              <a:t>://www.crummy.com</a:t>
            </a:r>
          </a:p>
          <a:p>
            <a:endParaRPr lang="zh-CN" altLang="en-US" sz="240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344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BeautifulSoup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库简介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椭圆 8">
            <a:extLst>
              <a:ext uri="{FF2B5EF4-FFF2-40B4-BE49-F238E27FC236}">
                <a16:creationId xmlns:a16="http://schemas.microsoft.com/office/drawing/2014/main" xmlns="" id="{F53400AC-5C67-460B-9F72-7CDCF7023F72}"/>
              </a:ext>
            </a:extLst>
          </p:cNvPr>
          <p:cNvSpPr/>
          <p:nvPr/>
        </p:nvSpPr>
        <p:spPr>
          <a:xfrm>
            <a:off x="5005512" y="1778304"/>
            <a:ext cx="576519" cy="576474"/>
          </a:xfrm>
          <a:prstGeom prst="ellipse">
            <a:avLst/>
          </a:prstGeom>
          <a:solidFill>
            <a:srgbClr val="1E678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0" tIns="45699" rIns="91400" bIns="45699" rtlCol="0" anchor="ctr"/>
          <a:lstStyle/>
          <a:p>
            <a:pPr algn="ctr"/>
            <a:r>
              <a:rPr lang="en-US" altLang="zh-CN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 MT Std" pitchFamily="34" charset="0"/>
                <a:ea typeface="微软雅黑" panose="020B0503020204020204" pitchFamily="34" charset="-122"/>
              </a:rPr>
              <a:t>1</a:t>
            </a:r>
            <a:endParaRPr lang="zh-CN" alt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 MT Std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xmlns="" id="{8D2645EE-7705-4C3B-A5F7-09E52AA8C8D2}"/>
              </a:ext>
            </a:extLst>
          </p:cNvPr>
          <p:cNvCxnSpPr/>
          <p:nvPr/>
        </p:nvCxnSpPr>
        <p:spPr>
          <a:xfrm>
            <a:off x="5582543" y="2066051"/>
            <a:ext cx="100686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1">
            <a:extLst>
              <a:ext uri="{FF2B5EF4-FFF2-40B4-BE49-F238E27FC236}">
                <a16:creationId xmlns:a16="http://schemas.microsoft.com/office/drawing/2014/main" xmlns="" id="{94B7BBA1-9875-4DA5-BFB8-5524F4367806}"/>
              </a:ext>
            </a:extLst>
          </p:cNvPr>
          <p:cNvSpPr txBox="1"/>
          <p:nvPr/>
        </p:nvSpPr>
        <p:spPr>
          <a:xfrm>
            <a:off x="6642044" y="1845582"/>
            <a:ext cx="3721043" cy="509196"/>
          </a:xfrm>
          <a:prstGeom prst="rect">
            <a:avLst/>
          </a:prstGeom>
        </p:spPr>
        <p:txBody>
          <a:bodyPr lIns="91400" tIns="45699" rIns="91400" bIns="4569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latin typeface="+mn-ea"/>
                <a:ea typeface="+mn-ea"/>
              </a:rPr>
              <a:t>BeautifulSoup </a:t>
            </a:r>
            <a:r>
              <a:rPr lang="zh-CN" altLang="en-US" sz="2400">
                <a:latin typeface="+mn-ea"/>
                <a:ea typeface="+mn-ea"/>
              </a:rPr>
              <a:t>解析</a:t>
            </a:r>
            <a:r>
              <a:rPr lang="zh-CN" altLang="en-US" sz="2400" smtClean="0">
                <a:latin typeface="+mn-ea"/>
                <a:ea typeface="+mn-ea"/>
              </a:rPr>
              <a:t>器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38E8696F-D23A-43AE-AE15-67778ED48F92}"/>
              </a:ext>
            </a:extLst>
          </p:cNvPr>
          <p:cNvSpPr/>
          <p:nvPr/>
        </p:nvSpPr>
        <p:spPr>
          <a:xfrm>
            <a:off x="5018208" y="2730913"/>
            <a:ext cx="576519" cy="576474"/>
          </a:xfrm>
          <a:prstGeom prst="ellipse">
            <a:avLst/>
          </a:prstGeom>
          <a:solidFill>
            <a:srgbClr val="B3DF6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0" tIns="45699" rIns="91400" bIns="45699" rtlCol="0" anchor="ctr"/>
          <a:lstStyle/>
          <a:p>
            <a:pPr algn="ctr"/>
            <a:r>
              <a:rPr lang="en-US" altLang="zh-CN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 MT Std" pitchFamily="34" charset="0"/>
                <a:ea typeface="微软雅黑" panose="020B0503020204020204" pitchFamily="34" charset="-122"/>
              </a:rPr>
              <a:t>2</a:t>
            </a:r>
            <a:endParaRPr lang="zh-CN" alt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 MT Std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xmlns="" id="{4D45F51E-4DDD-4097-9410-FF73E493C59A}"/>
              </a:ext>
            </a:extLst>
          </p:cNvPr>
          <p:cNvCxnSpPr/>
          <p:nvPr/>
        </p:nvCxnSpPr>
        <p:spPr>
          <a:xfrm>
            <a:off x="5582544" y="2997499"/>
            <a:ext cx="100686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1">
            <a:extLst>
              <a:ext uri="{FF2B5EF4-FFF2-40B4-BE49-F238E27FC236}">
                <a16:creationId xmlns:a16="http://schemas.microsoft.com/office/drawing/2014/main" xmlns="" id="{B3961026-3CA1-4532-A3D3-BE1515069BAC}"/>
              </a:ext>
            </a:extLst>
          </p:cNvPr>
          <p:cNvSpPr txBox="1"/>
          <p:nvPr/>
        </p:nvSpPr>
        <p:spPr>
          <a:xfrm>
            <a:off x="6652094" y="2626311"/>
            <a:ext cx="3865240" cy="644983"/>
          </a:xfrm>
          <a:prstGeom prst="rect">
            <a:avLst/>
          </a:prstGeom>
        </p:spPr>
        <p:txBody>
          <a:bodyPr lIns="91400" tIns="45699" rIns="91400" bIns="45699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240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BeautifulSoup </a:t>
            </a: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四类对象</a:t>
            </a:r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E5B7A52D-A894-4266-A553-F199B9B59389}"/>
              </a:ext>
            </a:extLst>
          </p:cNvPr>
          <p:cNvSpPr/>
          <p:nvPr/>
        </p:nvSpPr>
        <p:spPr>
          <a:xfrm>
            <a:off x="5018208" y="3645716"/>
            <a:ext cx="576519" cy="576474"/>
          </a:xfrm>
          <a:prstGeom prst="ellipse">
            <a:avLst/>
          </a:prstGeom>
          <a:solidFill>
            <a:srgbClr val="1E678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0" tIns="45699" rIns="91400" bIns="45699" rtlCol="0" anchor="ctr"/>
          <a:lstStyle/>
          <a:p>
            <a:pPr algn="ctr"/>
            <a:r>
              <a:rPr lang="en-US" altLang="zh-CN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 MT Std" pitchFamily="34" charset="0"/>
                <a:ea typeface="微软雅黑" panose="020B0503020204020204" pitchFamily="34" charset="-122"/>
              </a:rPr>
              <a:t>3</a:t>
            </a:r>
            <a:endParaRPr lang="zh-CN" alt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 MT Std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xmlns="" id="{4E01149D-221E-4E1C-861D-B4C8676DCB81}"/>
              </a:ext>
            </a:extLst>
          </p:cNvPr>
          <p:cNvCxnSpPr/>
          <p:nvPr/>
        </p:nvCxnSpPr>
        <p:spPr>
          <a:xfrm>
            <a:off x="5582544" y="3912304"/>
            <a:ext cx="100686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标题 11">
            <a:extLst>
              <a:ext uri="{FF2B5EF4-FFF2-40B4-BE49-F238E27FC236}">
                <a16:creationId xmlns:a16="http://schemas.microsoft.com/office/drawing/2014/main" xmlns="" id="{284C3CFB-AAE9-472C-ABA3-C2EC053407A3}"/>
              </a:ext>
            </a:extLst>
          </p:cNvPr>
          <p:cNvSpPr txBox="1"/>
          <p:nvPr/>
        </p:nvSpPr>
        <p:spPr>
          <a:xfrm>
            <a:off x="6662142" y="3571259"/>
            <a:ext cx="3865240" cy="620096"/>
          </a:xfrm>
          <a:prstGeom prst="rect">
            <a:avLst/>
          </a:prstGeom>
        </p:spPr>
        <p:txBody>
          <a:bodyPr lIns="91400" tIns="45699" rIns="91400" bIns="45699">
            <a:normAutofit lnSpcReduction="10000"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240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遍历文档树</a:t>
            </a:r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xmlns="" id="{60F42F43-1482-4653-928F-C89B2A7AD579}"/>
              </a:ext>
            </a:extLst>
          </p:cNvPr>
          <p:cNvSpPr/>
          <p:nvPr/>
        </p:nvSpPr>
        <p:spPr>
          <a:xfrm>
            <a:off x="5018209" y="4543729"/>
            <a:ext cx="576519" cy="576474"/>
          </a:xfrm>
          <a:prstGeom prst="ellipse">
            <a:avLst/>
          </a:prstGeom>
          <a:solidFill>
            <a:srgbClr val="B3DF6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0" tIns="45699" rIns="91400" bIns="45699" rtlCol="0" anchor="ctr"/>
          <a:lstStyle/>
          <a:p>
            <a:pPr algn="ctr"/>
            <a:r>
              <a:rPr lang="en-US" altLang="zh-CN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 MT Std" pitchFamily="34" charset="0"/>
                <a:ea typeface="微软雅黑" panose="020B0503020204020204" pitchFamily="34" charset="-122"/>
              </a:rPr>
              <a:t>4</a:t>
            </a:r>
            <a:endParaRPr lang="zh-CN" alt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 MT Std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xmlns="" id="{BAA23EBD-1934-46C4-9D77-3860D76F80A6}"/>
              </a:ext>
            </a:extLst>
          </p:cNvPr>
          <p:cNvCxnSpPr/>
          <p:nvPr/>
        </p:nvCxnSpPr>
        <p:spPr>
          <a:xfrm>
            <a:off x="5582545" y="4810316"/>
            <a:ext cx="100686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1">
            <a:extLst>
              <a:ext uri="{FF2B5EF4-FFF2-40B4-BE49-F238E27FC236}">
                <a16:creationId xmlns:a16="http://schemas.microsoft.com/office/drawing/2014/main" xmlns="" id="{2FE894E1-61B6-4E35-AB41-16AF7610C510}"/>
              </a:ext>
            </a:extLst>
          </p:cNvPr>
          <p:cNvSpPr txBox="1"/>
          <p:nvPr/>
        </p:nvSpPr>
        <p:spPr>
          <a:xfrm>
            <a:off x="6662143" y="4439127"/>
            <a:ext cx="3614425" cy="530347"/>
          </a:xfrm>
          <a:prstGeom prst="rect">
            <a:avLst/>
          </a:prstGeom>
        </p:spPr>
        <p:txBody>
          <a:bodyPr lIns="91400" tIns="45699" rIns="91400" bIns="45699">
            <a:noAutofit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240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搜索文档树</a:t>
            </a:r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3" name="组合 19">
            <a:extLst>
              <a:ext uri="{FF2B5EF4-FFF2-40B4-BE49-F238E27FC236}">
                <a16:creationId xmlns:a16="http://schemas.microsoft.com/office/drawing/2014/main" xmlns="" id="{202AC229-74C5-45B0-A436-A5970934F7BE}"/>
              </a:ext>
            </a:extLst>
          </p:cNvPr>
          <p:cNvGrpSpPr/>
          <p:nvPr/>
        </p:nvGrpSpPr>
        <p:grpSpPr>
          <a:xfrm>
            <a:off x="761871" y="1599469"/>
            <a:ext cx="3757270" cy="3766703"/>
            <a:chOff x="9047294" y="2420132"/>
            <a:chExt cx="3920868" cy="3932135"/>
          </a:xfrm>
        </p:grpSpPr>
        <p:sp>
          <p:nvSpPr>
            <p:cNvPr id="24" name="Oval 7">
              <a:extLst>
                <a:ext uri="{FF2B5EF4-FFF2-40B4-BE49-F238E27FC236}">
                  <a16:creationId xmlns:a16="http://schemas.microsoft.com/office/drawing/2014/main" xmlns="" id="{C4B4C05A-FBE0-4BDC-A499-E16900B61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7294" y="2420132"/>
              <a:ext cx="3920868" cy="3932135"/>
            </a:xfrm>
            <a:prstGeom prst="ellips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770" tIns="60887" rIns="121770" bIns="60887" numCol="1" anchor="t" anchorCtr="0" compatLnSpc="1"/>
            <a:lstStyle/>
            <a:p>
              <a:endParaRPr lang="zh-CN" altLang="en-US" sz="186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xmlns="" id="{AF310481-CE51-4DEB-9315-AE54C6E12BD1}"/>
                </a:ext>
              </a:extLst>
            </p:cNvPr>
            <p:cNvSpPr/>
            <p:nvPr/>
          </p:nvSpPr>
          <p:spPr bwMode="auto">
            <a:xfrm>
              <a:off x="9521570" y="2931414"/>
              <a:ext cx="1362315" cy="1372639"/>
            </a:xfrm>
            <a:custGeom>
              <a:avLst/>
              <a:gdLst>
                <a:gd name="T0" fmla="*/ 33 w 66"/>
                <a:gd name="T1" fmla="*/ 0 h 66"/>
                <a:gd name="T2" fmla="*/ 66 w 66"/>
                <a:gd name="T3" fmla="*/ 33 h 66"/>
                <a:gd name="T4" fmla="*/ 64 w 66"/>
                <a:gd name="T5" fmla="*/ 46 h 66"/>
                <a:gd name="T6" fmla="*/ 50 w 66"/>
                <a:gd name="T7" fmla="*/ 36 h 66"/>
                <a:gd name="T8" fmla="*/ 50 w 66"/>
                <a:gd name="T9" fmla="*/ 33 h 66"/>
                <a:gd name="T10" fmla="*/ 33 w 66"/>
                <a:gd name="T11" fmla="*/ 16 h 66"/>
                <a:gd name="T12" fmla="*/ 16 w 66"/>
                <a:gd name="T13" fmla="*/ 33 h 66"/>
                <a:gd name="T14" fmla="*/ 33 w 66"/>
                <a:gd name="T15" fmla="*/ 50 h 66"/>
                <a:gd name="T16" fmla="*/ 34 w 66"/>
                <a:gd name="T17" fmla="*/ 50 h 66"/>
                <a:gd name="T18" fmla="*/ 34 w 66"/>
                <a:gd name="T19" fmla="*/ 51 h 66"/>
                <a:gd name="T20" fmla="*/ 42 w 66"/>
                <a:gd name="T21" fmla="*/ 65 h 66"/>
                <a:gd name="T22" fmla="*/ 33 w 66"/>
                <a:gd name="T23" fmla="*/ 66 h 66"/>
                <a:gd name="T24" fmla="*/ 0 w 66"/>
                <a:gd name="T25" fmla="*/ 33 h 66"/>
                <a:gd name="T26" fmla="*/ 33 w 66"/>
                <a:gd name="T2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66">
                  <a:moveTo>
                    <a:pt x="33" y="0"/>
                  </a:moveTo>
                  <a:cubicBezTo>
                    <a:pt x="51" y="0"/>
                    <a:pt x="66" y="15"/>
                    <a:pt x="66" y="33"/>
                  </a:cubicBezTo>
                  <a:cubicBezTo>
                    <a:pt x="66" y="38"/>
                    <a:pt x="66" y="42"/>
                    <a:pt x="64" y="46"/>
                  </a:cubicBezTo>
                  <a:cubicBezTo>
                    <a:pt x="62" y="40"/>
                    <a:pt x="56" y="36"/>
                    <a:pt x="50" y="36"/>
                  </a:cubicBezTo>
                  <a:cubicBezTo>
                    <a:pt x="50" y="35"/>
                    <a:pt x="50" y="34"/>
                    <a:pt x="50" y="33"/>
                  </a:cubicBezTo>
                  <a:cubicBezTo>
                    <a:pt x="50" y="24"/>
                    <a:pt x="42" y="16"/>
                    <a:pt x="33" y="16"/>
                  </a:cubicBezTo>
                  <a:cubicBezTo>
                    <a:pt x="24" y="16"/>
                    <a:pt x="16" y="24"/>
                    <a:pt x="16" y="33"/>
                  </a:cubicBezTo>
                  <a:cubicBezTo>
                    <a:pt x="16" y="42"/>
                    <a:pt x="24" y="50"/>
                    <a:pt x="33" y="50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4" y="50"/>
                    <a:pt x="34" y="51"/>
                    <a:pt x="34" y="51"/>
                  </a:cubicBezTo>
                  <a:cubicBezTo>
                    <a:pt x="34" y="57"/>
                    <a:pt x="37" y="63"/>
                    <a:pt x="42" y="65"/>
                  </a:cubicBezTo>
                  <a:cubicBezTo>
                    <a:pt x="39" y="66"/>
                    <a:pt x="36" y="66"/>
                    <a:pt x="33" y="66"/>
                  </a:cubicBezTo>
                  <a:cubicBezTo>
                    <a:pt x="15" y="66"/>
                    <a:pt x="0" y="51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lose/>
                </a:path>
              </a:pathLst>
            </a:custGeom>
            <a:solidFill>
              <a:srgbClr val="1E6787"/>
            </a:solidFill>
            <a:ln w="4" cap="flat">
              <a:noFill/>
              <a:prstDash val="solid"/>
              <a:miter lim="800000"/>
            </a:ln>
          </p:spPr>
          <p:txBody>
            <a:bodyPr vert="horz" wrap="square" lIns="121770" tIns="60887" rIns="121770" bIns="60887" numCol="1" anchor="t" anchorCtr="0" compatLnSpc="1"/>
            <a:lstStyle/>
            <a:p>
              <a:endParaRPr lang="zh-CN" altLang="en-US" sz="1866" b="1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6" name="Freeform 35">
              <a:extLst>
                <a:ext uri="{FF2B5EF4-FFF2-40B4-BE49-F238E27FC236}">
                  <a16:creationId xmlns:a16="http://schemas.microsoft.com/office/drawing/2014/main" xmlns="" id="{8EE9A433-EA2C-47E4-B1BA-0FEB1EF4E4B1}"/>
                </a:ext>
              </a:extLst>
            </p:cNvPr>
            <p:cNvSpPr/>
            <p:nvPr/>
          </p:nvSpPr>
          <p:spPr bwMode="auto">
            <a:xfrm>
              <a:off x="9521570" y="4469169"/>
              <a:ext cx="1362315" cy="1382956"/>
            </a:xfrm>
            <a:custGeom>
              <a:avLst/>
              <a:gdLst>
                <a:gd name="T0" fmla="*/ 33 w 66"/>
                <a:gd name="T1" fmla="*/ 67 h 67"/>
                <a:gd name="T2" fmla="*/ 66 w 66"/>
                <a:gd name="T3" fmla="*/ 33 h 67"/>
                <a:gd name="T4" fmla="*/ 64 w 66"/>
                <a:gd name="T5" fmla="*/ 20 h 67"/>
                <a:gd name="T6" fmla="*/ 50 w 66"/>
                <a:gd name="T7" fmla="*/ 30 h 67"/>
                <a:gd name="T8" fmla="*/ 50 w 66"/>
                <a:gd name="T9" fmla="*/ 33 h 67"/>
                <a:gd name="T10" fmla="*/ 33 w 66"/>
                <a:gd name="T11" fmla="*/ 50 h 67"/>
                <a:gd name="T12" fmla="*/ 16 w 66"/>
                <a:gd name="T13" fmla="*/ 33 h 67"/>
                <a:gd name="T14" fmla="*/ 33 w 66"/>
                <a:gd name="T15" fmla="*/ 17 h 67"/>
                <a:gd name="T16" fmla="*/ 34 w 66"/>
                <a:gd name="T17" fmla="*/ 17 h 67"/>
                <a:gd name="T18" fmla="*/ 34 w 66"/>
                <a:gd name="T19" fmla="*/ 15 h 67"/>
                <a:gd name="T20" fmla="*/ 42 w 66"/>
                <a:gd name="T21" fmla="*/ 1 h 67"/>
                <a:gd name="T22" fmla="*/ 33 w 66"/>
                <a:gd name="T23" fmla="*/ 0 h 67"/>
                <a:gd name="T24" fmla="*/ 0 w 66"/>
                <a:gd name="T25" fmla="*/ 33 h 67"/>
                <a:gd name="T26" fmla="*/ 33 w 66"/>
                <a:gd name="T2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67">
                  <a:moveTo>
                    <a:pt x="33" y="67"/>
                  </a:moveTo>
                  <a:cubicBezTo>
                    <a:pt x="51" y="67"/>
                    <a:pt x="66" y="52"/>
                    <a:pt x="66" y="33"/>
                  </a:cubicBezTo>
                  <a:cubicBezTo>
                    <a:pt x="66" y="29"/>
                    <a:pt x="66" y="24"/>
                    <a:pt x="64" y="20"/>
                  </a:cubicBezTo>
                  <a:cubicBezTo>
                    <a:pt x="62" y="26"/>
                    <a:pt x="56" y="30"/>
                    <a:pt x="50" y="30"/>
                  </a:cubicBezTo>
                  <a:cubicBezTo>
                    <a:pt x="50" y="31"/>
                    <a:pt x="50" y="32"/>
                    <a:pt x="50" y="33"/>
                  </a:cubicBezTo>
                  <a:cubicBezTo>
                    <a:pt x="50" y="43"/>
                    <a:pt x="42" y="50"/>
                    <a:pt x="33" y="50"/>
                  </a:cubicBezTo>
                  <a:cubicBezTo>
                    <a:pt x="24" y="50"/>
                    <a:pt x="16" y="43"/>
                    <a:pt x="16" y="33"/>
                  </a:cubicBezTo>
                  <a:cubicBezTo>
                    <a:pt x="16" y="24"/>
                    <a:pt x="24" y="17"/>
                    <a:pt x="33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6"/>
                    <a:pt x="34" y="16"/>
                    <a:pt x="34" y="15"/>
                  </a:cubicBezTo>
                  <a:cubicBezTo>
                    <a:pt x="34" y="9"/>
                    <a:pt x="37" y="4"/>
                    <a:pt x="42" y="1"/>
                  </a:cubicBezTo>
                  <a:cubicBezTo>
                    <a:pt x="39" y="0"/>
                    <a:pt x="36" y="0"/>
                    <a:pt x="33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0" y="52"/>
                    <a:pt x="15" y="67"/>
                    <a:pt x="33" y="67"/>
                  </a:cubicBezTo>
                  <a:close/>
                </a:path>
              </a:pathLst>
            </a:custGeom>
            <a:solidFill>
              <a:srgbClr val="B3DF63"/>
            </a:solidFill>
            <a:ln w="4" cap="flat">
              <a:noFill/>
              <a:prstDash val="solid"/>
              <a:miter lim="800000"/>
            </a:ln>
          </p:spPr>
          <p:txBody>
            <a:bodyPr vert="horz" wrap="square" lIns="121770" tIns="60887" rIns="121770" bIns="60887" numCol="1" anchor="t" anchorCtr="0" compatLnSpc="1"/>
            <a:lstStyle/>
            <a:p>
              <a:endParaRPr lang="zh-CN" altLang="en-US" sz="1866" b="1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Freeform 37">
              <a:extLst>
                <a:ext uri="{FF2B5EF4-FFF2-40B4-BE49-F238E27FC236}">
                  <a16:creationId xmlns:a16="http://schemas.microsoft.com/office/drawing/2014/main" xmlns="" id="{3E9C0439-56E0-486A-B0A6-887A89C0C190}"/>
                </a:ext>
              </a:extLst>
            </p:cNvPr>
            <p:cNvSpPr/>
            <p:nvPr/>
          </p:nvSpPr>
          <p:spPr bwMode="auto">
            <a:xfrm>
              <a:off x="11110936" y="2931414"/>
              <a:ext cx="1382957" cy="1372639"/>
            </a:xfrm>
            <a:custGeom>
              <a:avLst/>
              <a:gdLst>
                <a:gd name="T0" fmla="*/ 34 w 67"/>
                <a:gd name="T1" fmla="*/ 0 h 66"/>
                <a:gd name="T2" fmla="*/ 0 w 67"/>
                <a:gd name="T3" fmla="*/ 33 h 66"/>
                <a:gd name="T4" fmla="*/ 3 w 67"/>
                <a:gd name="T5" fmla="*/ 46 h 66"/>
                <a:gd name="T6" fmla="*/ 17 w 67"/>
                <a:gd name="T7" fmla="*/ 36 h 66"/>
                <a:gd name="T8" fmla="*/ 17 w 67"/>
                <a:gd name="T9" fmla="*/ 33 h 66"/>
                <a:gd name="T10" fmla="*/ 34 w 67"/>
                <a:gd name="T11" fmla="*/ 16 h 66"/>
                <a:gd name="T12" fmla="*/ 51 w 67"/>
                <a:gd name="T13" fmla="*/ 33 h 66"/>
                <a:gd name="T14" fmla="*/ 34 w 67"/>
                <a:gd name="T15" fmla="*/ 50 h 66"/>
                <a:gd name="T16" fmla="*/ 33 w 67"/>
                <a:gd name="T17" fmla="*/ 50 h 66"/>
                <a:gd name="T18" fmla="*/ 33 w 67"/>
                <a:gd name="T19" fmla="*/ 51 h 66"/>
                <a:gd name="T20" fmla="*/ 24 w 67"/>
                <a:gd name="T21" fmla="*/ 65 h 66"/>
                <a:gd name="T22" fmla="*/ 34 w 67"/>
                <a:gd name="T23" fmla="*/ 66 h 66"/>
                <a:gd name="T24" fmla="*/ 67 w 67"/>
                <a:gd name="T25" fmla="*/ 33 h 66"/>
                <a:gd name="T26" fmla="*/ 34 w 67"/>
                <a:gd name="T2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6">
                  <a:moveTo>
                    <a:pt x="34" y="0"/>
                  </a:moveTo>
                  <a:cubicBezTo>
                    <a:pt x="15" y="0"/>
                    <a:pt x="0" y="15"/>
                    <a:pt x="0" y="33"/>
                  </a:cubicBezTo>
                  <a:cubicBezTo>
                    <a:pt x="0" y="38"/>
                    <a:pt x="1" y="42"/>
                    <a:pt x="3" y="46"/>
                  </a:cubicBezTo>
                  <a:cubicBezTo>
                    <a:pt x="5" y="40"/>
                    <a:pt x="11" y="36"/>
                    <a:pt x="17" y="36"/>
                  </a:cubicBezTo>
                  <a:cubicBezTo>
                    <a:pt x="17" y="35"/>
                    <a:pt x="17" y="34"/>
                    <a:pt x="17" y="33"/>
                  </a:cubicBezTo>
                  <a:cubicBezTo>
                    <a:pt x="17" y="24"/>
                    <a:pt x="24" y="16"/>
                    <a:pt x="34" y="16"/>
                  </a:cubicBezTo>
                  <a:cubicBezTo>
                    <a:pt x="43" y="16"/>
                    <a:pt x="51" y="24"/>
                    <a:pt x="51" y="33"/>
                  </a:cubicBezTo>
                  <a:cubicBezTo>
                    <a:pt x="51" y="42"/>
                    <a:pt x="43" y="50"/>
                    <a:pt x="34" y="50"/>
                  </a:cubicBezTo>
                  <a:cubicBezTo>
                    <a:pt x="33" y="50"/>
                    <a:pt x="33" y="50"/>
                    <a:pt x="33" y="50"/>
                  </a:cubicBezTo>
                  <a:cubicBezTo>
                    <a:pt x="33" y="50"/>
                    <a:pt x="33" y="51"/>
                    <a:pt x="33" y="51"/>
                  </a:cubicBezTo>
                  <a:cubicBezTo>
                    <a:pt x="33" y="57"/>
                    <a:pt x="29" y="63"/>
                    <a:pt x="24" y="65"/>
                  </a:cubicBezTo>
                  <a:cubicBezTo>
                    <a:pt x="27" y="66"/>
                    <a:pt x="30" y="66"/>
                    <a:pt x="34" y="66"/>
                  </a:cubicBezTo>
                  <a:cubicBezTo>
                    <a:pt x="52" y="66"/>
                    <a:pt x="67" y="51"/>
                    <a:pt x="67" y="33"/>
                  </a:cubicBezTo>
                  <a:cubicBezTo>
                    <a:pt x="67" y="15"/>
                    <a:pt x="52" y="0"/>
                    <a:pt x="34" y="0"/>
                  </a:cubicBezTo>
                  <a:close/>
                </a:path>
              </a:pathLst>
            </a:custGeom>
            <a:solidFill>
              <a:srgbClr val="B3DF63"/>
            </a:solidFill>
            <a:ln w="4" cap="flat">
              <a:noFill/>
              <a:prstDash val="solid"/>
              <a:miter lim="800000"/>
            </a:ln>
          </p:spPr>
          <p:txBody>
            <a:bodyPr vert="horz" wrap="square" lIns="121770" tIns="60887" rIns="121770" bIns="60887" numCol="1" anchor="t" anchorCtr="0" compatLnSpc="1"/>
            <a:lstStyle/>
            <a:p>
              <a:endParaRPr lang="zh-CN" altLang="en-US" sz="1866" b="1" dirty="0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Freeform 39">
              <a:extLst>
                <a:ext uri="{FF2B5EF4-FFF2-40B4-BE49-F238E27FC236}">
                  <a16:creationId xmlns:a16="http://schemas.microsoft.com/office/drawing/2014/main" xmlns="" id="{E3884C9B-1197-4077-8279-97590F5DE4F1}"/>
                </a:ext>
              </a:extLst>
            </p:cNvPr>
            <p:cNvSpPr/>
            <p:nvPr/>
          </p:nvSpPr>
          <p:spPr bwMode="auto">
            <a:xfrm>
              <a:off x="11110936" y="4469169"/>
              <a:ext cx="1382957" cy="1382956"/>
            </a:xfrm>
            <a:custGeom>
              <a:avLst/>
              <a:gdLst>
                <a:gd name="T0" fmla="*/ 34 w 67"/>
                <a:gd name="T1" fmla="*/ 67 h 67"/>
                <a:gd name="T2" fmla="*/ 0 w 67"/>
                <a:gd name="T3" fmla="*/ 33 h 67"/>
                <a:gd name="T4" fmla="*/ 3 w 67"/>
                <a:gd name="T5" fmla="*/ 20 h 67"/>
                <a:gd name="T6" fmla="*/ 17 w 67"/>
                <a:gd name="T7" fmla="*/ 30 h 67"/>
                <a:gd name="T8" fmla="*/ 17 w 67"/>
                <a:gd name="T9" fmla="*/ 33 h 67"/>
                <a:gd name="T10" fmla="*/ 34 w 67"/>
                <a:gd name="T11" fmla="*/ 50 h 67"/>
                <a:gd name="T12" fmla="*/ 51 w 67"/>
                <a:gd name="T13" fmla="*/ 33 h 67"/>
                <a:gd name="T14" fmla="*/ 34 w 67"/>
                <a:gd name="T15" fmla="*/ 17 h 67"/>
                <a:gd name="T16" fmla="*/ 33 w 67"/>
                <a:gd name="T17" fmla="*/ 17 h 67"/>
                <a:gd name="T18" fmla="*/ 33 w 67"/>
                <a:gd name="T19" fmla="*/ 15 h 67"/>
                <a:gd name="T20" fmla="*/ 24 w 67"/>
                <a:gd name="T21" fmla="*/ 1 h 67"/>
                <a:gd name="T22" fmla="*/ 34 w 67"/>
                <a:gd name="T23" fmla="*/ 0 h 67"/>
                <a:gd name="T24" fmla="*/ 67 w 67"/>
                <a:gd name="T25" fmla="*/ 33 h 67"/>
                <a:gd name="T26" fmla="*/ 34 w 67"/>
                <a:gd name="T2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7">
                  <a:moveTo>
                    <a:pt x="34" y="67"/>
                  </a:moveTo>
                  <a:cubicBezTo>
                    <a:pt x="15" y="67"/>
                    <a:pt x="0" y="52"/>
                    <a:pt x="0" y="33"/>
                  </a:cubicBezTo>
                  <a:cubicBezTo>
                    <a:pt x="0" y="29"/>
                    <a:pt x="1" y="24"/>
                    <a:pt x="3" y="20"/>
                  </a:cubicBezTo>
                  <a:cubicBezTo>
                    <a:pt x="5" y="26"/>
                    <a:pt x="11" y="30"/>
                    <a:pt x="17" y="30"/>
                  </a:cubicBezTo>
                  <a:cubicBezTo>
                    <a:pt x="17" y="31"/>
                    <a:pt x="17" y="32"/>
                    <a:pt x="17" y="33"/>
                  </a:cubicBezTo>
                  <a:cubicBezTo>
                    <a:pt x="17" y="43"/>
                    <a:pt x="24" y="50"/>
                    <a:pt x="34" y="50"/>
                  </a:cubicBezTo>
                  <a:cubicBezTo>
                    <a:pt x="43" y="50"/>
                    <a:pt x="51" y="43"/>
                    <a:pt x="51" y="33"/>
                  </a:cubicBezTo>
                  <a:cubicBezTo>
                    <a:pt x="51" y="24"/>
                    <a:pt x="43" y="17"/>
                    <a:pt x="34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6"/>
                    <a:pt x="33" y="16"/>
                    <a:pt x="33" y="15"/>
                  </a:cubicBezTo>
                  <a:cubicBezTo>
                    <a:pt x="33" y="9"/>
                    <a:pt x="29" y="4"/>
                    <a:pt x="24" y="1"/>
                  </a:cubicBezTo>
                  <a:cubicBezTo>
                    <a:pt x="27" y="0"/>
                    <a:pt x="30" y="0"/>
                    <a:pt x="34" y="0"/>
                  </a:cubicBezTo>
                  <a:cubicBezTo>
                    <a:pt x="52" y="0"/>
                    <a:pt x="67" y="15"/>
                    <a:pt x="67" y="33"/>
                  </a:cubicBezTo>
                  <a:cubicBezTo>
                    <a:pt x="67" y="52"/>
                    <a:pt x="52" y="67"/>
                    <a:pt x="34" y="67"/>
                  </a:cubicBezTo>
                  <a:close/>
                </a:path>
              </a:pathLst>
            </a:custGeom>
            <a:solidFill>
              <a:srgbClr val="1E6787"/>
            </a:solidFill>
            <a:ln w="4" cap="flat">
              <a:noFill/>
              <a:prstDash val="solid"/>
              <a:miter lim="800000"/>
            </a:ln>
          </p:spPr>
          <p:txBody>
            <a:bodyPr vert="horz" wrap="square" lIns="121770" tIns="60887" rIns="121770" bIns="60887" numCol="1" anchor="t" anchorCtr="0" compatLnSpc="1"/>
            <a:lstStyle/>
            <a:p>
              <a:endParaRPr lang="zh-CN" altLang="en-US" sz="1866" b="1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grpSp>
          <p:nvGrpSpPr>
            <p:cNvPr id="29" name="组合 25">
              <a:extLst>
                <a:ext uri="{FF2B5EF4-FFF2-40B4-BE49-F238E27FC236}">
                  <a16:creationId xmlns:a16="http://schemas.microsoft.com/office/drawing/2014/main" xmlns="" id="{DCA50856-826B-4DA8-ACEE-CFE590412972}"/>
                </a:ext>
              </a:extLst>
            </p:cNvPr>
            <p:cNvGrpSpPr/>
            <p:nvPr/>
          </p:nvGrpSpPr>
          <p:grpSpPr>
            <a:xfrm>
              <a:off x="10264646" y="3726102"/>
              <a:ext cx="536670" cy="536670"/>
              <a:chOff x="5481876" y="3723806"/>
              <a:chExt cx="536670" cy="536669"/>
            </a:xfrm>
            <a:solidFill>
              <a:srgbClr val="7C3D67"/>
            </a:solidFill>
          </p:grpSpPr>
          <p:sp>
            <p:nvSpPr>
              <p:cNvPr id="40" name="Oval 32">
                <a:extLst>
                  <a:ext uri="{FF2B5EF4-FFF2-40B4-BE49-F238E27FC236}">
                    <a16:creationId xmlns:a16="http://schemas.microsoft.com/office/drawing/2014/main" xmlns="" id="{56251187-0C10-4451-9746-8C31C5765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1877" y="3723806"/>
                <a:ext cx="536669" cy="536669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21882" tIns="60941" rIns="121882" bIns="60941" numCol="1" anchor="t" anchorCtr="0" compatLnSpc="1"/>
              <a:lstStyle/>
              <a:p>
                <a:endParaRPr lang="zh-CN" altLang="en-US" sz="1866" b="1" dirty="0">
                  <a:solidFill>
                    <a:prstClr val="black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41" name="Oval 33">
                <a:extLst>
                  <a:ext uri="{FF2B5EF4-FFF2-40B4-BE49-F238E27FC236}">
                    <a16:creationId xmlns:a16="http://schemas.microsoft.com/office/drawing/2014/main" xmlns="" id="{D6D79175-05C2-45C9-8EB7-9BD05FC61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1876" y="3723806"/>
                <a:ext cx="536669" cy="536669"/>
              </a:xfrm>
              <a:prstGeom prst="ellipse">
                <a:avLst/>
              </a:prstGeom>
              <a:solidFill>
                <a:srgbClr val="1E6787"/>
              </a:solidFill>
              <a:ln w="4" cap="flat">
                <a:noFill/>
                <a:prstDash val="solid"/>
                <a:miter lim="800000"/>
              </a:ln>
            </p:spPr>
            <p:txBody>
              <a:bodyPr vert="horz" wrap="square" lIns="121882" tIns="60941" rIns="121882" bIns="60941" numCol="1" anchor="t" anchorCtr="0" compatLnSpc="1"/>
              <a:lstStyle/>
              <a:p>
                <a:endParaRPr lang="zh-CN" altLang="en-US" sz="1866" b="1">
                  <a:solidFill>
                    <a:prstClr val="black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xmlns="" id="{FEDDCE1C-FC5D-4FD8-B8D9-7FE5C0BE41B8}"/>
                  </a:ext>
                </a:extLst>
              </p:cNvPr>
              <p:cNvSpPr txBox="1"/>
              <p:nvPr/>
            </p:nvSpPr>
            <p:spPr>
              <a:xfrm>
                <a:off x="5490499" y="3786988"/>
                <a:ext cx="510553" cy="439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33" spc="-151" dirty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大黑_GBK" pitchFamily="65" charset="-122"/>
                    <a:ea typeface="方正大黑_GBK" pitchFamily="65" charset="-122"/>
                  </a:rPr>
                  <a:t>01</a:t>
                </a:r>
                <a:endParaRPr lang="zh-CN" altLang="en-US" sz="2133" spc="-15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大黑_GBK" pitchFamily="65" charset="-122"/>
                  <a:ea typeface="方正大黑_GBK" pitchFamily="65" charset="-122"/>
                </a:endParaRPr>
              </a:p>
            </p:txBody>
          </p:sp>
        </p:grpSp>
        <p:grpSp>
          <p:nvGrpSpPr>
            <p:cNvPr id="30" name="组合 26">
              <a:extLst>
                <a:ext uri="{FF2B5EF4-FFF2-40B4-BE49-F238E27FC236}">
                  <a16:creationId xmlns:a16="http://schemas.microsoft.com/office/drawing/2014/main" xmlns="" id="{9D7D9C66-DEA2-40E5-90D7-B80B67683967}"/>
                </a:ext>
              </a:extLst>
            </p:cNvPr>
            <p:cNvGrpSpPr/>
            <p:nvPr/>
          </p:nvGrpSpPr>
          <p:grpSpPr>
            <a:xfrm>
              <a:off x="11193502" y="3726102"/>
              <a:ext cx="536669" cy="536670"/>
              <a:chOff x="6410728" y="3723806"/>
              <a:chExt cx="536669" cy="536669"/>
            </a:xfrm>
            <a:solidFill>
              <a:srgbClr val="DF6282"/>
            </a:solidFill>
          </p:grpSpPr>
          <p:sp>
            <p:nvSpPr>
              <p:cNvPr id="38" name="Oval 38">
                <a:extLst>
                  <a:ext uri="{FF2B5EF4-FFF2-40B4-BE49-F238E27FC236}">
                    <a16:creationId xmlns:a16="http://schemas.microsoft.com/office/drawing/2014/main" xmlns="" id="{177B38FA-F0D8-4F68-9088-DD27964AB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0728" y="3723806"/>
                <a:ext cx="536669" cy="536669"/>
              </a:xfrm>
              <a:prstGeom prst="ellipse">
                <a:avLst/>
              </a:prstGeom>
              <a:solidFill>
                <a:srgbClr val="B3DF63"/>
              </a:solidFill>
              <a:ln w="4" cap="flat">
                <a:noFill/>
                <a:prstDash val="solid"/>
                <a:miter lim="800000"/>
              </a:ln>
            </p:spPr>
            <p:txBody>
              <a:bodyPr vert="horz" wrap="square" lIns="121882" tIns="60941" rIns="121882" bIns="60941" numCol="1" anchor="t" anchorCtr="0" compatLnSpc="1"/>
              <a:lstStyle/>
              <a:p>
                <a:endParaRPr lang="zh-CN" altLang="en-US" sz="1866" b="1" dirty="0">
                  <a:solidFill>
                    <a:prstClr val="black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39" name="TextBox 23">
                <a:extLst>
                  <a:ext uri="{FF2B5EF4-FFF2-40B4-BE49-F238E27FC236}">
                    <a16:creationId xmlns:a16="http://schemas.microsoft.com/office/drawing/2014/main" xmlns="" id="{2EBFDF54-F104-4B1E-ADED-B3412A87F50A}"/>
                  </a:ext>
                </a:extLst>
              </p:cNvPr>
              <p:cNvSpPr txBox="1"/>
              <p:nvPr/>
            </p:nvSpPr>
            <p:spPr>
              <a:xfrm>
                <a:off x="6411022" y="3786992"/>
                <a:ext cx="510554" cy="439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33" spc="-151" dirty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大黑_GBK" pitchFamily="65" charset="-122"/>
                    <a:ea typeface="方正大黑_GBK" pitchFamily="65" charset="-122"/>
                  </a:rPr>
                  <a:t>02</a:t>
                </a:r>
                <a:endParaRPr lang="zh-CN" altLang="en-US" sz="2133" spc="-15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大黑_GBK" pitchFamily="65" charset="-122"/>
                  <a:ea typeface="方正大黑_GBK" pitchFamily="65" charset="-122"/>
                </a:endParaRPr>
              </a:p>
            </p:txBody>
          </p:sp>
        </p:grpSp>
        <p:grpSp>
          <p:nvGrpSpPr>
            <p:cNvPr id="31" name="组合 27">
              <a:extLst>
                <a:ext uri="{FF2B5EF4-FFF2-40B4-BE49-F238E27FC236}">
                  <a16:creationId xmlns:a16="http://schemas.microsoft.com/office/drawing/2014/main" xmlns="" id="{BDE94FE7-256C-42FE-B6A8-8DECBF00BEE6}"/>
                </a:ext>
              </a:extLst>
            </p:cNvPr>
            <p:cNvGrpSpPr/>
            <p:nvPr/>
          </p:nvGrpSpPr>
          <p:grpSpPr>
            <a:xfrm>
              <a:off x="11193502" y="4510459"/>
              <a:ext cx="536669" cy="536669"/>
              <a:chOff x="6410728" y="4508169"/>
              <a:chExt cx="536669" cy="536669"/>
            </a:xfrm>
            <a:solidFill>
              <a:srgbClr val="7C3D67"/>
            </a:solidFill>
          </p:grpSpPr>
          <p:sp>
            <p:nvSpPr>
              <p:cNvPr id="36" name="Oval 40">
                <a:extLst>
                  <a:ext uri="{FF2B5EF4-FFF2-40B4-BE49-F238E27FC236}">
                    <a16:creationId xmlns:a16="http://schemas.microsoft.com/office/drawing/2014/main" xmlns="" id="{10E9BFB2-8E46-46A9-9AAF-D0BB64CDE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0728" y="4508169"/>
                <a:ext cx="536669" cy="536669"/>
              </a:xfrm>
              <a:prstGeom prst="ellipse">
                <a:avLst/>
              </a:prstGeom>
              <a:solidFill>
                <a:srgbClr val="1E6787"/>
              </a:solidFill>
              <a:ln w="4" cap="flat">
                <a:noFill/>
                <a:prstDash val="solid"/>
                <a:miter lim="800000"/>
              </a:ln>
            </p:spPr>
            <p:txBody>
              <a:bodyPr vert="horz" wrap="square" lIns="121882" tIns="60941" rIns="121882" bIns="60941" numCol="1" anchor="t" anchorCtr="0" compatLnSpc="1"/>
              <a:lstStyle/>
              <a:p>
                <a:endParaRPr lang="zh-CN" altLang="en-US" sz="1866" b="1">
                  <a:solidFill>
                    <a:prstClr val="black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37" name="TextBox 26">
                <a:extLst>
                  <a:ext uri="{FF2B5EF4-FFF2-40B4-BE49-F238E27FC236}">
                    <a16:creationId xmlns:a16="http://schemas.microsoft.com/office/drawing/2014/main" xmlns="" id="{0D0EA388-AF34-4DC9-B602-F21B528919C0}"/>
                  </a:ext>
                </a:extLst>
              </p:cNvPr>
              <p:cNvSpPr txBox="1"/>
              <p:nvPr/>
            </p:nvSpPr>
            <p:spPr>
              <a:xfrm>
                <a:off x="6411022" y="4558656"/>
                <a:ext cx="510554" cy="439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33" spc="-151" dirty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大黑_GBK" pitchFamily="65" charset="-122"/>
                    <a:ea typeface="方正大黑_GBK" pitchFamily="65" charset="-122"/>
                  </a:rPr>
                  <a:t>03</a:t>
                </a:r>
                <a:endParaRPr lang="zh-CN" altLang="en-US" sz="2133" spc="-15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大黑_GBK" pitchFamily="65" charset="-122"/>
                  <a:ea typeface="方正大黑_GBK" pitchFamily="65" charset="-122"/>
                </a:endParaRPr>
              </a:p>
            </p:txBody>
          </p:sp>
        </p:grpSp>
        <p:grpSp>
          <p:nvGrpSpPr>
            <p:cNvPr id="33" name="组合 28">
              <a:extLst>
                <a:ext uri="{FF2B5EF4-FFF2-40B4-BE49-F238E27FC236}">
                  <a16:creationId xmlns:a16="http://schemas.microsoft.com/office/drawing/2014/main" xmlns="" id="{A4D7DA83-FF4D-47F6-8475-C2444E108AB4}"/>
                </a:ext>
              </a:extLst>
            </p:cNvPr>
            <p:cNvGrpSpPr/>
            <p:nvPr/>
          </p:nvGrpSpPr>
          <p:grpSpPr>
            <a:xfrm>
              <a:off x="10263855" y="4510459"/>
              <a:ext cx="537463" cy="536669"/>
              <a:chOff x="5481082" y="4508169"/>
              <a:chExt cx="537464" cy="536669"/>
            </a:xfrm>
            <a:solidFill>
              <a:srgbClr val="DF6282"/>
            </a:solidFill>
          </p:grpSpPr>
          <p:sp>
            <p:nvSpPr>
              <p:cNvPr id="34" name="Oval 36">
                <a:extLst>
                  <a:ext uri="{FF2B5EF4-FFF2-40B4-BE49-F238E27FC236}">
                    <a16:creationId xmlns:a16="http://schemas.microsoft.com/office/drawing/2014/main" xmlns="" id="{C253078D-5C49-41B9-87DA-82E0F862E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1877" y="4508169"/>
                <a:ext cx="536669" cy="536669"/>
              </a:xfrm>
              <a:prstGeom prst="ellipse">
                <a:avLst/>
              </a:prstGeom>
              <a:solidFill>
                <a:srgbClr val="B3DF63"/>
              </a:solidFill>
              <a:ln w="4" cap="flat">
                <a:noFill/>
                <a:prstDash val="solid"/>
                <a:miter lim="800000"/>
              </a:ln>
            </p:spPr>
            <p:txBody>
              <a:bodyPr vert="horz" wrap="square" lIns="121882" tIns="60941" rIns="121882" bIns="60941" numCol="1" anchor="t" anchorCtr="0" compatLnSpc="1"/>
              <a:lstStyle/>
              <a:p>
                <a:endParaRPr lang="zh-CN" altLang="en-US" sz="1866" b="1">
                  <a:solidFill>
                    <a:prstClr val="black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35" name="TextBox 29">
                <a:extLst>
                  <a:ext uri="{FF2B5EF4-FFF2-40B4-BE49-F238E27FC236}">
                    <a16:creationId xmlns:a16="http://schemas.microsoft.com/office/drawing/2014/main" xmlns="" id="{F1A066A3-C54F-48E5-8557-235443FD8010}"/>
                  </a:ext>
                </a:extLst>
              </p:cNvPr>
              <p:cNvSpPr txBox="1"/>
              <p:nvPr/>
            </p:nvSpPr>
            <p:spPr>
              <a:xfrm>
                <a:off x="5481082" y="4558656"/>
                <a:ext cx="510554" cy="439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33" spc="-151" dirty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大黑_GBK" pitchFamily="65" charset="-122"/>
                    <a:ea typeface="方正大黑_GBK" pitchFamily="65" charset="-122"/>
                  </a:rPr>
                  <a:t>04</a:t>
                </a:r>
                <a:endParaRPr lang="zh-CN" altLang="en-US" sz="2133" spc="-15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大黑_GBK" pitchFamily="65" charset="-122"/>
                  <a:ea typeface="方正大黑_GBK" pitchFamily="65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590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BeautifulSoup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解析器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55339" y="899328"/>
            <a:ext cx="8811267" cy="106010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smtClean="0">
                <a:latin typeface="+mn-ea"/>
              </a:rPr>
              <a:t>为了从</a:t>
            </a:r>
            <a:r>
              <a:rPr lang="en-US" altLang="zh-CN" sz="2000" smtClean="0">
                <a:latin typeface="+mn-ea"/>
              </a:rPr>
              <a:t>HTML</a:t>
            </a:r>
            <a:r>
              <a:rPr lang="zh-CN" altLang="en-US" sz="2000" smtClean="0">
                <a:latin typeface="+mn-ea"/>
              </a:rPr>
              <a:t>文档中解析目标数据，首先需根据文档创建一个</a:t>
            </a:r>
            <a:r>
              <a:rPr lang="en-US" altLang="zh-CN" sz="2000" smtClean="0">
                <a:latin typeface="+mn-ea"/>
              </a:rPr>
              <a:t>BeautifulSoup</a:t>
            </a:r>
            <a:r>
              <a:rPr lang="zh-CN" altLang="en-US" sz="2000" smtClean="0">
                <a:latin typeface="+mn-ea"/>
              </a:rPr>
              <a:t>对象，此时需选择一种解析器类型，基本用法如下：</a:t>
            </a:r>
            <a:endParaRPr lang="en-US" altLang="zh-CN" sz="20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smtClean="0">
                <a:latin typeface="+mn-ea"/>
              </a:rPr>
              <a:t> </a:t>
            </a:r>
          </a:p>
          <a:p>
            <a:pPr marL="0" indent="0">
              <a:buNone/>
            </a:pPr>
            <a:endParaRPr lang="zh-CN" altLang="en-US" sz="2400" smtClean="0">
              <a:latin typeface="+mn-ea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3227941" y="2662814"/>
            <a:ext cx="8811267" cy="106010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400" smtClean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426" y="2124117"/>
            <a:ext cx="8919587" cy="304698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D38E0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 requests </a:t>
            </a:r>
          </a:p>
          <a:p>
            <a:r>
              <a:rPr lang="en-US" altLang="zh-CN" sz="2400">
                <a:solidFill>
                  <a:srgbClr val="D38E0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 bs4</a:t>
            </a:r>
          </a:p>
          <a:p>
            <a:endParaRPr lang="en-US" altLang="zh-CN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r = requests.get(</a:t>
            </a:r>
            <a:r>
              <a:rPr lang="en-US" altLang="zh-CN" sz="2400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'http://www.baidu.com'</a:t>
            </a:r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r.encoding = </a:t>
            </a:r>
            <a:r>
              <a:rPr lang="en-US" altLang="zh-CN" sz="2400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'utf-8'</a:t>
            </a:r>
          </a:p>
          <a:p>
            <a:endParaRPr lang="en-US" altLang="zh-CN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zh-CN" altLang="en-US" sz="240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创建</a:t>
            </a:r>
            <a:r>
              <a:rPr lang="en-US" altLang="zh-CN" sz="240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BeautifulSoup</a:t>
            </a:r>
            <a:r>
              <a:rPr lang="zh-CN" altLang="en-US" sz="240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对象</a:t>
            </a:r>
            <a:r>
              <a:rPr lang="en-US" altLang="zh-CN" sz="2400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:soup</a:t>
            </a:r>
            <a:endParaRPr lang="en-US" altLang="zh-CN" sz="240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soup = bs4.BeautifulSoup(r.text, </a:t>
            </a:r>
            <a:r>
              <a:rPr lang="en-US" altLang="zh-CN" sz="2400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'html.parser'</a:t>
            </a:r>
            <a:r>
              <a:rPr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线形标注 2 4"/>
          <p:cNvSpPr/>
          <p:nvPr/>
        </p:nvSpPr>
        <p:spPr>
          <a:xfrm>
            <a:off x="2846117" y="5586884"/>
            <a:ext cx="1967043" cy="512466"/>
          </a:xfrm>
          <a:prstGeom prst="borderCallout2">
            <a:avLst>
              <a:gd name="adj1" fmla="val 50122"/>
              <a:gd name="adj2" fmla="val 103160"/>
              <a:gd name="adj3" fmla="val 48162"/>
              <a:gd name="adj4" fmla="val 129585"/>
              <a:gd name="adj5" fmla="val -87499"/>
              <a:gd name="adj6" fmla="val 154056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HTML</a:t>
            </a:r>
            <a:r>
              <a:rPr lang="zh-CN" altLang="en-US" smtClean="0">
                <a:solidFill>
                  <a:schemeClr val="tx1"/>
                </a:solidFill>
              </a:rPr>
              <a:t>文档字符串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线形标注 2 12"/>
          <p:cNvSpPr/>
          <p:nvPr/>
        </p:nvSpPr>
        <p:spPr>
          <a:xfrm>
            <a:off x="8595796" y="5586884"/>
            <a:ext cx="1583184" cy="512466"/>
          </a:xfrm>
          <a:prstGeom prst="borderCallout2">
            <a:avLst>
              <a:gd name="adj1" fmla="val 48161"/>
              <a:gd name="adj2" fmla="val -3154"/>
              <a:gd name="adj3" fmla="val 46202"/>
              <a:gd name="adj4" fmla="val -28554"/>
              <a:gd name="adj5" fmla="val -87498"/>
              <a:gd name="adj6" fmla="val -4875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smtClean="0">
                <a:solidFill>
                  <a:schemeClr val="tx1"/>
                </a:solidFill>
              </a:rPr>
              <a:t>解析器类型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330829" y="5104562"/>
            <a:ext cx="11403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766244" y="5104562"/>
            <a:ext cx="21064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08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BeautifulSoup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解析器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55339" y="849089"/>
            <a:ext cx="9967219" cy="104000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smtClean="0">
                <a:latin typeface="+mn-ea"/>
              </a:rPr>
              <a:t>BeautifulSoup</a:t>
            </a:r>
            <a:r>
              <a:rPr lang="zh-CN" altLang="en-US" sz="2000" smtClean="0">
                <a:latin typeface="+mn-ea"/>
              </a:rPr>
              <a:t>支持</a:t>
            </a:r>
            <a:r>
              <a:rPr lang="en-US" altLang="zh-CN" sz="2000" smtClean="0">
                <a:latin typeface="+mn-ea"/>
              </a:rPr>
              <a:t>python</a:t>
            </a:r>
            <a:r>
              <a:rPr lang="zh-CN" altLang="en-US" sz="2000" smtClean="0">
                <a:latin typeface="+mn-ea"/>
              </a:rPr>
              <a:t>标准库的</a:t>
            </a:r>
            <a:r>
              <a:rPr lang="en-US" altLang="zh-CN" sz="2000" smtClean="0">
                <a:latin typeface="+mn-ea"/>
              </a:rPr>
              <a:t>HTML</a:t>
            </a:r>
            <a:r>
              <a:rPr lang="zh-CN" altLang="en-US" sz="2000" smtClean="0">
                <a:latin typeface="+mn-ea"/>
              </a:rPr>
              <a:t>解析器，还支持一些第三方解析器</a:t>
            </a:r>
            <a:r>
              <a:rPr lang="en-US" altLang="zh-CN" sz="2000" smtClean="0">
                <a:latin typeface="+mn-ea"/>
              </a:rPr>
              <a:t>(</a:t>
            </a:r>
            <a:r>
              <a:rPr lang="zh-CN" altLang="en-US" sz="2000" smtClean="0">
                <a:latin typeface="+mn-ea"/>
              </a:rPr>
              <a:t>需安装</a:t>
            </a:r>
            <a:r>
              <a:rPr lang="en-US" altLang="zh-CN" sz="2000" smtClean="0">
                <a:latin typeface="+mn-ea"/>
              </a:rPr>
              <a:t>)</a:t>
            </a:r>
            <a:r>
              <a:rPr lang="zh-CN" altLang="en-US" sz="2000" smtClean="0">
                <a:latin typeface="+mn-ea"/>
              </a:rPr>
              <a:t>，常用的几种解析器如下表所示。</a:t>
            </a:r>
            <a:endParaRPr lang="zh-CN" altLang="en-US" sz="2400" smtClean="0">
              <a:latin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622599"/>
              </p:ext>
            </p:extLst>
          </p:nvPr>
        </p:nvGraphicFramePr>
        <p:xfrm>
          <a:off x="776097" y="1979526"/>
          <a:ext cx="10679023" cy="45016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9455"/>
                <a:gridCol w="1952915"/>
                <a:gridCol w="4265347"/>
                <a:gridCol w="2371306"/>
              </a:tblGrid>
              <a:tr h="4374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解析器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参数写法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优点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缺点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2293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effectLst/>
                          <a:latin typeface="+mn-ea"/>
                          <a:ea typeface="+mn-ea"/>
                        </a:rPr>
                        <a:t>Python 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标准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库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html.parser</a:t>
                      </a:r>
                      <a:endParaRPr lang="zh-CN" sz="1800" b="1" kern="10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kern="100" smtClean="0">
                          <a:effectLst/>
                          <a:latin typeface="+mn-ea"/>
                          <a:ea typeface="+mn-ea"/>
                        </a:rPr>
                        <a:t>Python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内置</a:t>
                      </a: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标准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库</a:t>
                      </a:r>
                      <a:endParaRPr lang="en-US" altLang="zh-CN" sz="1800" kern="10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解析速度适中</a:t>
                      </a:r>
                      <a:endParaRPr lang="en-US" altLang="zh-CN" sz="1800" kern="10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00" smtClean="0">
                          <a:effectLst/>
                          <a:latin typeface="+mn-ea"/>
                          <a:ea typeface="+mn-ea"/>
                        </a:rPr>
                        <a:t>HTML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文档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容错性</a:t>
                      </a: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强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在旧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版本</a:t>
                      </a:r>
                      <a:r>
                        <a:rPr lang="en-US" altLang="zh-CN" sz="1800" kern="100" smtClean="0">
                          <a:effectLst/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sz="1800" kern="100" smtClean="0">
                          <a:effectLst/>
                          <a:latin typeface="+mn-ea"/>
                          <a:ea typeface="+mn-ea"/>
                        </a:rPr>
                        <a:t>ython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中容错性不好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027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lxml </a:t>
                      </a:r>
                      <a:r>
                        <a:rPr lang="en-US" sz="1800" kern="100" smtClean="0">
                          <a:effectLst/>
                          <a:latin typeface="+mn-ea"/>
                          <a:ea typeface="+mn-ea"/>
                        </a:rPr>
                        <a:t>html 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解析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器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lxml</a:t>
                      </a:r>
                      <a:endParaRPr lang="zh-CN" sz="1800" b="1" kern="10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解析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速度快</a:t>
                      </a:r>
                      <a:endParaRPr lang="en-US" altLang="zh-CN" sz="1800" kern="10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解析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HTML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文档容错性好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需安装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语言库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027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lxml </a:t>
                      </a:r>
                      <a:r>
                        <a:rPr lang="en-US" sz="1800" kern="100" smtClean="0">
                          <a:effectLst/>
                          <a:latin typeface="+mn-ea"/>
                          <a:ea typeface="+mn-ea"/>
                        </a:rPr>
                        <a:t>XML 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解析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器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xml</a:t>
                      </a:r>
                      <a:endParaRPr lang="zh-CN" sz="1800" b="1" kern="10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解析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速度快</a:t>
                      </a:r>
                      <a:endParaRPr lang="en-US" altLang="zh-CN" sz="1800" kern="10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唯一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支持</a:t>
                      </a:r>
                      <a:r>
                        <a:rPr lang="en-US" sz="1800" kern="100" smtClean="0">
                          <a:effectLst/>
                          <a:latin typeface="+mn-ea"/>
                          <a:ea typeface="+mn-ea"/>
                        </a:rPr>
                        <a:t>XML</a:t>
                      </a: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的解析器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需安装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语言库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2293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html5lib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html5lib</a:t>
                      </a:r>
                      <a:endParaRPr lang="zh-CN" sz="1800" b="1" kern="10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容错性</a:t>
                      </a:r>
                      <a:r>
                        <a:rPr lang="zh-CN" altLang="en-US" sz="1800" kern="100" smtClean="0">
                          <a:effectLst/>
                          <a:latin typeface="+mn-ea"/>
                          <a:ea typeface="+mn-ea"/>
                        </a:rPr>
                        <a:t>最好</a:t>
                      </a:r>
                      <a:endParaRPr lang="en-US" altLang="zh-CN" sz="1800" kern="10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浏览器方式解析</a:t>
                      </a: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文档</a:t>
                      </a:r>
                      <a:endParaRPr lang="en-US" altLang="zh-CN" sz="1800" kern="10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sz="1800" kern="100" smtClean="0">
                          <a:effectLst/>
                          <a:latin typeface="+mn-ea"/>
                          <a:ea typeface="+mn-ea"/>
                        </a:rPr>
                        <a:t>可以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生成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HTML5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格式的文档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解析速度慢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00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BeautifulSoup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的四种对象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55338" y="1090247"/>
            <a:ext cx="9283932" cy="5102050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smtClean="0">
                <a:latin typeface="+mn-ea"/>
              </a:rPr>
              <a:t>BeautifulSoup </a:t>
            </a:r>
            <a:r>
              <a:rPr lang="zh-CN" altLang="en-US" sz="2400" smtClean="0">
                <a:latin typeface="+mn-ea"/>
              </a:rPr>
              <a:t>能够将复杂的</a:t>
            </a:r>
            <a:r>
              <a:rPr lang="en-US" altLang="zh-CN" sz="2400" smtClean="0">
                <a:latin typeface="+mn-ea"/>
              </a:rPr>
              <a:t>HTML</a:t>
            </a:r>
            <a:r>
              <a:rPr lang="zh-CN" altLang="en-US" sz="2400" smtClean="0">
                <a:latin typeface="+mn-ea"/>
              </a:rPr>
              <a:t>文档映射为一个树形结构，文档中的各种节点则被</a:t>
            </a:r>
            <a:r>
              <a:rPr lang="zh-CN" altLang="en-US" sz="2400">
                <a:latin typeface="+mn-ea"/>
              </a:rPr>
              <a:t>转换</a:t>
            </a:r>
            <a:r>
              <a:rPr lang="zh-CN" altLang="en-US" sz="2400" smtClean="0">
                <a:latin typeface="+mn-ea"/>
              </a:rPr>
              <a:t>为各种对象。主要包含以下四类：</a:t>
            </a:r>
            <a:endParaRPr lang="en-US" altLang="zh-CN" sz="2400" smtClean="0">
              <a:latin typeface="+mn-ea"/>
            </a:endParaRPr>
          </a:p>
          <a:p>
            <a:pPr marL="893763" indent="-4318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Tag </a:t>
            </a:r>
            <a:r>
              <a:rPr lang="zh-CN" altLang="en-US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对象</a:t>
            </a:r>
            <a:endParaRPr lang="en-US" altLang="zh-CN" sz="240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pPr marL="893763" indent="-4318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BeautifulSoup </a:t>
            </a:r>
            <a:r>
              <a:rPr lang="zh-CN" altLang="en-US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对象</a:t>
            </a:r>
            <a:endParaRPr lang="en-US" altLang="zh-CN" sz="240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pPr marL="893763" indent="-4318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NavigableString </a:t>
            </a:r>
            <a:r>
              <a:rPr lang="zh-CN" altLang="en-US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对象</a:t>
            </a:r>
            <a:endParaRPr lang="en-US" altLang="zh-CN" sz="2400" smtClean="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pPr marL="893763" indent="-4318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Comment </a:t>
            </a:r>
            <a:r>
              <a:rPr lang="zh-CN" altLang="en-US" sz="240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对象</a:t>
            </a:r>
            <a:endParaRPr lang="en-US" altLang="zh-CN" sz="240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endParaRPr lang="zh-CN" altLang="en-US" sz="240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239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Tag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–&gt;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标签对象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1136210" y="1090247"/>
            <a:ext cx="9957172" cy="51020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None/>
            </a:pPr>
            <a:r>
              <a:rPr lang="en-US" sz="2400" smtClean="0">
                <a:latin typeface="+mn-ea"/>
              </a:rPr>
              <a:t>Tag </a:t>
            </a:r>
            <a:r>
              <a:rPr lang="zh-CN" altLang="en-US" sz="2400" smtClean="0">
                <a:latin typeface="+mn-ea"/>
              </a:rPr>
              <a:t>对象对应了</a:t>
            </a:r>
            <a:r>
              <a:rPr lang="en-US" altLang="zh-CN" sz="2400" smtClean="0">
                <a:latin typeface="+mn-ea"/>
              </a:rPr>
              <a:t>HTML</a:t>
            </a:r>
            <a:r>
              <a:rPr lang="zh-CN" altLang="en-US" sz="2400" smtClean="0">
                <a:latin typeface="+mn-ea"/>
              </a:rPr>
              <a:t>文档中的各种标签，在创建</a:t>
            </a:r>
            <a:r>
              <a:rPr lang="en-US" altLang="zh-CN" sz="2400" smtClean="0">
                <a:latin typeface="+mn-ea"/>
              </a:rPr>
              <a:t>BeautifulSoup</a:t>
            </a:r>
            <a:r>
              <a:rPr lang="zh-CN" altLang="en-US" sz="2400" smtClean="0">
                <a:latin typeface="+mn-ea"/>
              </a:rPr>
              <a:t>对象后，文档中的各种标签会自动转换为</a:t>
            </a:r>
            <a:r>
              <a:rPr lang="en-US" altLang="zh-CN" sz="2400" smtClean="0">
                <a:latin typeface="+mn-ea"/>
              </a:rPr>
              <a:t>Tag</a:t>
            </a:r>
            <a:r>
              <a:rPr lang="zh-CN" altLang="en-US" sz="2400" smtClean="0">
                <a:latin typeface="+mn-ea"/>
              </a:rPr>
              <a:t>对象存放在树形结构的相应位置。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smtClean="0">
                <a:latin typeface="+mn-ea"/>
              </a:rPr>
              <a:t>     Tag</a:t>
            </a:r>
            <a:r>
              <a:rPr lang="zh-CN" altLang="en-US" sz="2400" smtClean="0">
                <a:latin typeface="+mn-ea"/>
              </a:rPr>
              <a:t>对象常用的属性：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smtClean="0">
                <a:latin typeface="+mn-ea"/>
              </a:rPr>
              <a:t>	tag.name     :  </a:t>
            </a:r>
            <a:r>
              <a:rPr lang="zh-CN" altLang="en-US" sz="2400" smtClean="0">
                <a:latin typeface="+mn-ea"/>
              </a:rPr>
              <a:t>标签类型       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smtClean="0">
                <a:latin typeface="+mn-ea"/>
              </a:rPr>
              <a:t>	tag.attrs       :  </a:t>
            </a:r>
            <a:r>
              <a:rPr lang="zh-CN" altLang="en-US" sz="2400" smtClean="0">
                <a:latin typeface="+mn-ea"/>
              </a:rPr>
              <a:t>标签</a:t>
            </a:r>
            <a:r>
              <a:rPr lang="zh-CN" altLang="en-US" sz="2400">
                <a:latin typeface="+mn-ea"/>
              </a:rPr>
              <a:t>属性字典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smtClean="0">
                <a:latin typeface="+mn-ea"/>
              </a:rPr>
              <a:t>	tag</a:t>
            </a:r>
            <a:r>
              <a:rPr lang="en-US" altLang="zh-CN" sz="2400">
                <a:latin typeface="+mn-ea"/>
              </a:rPr>
              <a:t>['</a:t>
            </a:r>
            <a:r>
              <a:rPr lang="zh-CN" altLang="en-US" sz="2400">
                <a:latin typeface="+mn-ea"/>
              </a:rPr>
              <a:t>属性名</a:t>
            </a:r>
            <a:r>
              <a:rPr lang="en-US" altLang="zh-CN" sz="2400" smtClean="0">
                <a:latin typeface="+mn-ea"/>
              </a:rPr>
              <a:t>']</a:t>
            </a:r>
            <a:r>
              <a:rPr lang="zh-CN" altLang="en-US" sz="2400" smtClean="0">
                <a:latin typeface="+mn-ea"/>
              </a:rPr>
              <a:t>： 标签单个属性</a:t>
            </a:r>
          </a:p>
        </p:txBody>
      </p:sp>
    </p:spTree>
    <p:extLst>
      <p:ext uri="{BB962C8B-B14F-4D97-AF65-F5344CB8AC3E}">
        <p14:creationId xmlns:p14="http://schemas.microsoft.com/office/powerpoint/2010/main" val="242431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Tag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–&gt;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标签对象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530359" y="2391508"/>
            <a:ext cx="9970167" cy="414996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en-US" altLang="zh-CN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HTML</a:t>
            </a:r>
            <a:r>
              <a:rPr lang="zh-CN" alt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文档存入变量</a:t>
            </a:r>
            <a:r>
              <a:rPr lang="en-US" altLang="zh-CN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code</a:t>
            </a:r>
            <a:endParaRPr lang="zh-CN" kern="100">
              <a:solidFill>
                <a:srgbClr val="C00000"/>
              </a:solidFill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根据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code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新建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BeautifulSoup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对象</a:t>
            </a: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 = bs4.BeautifulSoup(code, </a:t>
            </a:r>
            <a:r>
              <a:rPr lang="en-US" sz="2000" kern="100">
                <a:solidFill>
                  <a:srgbClr val="007033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'html.parser'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  <a:endParaRPr lang="zh-CN" sz="2000" kern="100"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 </a:t>
            </a:r>
            <a:endParaRPr lang="zh-CN" kern="100"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(soup.p)</a:t>
            </a:r>
            <a:r>
              <a:rPr lang="en-US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	</a:t>
            </a:r>
            <a:r>
              <a:rPr lang="en-US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输出标签对象：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&lt;p class="css1" name="p1"&gt;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&lt;/p&gt;</a:t>
            </a:r>
            <a:r>
              <a:rPr lang="en-US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endParaRPr lang="zh-CN" kern="100"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</a:t>
            </a:r>
            <a:r>
              <a:rPr lang="en-US" sz="2000" kern="100">
                <a:solidFill>
                  <a:srgbClr val="7030A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type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(soup.p))</a:t>
            </a:r>
            <a:r>
              <a:rPr lang="en-US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	  </a:t>
            </a:r>
            <a:r>
              <a:rPr lang="en-US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输出对象类型：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&lt;class 'bs4.element.Tag'&gt;</a:t>
            </a:r>
            <a:endParaRPr lang="zh-CN" kern="100">
              <a:solidFill>
                <a:srgbClr val="C00000"/>
              </a:solidFill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(soup.p.name)</a:t>
            </a:r>
            <a:r>
              <a:rPr lang="en-US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	  </a:t>
            </a:r>
            <a:r>
              <a:rPr lang="en-US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输出标签类型</a:t>
            </a:r>
            <a:r>
              <a:rPr lang="zh-CN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：</a:t>
            </a:r>
            <a:r>
              <a:rPr lang="en-US" altLang="zh-CN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p'</a:t>
            </a:r>
            <a:endParaRPr lang="zh-CN" kern="100">
              <a:solidFill>
                <a:srgbClr val="C00000"/>
              </a:solidFill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 </a:t>
            </a:r>
            <a:endParaRPr lang="zh-CN" kern="100"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(soup.p.attrs</a:t>
            </a:r>
            <a:r>
              <a:rPr lang="en-US" sz="2000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  <a:r>
              <a:rPr lang="en-US" kern="100">
                <a:solidFill>
                  <a:srgbClr val="0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kern="100" smtClean="0">
                <a:solidFill>
                  <a:srgbClr val="0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输出标签属性字典：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{'name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':'p1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', 'class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':[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'css1']}</a:t>
            </a:r>
            <a:endParaRPr lang="zh-CN" kern="100">
              <a:solidFill>
                <a:srgbClr val="C00000"/>
              </a:solidFill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(soup.p[</a:t>
            </a:r>
            <a:r>
              <a:rPr lang="en-US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'name</a:t>
            </a:r>
            <a:r>
              <a:rPr lang="en-US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sz="2000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])</a:t>
            </a:r>
            <a:r>
              <a:rPr lang="en-US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输出标签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name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属性：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p1</a:t>
            </a:r>
            <a:endParaRPr lang="zh-CN" kern="100">
              <a:solidFill>
                <a:srgbClr val="C00000"/>
              </a:solidFill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 algn="l">
              <a:lnSpc>
                <a:spcPts val="2800"/>
              </a:lnSpc>
              <a:spcAft>
                <a:spcPts val="0"/>
              </a:spcAft>
            </a:pPr>
            <a:r>
              <a:rPr lang="en-US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(soup.p[</a:t>
            </a:r>
            <a:r>
              <a:rPr lang="en-US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'class</a:t>
            </a:r>
            <a:r>
              <a:rPr lang="en-US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sz="2000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])</a:t>
            </a:r>
            <a:r>
              <a:rPr lang="en-US" kern="10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</a:t>
            </a:r>
            <a:r>
              <a:rPr lang="en-US" kern="100" smtClean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输出标签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class</a:t>
            </a:r>
            <a:r>
              <a:rPr lang="zh-CN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属性：</a:t>
            </a:r>
            <a:r>
              <a:rPr lang="en-US" kern="100">
                <a:solidFill>
                  <a:srgbClr val="C00000"/>
                </a:solidFill>
                <a:effectLst/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['css1'] </a:t>
            </a:r>
            <a:endParaRPr lang="zh-CN" kern="100">
              <a:solidFill>
                <a:srgbClr val="C00000"/>
              </a:solidFill>
              <a:effectLst/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4622239" y="112546"/>
            <a:ext cx="7445828" cy="29220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530359" y="1097888"/>
            <a:ext cx="3054699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400" smtClean="0">
                <a:latin typeface="+mn-ea"/>
              </a:rPr>
              <a:t>Tag</a:t>
            </a:r>
            <a:r>
              <a:rPr lang="zh-CN" altLang="en-US" sz="2400" smtClean="0">
                <a:latin typeface="+mn-ea"/>
              </a:rPr>
              <a:t>对象示例程序</a:t>
            </a:r>
            <a:endParaRPr lang="zh-CN" altLang="en-US" sz="2400">
              <a:latin typeface="+mn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239" y="142690"/>
            <a:ext cx="5528796" cy="36530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5114735" y="1658064"/>
            <a:ext cx="3190102" cy="2545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360605" y="6410848"/>
            <a:ext cx="15570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139165" y="6029011"/>
            <a:ext cx="2029767" cy="381837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为什么是个列表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47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Tag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–&gt;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标签对象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49952" y="1100295"/>
            <a:ext cx="9043098" cy="135150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smtClean="0">
                <a:latin typeface="+mn-ea"/>
              </a:rPr>
              <a:t>标签的</a:t>
            </a:r>
            <a:r>
              <a:rPr lang="en-US" altLang="zh-CN" sz="2400" smtClean="0">
                <a:latin typeface="+mn-ea"/>
              </a:rPr>
              <a:t>class</a:t>
            </a:r>
            <a:r>
              <a:rPr lang="zh-CN" altLang="en-US" sz="2400" smtClean="0">
                <a:latin typeface="+mn-ea"/>
              </a:rPr>
              <a:t>（样式类）是个多值属性，一个标签上会应用多个样式，此时</a:t>
            </a:r>
            <a:r>
              <a:rPr lang="en-US" altLang="zh-CN" sz="2400" smtClean="0">
                <a:latin typeface="+mn-ea"/>
              </a:rPr>
              <a:t>class</a:t>
            </a:r>
            <a:r>
              <a:rPr lang="zh-CN" altLang="en-US" sz="2400" smtClean="0">
                <a:latin typeface="+mn-ea"/>
              </a:rPr>
              <a:t>就会被赋予多个值。</a:t>
            </a:r>
            <a:endParaRPr lang="en-US" altLang="zh-CN" sz="2400" smtClean="0">
              <a:latin typeface="+mn-ea"/>
            </a:endParaRPr>
          </a:p>
          <a:p>
            <a:pPr marL="0" indent="0">
              <a:buNone/>
            </a:pPr>
            <a:endParaRPr lang="zh-CN" altLang="en-US" sz="240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55338" y="2991369"/>
            <a:ext cx="9043098" cy="1776221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html = 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'&lt;p class="css1 </a:t>
            </a:r>
            <a:r>
              <a:rPr lang="en-US" altLang="zh-CN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css2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"&gt;&lt;/p&gt;' </a:t>
            </a:r>
            <a:endParaRPr lang="en-US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soup2 </a:t>
            </a:r>
            <a:r>
              <a:rPr 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= 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bs4.</a:t>
            </a: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BeautifulSoup(html,</a:t>
            </a:r>
            <a:r>
              <a:rPr lang="en-US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'html.parser'</a:t>
            </a:r>
            <a:r>
              <a:rPr 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  <a:endParaRPr lang="zh-CN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kern="100" smtClean="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print</a:t>
            </a: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(soup2.p</a:t>
            </a:r>
            <a:r>
              <a:rPr 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</a:t>
            </a:r>
            <a:r>
              <a:rPr lang="en-US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'class'</a:t>
            </a:r>
            <a:r>
              <a:rPr 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])		</a:t>
            </a:r>
            <a:r>
              <a:rPr 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 </a:t>
            </a:r>
            <a:r>
              <a:rPr 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['css1', 'css2']</a:t>
            </a:r>
            <a:endParaRPr lang="zh-CN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01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923815" cy="504056"/>
            <a:chOff x="169526" y="203448"/>
            <a:chExt cx="6923815" cy="504056"/>
          </a:xfrm>
        </p:grpSpPr>
        <p:sp>
          <p:nvSpPr>
            <p:cNvPr id="10" name="TextBox 9"/>
            <p:cNvSpPr txBox="1"/>
            <p:nvPr/>
          </p:nvSpPr>
          <p:spPr>
            <a:xfrm>
              <a:off x="781172" y="245839"/>
              <a:ext cx="63121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BeautifulSoup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–&gt; HTML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文档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内容占位符 2"/>
          <p:cNvSpPr txBox="1">
            <a:spLocks/>
          </p:cNvSpPr>
          <p:nvPr/>
        </p:nvSpPr>
        <p:spPr>
          <a:xfrm>
            <a:off x="794578" y="788807"/>
            <a:ext cx="9957172" cy="212522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None/>
            </a:pPr>
            <a:r>
              <a:rPr lang="en-US" sz="2000">
                <a:latin typeface="+mn-ea"/>
              </a:rPr>
              <a:t>BeautifulSoup</a:t>
            </a:r>
            <a:r>
              <a:rPr lang="zh-CN" altLang="en-US" sz="2000" smtClean="0">
                <a:latin typeface="+mn-ea"/>
              </a:rPr>
              <a:t>对象对应整个</a:t>
            </a:r>
            <a:r>
              <a:rPr lang="en-US" altLang="zh-CN" sz="2000" smtClean="0">
                <a:latin typeface="+mn-ea"/>
              </a:rPr>
              <a:t>HTML</a:t>
            </a:r>
            <a:r>
              <a:rPr lang="zh-CN" altLang="en-US" sz="2000" smtClean="0">
                <a:latin typeface="+mn-ea"/>
              </a:rPr>
              <a:t>文档，可以看做</a:t>
            </a:r>
            <a:r>
              <a:rPr lang="en-US" altLang="zh-CN" sz="2000" smtClean="0">
                <a:latin typeface="+mn-ea"/>
              </a:rPr>
              <a:t>HTML</a:t>
            </a:r>
            <a:r>
              <a:rPr lang="zh-CN" altLang="en-US" sz="2000" smtClean="0">
                <a:latin typeface="+mn-ea"/>
              </a:rPr>
              <a:t>文档树的根，作为一个顶层节点，文档中所有标签及内容都是它的后代节点。</a:t>
            </a:r>
            <a:endParaRPr lang="en-US" altLang="zh-CN" sz="2000" smtClean="0">
              <a:latin typeface="+mn-ea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000" smtClean="0">
                <a:latin typeface="+mn-ea"/>
              </a:rPr>
              <a:t>大多数时候，从</a:t>
            </a:r>
            <a:r>
              <a:rPr lang="en-US" altLang="zh-CN" sz="2000">
                <a:latin typeface="+mn-ea"/>
              </a:rPr>
              <a:t>BeautifulSoup</a:t>
            </a:r>
            <a:r>
              <a:rPr lang="zh-CN" altLang="en-US" sz="2000" smtClean="0">
                <a:latin typeface="+mn-ea"/>
              </a:rPr>
              <a:t>对象开始向下搜索或者遍历文档树。</a:t>
            </a:r>
            <a:endParaRPr lang="en-US" altLang="zh-CN" sz="2000" smtClean="0">
              <a:latin typeface="+mn-ea"/>
            </a:endParaRPr>
          </a:p>
        </p:txBody>
      </p:sp>
      <p:pic>
        <p:nvPicPr>
          <p:cNvPr id="19" name="图片 18"/>
          <p:cNvPicPr/>
          <p:nvPr/>
        </p:nvPicPr>
        <p:blipFill>
          <a:blip r:embed="rId3"/>
          <a:stretch>
            <a:fillRect/>
          </a:stretch>
        </p:blipFill>
        <p:spPr>
          <a:xfrm>
            <a:off x="2357105" y="2363373"/>
            <a:ext cx="3984552" cy="246525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4"/>
          <a:stretch>
            <a:fillRect/>
          </a:stretch>
        </p:blipFill>
        <p:spPr>
          <a:xfrm>
            <a:off x="6713446" y="2373421"/>
            <a:ext cx="5478554" cy="413668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20082" y="4964987"/>
            <a:ext cx="6593364" cy="1536294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 </a:t>
            </a:r>
            <a:r>
              <a:rPr 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= 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bs4.</a:t>
            </a: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BeautifulSoup(html,</a:t>
            </a:r>
            <a:r>
              <a:rPr lang="en-US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'html.parser'</a:t>
            </a:r>
            <a:r>
              <a:rPr 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  <a:endParaRPr lang="zh-CN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kern="100" smtClean="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table.contents</a:t>
            </a:r>
            <a:r>
              <a:rPr lang="en-US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  </a:t>
            </a:r>
            <a:r>
              <a:rPr lang="en-US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</a:t>
            </a:r>
            <a:r>
              <a:rPr lang="zh-CN" altLang="en-US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表格子节点</a:t>
            </a:r>
            <a:endParaRPr lang="en-US" altLang="zh-CN" sz="2000" kern="100" smtClean="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(soup.find_all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'th</a:t>
            </a:r>
            <a:r>
              <a:rPr lang="en-US" altLang="zh-CN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))  </a:t>
            </a:r>
            <a:r>
              <a:rPr lang="en-US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输出表格标题行</a:t>
            </a:r>
            <a:endParaRPr lang="zh-CN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4049486" y="3530707"/>
            <a:ext cx="8096250" cy="2493342"/>
            <a:chOff x="4049486" y="3530707"/>
            <a:chExt cx="8096250" cy="2493342"/>
          </a:xfrm>
        </p:grpSpPr>
        <p:sp>
          <p:nvSpPr>
            <p:cNvPr id="21" name="圆角矩形 20"/>
            <p:cNvSpPr/>
            <p:nvPr/>
          </p:nvSpPr>
          <p:spPr>
            <a:xfrm>
              <a:off x="7542334" y="3530707"/>
              <a:ext cx="4603402" cy="2493342"/>
            </a:xfrm>
            <a:prstGeom prst="roundRect">
              <a:avLst>
                <a:gd name="adj" fmla="val 6395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肘形连接符 25"/>
            <p:cNvCxnSpPr/>
            <p:nvPr/>
          </p:nvCxnSpPr>
          <p:spPr>
            <a:xfrm flipV="1">
              <a:off x="4049486" y="4109776"/>
              <a:ext cx="3406390" cy="1758462"/>
            </a:xfrm>
            <a:prstGeom prst="bentConnector3">
              <a:avLst>
                <a:gd name="adj1" fmla="val 64159"/>
              </a:avLst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/>
          <p:cNvGrpSpPr/>
          <p:nvPr/>
        </p:nvGrpSpPr>
        <p:grpSpPr>
          <a:xfrm>
            <a:off x="4049486" y="3677784"/>
            <a:ext cx="7218080" cy="2664402"/>
            <a:chOff x="4049486" y="3677784"/>
            <a:chExt cx="7218080" cy="2664402"/>
          </a:xfrm>
        </p:grpSpPr>
        <p:sp>
          <p:nvSpPr>
            <p:cNvPr id="22" name="圆角矩形 21"/>
            <p:cNvSpPr/>
            <p:nvPr/>
          </p:nvSpPr>
          <p:spPr>
            <a:xfrm>
              <a:off x="7857811" y="3677784"/>
              <a:ext cx="3409755" cy="254504"/>
            </a:xfrm>
            <a:prstGeom prst="round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肘形连接符 42"/>
            <p:cNvCxnSpPr/>
            <p:nvPr/>
          </p:nvCxnSpPr>
          <p:spPr>
            <a:xfrm flipV="1">
              <a:off x="4049486" y="4019342"/>
              <a:ext cx="5605100" cy="2322844"/>
            </a:xfrm>
            <a:prstGeom prst="bentConnector3">
              <a:avLst>
                <a:gd name="adj1" fmla="val 100017"/>
              </a:avLst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21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923815" cy="504056"/>
            <a:chOff x="169526" y="203448"/>
            <a:chExt cx="6923815" cy="504056"/>
          </a:xfrm>
        </p:grpSpPr>
        <p:sp>
          <p:nvSpPr>
            <p:cNvPr id="10" name="TextBox 9"/>
            <p:cNvSpPr txBox="1"/>
            <p:nvPr/>
          </p:nvSpPr>
          <p:spPr>
            <a:xfrm>
              <a:off x="781172" y="245839"/>
              <a:ext cx="63121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NavigableString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–&gt;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可遍历的字符串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内容占位符 2"/>
          <p:cNvSpPr txBox="1">
            <a:spLocks/>
          </p:cNvSpPr>
          <p:nvPr/>
        </p:nvSpPr>
        <p:spPr>
          <a:xfrm>
            <a:off x="774481" y="818945"/>
            <a:ext cx="10308863" cy="20247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None/>
            </a:pPr>
            <a:r>
              <a:rPr lang="en-US" altLang="zh-CN" sz="2400">
                <a:latin typeface="+mn-ea"/>
              </a:rPr>
              <a:t>NavigableString</a:t>
            </a:r>
            <a:r>
              <a:rPr lang="zh-CN" altLang="en-US" sz="2400">
                <a:latin typeface="+mn-ea"/>
              </a:rPr>
              <a:t>称为可以遍历的字符串对象，用来操作那些被包含在标签内的</a:t>
            </a:r>
            <a:r>
              <a:rPr lang="zh-CN" altLang="en-US" sz="2400" smtClean="0">
                <a:latin typeface="+mn-ea"/>
              </a:rPr>
              <a:t>字符串，实际上就是</a:t>
            </a:r>
            <a:r>
              <a:rPr lang="zh-CN" altLang="en-US" sz="2400">
                <a:latin typeface="+mn-ea"/>
              </a:rPr>
              <a:t>那些</a:t>
            </a:r>
            <a:r>
              <a:rPr lang="zh-CN" altLang="en-US" sz="2400" smtClean="0">
                <a:latin typeface="+mn-ea"/>
              </a:rPr>
              <a:t>我们想要的数据。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smtClean="0">
                <a:latin typeface="+mn-ea"/>
              </a:rPr>
              <a:t>     </a:t>
            </a:r>
            <a:endParaRPr lang="zh-CN" altLang="en-US" sz="2400" smtClean="0">
              <a:latin typeface="+mn-ea"/>
            </a:endParaRPr>
          </a:p>
        </p:txBody>
      </p:sp>
      <p:pic>
        <p:nvPicPr>
          <p:cNvPr id="17" name="图片 16"/>
          <p:cNvPicPr/>
          <p:nvPr/>
        </p:nvPicPr>
        <p:blipFill>
          <a:blip r:embed="rId3"/>
          <a:stretch>
            <a:fillRect/>
          </a:stretch>
        </p:blipFill>
        <p:spPr>
          <a:xfrm>
            <a:off x="774480" y="3775168"/>
            <a:ext cx="9223630" cy="29220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矩形 11"/>
          <p:cNvSpPr/>
          <p:nvPr/>
        </p:nvSpPr>
        <p:spPr>
          <a:xfrm>
            <a:off x="794577" y="2109127"/>
            <a:ext cx="9876773" cy="197251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 = 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bs4.BeautifulSoup(html, 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'html.parser</a:t>
            </a:r>
            <a:r>
              <a:rPr lang="en-US" altLang="zh-CN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  <a:endParaRPr lang="en-US" altLang="zh-CN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(soup.h1.string)	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</a:t>
            </a:r>
            <a:r>
              <a:rPr lang="en-US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h1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标签包含的字符串：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这里是标题行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(soup.p.string)	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标签包含的字符串：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 </a:t>
            </a: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(type(soup.p.string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))  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&lt;class 'bs4.element.NavigableString'&gt;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3280965" y="5395964"/>
            <a:ext cx="11403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851120" y="5606980"/>
            <a:ext cx="11403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13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3175"/>
            <a:ext cx="12193588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31012" y="311997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mtClean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遍历文档树</a:t>
            </a:r>
            <a:endParaRPr lang="zh-CN" altLang="en-US" sz="480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081" y="2773344"/>
            <a:ext cx="7023798" cy="3638569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45700" y="1356526"/>
            <a:ext cx="88820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/>
              <a:t>HTML</a:t>
            </a:r>
            <a:r>
              <a:rPr lang="zh-CN" altLang="zh-CN" sz="2400" smtClean="0"/>
              <a:t>文档可以</a:t>
            </a:r>
            <a:r>
              <a:rPr lang="zh-CN" altLang="zh-CN" sz="2400"/>
              <a:t>映射为一棵树，各种</a:t>
            </a:r>
            <a:r>
              <a:rPr lang="zh-CN" altLang="zh-CN" sz="2400" smtClean="0"/>
              <a:t>嵌套标签</a:t>
            </a:r>
            <a:r>
              <a:rPr lang="zh-CN" altLang="en-US" sz="2400"/>
              <a:t>对应</a:t>
            </a:r>
            <a:r>
              <a:rPr lang="zh-CN" altLang="zh-CN" sz="2400" smtClean="0"/>
              <a:t>树</a:t>
            </a:r>
            <a:r>
              <a:rPr lang="zh-CN" altLang="zh-CN" sz="2400"/>
              <a:t>的各层</a:t>
            </a:r>
            <a:r>
              <a:rPr lang="zh-CN" altLang="zh-CN" sz="2400" smtClean="0"/>
              <a:t>节点，</a:t>
            </a:r>
            <a:r>
              <a:rPr lang="zh-CN" altLang="zh-CN" sz="2400"/>
              <a:t>我们就可以对树进行遍历访问。</a:t>
            </a:r>
            <a:r>
              <a:rPr lang="zh-CN" altLang="zh-CN" sz="2400" smtClean="0"/>
              <a:t>遍历时会</a:t>
            </a:r>
            <a:r>
              <a:rPr lang="zh-CN" altLang="zh-CN" sz="2400"/>
              <a:t>出现三种路径</a:t>
            </a:r>
            <a:r>
              <a:rPr lang="zh-CN" altLang="zh-CN" sz="2400" smtClean="0"/>
              <a:t>：</a:t>
            </a:r>
            <a:endParaRPr lang="en-US" altLang="zh-CN" sz="2400" smtClean="0"/>
          </a:p>
          <a:p>
            <a:pPr>
              <a:lnSpc>
                <a:spcPct val="150000"/>
              </a:lnSpc>
            </a:pPr>
            <a:endParaRPr lang="en-US" altLang="zh-CN" sz="2400" smtClean="0"/>
          </a:p>
          <a:p>
            <a:pPr marL="452438" indent="-452438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smtClean="0"/>
              <a:t>自上而下遍历</a:t>
            </a:r>
            <a:endParaRPr lang="en-US" altLang="zh-CN" sz="2400" smtClean="0"/>
          </a:p>
          <a:p>
            <a:pPr marL="452438" indent="-452438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smtClean="0"/>
              <a:t>水平方向遍历</a:t>
            </a:r>
            <a:endParaRPr lang="en-US" altLang="zh-CN" sz="2400" smtClean="0"/>
          </a:p>
          <a:p>
            <a:pPr marL="452438" indent="-452438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smtClean="0"/>
              <a:t>自下而上</a:t>
            </a:r>
            <a:r>
              <a:rPr lang="zh-CN" altLang="zh-CN" sz="2400"/>
              <a:t>的</a:t>
            </a:r>
            <a:r>
              <a:rPr lang="zh-CN" altLang="zh-CN" sz="2400" smtClean="0"/>
              <a:t>遍历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16561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遍历文档树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55338" y="1090247"/>
            <a:ext cx="8811267" cy="51020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 smtClean="0">
              <a:latin typeface="+mn-ea"/>
            </a:endParaRP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422349" y="878250"/>
            <a:ext cx="4496232" cy="27630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5265337" y="707504"/>
            <a:ext cx="6601766" cy="45364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11" name="图片 10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48" y="3801139"/>
            <a:ext cx="4496233" cy="2539371"/>
          </a:xfrm>
          <a:prstGeom prst="rect">
            <a:avLst/>
          </a:prstGeom>
          <a:noFill/>
        </p:spPr>
      </p:pic>
      <p:cxnSp>
        <p:nvCxnSpPr>
          <p:cNvPr id="13" name="直接箭头连接符 12"/>
          <p:cNvCxnSpPr/>
          <p:nvPr/>
        </p:nvCxnSpPr>
        <p:spPr>
          <a:xfrm>
            <a:off x="3506875" y="5070824"/>
            <a:ext cx="1758462" cy="37538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074418" y="5476353"/>
            <a:ext cx="743578" cy="80575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smtClean="0">
                <a:latin typeface="+mj-ea"/>
                <a:ea typeface="+mj-ea"/>
              </a:rPr>
              <a:t>… </a:t>
            </a:r>
          </a:p>
          <a:p>
            <a:pPr algn="ctr"/>
            <a:r>
              <a:rPr lang="en-US" altLang="zh-CN" sz="2000" b="1" smtClean="0">
                <a:latin typeface="+mj-ea"/>
                <a:ea typeface="+mj-ea"/>
              </a:rPr>
              <a:t>…</a:t>
            </a:r>
            <a:endParaRPr lang="zh-CN" altLang="en-US" sz="2000" b="1"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6028" y="5601525"/>
            <a:ext cx="2910100" cy="55399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smtClean="0">
                <a:solidFill>
                  <a:srgbClr val="0070C0"/>
                </a:solidFill>
              </a:rPr>
              <a:t>注意标签的上下级关系</a:t>
            </a:r>
            <a:endParaRPr lang="en-US" altLang="zh-CN" sz="200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63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遍历文档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树 </a:t>
              </a:r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-&gt; 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下行遍历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49951" y="1100295"/>
            <a:ext cx="9711349" cy="499905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>
                <a:latin typeface="+mn-ea"/>
              </a:rPr>
              <a:t>自上而下遍历的属性</a:t>
            </a:r>
            <a:r>
              <a:rPr lang="zh-CN" altLang="en-US" sz="2400" smtClean="0">
                <a:latin typeface="+mn-ea"/>
              </a:rPr>
              <a:t>：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smtClean="0">
                <a:latin typeface="+mn-ea"/>
              </a:rPr>
              <a:t>子节点   ：</a:t>
            </a:r>
            <a:r>
              <a:rPr lang="en-US" altLang="zh-CN" sz="2400" smtClean="0">
                <a:latin typeface="+mn-ea"/>
              </a:rPr>
              <a:t>children</a:t>
            </a:r>
            <a:r>
              <a:rPr lang="zh-CN" altLang="en-US" sz="2400" smtClean="0">
                <a:latin typeface="+mn-ea"/>
              </a:rPr>
              <a:t>，</a:t>
            </a:r>
            <a:r>
              <a:rPr lang="en-US" altLang="zh-CN" sz="2400">
                <a:solidFill>
                  <a:srgbClr val="0000CC"/>
                </a:solidFill>
                <a:latin typeface="+mn-ea"/>
              </a:rPr>
              <a:t> </a:t>
            </a:r>
            <a:r>
              <a:rPr lang="en-US" altLang="zh-CN" sz="1800">
                <a:solidFill>
                  <a:srgbClr val="0000CC"/>
                </a:solidFill>
                <a:latin typeface="+mn-ea"/>
              </a:rPr>
              <a:t>&lt;tr</a:t>
            </a:r>
            <a:r>
              <a:rPr lang="en-US" altLang="zh-CN" sz="1800" smtClean="0">
                <a:solidFill>
                  <a:srgbClr val="0000CC"/>
                </a:solidFill>
                <a:latin typeface="+mn-ea"/>
              </a:rPr>
              <a:t>&gt;</a:t>
            </a:r>
            <a:r>
              <a:rPr lang="zh-CN" altLang="en-US" sz="1800" smtClean="0">
                <a:solidFill>
                  <a:srgbClr val="0000CC"/>
                </a:solidFill>
                <a:latin typeface="+mn-ea"/>
              </a:rPr>
              <a:t>是</a:t>
            </a:r>
            <a:r>
              <a:rPr lang="en-US" altLang="zh-CN" sz="1800">
                <a:solidFill>
                  <a:srgbClr val="0000CC"/>
                </a:solidFill>
                <a:latin typeface="+mn-ea"/>
              </a:rPr>
              <a:t>&lt;table&gt;</a:t>
            </a:r>
            <a:r>
              <a:rPr lang="zh-CN" altLang="en-US" sz="1800">
                <a:solidFill>
                  <a:srgbClr val="0000CC"/>
                </a:solidFill>
                <a:latin typeface="+mn-ea"/>
              </a:rPr>
              <a:t>标签</a:t>
            </a:r>
            <a:r>
              <a:rPr lang="zh-CN" altLang="en-US" sz="1800" smtClean="0">
                <a:solidFill>
                  <a:srgbClr val="0000CC"/>
                </a:solidFill>
                <a:latin typeface="+mn-ea"/>
              </a:rPr>
              <a:t>的子节点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>
                <a:latin typeface="+mn-ea"/>
              </a:rPr>
              <a:t>子</a:t>
            </a:r>
            <a:r>
              <a:rPr lang="zh-CN" altLang="en-US" sz="2400" smtClean="0">
                <a:latin typeface="+mn-ea"/>
              </a:rPr>
              <a:t>节点   ：</a:t>
            </a:r>
            <a:r>
              <a:rPr lang="en-US" altLang="zh-CN" sz="2400" smtClean="0">
                <a:latin typeface="+mn-ea"/>
              </a:rPr>
              <a:t>contents</a:t>
            </a:r>
            <a:r>
              <a:rPr lang="zh-CN" altLang="en-US" sz="2400" smtClean="0">
                <a:latin typeface="+mn-ea"/>
              </a:rPr>
              <a:t>，</a:t>
            </a:r>
            <a:r>
              <a:rPr lang="en-US" altLang="zh-CN" sz="1800" smtClean="0">
                <a:solidFill>
                  <a:srgbClr val="0000CC"/>
                </a:solidFill>
                <a:latin typeface="+mn-ea"/>
              </a:rPr>
              <a:t>&lt;td&gt;</a:t>
            </a:r>
            <a:r>
              <a:rPr lang="zh-CN" altLang="en-US" sz="1800">
                <a:solidFill>
                  <a:srgbClr val="0000CC"/>
                </a:solidFill>
                <a:latin typeface="+mn-ea"/>
              </a:rPr>
              <a:t>是</a:t>
            </a:r>
            <a:r>
              <a:rPr lang="en-US" altLang="zh-CN" sz="1800">
                <a:solidFill>
                  <a:srgbClr val="0000CC"/>
                </a:solidFill>
                <a:latin typeface="+mn-ea"/>
              </a:rPr>
              <a:t>&lt;</a:t>
            </a:r>
            <a:r>
              <a:rPr lang="en-US" altLang="zh-CN" sz="1800" smtClean="0">
                <a:solidFill>
                  <a:srgbClr val="0000CC"/>
                </a:solidFill>
                <a:latin typeface="+mn-ea"/>
              </a:rPr>
              <a:t>tr&gt;</a:t>
            </a:r>
            <a:r>
              <a:rPr lang="zh-CN" altLang="en-US" sz="1800">
                <a:solidFill>
                  <a:srgbClr val="0000CC"/>
                </a:solidFill>
                <a:latin typeface="+mn-ea"/>
              </a:rPr>
              <a:t>标签的子节点</a:t>
            </a:r>
            <a:endParaRPr lang="en-US" altLang="zh-CN" sz="240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smtClean="0">
                <a:latin typeface="+mn-ea"/>
              </a:rPr>
              <a:t>后代节点：</a:t>
            </a:r>
            <a:r>
              <a:rPr lang="en-US" altLang="zh-CN" sz="2400" smtClean="0">
                <a:latin typeface="+mn-ea"/>
              </a:rPr>
              <a:t>descendants</a:t>
            </a:r>
            <a:r>
              <a:rPr lang="zh-CN" altLang="en-US" sz="2400" smtClean="0">
                <a:latin typeface="+mn-ea"/>
              </a:rPr>
              <a:t>，</a:t>
            </a:r>
            <a:r>
              <a:rPr lang="en-US" altLang="zh-CN" sz="1800">
                <a:solidFill>
                  <a:srgbClr val="0000CC"/>
                </a:solidFill>
                <a:latin typeface="+mn-ea"/>
              </a:rPr>
              <a:t>&lt;tr&gt;</a:t>
            </a:r>
            <a:r>
              <a:rPr lang="zh-CN" altLang="en-US" sz="1800">
                <a:solidFill>
                  <a:srgbClr val="0000CC"/>
                </a:solidFill>
                <a:latin typeface="+mn-ea"/>
              </a:rPr>
              <a:t>、</a:t>
            </a:r>
            <a:r>
              <a:rPr lang="en-US" altLang="zh-CN" sz="1800">
                <a:solidFill>
                  <a:srgbClr val="0000CC"/>
                </a:solidFill>
                <a:latin typeface="+mn-ea"/>
              </a:rPr>
              <a:t>&lt;td&gt;</a:t>
            </a:r>
            <a:r>
              <a:rPr lang="zh-CN" altLang="en-US" sz="1800">
                <a:solidFill>
                  <a:srgbClr val="0000CC"/>
                </a:solidFill>
                <a:latin typeface="+mn-ea"/>
              </a:rPr>
              <a:t>都是</a:t>
            </a:r>
            <a:r>
              <a:rPr lang="en-US" altLang="zh-CN" sz="1800">
                <a:solidFill>
                  <a:srgbClr val="0000CC"/>
                </a:solidFill>
                <a:latin typeface="+mn-ea"/>
              </a:rPr>
              <a:t>&lt;table&gt;</a:t>
            </a:r>
            <a:r>
              <a:rPr lang="zh-CN" altLang="en-US" sz="1800">
                <a:solidFill>
                  <a:srgbClr val="0000CC"/>
                </a:solidFill>
                <a:latin typeface="+mn-ea"/>
              </a:rPr>
              <a:t>标签的后代</a:t>
            </a:r>
            <a:r>
              <a:rPr lang="zh-CN" altLang="en-US" sz="1800" smtClean="0">
                <a:solidFill>
                  <a:srgbClr val="0000CC"/>
                </a:solidFill>
                <a:latin typeface="+mn-ea"/>
              </a:rPr>
              <a:t>节点</a:t>
            </a:r>
            <a:endParaRPr lang="en-US" altLang="zh-CN" sz="180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smtClean="0">
                <a:solidFill>
                  <a:srgbClr val="0070C0"/>
                </a:solidFill>
                <a:latin typeface="+mn-ea"/>
              </a:rPr>
              <a:t>属性 </a:t>
            </a:r>
            <a:r>
              <a:rPr lang="en-US" altLang="zh-CN" sz="2000">
                <a:solidFill>
                  <a:srgbClr val="0070C0"/>
                </a:solidFill>
                <a:latin typeface="+mn-ea"/>
              </a:rPr>
              <a:t>contents </a:t>
            </a:r>
            <a:r>
              <a:rPr lang="zh-CN" altLang="en-US" sz="2000" smtClean="0">
                <a:solidFill>
                  <a:srgbClr val="0070C0"/>
                </a:solidFill>
                <a:latin typeface="+mn-ea"/>
              </a:rPr>
              <a:t>和 </a:t>
            </a:r>
            <a:r>
              <a:rPr lang="en-US" altLang="zh-CN" sz="2000" smtClean="0">
                <a:solidFill>
                  <a:srgbClr val="0070C0"/>
                </a:solidFill>
                <a:latin typeface="+mn-ea"/>
              </a:rPr>
              <a:t>children </a:t>
            </a:r>
            <a:r>
              <a:rPr lang="zh-CN" altLang="en-US" sz="2000" smtClean="0">
                <a:solidFill>
                  <a:srgbClr val="0070C0"/>
                </a:solidFill>
                <a:latin typeface="+mn-ea"/>
              </a:rPr>
              <a:t>的区别：</a:t>
            </a:r>
            <a:endParaRPr lang="en-US" altLang="zh-CN" sz="2000" smtClean="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smtClean="0">
                <a:solidFill>
                  <a:srgbClr val="0070C0"/>
                </a:solidFill>
                <a:latin typeface="+mn-ea"/>
              </a:rPr>
              <a:t>contents </a:t>
            </a:r>
            <a:r>
              <a:rPr lang="zh-CN" altLang="en-US" sz="2000" smtClean="0">
                <a:solidFill>
                  <a:srgbClr val="0070C0"/>
                </a:solidFill>
                <a:latin typeface="+mn-ea"/>
              </a:rPr>
              <a:t>属性返回子节点组成的</a:t>
            </a:r>
            <a:r>
              <a:rPr lang="zh-CN" altLang="en-US" sz="2000" smtClean="0">
                <a:solidFill>
                  <a:srgbClr val="FF0000"/>
                </a:solidFill>
                <a:latin typeface="+mn-ea"/>
              </a:rPr>
              <a:t>列表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，可以采用列表方式访问子</a:t>
            </a:r>
            <a:r>
              <a:rPr lang="zh-CN" altLang="en-US" sz="2000" smtClean="0">
                <a:solidFill>
                  <a:srgbClr val="0070C0"/>
                </a:solidFill>
                <a:latin typeface="+mn-ea"/>
              </a:rPr>
              <a:t>节点标签；</a:t>
            </a:r>
            <a:endParaRPr lang="en-US" altLang="zh-CN" sz="2000" smtClean="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smtClean="0">
                <a:solidFill>
                  <a:srgbClr val="0070C0"/>
                </a:solidFill>
                <a:latin typeface="+mn-ea"/>
              </a:rPr>
              <a:t>children </a:t>
            </a:r>
            <a:r>
              <a:rPr lang="zh-CN" altLang="en-US" sz="2000" smtClean="0">
                <a:solidFill>
                  <a:srgbClr val="0070C0"/>
                </a:solidFill>
                <a:latin typeface="+mn-ea"/>
              </a:rPr>
              <a:t>属性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返回的是子节点所构成的</a:t>
            </a:r>
            <a:r>
              <a:rPr lang="zh-CN" altLang="en-US" sz="2000">
                <a:solidFill>
                  <a:srgbClr val="FF0000"/>
                </a:solidFill>
                <a:latin typeface="+mn-ea"/>
              </a:rPr>
              <a:t>生成器</a:t>
            </a:r>
            <a:r>
              <a:rPr lang="zh-CN" altLang="en-US" sz="2000">
                <a:solidFill>
                  <a:srgbClr val="0070C0"/>
                </a:solidFill>
                <a:latin typeface="+mn-ea"/>
              </a:rPr>
              <a:t>，还需要经过循环才能取出子节点。</a:t>
            </a:r>
            <a:endParaRPr lang="en-US" altLang="zh-CN" sz="2400" smtClean="0">
              <a:solidFill>
                <a:srgbClr val="0070C0"/>
              </a:solidFill>
              <a:latin typeface="+mn-ea"/>
            </a:endParaRPr>
          </a:p>
          <a:p>
            <a:pPr marL="0" indent="0">
              <a:buNone/>
            </a:pPr>
            <a:endParaRPr lang="zh-CN" altLang="en-US" sz="240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290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遍历文档树 </a:t>
              </a:r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-&gt;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下行遍历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781966" y="881215"/>
            <a:ext cx="9849189" cy="5399005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from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bs4 </a:t>
            </a:r>
            <a:r>
              <a:rPr lang="en-US" altLang="zh-CN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import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BeautifulSoup, element</a:t>
            </a:r>
          </a:p>
          <a:p>
            <a:endParaRPr lang="en-US" altLang="zh-CN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code = 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'''&lt;html&gt;&lt;head&gt;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&lt;title&gt;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网页标题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&lt;/title&gt;&lt;/head&gt;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&lt;body</a:t>
            </a:r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&lt;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h2&gt;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金庸群侠传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&lt;/h2&gt;</a:t>
            </a:r>
          </a:p>
          <a:p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&lt;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table width="400px" border="1"&gt;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&lt;tr&gt;&lt;th&gt;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书名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&lt;/th&gt; &lt;th&gt;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人物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&lt;/th&gt; &lt;th&gt;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年份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&lt;/th&gt;&lt;/tr&gt;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&lt;tr&gt;&lt;td&gt;《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射雕英雄传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》&lt;/td&gt; &lt;td&gt;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郭靖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 &lt;td&gt;1959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年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&lt;/td&gt;&lt;/tr&gt;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&lt;tr&gt;&lt;td&gt;《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倚天屠龙记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》&lt;/td&gt; &lt;td&gt;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张无忌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 &lt;td&gt;1961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年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&lt;/td&gt;&lt;/tr&gt;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&lt;tr&gt;&lt;td&gt;《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笑傲江湖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》&lt;/td&gt; &lt;td&gt;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令狐冲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 &lt;td&gt;1967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年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&lt;/td&gt;&lt;/tr&gt;</a:t>
            </a:r>
          </a:p>
          <a:p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&lt;tr&gt;&lt;td&gt;《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鹿鼎记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》&lt;/td&gt; &lt;td&gt;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韦小宝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 &lt;td&gt;1972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年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&lt;/td&gt;&lt;/tr&gt;</a:t>
            </a:r>
          </a:p>
          <a:p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&lt;/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table</a:t>
            </a:r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</a:t>
            </a:r>
          </a:p>
          <a:p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body&gt;&lt;/html&gt;'''</a:t>
            </a:r>
          </a:p>
          <a:p>
            <a:endParaRPr lang="en-US" altLang="zh-CN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 = BeautifulSoup(code,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'html.parser'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</a:p>
          <a:p>
            <a:endParaRPr lang="en-US" altLang="zh-CN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r>
              <a:rPr lang="en-US" altLang="zh-CN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(soup.table.</a:t>
            </a:r>
            <a:r>
              <a:rPr lang="en-US" altLang="zh-CN" b="1" kern="100">
                <a:solidFill>
                  <a:srgbClr val="FF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contents</a:t>
            </a:r>
            <a:r>
              <a:rPr lang="en-US" altLang="zh-CN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  </a:t>
            </a:r>
            <a:r>
              <a:rPr lang="en-US" altLang="zh-CN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输出</a:t>
            </a: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&lt;table&gt;</a:t>
            </a:r>
            <a:r>
              <a:rPr lang="zh-CN" altLang="en-US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标签所有子</a:t>
            </a:r>
            <a:r>
              <a:rPr lang="zh-CN" altLang="en-US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节点</a:t>
            </a:r>
            <a:endParaRPr lang="zh-CN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4350938" y="5436434"/>
            <a:ext cx="7680290" cy="13263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11" name="圆角矩形 10"/>
          <p:cNvSpPr/>
          <p:nvPr/>
        </p:nvSpPr>
        <p:spPr>
          <a:xfrm>
            <a:off x="10912511" y="5269816"/>
            <a:ext cx="602901" cy="1603801"/>
          </a:xfrm>
          <a:prstGeom prst="round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2099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遍历文档树 </a:t>
              </a:r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-&gt;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下行遍历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357121" y="1205100"/>
            <a:ext cx="6847548" cy="2512102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对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children</a:t>
            </a:r>
            <a:r>
              <a:rPr lang="zh-CN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属性做循环，输出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&lt;table&gt;</a:t>
            </a:r>
            <a:r>
              <a:rPr lang="zh-CN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标签的子标签</a:t>
            </a:r>
            <a:endParaRPr lang="en-US" altLang="zh-CN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smtClean="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for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child </a:t>
            </a:r>
            <a:r>
              <a:rPr lang="en-US" altLang="zh-CN" sz="2000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in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soup.table.</a:t>
            </a:r>
            <a:r>
              <a:rPr lang="en-US" altLang="zh-CN" sz="2000" b="1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children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</a:t>
            </a:r>
            <a:r>
              <a:rPr lang="en-US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过滤标签之间的换行符</a:t>
            </a:r>
            <a:endParaRPr lang="en-US" altLang="zh-CN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</a:t>
            </a:r>
            <a:r>
              <a:rPr lang="en-US" altLang="zh-CN" sz="2000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if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type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(child) != element.NavigableString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</a:t>
            </a:r>
            <a:endParaRPr lang="zh-CN" altLang="en-US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</a:t>
            </a: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(child)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41" y="4305270"/>
            <a:ext cx="7458181" cy="144069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1" name="图片 10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587" y="1187879"/>
            <a:ext cx="4622242" cy="253937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2099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遍历文档树 </a:t>
              </a:r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-&gt;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下行遍历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387264" y="1215148"/>
            <a:ext cx="9043098" cy="1980228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对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descendants</a:t>
            </a:r>
            <a:r>
              <a:rPr lang="zh-CN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属性</a:t>
            </a:r>
            <a:r>
              <a:rPr lang="zh-CN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做循环，输出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&lt;table&gt;</a:t>
            </a:r>
            <a:r>
              <a:rPr lang="zh-CN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标签</a:t>
            </a:r>
            <a:r>
              <a:rPr lang="zh-CN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的</a:t>
            </a:r>
            <a:r>
              <a:rPr lang="zh-CN" altLang="en-US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后代</a:t>
            </a:r>
            <a:r>
              <a:rPr lang="zh-CN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标签</a:t>
            </a:r>
            <a:endParaRPr lang="en-US" altLang="zh-CN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for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des</a:t>
            </a:r>
            <a:r>
              <a:rPr lang="en-US" altLang="zh-CN" sz="2000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in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soup.table.</a:t>
            </a:r>
            <a:r>
              <a:rPr lang="en-US" altLang="zh-CN" sz="2000" b="1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descendants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</a:t>
            </a:r>
            <a:endParaRPr lang="en-US" altLang="zh-CN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if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type(des) != element.NavigableString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</a:t>
            </a:r>
            <a:endParaRPr lang="zh-CN" altLang="en-US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</a:t>
            </a: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(des)</a:t>
            </a:r>
          </a:p>
          <a:p>
            <a:pPr>
              <a:lnSpc>
                <a:spcPct val="150000"/>
              </a:lnSpc>
            </a:pPr>
            <a:endParaRPr lang="en-US" altLang="zh-CN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379172" y="3508060"/>
            <a:ext cx="6654674" cy="29429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1" name="图片 10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956" y="3508060"/>
            <a:ext cx="4677484" cy="25230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5174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遍历文档树 </a:t>
              </a:r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-&gt; 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平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行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遍历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49952" y="1100295"/>
            <a:ext cx="9043098" cy="10199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smtClean="0">
                <a:latin typeface="+mn-ea"/>
              </a:rPr>
              <a:t>水平方向解析</a:t>
            </a:r>
            <a:endParaRPr lang="en-US" altLang="zh-CN" sz="2400" smtClean="0">
              <a:latin typeface="+mn-ea"/>
            </a:endParaRPr>
          </a:p>
          <a:p>
            <a:pPr marL="0" indent="0">
              <a:buNone/>
            </a:pPr>
            <a:r>
              <a:rPr lang="zh-CN" altLang="en-US" sz="2400" smtClean="0">
                <a:latin typeface="+mn-ea"/>
              </a:rPr>
              <a:t>兄弟节点，</a:t>
            </a:r>
            <a:r>
              <a:rPr lang="en-US" altLang="zh-CN" sz="2400" smtClean="0">
                <a:latin typeface="+mn-ea"/>
              </a:rPr>
              <a:t>next_siblings</a:t>
            </a:r>
            <a:r>
              <a:rPr lang="zh-CN" altLang="en-US" sz="2400" smtClean="0">
                <a:latin typeface="+mn-ea"/>
              </a:rPr>
              <a:t>、</a:t>
            </a:r>
            <a:r>
              <a:rPr lang="en-US" altLang="zh-CN" sz="2400" smtClean="0">
                <a:latin typeface="+mn-ea"/>
              </a:rPr>
              <a:t>previous_sibling </a:t>
            </a:r>
            <a:r>
              <a:rPr lang="zh-CN" altLang="en-US" sz="2400" smtClean="0">
                <a:latin typeface="+mn-ea"/>
              </a:rPr>
              <a:t>属性。</a:t>
            </a:r>
            <a:endParaRPr lang="en-US" altLang="zh-CN" sz="240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6096" y="2107114"/>
            <a:ext cx="10216799" cy="151029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smtClean="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for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child </a:t>
            </a:r>
            <a:r>
              <a:rPr lang="en-US" altLang="zh-CN" sz="2000" kern="10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in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soup.table.tr.</a:t>
            </a:r>
            <a:r>
              <a:rPr lang="en-US" altLang="zh-CN" sz="2000" b="1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next_siblings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      </a:t>
            </a:r>
            <a:r>
              <a:rPr lang="en-US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获取</a:t>
            </a:r>
            <a:r>
              <a:rPr lang="zh-CN" altLang="en-US" sz="2000" b="1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第一行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向后的兄弟标签</a:t>
            </a:r>
          </a:p>
          <a:p>
            <a:pPr>
              <a:lnSpc>
                <a:spcPct val="150000"/>
              </a:lnSpc>
            </a:pPr>
            <a:r>
              <a:rPr lang="zh-CN" alt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</a:t>
            </a:r>
            <a:r>
              <a:rPr lang="en-US" altLang="zh-CN" sz="2000" kern="10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if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type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(child) != element.NavigableString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  </a:t>
            </a: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过滤标签之间的换行</a:t>
            </a:r>
          </a:p>
          <a:p>
            <a:pPr>
              <a:lnSpc>
                <a:spcPct val="150000"/>
              </a:lnSpc>
            </a:pPr>
            <a:r>
              <a:rPr lang="zh-CN" altLang="en-US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       </a:t>
            </a:r>
            <a:r>
              <a:rPr lang="en-US" altLang="zh-CN" sz="2000" kern="100">
                <a:solidFill>
                  <a:srgbClr val="7030A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print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(child)</a:t>
            </a: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776094" y="3877859"/>
            <a:ext cx="5755333" cy="268370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11" name="TextBox 10"/>
          <p:cNvSpPr txBox="1"/>
          <p:nvPr/>
        </p:nvSpPr>
        <p:spPr>
          <a:xfrm>
            <a:off x="6821692" y="3880841"/>
            <a:ext cx="4171203" cy="147732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0070C0"/>
                </a:solidFill>
              </a:rPr>
              <a:t>没有标题行 ！！！</a:t>
            </a:r>
            <a:endParaRPr lang="en-US" altLang="zh-CN" sz="200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0070C0"/>
                </a:solidFill>
              </a:rPr>
              <a:t>第一行是标题行，标题行向后的兄弟标签不包含自身。</a:t>
            </a:r>
            <a:endParaRPr lang="en-US" altLang="zh-CN" sz="200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99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3175"/>
            <a:ext cx="12193588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31012" y="311997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搜索</a:t>
            </a:r>
            <a:r>
              <a:rPr lang="zh-CN" altLang="en-US" sz="4800" smtClean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文档树</a:t>
            </a:r>
            <a:endParaRPr lang="zh-CN" altLang="en-US" sz="480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2028" y="1245993"/>
            <a:ext cx="971019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smtClean="0"/>
              <a:t>         现实中，</a:t>
            </a:r>
            <a:r>
              <a:rPr lang="zh-CN" altLang="zh-CN" sz="2200" smtClean="0"/>
              <a:t>复杂</a:t>
            </a:r>
            <a:r>
              <a:rPr lang="zh-CN" altLang="zh-CN" sz="2200"/>
              <a:t>网页</a:t>
            </a:r>
            <a:r>
              <a:rPr lang="zh-CN" altLang="zh-CN" sz="2200" smtClean="0"/>
              <a:t>的</a:t>
            </a:r>
            <a:r>
              <a:rPr lang="zh-CN" altLang="en-US" sz="2200" smtClean="0"/>
              <a:t>文档树上下级</a:t>
            </a:r>
            <a:r>
              <a:rPr lang="zh-CN" altLang="zh-CN" sz="2200" smtClean="0"/>
              <a:t>关系</a:t>
            </a:r>
            <a:r>
              <a:rPr lang="zh-CN" altLang="zh-CN" sz="2200"/>
              <a:t>可能多达几十</a:t>
            </a:r>
            <a:r>
              <a:rPr lang="zh-CN" altLang="zh-CN" sz="2200" smtClean="0"/>
              <a:t>层</a:t>
            </a:r>
            <a:r>
              <a:rPr lang="zh-CN" altLang="en-US" sz="2200"/>
              <a:t>，</a:t>
            </a:r>
            <a:r>
              <a:rPr lang="zh-CN" altLang="en-US" sz="2200" smtClean="0"/>
              <a:t>数据经常藏</a:t>
            </a:r>
            <a:r>
              <a:rPr lang="zh-CN" altLang="en-US" sz="2200"/>
              <a:t>在若干层标签</a:t>
            </a:r>
            <a:r>
              <a:rPr lang="zh-CN" altLang="en-US" sz="2200" smtClean="0"/>
              <a:t>之下，此时一级级的去找数据效率很低。</a:t>
            </a:r>
            <a:endParaRPr lang="en-US" altLang="zh-CN" sz="2200" smtClean="0"/>
          </a:p>
          <a:p>
            <a:pPr>
              <a:lnSpc>
                <a:spcPct val="150000"/>
              </a:lnSpc>
            </a:pPr>
            <a:endParaRPr lang="en-US" altLang="zh-CN" sz="2200" smtClean="0"/>
          </a:p>
          <a:p>
            <a:pPr>
              <a:lnSpc>
                <a:spcPct val="150000"/>
              </a:lnSpc>
            </a:pPr>
            <a:r>
              <a:rPr lang="en-US" altLang="zh-CN" sz="2200" smtClean="0"/>
              <a:t>         BeautifulSoup</a:t>
            </a:r>
            <a:r>
              <a:rPr lang="zh-CN" altLang="en-US" sz="2200"/>
              <a:t>库提供了另一种</a:t>
            </a:r>
            <a:r>
              <a:rPr lang="zh-CN" altLang="en-US" sz="2200">
                <a:solidFill>
                  <a:srgbClr val="FF0000"/>
                </a:solidFill>
              </a:rPr>
              <a:t>文档树搜索</a:t>
            </a:r>
            <a:r>
              <a:rPr lang="zh-CN" altLang="en-US" sz="2200"/>
              <a:t>的方法</a:t>
            </a:r>
            <a:r>
              <a:rPr lang="zh-CN" altLang="en-US" sz="2200" smtClean="0"/>
              <a:t>，</a:t>
            </a:r>
            <a:r>
              <a:rPr lang="zh-CN" altLang="en-US" sz="2200"/>
              <a:t>根据</a:t>
            </a:r>
            <a:r>
              <a:rPr lang="zh-CN" altLang="en-US" sz="2200" smtClean="0"/>
              <a:t>目标数据所在的标签区域特征，定位到目标标签附近，再</a:t>
            </a:r>
            <a:r>
              <a:rPr lang="zh-CN" altLang="en-US" sz="2200"/>
              <a:t>利用局部的上下级节点关系，</a:t>
            </a:r>
            <a:r>
              <a:rPr lang="zh-CN" altLang="en-US" sz="2200" smtClean="0"/>
              <a:t>对局部</a:t>
            </a:r>
            <a:r>
              <a:rPr lang="zh-CN" altLang="en-US" sz="2200"/>
              <a:t>区域进行标签遍历，获取目标</a:t>
            </a:r>
            <a:r>
              <a:rPr lang="zh-CN" altLang="en-US" sz="2200" smtClean="0"/>
              <a:t>数据。</a:t>
            </a:r>
            <a:endParaRPr lang="en-US" altLang="zh-CN" sz="2200" smtClean="0"/>
          </a:p>
          <a:p>
            <a:pPr>
              <a:lnSpc>
                <a:spcPct val="150000"/>
              </a:lnSpc>
            </a:pPr>
            <a:endParaRPr lang="en-US" altLang="zh-CN" sz="22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200" smtClean="0">
                <a:solidFill>
                  <a:schemeClr val="bg1"/>
                </a:solidFill>
              </a:rPr>
              <a:t>          </a:t>
            </a:r>
            <a:r>
              <a:rPr lang="zh-CN" altLang="en-US" sz="2200" smtClean="0"/>
              <a:t>这就类似于我们在电商平台购物，通过商品类别一级一级寻找商品，不如直接搜索关键字。</a:t>
            </a:r>
            <a:endParaRPr lang="en-US" altLang="zh-CN" sz="2200" smtClean="0"/>
          </a:p>
        </p:txBody>
      </p:sp>
    </p:spTree>
    <p:extLst>
      <p:ext uri="{BB962C8B-B14F-4D97-AF65-F5344CB8AC3E}">
        <p14:creationId xmlns:p14="http://schemas.microsoft.com/office/powerpoint/2010/main" val="243710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文档树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49952" y="778747"/>
            <a:ext cx="10012800" cy="268793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smtClean="0">
                <a:latin typeface="+mn-ea"/>
              </a:rPr>
              <a:t>核心方法：</a:t>
            </a:r>
            <a:endParaRPr lang="en-US" altLang="zh-CN" sz="240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400" smtClean="0"/>
              <a:t>find ( </a:t>
            </a:r>
            <a:r>
              <a:rPr lang="en-US" altLang="zh-CN" sz="2400"/>
              <a:t>name , attrs , recursive , text , **kwargs </a:t>
            </a:r>
            <a:r>
              <a:rPr lang="en-US" altLang="zh-CN" sz="2400" smtClean="0"/>
              <a:t>)                </a:t>
            </a:r>
            <a:r>
              <a:rPr lang="en-US" altLang="zh-CN" sz="2000" smtClean="0">
                <a:solidFill>
                  <a:srgbClr val="C00000"/>
                </a:solidFill>
              </a:rPr>
              <a:t># </a:t>
            </a:r>
            <a:r>
              <a:rPr lang="zh-CN" altLang="en-US" sz="2000" smtClean="0">
                <a:solidFill>
                  <a:srgbClr val="C00000"/>
                </a:solidFill>
              </a:rPr>
              <a:t>返回第一匹配项</a:t>
            </a:r>
            <a:endParaRPr lang="en-US" altLang="zh-CN" sz="240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2400" smtClean="0"/>
              <a:t>find_all ( </a:t>
            </a:r>
            <a:r>
              <a:rPr lang="en-US" altLang="zh-CN" sz="2400"/>
              <a:t>name, attrs, recursive, text, limit, **kwargs </a:t>
            </a:r>
            <a:r>
              <a:rPr lang="en-US" altLang="zh-CN" sz="2400" smtClean="0"/>
              <a:t>)   </a:t>
            </a:r>
            <a:r>
              <a:rPr lang="en-US" altLang="zh-CN" sz="2000" smtClean="0">
                <a:solidFill>
                  <a:srgbClr val="C00000"/>
                </a:solidFill>
              </a:rPr>
              <a:t># </a:t>
            </a:r>
            <a:r>
              <a:rPr lang="zh-CN" altLang="en-US" sz="2000" smtClean="0">
                <a:solidFill>
                  <a:srgbClr val="C00000"/>
                </a:solidFill>
              </a:rPr>
              <a:t>返回所有匹配项的列表</a:t>
            </a:r>
            <a:endParaRPr lang="en-US" altLang="zh-CN" sz="200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400" smtClean="0"/>
          </a:p>
          <a:p>
            <a:pPr marL="0" indent="0">
              <a:buNone/>
            </a:pPr>
            <a:r>
              <a:rPr lang="zh-CN" altLang="en-US" sz="2000" smtClean="0"/>
              <a:t>         函数的参数充当过滤器，对标签进行筛选匹配，往往是我们先分析文档，找到目标标签的特征，再设置对应参数的值</a:t>
            </a:r>
            <a:r>
              <a:rPr lang="zh-CN" altLang="en-US" sz="2400" smtClean="0"/>
              <a:t>。</a:t>
            </a:r>
            <a:endParaRPr lang="en-US" altLang="zh-CN" sz="2400" smtClean="0"/>
          </a:p>
          <a:p>
            <a:pPr marL="0" indent="0">
              <a:buNone/>
            </a:pPr>
            <a:endParaRPr lang="en-US" altLang="zh-CN" sz="2400" smtClean="0">
              <a:latin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57613"/>
              </p:ext>
            </p:extLst>
          </p:nvPr>
        </p:nvGraphicFramePr>
        <p:xfrm>
          <a:off x="949952" y="3677698"/>
          <a:ext cx="9982656" cy="265764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15762"/>
                <a:gridCol w="2893926"/>
                <a:gridCol w="4772968"/>
              </a:tblGrid>
              <a:tr h="377479">
                <a:tc>
                  <a:txBody>
                    <a:bodyPr/>
                    <a:lstStyle/>
                    <a:p>
                      <a:r>
                        <a:rPr lang="zh-CN" altLang="en-US" smtClean="0"/>
                        <a:t>参数名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参数功能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77479">
                <a:tc>
                  <a:txBody>
                    <a:bodyPr/>
                    <a:lstStyle/>
                    <a:p>
                      <a:r>
                        <a:rPr lang="en-US" altLang="zh-CN" smtClean="0"/>
                        <a:t>name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标签类型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通过标签类型进行匹配</a:t>
                      </a:r>
                      <a:endParaRPr lang="zh-CN" altLang="en-US"/>
                    </a:p>
                  </a:txBody>
                  <a:tcPr/>
                </a:tc>
              </a:tr>
              <a:tr h="374273">
                <a:tc>
                  <a:txBody>
                    <a:bodyPr/>
                    <a:lstStyle/>
                    <a:p>
                      <a:pPr algn="l"/>
                      <a:r>
                        <a:rPr lang="en-US" altLang="zh-CN" smtClean="0"/>
                        <a:t>**kwargs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键值参数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通过特定属性值进行匹配</a:t>
                      </a:r>
                      <a:endParaRPr lang="zh-CN" altLang="en-US"/>
                    </a:p>
                  </a:txBody>
                  <a:tcPr/>
                </a:tc>
              </a:tr>
              <a:tr h="395973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attrs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属性参数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通过传入字典进行多属性匹配</a:t>
                      </a:r>
                      <a:endParaRPr lang="zh-CN" altLang="en-US"/>
                    </a:p>
                  </a:txBody>
                  <a:tcPr/>
                </a:tc>
              </a:tr>
              <a:tr h="377479">
                <a:tc>
                  <a:txBody>
                    <a:bodyPr/>
                    <a:lstStyle/>
                    <a:p>
                      <a:r>
                        <a:rPr lang="en-US" altLang="zh-CN" sz="1800" smtClean="0"/>
                        <a:t>recursive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是否搜索后代节点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设为</a:t>
                      </a:r>
                      <a:r>
                        <a:rPr lang="en-US" altLang="zh-CN" smtClean="0"/>
                        <a:t>False</a:t>
                      </a:r>
                      <a:r>
                        <a:rPr lang="zh-CN" altLang="en-US" smtClean="0"/>
                        <a:t>时只查找子节点</a:t>
                      </a:r>
                      <a:endParaRPr lang="zh-CN" altLang="en-US"/>
                    </a:p>
                  </a:txBody>
                  <a:tcPr/>
                </a:tc>
              </a:tr>
              <a:tr h="377479">
                <a:tc>
                  <a:txBody>
                    <a:bodyPr/>
                    <a:lstStyle/>
                    <a:p>
                      <a:r>
                        <a:rPr lang="en-US" altLang="zh-CN" smtClean="0"/>
                        <a:t>text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文档内容匹配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基于标签中字符串的匹配</a:t>
                      </a:r>
                      <a:endParaRPr lang="zh-CN" altLang="en-US"/>
                    </a:p>
                  </a:txBody>
                  <a:tcPr/>
                </a:tc>
              </a:tr>
              <a:tr h="377479">
                <a:tc>
                  <a:txBody>
                    <a:bodyPr/>
                    <a:lstStyle/>
                    <a:p>
                      <a:r>
                        <a:rPr lang="en-US" altLang="zh-CN" smtClean="0"/>
                        <a:t>limit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/>
                        <a:t>返回结果的数量限制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89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搜索文档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674376" y="991823"/>
            <a:ext cx="9043098" cy="10199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name </a:t>
            </a:r>
            <a:r>
              <a:rPr lang="zh-CN" altLang="en-US" sz="2400">
                <a:solidFill>
                  <a:srgbClr val="0070C0"/>
                </a:solidFill>
                <a:latin typeface="+mn-ea"/>
              </a:rPr>
              <a:t>参数 ： </a:t>
            </a:r>
            <a:endParaRPr lang="en-US" altLang="zh-CN" sz="2400">
              <a:solidFill>
                <a:srgbClr val="0070C0"/>
              </a:solidFill>
              <a:latin typeface="+mn-ea"/>
            </a:endParaRPr>
          </a:p>
          <a:p>
            <a:pPr marL="0" indent="0">
              <a:buNone/>
            </a:pPr>
            <a:r>
              <a:rPr lang="zh-CN" altLang="en-US" sz="2000" smtClean="0">
                <a:latin typeface="+mn-ea"/>
              </a:rPr>
              <a:t>      查找类型为</a:t>
            </a:r>
            <a:r>
              <a:rPr lang="en-US" altLang="zh-CN" sz="2000" smtClean="0">
                <a:latin typeface="+mn-ea"/>
              </a:rPr>
              <a:t>name</a:t>
            </a:r>
            <a:r>
              <a:rPr lang="zh-CN" altLang="en-US" sz="2000" smtClean="0">
                <a:latin typeface="+mn-ea"/>
              </a:rPr>
              <a:t>值的标签</a:t>
            </a:r>
            <a:r>
              <a:rPr lang="zh-CN" altLang="en-US" sz="2000">
                <a:latin typeface="+mn-ea"/>
              </a:rPr>
              <a:t>。</a:t>
            </a:r>
            <a:endParaRPr lang="en-US" altLang="zh-CN" sz="200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6383" y="3145131"/>
            <a:ext cx="10216799" cy="3396344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 soup.find_all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 align="center"&gt;</a:t>
            </a:r>
            <a:r>
              <a:rPr lang="zh-CN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这里是标题行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&lt;/h1</a:t>
            </a:r>
            <a:r>
              <a:rPr lang="en-US" altLang="zh-CN" sz="16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&gt;]</a:t>
            </a:r>
          </a:p>
          <a:p>
            <a:endParaRPr lang="zh-CN" altLang="zh-CN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 soup.find_all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'h2'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  <a:endParaRPr lang="zh-CN" altLang="zh-CN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zh-CN" altLang="zh-CN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soup.find_all(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'p'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class="css1" name="p1"&gt;</a:t>
            </a:r>
            <a:r>
              <a:rPr lang="zh-CN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这是第一段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&lt;/p&gt;, &lt;p class="css1" name="p2"&gt;</a:t>
            </a:r>
            <a:r>
              <a:rPr lang="zh-CN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这是第二段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&lt;/p&gt;]</a:t>
            </a:r>
            <a:endParaRPr lang="zh-CN" altLang="zh-CN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zh-CN" altLang="zh-CN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soup.find_all([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'p'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  <a:endParaRPr lang="zh-CN" altLang="zh-CN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class="css1" name="p1"&gt;</a:t>
            </a:r>
            <a:r>
              <a:rPr lang="zh-CN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这是第一段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&lt;/p&gt;, &lt;p class="css1" name="p2"&gt;</a:t>
            </a:r>
            <a:r>
              <a:rPr lang="zh-CN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这是第二段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&lt;/p&gt;, &lt;a href="http://baidu.com" id="link"&gt;</a:t>
            </a:r>
            <a:r>
              <a:rPr lang="zh-CN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点我跳去百度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&lt;/a&gt;]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471516" y="225178"/>
            <a:ext cx="7596554" cy="26787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135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搜索文档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674376" y="991823"/>
            <a:ext cx="3586125" cy="191214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**kwargs</a:t>
            </a:r>
            <a:r>
              <a:rPr lang="zh-CN" altLang="en-US" sz="2400">
                <a:solidFill>
                  <a:srgbClr val="0070C0"/>
                </a:solidFill>
                <a:latin typeface="+mn-ea"/>
              </a:rPr>
              <a:t>参数： </a:t>
            </a:r>
            <a:endParaRPr lang="en-US" altLang="zh-CN" sz="240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smtClean="0">
                <a:latin typeface="+mn-ea"/>
              </a:rPr>
              <a:t>       </a:t>
            </a:r>
            <a:r>
              <a:rPr lang="zh-CN" altLang="zh-CN" sz="2000" smtClean="0">
                <a:latin typeface="+mn-ea"/>
              </a:rPr>
              <a:t>键</a:t>
            </a:r>
            <a:r>
              <a:rPr lang="zh-CN" altLang="zh-CN" sz="2000">
                <a:latin typeface="+mn-ea"/>
              </a:rPr>
              <a:t>值（</a:t>
            </a:r>
            <a:r>
              <a:rPr lang="en-US" altLang="zh-CN" sz="2000" smtClean="0">
                <a:latin typeface="+mn-ea"/>
              </a:rPr>
              <a:t>keyword</a:t>
            </a:r>
            <a:r>
              <a:rPr lang="zh-CN" altLang="zh-CN" sz="2000">
                <a:latin typeface="+mn-ea"/>
              </a:rPr>
              <a:t>）</a:t>
            </a:r>
            <a:r>
              <a:rPr lang="zh-CN" altLang="zh-CN" sz="2000" smtClean="0">
                <a:latin typeface="+mn-ea"/>
              </a:rPr>
              <a:t>参数</a:t>
            </a:r>
            <a:r>
              <a:rPr lang="zh-CN" altLang="en-US" sz="2000" smtClean="0">
                <a:latin typeface="+mn-ea"/>
              </a:rPr>
              <a:t>，直接设定标签的属性名称和值进行查找</a:t>
            </a:r>
            <a:r>
              <a:rPr lang="zh-CN" altLang="en-US" sz="2000">
                <a:latin typeface="+mn-ea"/>
              </a:rPr>
              <a:t>。</a:t>
            </a:r>
            <a:endParaRPr lang="en-US" altLang="zh-CN" sz="240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6383" y="4994031"/>
            <a:ext cx="10216799" cy="1547444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smtClean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soup.find_all(id=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'link'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[&lt;a href="http://baidu.com" id="link"&gt;</a:t>
            </a:r>
            <a:r>
              <a: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点我跳去百度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&lt;/a&gt;]</a:t>
            </a:r>
          </a:p>
          <a:p>
            <a:endParaRPr lang="zh-CN" altLang="zh-CN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 soup.find_all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'h1'</a:t>
            </a:r>
            <a:r>
              <a:rPr lang="en-US" altLang="zh-CN" b="1">
                <a:latin typeface="Consolas" panose="020B0609020204030204" pitchFamily="49" charset="0"/>
                <a:cs typeface="Consolas" panose="020B0609020204030204" pitchFamily="49" charset="0"/>
              </a:rPr>
              <a:t>, align=</a:t>
            </a:r>
            <a:r>
              <a:rPr lang="en-US" altLang="zh-CN" b="1">
                <a:solidFill>
                  <a:srgbClr val="0070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"center"</a:t>
            </a:r>
            <a:r>
              <a:rPr lang="en-US" altLang="zh-CN" b="1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zh-CN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[&lt;h1 align="center"&gt;</a:t>
            </a:r>
            <a:r>
              <a: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这里是标题行</a:t>
            </a:r>
            <a:r>
              <a:rPr lang="en-US" altLang="zh-CN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&lt;/h1</a:t>
            </a:r>
            <a:r>
              <a:rPr lang="en-US" altLang="zh-CN" sz="16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&gt;]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190163" y="578040"/>
            <a:ext cx="7877907" cy="295010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11" name="内容占位符 2"/>
          <p:cNvSpPr txBox="1">
            <a:spLocks/>
          </p:cNvSpPr>
          <p:nvPr/>
        </p:nvSpPr>
        <p:spPr>
          <a:xfrm>
            <a:off x="836383" y="3867125"/>
            <a:ext cx="10216799" cy="95607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2000"/>
              <a:t>比较常见的情况是，如果目标标签</a:t>
            </a:r>
            <a:r>
              <a:rPr lang="zh-CN" altLang="zh-CN" sz="2000" smtClean="0"/>
              <a:t>具备</a:t>
            </a:r>
            <a:r>
              <a:rPr lang="en-US" altLang="zh-CN" sz="2000" smtClean="0"/>
              <a:t> </a:t>
            </a:r>
            <a:r>
              <a:rPr lang="en-US" altLang="zh-CN" sz="2000" smtClean="0">
                <a:solidFill>
                  <a:srgbClr val="FF0000"/>
                </a:solidFill>
              </a:rPr>
              <a:t>id</a:t>
            </a:r>
            <a:r>
              <a:rPr lang="zh-CN" altLang="zh-CN" sz="2000">
                <a:solidFill>
                  <a:srgbClr val="FF0000"/>
                </a:solidFill>
              </a:rPr>
              <a:t>属性</a:t>
            </a:r>
            <a:r>
              <a:rPr lang="zh-CN" altLang="zh-CN" sz="2000"/>
              <a:t>，我们会优先采用</a:t>
            </a:r>
            <a:r>
              <a:rPr lang="en-US" altLang="zh-CN" sz="2000"/>
              <a:t>id</a:t>
            </a:r>
            <a:r>
              <a:rPr lang="zh-CN" altLang="zh-CN" sz="2000"/>
              <a:t>属性进行标签搜索，因为标签的</a:t>
            </a:r>
            <a:r>
              <a:rPr lang="en-US" altLang="zh-CN" sz="2000"/>
              <a:t>id</a:t>
            </a:r>
            <a:r>
              <a:rPr lang="zh-CN" altLang="zh-CN" sz="2000"/>
              <a:t>属性值在文档中大多是唯一的。</a:t>
            </a:r>
            <a:endParaRPr lang="en-US" altLang="zh-CN" sz="200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555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搜索文档树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29855" y="1100295"/>
            <a:ext cx="9319463" cy="174338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**kwargs</a:t>
            </a:r>
            <a:r>
              <a:rPr lang="zh-CN" altLang="en-US" sz="2400">
                <a:solidFill>
                  <a:srgbClr val="0070C0"/>
                </a:solidFill>
                <a:latin typeface="+mn-ea"/>
              </a:rPr>
              <a:t>参数： </a:t>
            </a:r>
            <a:endParaRPr lang="en-US" altLang="zh-CN" sz="240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smtClean="0">
                <a:latin typeface="+mn-ea"/>
              </a:rPr>
              <a:t>       </a:t>
            </a:r>
            <a:r>
              <a:rPr lang="zh-CN" altLang="en-US" sz="2000" smtClean="0">
                <a:latin typeface="+mn-ea"/>
              </a:rPr>
              <a:t>注意</a:t>
            </a:r>
            <a:r>
              <a:rPr lang="zh-CN" altLang="en-US" sz="2000">
                <a:latin typeface="+mn-ea"/>
              </a:rPr>
              <a:t>一下标签的</a:t>
            </a:r>
            <a:r>
              <a:rPr lang="en-US" altLang="zh-CN" sz="2000" smtClean="0">
                <a:latin typeface="+mn-ea"/>
              </a:rPr>
              <a:t>class</a:t>
            </a:r>
            <a:r>
              <a:rPr lang="zh-CN" altLang="en-US" sz="2000" smtClean="0">
                <a:latin typeface="+mn-ea"/>
              </a:rPr>
              <a:t>（样式类）属性</a:t>
            </a:r>
            <a:r>
              <a:rPr lang="zh-CN" altLang="en-US" sz="2000">
                <a:latin typeface="+mn-ea"/>
              </a:rPr>
              <a:t>，因为</a:t>
            </a:r>
            <a:r>
              <a:rPr lang="en-US" altLang="zh-CN" sz="2000">
                <a:latin typeface="+mn-ea"/>
              </a:rPr>
              <a:t>class</a:t>
            </a:r>
            <a:r>
              <a:rPr lang="zh-CN" altLang="en-US" sz="2000">
                <a:latin typeface="+mn-ea"/>
              </a:rPr>
              <a:t>本身就是</a:t>
            </a:r>
            <a:r>
              <a:rPr lang="en-US" altLang="zh-CN" sz="2000">
                <a:latin typeface="+mn-ea"/>
              </a:rPr>
              <a:t>Python</a:t>
            </a:r>
            <a:r>
              <a:rPr lang="zh-CN" altLang="en-US" sz="2000">
                <a:latin typeface="+mn-ea"/>
              </a:rPr>
              <a:t>的关键字，所以采用</a:t>
            </a:r>
            <a:r>
              <a:rPr lang="en-US" altLang="zh-CN" sz="2000">
                <a:latin typeface="+mn-ea"/>
              </a:rPr>
              <a:t>class</a:t>
            </a:r>
            <a:r>
              <a:rPr lang="zh-CN" altLang="en-US" sz="2000">
                <a:latin typeface="+mn-ea"/>
              </a:rPr>
              <a:t>属性作为</a:t>
            </a:r>
            <a:r>
              <a:rPr lang="en-US" altLang="zh-CN" sz="2000">
                <a:latin typeface="+mn-ea"/>
              </a:rPr>
              <a:t>keyword</a:t>
            </a:r>
            <a:r>
              <a:rPr lang="zh-CN" altLang="en-US" sz="2000">
                <a:latin typeface="+mn-ea"/>
              </a:rPr>
              <a:t>参数搜索时，需要加一个下划线写</a:t>
            </a:r>
            <a:r>
              <a:rPr lang="zh-CN" altLang="en-US" sz="2000" smtClean="0">
                <a:latin typeface="+mn-ea"/>
              </a:rPr>
              <a:t>成 </a:t>
            </a:r>
            <a:r>
              <a:rPr lang="en-US" altLang="zh-CN" sz="2000" smtClean="0">
                <a:solidFill>
                  <a:srgbClr val="FF0000"/>
                </a:solidFill>
                <a:latin typeface="+mn-ea"/>
              </a:rPr>
              <a:t>class_</a:t>
            </a:r>
            <a:r>
              <a:rPr lang="zh-CN" altLang="en-US" sz="2000">
                <a:solidFill>
                  <a:srgbClr val="FF0000"/>
                </a:solidFill>
                <a:latin typeface="+mn-ea"/>
              </a:rPr>
              <a:t> </a:t>
            </a:r>
            <a:r>
              <a:rPr lang="zh-CN" altLang="en-US" sz="2000" smtClean="0">
                <a:latin typeface="+mn-ea"/>
              </a:rPr>
              <a:t>。</a:t>
            </a:r>
            <a:endParaRPr lang="en-US" altLang="zh-CN" sz="200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1967" y="2974311"/>
            <a:ext cx="10542525" cy="339634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</a:t>
            </a:r>
            <a:r>
              <a:rPr lang="en-US" altLang="zh-CN" sz="2000" kern="10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soup2 = BeautifulSoup(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'&lt;p class="css1 css2"&gt;&lt;/p&gt;'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, 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'html.parser</a:t>
            </a:r>
            <a:r>
              <a:rPr lang="en-US" altLang="zh-CN" sz="2000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altLang="zh-CN" sz="2000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smtClean="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</a:t>
            </a:r>
            <a:r>
              <a:rPr lang="en-US" altLang="zh-CN" sz="2000" kern="100" smtClean="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soup2.find_all(class_=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'css1'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</a:t>
            </a:r>
            <a:r>
              <a:rPr lang="en-US" altLang="zh-CN" sz="2000" kern="10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soup2.find_all(class_=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'css2'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</a:t>
            </a:r>
            <a:r>
              <a:rPr lang="en-US" altLang="zh-CN" sz="2000" kern="100">
                <a:solidFill>
                  <a:srgbClr val="D38E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soup2.find_all(class_=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'css1 css2'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# </a:t>
            </a:r>
            <a:r>
              <a:rPr lang="zh-CN" altLang="en-US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以上三条语句都输出：</a:t>
            </a:r>
          </a:p>
          <a:p>
            <a:pPr>
              <a:lnSpc>
                <a:spcPct val="150000"/>
              </a:lnSpc>
            </a:pPr>
            <a:r>
              <a:rPr lang="en-US" altLang="zh-CN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[&lt;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p class="css1' name="p1"&gt;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&lt;/p&gt;, &lt;p class="css1" name="p2"&gt;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这是第二段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&lt;/p&gt;]</a:t>
            </a:r>
            <a:endParaRPr lang="en-US" altLang="zh-CN" sz="2000" kern="100">
              <a:solidFill>
                <a:srgbClr val="0000FF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21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搜索文档树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776098" y="1100296"/>
            <a:ext cx="3303534" cy="20448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attrs </a:t>
            </a:r>
            <a:r>
              <a:rPr lang="zh-CN" altLang="en-US" sz="2400">
                <a:solidFill>
                  <a:srgbClr val="0070C0"/>
                </a:solidFill>
                <a:latin typeface="+mn-ea"/>
              </a:rPr>
              <a:t>参数： </a:t>
            </a:r>
            <a:endParaRPr lang="en-US" altLang="zh-CN" sz="240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smtClean="0">
                <a:latin typeface="+mn-ea"/>
              </a:rPr>
              <a:t>       </a:t>
            </a:r>
            <a:r>
              <a:rPr lang="en-US" altLang="zh-CN" sz="2000">
                <a:latin typeface="+mn-ea"/>
              </a:rPr>
              <a:t>attrs</a:t>
            </a:r>
            <a:r>
              <a:rPr lang="zh-CN" altLang="en-US" sz="2000">
                <a:latin typeface="+mn-ea"/>
              </a:rPr>
              <a:t>参数定义了一个字典参数来实现</a:t>
            </a:r>
            <a:r>
              <a:rPr lang="zh-CN" altLang="en-US" sz="2000" smtClean="0">
                <a:latin typeface="+mn-ea"/>
              </a:rPr>
              <a:t>对多个标签</a:t>
            </a:r>
            <a:r>
              <a:rPr lang="zh-CN" altLang="en-US" sz="2000">
                <a:latin typeface="+mn-ea"/>
              </a:rPr>
              <a:t>属性的查找匹配。</a:t>
            </a:r>
            <a:endParaRPr lang="en-US" altLang="zh-CN" sz="200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1967" y="3436520"/>
            <a:ext cx="10542525" cy="2893926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soup.find_all(attrs={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'class'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: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'css1'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})</a:t>
            </a:r>
          </a:p>
          <a:p>
            <a:pPr>
              <a:lnSpc>
                <a:spcPct val="150000"/>
              </a:lnSpc>
            </a:pP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[&lt;p class="css1" name="p1"&gt;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&lt;/p&gt;, &lt;p align="center" class="css1" name="p2"&gt;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这是第二段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&lt;/p&gt;]</a:t>
            </a:r>
          </a:p>
          <a:p>
            <a:pPr>
              <a:lnSpc>
                <a:spcPct val="150000"/>
              </a:lnSpc>
            </a:pPr>
            <a:endParaRPr lang="en-US" altLang="zh-CN" sz="2000" kern="100">
              <a:solidFill>
                <a:srgbClr val="C0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 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soup.find_all(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'p'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, {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'name':'p2'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,</a:t>
            </a:r>
            <a:r>
              <a:rPr lang="en-US" altLang="zh-CN" sz="2000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'class':'css1'</a:t>
            </a:r>
            <a:r>
              <a:rPr lang="en-US" altLang="zh-CN" sz="2000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})</a:t>
            </a:r>
          </a:p>
          <a:p>
            <a:pPr>
              <a:lnSpc>
                <a:spcPct val="150000"/>
              </a:lnSpc>
            </a:pPr>
            <a:r>
              <a:rPr lang="en-US" altLang="zh-CN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[&lt;p align="center" class="css1" name="p2"&gt;</a:t>
            </a:r>
            <a:r>
              <a:rPr lang="zh-CN" altLang="en-US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这是第二段</a:t>
            </a:r>
            <a:r>
              <a:rPr lang="en-US" altLang="zh-CN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&lt;/p&gt;]</a:t>
            </a: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4129880" y="335706"/>
            <a:ext cx="7727182" cy="26787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839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搜索文档树</a:t>
              </a:r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49951" y="828989"/>
            <a:ext cx="9651060" cy="218551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text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参数： </a:t>
            </a:r>
            <a:endParaRPr lang="en-US" altLang="zh-CN" sz="2400" dirty="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400" dirty="0" smtClean="0">
                <a:latin typeface="+mn-ea"/>
              </a:rPr>
              <a:t>     </a:t>
            </a:r>
            <a:r>
              <a:rPr lang="en-US" altLang="zh-CN" sz="2000" dirty="0" smtClean="0"/>
              <a:t>text </a:t>
            </a:r>
            <a:r>
              <a:rPr lang="zh-CN" altLang="zh-CN" sz="2000" dirty="0"/>
              <a:t>参数是针对文本内容的查找</a:t>
            </a:r>
            <a:r>
              <a:rPr lang="zh-CN" altLang="zh-CN" sz="2000" dirty="0" smtClean="0"/>
              <a:t>，通过它</a:t>
            </a:r>
            <a:r>
              <a:rPr lang="zh-CN" altLang="zh-CN" sz="2000" dirty="0"/>
              <a:t>可以搜索文档中的字符串内容</a:t>
            </a:r>
            <a:r>
              <a:rPr lang="zh-CN" altLang="en-US" sz="2000" dirty="0" smtClean="0">
                <a:latin typeface="+mn-ea"/>
              </a:rPr>
              <a:t>。</a:t>
            </a:r>
            <a:endParaRPr lang="en-US" altLang="zh-CN" sz="2000" dirty="0" smtClean="0">
              <a:latin typeface="+mn-ea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 smtClean="0"/>
              <a:t>        </a:t>
            </a:r>
            <a:r>
              <a:rPr lang="zh-CN" altLang="zh-CN" sz="2000" dirty="0" smtClean="0"/>
              <a:t>直接</a:t>
            </a:r>
            <a:r>
              <a:rPr lang="zh-CN" altLang="zh-CN" sz="2000" dirty="0"/>
              <a:t>对</a:t>
            </a:r>
            <a:r>
              <a:rPr lang="en-US" altLang="zh-CN" sz="2000" dirty="0"/>
              <a:t>text</a:t>
            </a:r>
            <a:r>
              <a:rPr lang="zh-CN" altLang="zh-CN" sz="2000" dirty="0"/>
              <a:t>参数赋值进行</a:t>
            </a:r>
            <a:r>
              <a:rPr lang="zh-CN" altLang="zh-CN" sz="2000" dirty="0" smtClean="0"/>
              <a:t>查找，需要</a:t>
            </a:r>
            <a:r>
              <a:rPr lang="zh-CN" altLang="zh-CN" sz="2000" dirty="0"/>
              <a:t>标签内的字符串与参数值完全一样才算作匹配。所以大多时候，对于文本字符串的搜索大多是基于关键字的模糊查询，此时需要用到正则表达式知识，需要导入正则库</a:t>
            </a:r>
            <a:r>
              <a:rPr lang="en-US" altLang="zh-CN" sz="2000" dirty="0" smtClean="0"/>
              <a:t>re </a:t>
            </a:r>
            <a:r>
              <a:rPr lang="zh-CN" altLang="en-US" sz="2000" dirty="0" smtClean="0"/>
              <a:t>。</a:t>
            </a:r>
            <a:endParaRPr lang="en-US" altLang="zh-CN" sz="2000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1967" y="3185327"/>
            <a:ext cx="10542525" cy="318532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 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soup.find_all(text=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['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']</a:t>
            </a:r>
          </a:p>
          <a:p>
            <a:pPr>
              <a:lnSpc>
                <a:spcPct val="150000"/>
              </a:lnSpc>
            </a:pP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 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soup.find_all(text=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zh-CN" altLang="en-US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是</a:t>
            </a:r>
            <a:r>
              <a:rPr lang="en-US" altLang="zh-CN" kern="10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[]</a:t>
            </a:r>
            <a:endParaRPr lang="en-US" altLang="zh-CN" kern="100">
              <a:solidFill>
                <a:srgbClr val="0000FF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 </a:t>
            </a:r>
            <a:r>
              <a:rPr lang="en-US" altLang="zh-CN" kern="100">
                <a:solidFill>
                  <a:srgbClr val="EFA00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import</a:t>
            </a: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 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re</a:t>
            </a:r>
          </a:p>
          <a:p>
            <a:pPr>
              <a:lnSpc>
                <a:spcPct val="150000"/>
              </a:lnSpc>
            </a:pPr>
            <a:r>
              <a:rPr lang="en-US" altLang="zh-CN" kern="100">
                <a:solidFill>
                  <a:srgbClr val="C00000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&gt;&gt;&gt; </a:t>
            </a:r>
            <a:r>
              <a:rPr lang="en-US" altLang="zh-CN" kern="10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soup.find_all(text=re.compile</a:t>
            </a:r>
            <a:r>
              <a:rPr lang="en-US" altLang="zh-CN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(</a:t>
            </a:r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zh-CN" altLang="en-US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是</a:t>
            </a:r>
            <a:r>
              <a:rPr lang="en-US" altLang="zh-CN" kern="100" smtClean="0">
                <a:solidFill>
                  <a:srgbClr val="007033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</a:t>
            </a:r>
            <a:r>
              <a:rPr lang="en-US" altLang="zh-CN" kern="100" smtClean="0"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))</a:t>
            </a:r>
            <a:endParaRPr lang="en-US" altLang="zh-CN" kern="10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smtClean="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['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这里是标题行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', '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这是第一段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', '</a:t>
            </a:r>
            <a:r>
              <a:rPr lang="zh-CN" altLang="en-US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这是第二段</a:t>
            </a:r>
            <a:r>
              <a:rPr lang="en-US" altLang="zh-CN" kern="100">
                <a:solidFill>
                  <a:srgbClr val="0000FF"/>
                </a:solidFill>
                <a:latin typeface="Consolas" panose="020B0609020204030204" pitchFamily="49" charset="0"/>
                <a:ea typeface="宋体"/>
                <a:cs typeface="Consolas" panose="020B060902020403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271443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搜索文档树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949951" y="1100295"/>
            <a:ext cx="9651060" cy="5029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recursive </a:t>
            </a:r>
            <a:r>
              <a:rPr lang="zh-CN" altLang="en-US" sz="2400">
                <a:solidFill>
                  <a:srgbClr val="0070C0"/>
                </a:solidFill>
                <a:latin typeface="+mn-ea"/>
              </a:rPr>
              <a:t>参数： </a:t>
            </a:r>
            <a:endParaRPr lang="en-US" altLang="zh-CN" sz="240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zh-CN" sz="2400" smtClean="0">
                <a:solidFill>
                  <a:srgbClr val="0070C0"/>
                </a:solidFill>
                <a:latin typeface="+mn-ea"/>
              </a:rPr>
              <a:t>     </a:t>
            </a:r>
            <a:r>
              <a:rPr lang="zh-CN" altLang="en-US" sz="2000" smtClean="0">
                <a:latin typeface="+mn-ea"/>
              </a:rPr>
              <a:t>函数</a:t>
            </a:r>
            <a:r>
              <a:rPr lang="zh-CN" altLang="en-US" sz="2000">
                <a:latin typeface="+mn-ea"/>
              </a:rPr>
              <a:t>默认是查找当前对象的所有后代节点，如果只想搜索当前标签对象的子节点，无须再查找子节点的后代，对</a:t>
            </a:r>
            <a:r>
              <a:rPr lang="en-US" altLang="zh-CN" sz="2000">
                <a:latin typeface="+mn-ea"/>
              </a:rPr>
              <a:t>recursive</a:t>
            </a:r>
            <a:r>
              <a:rPr lang="zh-CN" altLang="en-US" sz="2000">
                <a:latin typeface="+mn-ea"/>
              </a:rPr>
              <a:t>参数赋值为</a:t>
            </a:r>
            <a:r>
              <a:rPr lang="en-US" altLang="zh-CN" sz="2000">
                <a:latin typeface="+mn-ea"/>
              </a:rPr>
              <a:t>False</a:t>
            </a:r>
            <a:r>
              <a:rPr lang="zh-CN" altLang="en-US" sz="2000">
                <a:latin typeface="+mn-ea"/>
              </a:rPr>
              <a:t>即可。</a:t>
            </a:r>
            <a:endParaRPr lang="en-US" altLang="zh-CN" sz="2000" smtClean="0"/>
          </a:p>
          <a:p>
            <a:pPr marL="0" indent="0">
              <a:buNone/>
            </a:pPr>
            <a:endParaRPr lang="en-US" altLang="zh-CN" sz="2000">
              <a:latin typeface="+mn-ea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ea"/>
              </a:rPr>
              <a:t>limit </a:t>
            </a:r>
            <a:r>
              <a:rPr lang="zh-CN" altLang="en-US" sz="2400">
                <a:solidFill>
                  <a:srgbClr val="0070C0"/>
                </a:solidFill>
                <a:latin typeface="+mn-ea"/>
              </a:rPr>
              <a:t>参数： </a:t>
            </a:r>
            <a:endParaRPr lang="en-US" altLang="zh-CN" sz="2400">
              <a:solidFill>
                <a:srgbClr val="0070C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>
                <a:latin typeface="+mn-ea"/>
              </a:rPr>
              <a:t>     </a:t>
            </a:r>
            <a:r>
              <a:rPr lang="en-US" altLang="zh-CN" sz="2000"/>
              <a:t>find_all()</a:t>
            </a:r>
            <a:r>
              <a:rPr lang="zh-CN" altLang="en-US" sz="2000"/>
              <a:t>方法默认返回对当前对象</a:t>
            </a:r>
            <a:r>
              <a:rPr lang="zh-CN" altLang="en-US" sz="2000" smtClean="0"/>
              <a:t>搜索</a:t>
            </a:r>
            <a:r>
              <a:rPr lang="zh-CN" altLang="en-US" sz="2000"/>
              <a:t>的</a:t>
            </a:r>
            <a:r>
              <a:rPr lang="zh-CN" altLang="en-US" sz="2000" smtClean="0"/>
              <a:t>全部匹配</a:t>
            </a:r>
            <a:r>
              <a:rPr lang="zh-CN" altLang="en-US" sz="2000"/>
              <a:t>结果，</a:t>
            </a:r>
            <a:r>
              <a:rPr lang="zh-CN" altLang="en-US" sz="2000" smtClean="0"/>
              <a:t>如果后代</a:t>
            </a:r>
            <a:r>
              <a:rPr lang="zh-CN" altLang="en-US" sz="2000"/>
              <a:t>标签很多，搜索会很慢</a:t>
            </a:r>
            <a:r>
              <a:rPr lang="zh-CN" altLang="en-US" sz="2000" smtClean="0"/>
              <a:t>。如果不</a:t>
            </a:r>
            <a:r>
              <a:rPr lang="zh-CN" altLang="en-US" sz="2000"/>
              <a:t>需要全部结果时，可以使用</a:t>
            </a:r>
            <a:r>
              <a:rPr lang="en-US" altLang="zh-CN" sz="2000"/>
              <a:t>limit</a:t>
            </a:r>
            <a:r>
              <a:rPr lang="zh-CN" altLang="en-US" sz="2000"/>
              <a:t>参数限制返回结果的</a:t>
            </a:r>
            <a:r>
              <a:rPr lang="zh-CN" altLang="en-US" sz="2000" smtClean="0"/>
              <a:t>数量，只返回限定数量的匹配结果。</a:t>
            </a:r>
            <a:endParaRPr lang="en-US" altLang="zh-CN" sz="2000">
              <a:latin typeface="+mn-ea"/>
            </a:endParaRPr>
          </a:p>
          <a:p>
            <a:pPr marL="0" indent="0">
              <a:buNone/>
            </a:pPr>
            <a:endParaRPr lang="en-US" altLang="zh-CN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874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0052" y="311997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综合</a:t>
            </a:r>
            <a:r>
              <a:rPr lang="zh-CN" altLang="en-US" sz="4800" dirty="0" smtClean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实例：爬取豆瓣</a:t>
            </a:r>
            <a:r>
              <a:rPr lang="en-US" altLang="zh-CN" sz="4800" dirty="0" smtClean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《</a:t>
            </a:r>
            <a:r>
              <a:rPr lang="zh-CN" altLang="en-US" sz="4800" dirty="0" smtClean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天龙八部</a:t>
            </a:r>
            <a:r>
              <a:rPr lang="en-US" altLang="zh-CN" sz="4800" dirty="0" smtClean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》</a:t>
            </a:r>
            <a:r>
              <a:rPr lang="zh-CN" altLang="en-US" sz="4800" dirty="0" smtClean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书评</a:t>
            </a:r>
            <a:endParaRPr lang="zh-CN" altLang="en-US" sz="4800" dirty="0">
              <a:solidFill>
                <a:srgbClr val="0070C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2027" y="1245993"/>
            <a:ext cx="1009203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/>
              <a:t>         以</a:t>
            </a:r>
            <a:r>
              <a:rPr lang="zh-CN" altLang="en-US" sz="2200" dirty="0"/>
              <a:t>豆瓣网上三联书店</a:t>
            </a:r>
            <a:r>
              <a:rPr lang="en-US" altLang="zh-CN" sz="2200" dirty="0"/>
              <a:t>1994</a:t>
            </a:r>
            <a:r>
              <a:rPr lang="zh-CN" altLang="en-US" sz="2200" dirty="0"/>
              <a:t>年版本的</a:t>
            </a:r>
            <a:r>
              <a:rPr lang="en-US" altLang="zh-CN" sz="2200" dirty="0"/>
              <a:t>《</a:t>
            </a:r>
            <a:r>
              <a:rPr lang="zh-CN" altLang="en-US" sz="2200" dirty="0"/>
              <a:t>天龙八部</a:t>
            </a:r>
            <a:r>
              <a:rPr lang="en-US" altLang="zh-CN" sz="2200" dirty="0"/>
              <a:t>》</a:t>
            </a:r>
            <a:r>
              <a:rPr lang="zh-CN" altLang="en-US" sz="2200" dirty="0"/>
              <a:t>短评为例</a:t>
            </a:r>
            <a:r>
              <a:rPr lang="zh-CN" altLang="en-US" sz="2200" dirty="0" smtClean="0"/>
              <a:t>，抓取</a:t>
            </a:r>
            <a:r>
              <a:rPr lang="zh-CN" altLang="en-US" sz="2200" dirty="0"/>
              <a:t>短评网页的源码</a:t>
            </a:r>
            <a:r>
              <a:rPr lang="zh-CN" altLang="en-US" sz="2200" dirty="0" smtClean="0"/>
              <a:t>，解析</a:t>
            </a:r>
            <a:r>
              <a:rPr lang="en-US" altLang="zh-CN" sz="2200" dirty="0" smtClean="0"/>
              <a:t>HTML</a:t>
            </a:r>
            <a:r>
              <a:rPr lang="zh-CN" altLang="en-US" sz="2200" dirty="0" smtClean="0"/>
              <a:t>文档获取其中实际有效的评论</a:t>
            </a:r>
            <a:r>
              <a:rPr lang="zh-CN" altLang="en-US" sz="2200" dirty="0"/>
              <a:t>内容，并以此生成一个词云图片。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         为了让程序结构</a:t>
            </a:r>
            <a:r>
              <a:rPr lang="zh-CN" altLang="en-US" sz="2200" dirty="0"/>
              <a:t>更清晰，我们对代码进行拆分，将抓取网页源码、分析网页源码抽取评论内容、生成词云图片文件三部分功能分别定义成独立函数，由主程序进行</a:t>
            </a:r>
            <a:r>
              <a:rPr lang="zh-CN" altLang="en-US" sz="2200" dirty="0" smtClean="0"/>
              <a:t>调用。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endParaRPr lang="en-US" altLang="zh-CN" sz="2200" dirty="0">
              <a:solidFill>
                <a:schemeClr val="bg1"/>
              </a:solidFill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53981949"/>
              </p:ext>
            </p:extLst>
          </p:nvPr>
        </p:nvGraphicFramePr>
        <p:xfrm>
          <a:off x="1457012" y="4009292"/>
          <a:ext cx="9777045" cy="2330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950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9" name="TextBox 8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781967" y="1075171"/>
            <a:ext cx="10092030" cy="547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/>
              <a:t>书评页面的标签结构</a:t>
            </a:r>
            <a:endParaRPr lang="en-US" altLang="zh-CN" sz="2200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422348" y="2004261"/>
            <a:ext cx="11344272" cy="42458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781967" y="245839"/>
            <a:ext cx="457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综合实例 </a:t>
            </a:r>
            <a:r>
              <a:rPr lang="en-US" altLang="zh-CN" sz="2400" b="1" dirty="0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2400" b="1" dirty="0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豆瓣书评</a:t>
            </a:r>
            <a:endParaRPr lang="en-US" altLang="zh-CN" sz="2400" b="1" dirty="0">
              <a:solidFill>
                <a:srgbClr val="1E678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559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9" name="TextBox 8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170319" y="1075171"/>
            <a:ext cx="23618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/>
              <a:t>重点标签：</a:t>
            </a:r>
            <a:endParaRPr lang="en-US" altLang="zh-CN" sz="2200" dirty="0" smtClean="0"/>
          </a:p>
          <a:p>
            <a:pPr marL="542925" indent="-271463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200" dirty="0" smtClean="0">
                <a:solidFill>
                  <a:srgbClr val="0000CC"/>
                </a:solidFill>
              </a:rPr>
              <a:t>&lt;div&gt;</a:t>
            </a:r>
          </a:p>
          <a:p>
            <a:pPr marL="542925" indent="-271463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200" dirty="0" smtClean="0">
                <a:solidFill>
                  <a:srgbClr val="0000CC"/>
                </a:solidFill>
              </a:rPr>
              <a:t>&lt;li&gt;</a:t>
            </a:r>
          </a:p>
          <a:p>
            <a:pPr marL="542925" indent="-271463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200" dirty="0" smtClean="0">
                <a:solidFill>
                  <a:srgbClr val="0000CC"/>
                </a:solidFill>
              </a:rPr>
              <a:t>&lt;p&gt;</a:t>
            </a:r>
          </a:p>
          <a:p>
            <a:pPr marL="542925" indent="-271463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200" dirty="0" smtClean="0">
                <a:solidFill>
                  <a:srgbClr val="0000CC"/>
                </a:solidFill>
              </a:rPr>
              <a:t>&lt;span&gt;</a:t>
            </a:r>
          </a:p>
          <a:p>
            <a:pPr>
              <a:lnSpc>
                <a:spcPct val="150000"/>
              </a:lnSpc>
            </a:pPr>
            <a:endParaRPr lang="en-US" altLang="zh-CN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781967" y="245839"/>
            <a:ext cx="4579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综合实例 </a:t>
            </a:r>
            <a:r>
              <a:rPr lang="en-US" altLang="zh-CN" sz="2400" b="1" dirty="0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2400" b="1" dirty="0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rPr>
              <a:t>豆瓣书评</a:t>
            </a:r>
            <a:endParaRPr lang="en-US" altLang="zh-CN" sz="2400" b="1" dirty="0">
              <a:solidFill>
                <a:srgbClr val="1E67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692958" y="844062"/>
            <a:ext cx="9355015" cy="59285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2" name="右箭头 1"/>
          <p:cNvSpPr/>
          <p:nvPr/>
        </p:nvSpPr>
        <p:spPr>
          <a:xfrm>
            <a:off x="2692957" y="1919233"/>
            <a:ext cx="653143" cy="200967"/>
          </a:xfrm>
          <a:prstGeom prst="rightArrow">
            <a:avLst>
              <a:gd name="adj1" fmla="val 50000"/>
              <a:gd name="adj2" fmla="val 111614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3092479" y="3457088"/>
            <a:ext cx="653143" cy="200967"/>
          </a:xfrm>
          <a:prstGeom prst="rightArrow">
            <a:avLst>
              <a:gd name="adj1" fmla="val 50000"/>
              <a:gd name="adj2" fmla="val 111614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3509613" y="4754796"/>
            <a:ext cx="653143" cy="200967"/>
          </a:xfrm>
          <a:prstGeom prst="rightArrow">
            <a:avLst>
              <a:gd name="adj1" fmla="val 50000"/>
              <a:gd name="adj2" fmla="val 111614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3852122" y="5036506"/>
            <a:ext cx="653143" cy="200967"/>
          </a:xfrm>
          <a:prstGeom prst="rightArrow">
            <a:avLst>
              <a:gd name="adj1" fmla="val 50000"/>
              <a:gd name="adj2" fmla="val 111614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639126" y="2138672"/>
            <a:ext cx="484909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020997" y="3694999"/>
            <a:ext cx="492585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439836" y="4976925"/>
            <a:ext cx="29306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567228" y="5496090"/>
            <a:ext cx="484909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97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综合实例 </a:t>
              </a:r>
              <a:r>
                <a:rPr lang="en-US" altLang="zh-CN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 </a:t>
              </a:r>
              <a:r>
                <a:rPr lang="en-US" altLang="zh-CN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1. </a:t>
              </a:r>
              <a:r>
                <a:rPr lang="zh-CN" altLang="en-US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爬取网页</a:t>
              </a:r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5" name="Picture 1" descr="C:\Users\CY\AppData\Roaming\Tencent\Users\33427189\QQ\WinTemp\RichOle\JIB)X{F8C4BC$@O9NZ[DSC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308" y="1154544"/>
            <a:ext cx="9411855" cy="48358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9055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综合实例 </a:t>
              </a:r>
              <a:r>
                <a:rPr lang="en-US" altLang="zh-CN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 </a:t>
              </a:r>
              <a:r>
                <a:rPr lang="en-US" altLang="zh-CN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2. </a:t>
              </a:r>
              <a:r>
                <a:rPr lang="zh-CN" altLang="en-US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解析网页抽取评论</a:t>
              </a:r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97" name="Picture 1" descr="C:\Users\CY\AppData\Roaming\Tencent\Users\33427189\QQ\WinTemp\RichOle\5%(R(0HT898%II~_]$QD8`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97" y="1422401"/>
            <a:ext cx="10674560" cy="41101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0939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925679" cy="504056"/>
            <a:chOff x="169526" y="203448"/>
            <a:chExt cx="5925679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2" y="245839"/>
              <a:ext cx="5314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综合实例 </a:t>
              </a:r>
              <a:r>
                <a:rPr lang="en-US" altLang="zh-CN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 3</a:t>
              </a:r>
              <a:r>
                <a:rPr lang="en-US" altLang="zh-CN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. </a:t>
              </a:r>
              <a:r>
                <a:rPr lang="zh-CN" altLang="en-US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根据文件生成词云图片</a:t>
              </a:r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64" y="1134773"/>
            <a:ext cx="10655915" cy="485962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2209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综合实例 </a:t>
              </a:r>
              <a:r>
                <a:rPr lang="en-US" altLang="zh-CN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 </a:t>
              </a:r>
              <a:r>
                <a:rPr lang="en-US" altLang="zh-CN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4. </a:t>
              </a:r>
              <a:r>
                <a:rPr lang="zh-CN" altLang="en-US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主程序</a:t>
              </a:r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66" y="777732"/>
            <a:ext cx="9230251" cy="589949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6257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综合实例 </a:t>
              </a:r>
              <a:r>
                <a:rPr lang="en-US" altLang="zh-CN" sz="2400" b="1" dirty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– </a:t>
              </a:r>
              <a:r>
                <a:rPr lang="zh-CN" altLang="en-US" sz="2400" b="1" dirty="0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运行结果</a:t>
              </a:r>
              <a:endParaRPr lang="en-US" altLang="zh-CN" sz="2400" b="1" dirty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xmlns="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xmlns="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875864" y="873441"/>
            <a:ext cx="6956571" cy="4742268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2543203" y="1502784"/>
            <a:ext cx="6822470" cy="4888780"/>
          </a:xfrm>
          <a:prstGeom prst="rect">
            <a:avLst/>
          </a:prstGeom>
        </p:spPr>
      </p:pic>
      <p:pic>
        <p:nvPicPr>
          <p:cNvPr id="11" name="图片 10" descr="D:\天龙八部评论.p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382" y="476671"/>
            <a:ext cx="6482599" cy="513903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63226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3175"/>
            <a:ext cx="12193588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86635" y="1771343"/>
            <a:ext cx="64171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感谢</a:t>
            </a:r>
            <a:r>
              <a:rPr lang="zh-CN" altLang="en-US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聆听</a:t>
            </a:r>
            <a:r>
              <a:rPr lang="en-US" altLang="zh-CN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endParaRPr lang="en-US" altLang="zh-CN" sz="54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欢迎老师批评</a:t>
            </a:r>
            <a:r>
              <a:rPr lang="zh-CN" altLang="en-US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指正</a:t>
            </a:r>
            <a:r>
              <a:rPr lang="en-US" altLang="zh-CN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!</a:t>
            </a:r>
            <a:r>
              <a:rPr lang="zh-CN" altLang="en-US" sz="5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00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​​">
  <a:themeElements>
    <a:clrScheme name="自定义 222">
      <a:dk1>
        <a:sysClr val="windowText" lastClr="000000"/>
      </a:dk1>
      <a:lt1>
        <a:sysClr val="window" lastClr="FFFFFF"/>
      </a:lt1>
      <a:dk2>
        <a:srgbClr val="435258"/>
      </a:dk2>
      <a:lt2>
        <a:srgbClr val="EEECE1"/>
      </a:lt2>
      <a:accent1>
        <a:srgbClr val="2A8FBD"/>
      </a:accent1>
      <a:accent2>
        <a:srgbClr val="00B0F0"/>
      </a:accent2>
      <a:accent3>
        <a:srgbClr val="435258"/>
      </a:accent3>
      <a:accent4>
        <a:srgbClr val="1E6787"/>
      </a:accent4>
      <a:accent5>
        <a:srgbClr val="2A8FBD"/>
      </a:accent5>
      <a:accent6>
        <a:srgbClr val="E44860"/>
      </a:accent6>
      <a:hlink>
        <a:srgbClr val="E44860"/>
      </a:hlink>
      <a:folHlink>
        <a:srgbClr val="435258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11176</TotalTime>
  <Words>4193</Words>
  <Application>Microsoft Office PowerPoint</Application>
  <PresentationFormat>自定义</PresentationFormat>
  <Paragraphs>536</Paragraphs>
  <Slides>62</Slides>
  <Notes>52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3" baseType="lpstr"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ZhaoLu</dc:creator>
  <cp:lastModifiedBy>CY</cp:lastModifiedBy>
  <cp:revision>321</cp:revision>
  <dcterms:created xsi:type="dcterms:W3CDTF">2019-01-13T07:44:05Z</dcterms:created>
  <dcterms:modified xsi:type="dcterms:W3CDTF">2019-05-10T20:56:26Z</dcterms:modified>
</cp:coreProperties>
</file>